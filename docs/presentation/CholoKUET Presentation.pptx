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51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Checks</c:v>
                </c:pt>
              </c:strCache>
            </c:strRef>
          </c:tx>
          <c:spPr>
            <a:solidFill>
              <a:srgbClr val="D9B100"/>
            </a:solidFill>
            <a:effectLst/>
          </c:spPr>
          <c:invertIfNegative val="0"/>
          <c:dLbls>
            <c:numFmt formatCode="#,##0" sourceLinked="0"/>
            <c:spPr>
              <a:noFill/>
              <a:ln>
                <a:noFill/>
              </a:ln>
              <a:effectLst/>
            </c:spPr>
            <c:txPr>
              <a:bodyPr/>
              <a:lstStyle/>
              <a:p>
                <a:pPr>
                  <a:defRPr sz="1200" b="0" i="0" u="none" strike="noStrike">
                    <a:solidFill>
                      <a:srgbClr val="16171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Queue</c:v>
                </c:pt>
                <c:pt idx="1">
                  <c:v>Stack</c:v>
                </c:pt>
                <c:pt idx="2">
                  <c:v>Campus data</c:v>
                </c:pt>
                <c:pt idx="3">
                  <c:v>Trip</c:v>
                </c:pt>
                <c:pt idx="4">
                  <c:v>Graph, BFS, DFS</c:v>
                </c:pt>
                <c:pt idx="5">
                  <c:v>Search</c:v>
                </c:pt>
                <c:pt idx="6">
                  <c:v>Tree</c:v>
                </c:pt>
                <c:pt idx="7">
                  <c:v>Sort</c:v>
                </c:pt>
              </c:strCache>
            </c:strRef>
          </c:cat>
          <c:val>
            <c:numRef>
              <c:f>Sheet1!$B$2:$B$9</c:f>
              <c:numCache>
                <c:formatCode>General</c:formatCode>
                <c:ptCount val="8"/>
                <c:pt idx="0">
                  <c:v>419</c:v>
                </c:pt>
                <c:pt idx="1">
                  <c:v>213</c:v>
                </c:pt>
                <c:pt idx="2">
                  <c:v>165</c:v>
                </c:pt>
                <c:pt idx="3">
                  <c:v>34</c:v>
                </c:pt>
                <c:pt idx="4">
                  <c:v>26</c:v>
                </c:pt>
                <c:pt idx="5">
                  <c:v>22</c:v>
                </c:pt>
                <c:pt idx="6">
                  <c:v>15</c:v>
                </c:pt>
                <c:pt idx="7">
                  <c:v>13</c:v>
                </c:pt>
              </c:numCache>
            </c:numRef>
          </c:val>
          <c:extLst>
            <c:ext xmlns:c16="http://schemas.microsoft.com/office/drawing/2014/chart" uri="{C3380CC4-5D6E-409C-BE32-E72D297353CC}">
              <c16:uniqueId val="{00000000-2C52-4AA0-8CD2-874021B7BE67}"/>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6171B"/>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342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Ettisaf and Afia, and our project is CholoKUET, a campus navigator for KUET. "Cholo explore kore ashi" means "come on, let's go explore". It runs offline in the terminal, and there is also an online version you can open in any browser. Every feature you will see today runs on a data structure from this course, and the stack and queue are written by hand.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new batch spends its first weeks asking the same three questions: where is a building, how do I walk there, and what's near me. KUET buildings go by short forms, and the obvious-looking route is often not the real one. We wanted a small program that answers all three.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say where you are and where you're going, and CholoKUET gives you the way. The campus has 44 places joined by 56 walkways on 15 roads, and 907 unit checks cover the code. You can use it two ways: the terminal app, which is one portable exe that works offline, and the online version on GitHub Pages, which runs the same campus data in the browser.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everything in one place. Eleven menus for students: take me somewhere, what's near me, explore the campus, search, browse by category, sort, where am I, trip history, recent searches, favorites and help. Four more for admins. And the online version. Under each feature is the data structure or algorithm it runs on. The next slides go through them one group at a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feature. You can type the start any way you like: part of a name, the number from the map, raw coordinates, or just press Enter to use where you are. BFS finds the route with the fewest stops, and then we turn it into directions: walkways on the same road merge into one step, and compass bearings decide left, right or straight. You also get every stop with running totals, and you can ask to see exactly how BFS found the route. Choosing I'm going pushes the trip onto the history stack.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near me takes a place or exact coordinates, measures the Haversine distance to every place, bubble-sorts them and shows the nearest ten with a compass direction and walking time. Where am I sets your location, and coordinates snap to the closest building. Explore the campus runs DFS from any place, can show the stack at every step, checks that the campus is connected, and lists every road.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one box for names, categories and numbers. An exact name is found first with binary search on a sorted copy, then partial matches with linear search. Browse by category walks our general tree, KUET to category to place. Sort places sorts by name, category or distance, and prints the comparisons and swaps so you can compare bubble sort and selection sort.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CholoKUET remembers your trail. Trip history is a stack: every place you go is pushed, and Back pops the top. Recent searches is a linked list of the last ten, newest first. Favorites are saved per user, so they're still there next time. And accounts: students and admins, hidden password typing, and hashed passwords.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Admins can add, edit and delete places and walkways. The important part is consistency: deleting a place removes it from the array, the graph, favorites, recent searches and even the middle of the history stack, by popping onto a second stack and pushing back. After a change the app runs DFS and warns if part of the campus is cut off. Everywhere in the app, you can type a place any way, Enter always goes back, bad input never crashes it, everything is saved as it happens, and it ships as one portable exe.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can also use CholoKUET online, with nothing to install, at ettisafxrup.github.io/CholoKUET. It is hosted on GitHub Pages. It has a live route finder on the real campus graph, a playground for our stack and circular queue, a race between bubble sort and selection sort, and the full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route finder. It uses the app's own data files. Pick two places, or click them, and you can watch BFS fill the queue ring by ring, or DFS work the stack. The gold line is the route. It follows the same rules as the C++ code, so it gives the same answer: 707 meters from the library to the main gate, on the same three roads.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from the KUET master plan, but a drawing has no coordinates. OpenStreetMap had surveyed positions for most KUET buildings, so we used those. For the six buildings OSM doesn't have, including Kodom Tola, we matched 18 buildings between the plan and OSM and fitted a transform. It's off by 27 meters on average, about one building. The map is drawn from the app's own data files, and the numbers are the IDs you type in the app.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menus never touch a file, and the data structures never print a menu. That's why you can open dsa/stack and see the stack on its own, why every structure has its own test, and why the same core could sit under a graphical app later.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trip, end to end. The text you type goes to resolvePlace, which uses linear search or the nearest place by Haversine. BFS finds the route on our circular queue. rebuildRoute pushes the parent chain onto our stack and pops it into a linked list. planTrip merges walkways by road and works out the turns, and printTrip shows it. Then either I'm going pushes the trip onto the history stack, or you can watch the BFS trace.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highlighted rows are written from scratch, as the lab asked. The other containers come from the STL, but every algorithm running on them is ours. make check-manual scans the code and confirms there's no std::stack, std::queue or std::sort anywhere.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an array plus one index, top. Push moves top up and writes, pop reads and moves it down, and both refuse instead of writing outside the array. Pressing Back in Trip history pops the top. The queue wraps around with modulo, so freed slots are reused: here the new values 900 and 901 went into slots 0 and 1. With only front and rear, full and empty look the same, so we keep a count.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explores outward one ring at a time using our queue. The key detail: we mark a place visited when we enqueue it, otherwise it can be queued twice. parent records how we reached each place, and to rebuild the route we push the parent chain onto our stack and pop it off. BFS minimises stops, not meters, so the app prints both distances. DFS is iterative on our stack and pushes each place once. Our first version didn't, and could overflow, which a test now guards against.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from our own runs. Finding the library takes 44 comparisons with linear search and 6 with binary search, but binary search only works on sorted data, so the app sorts a copy first. Sorting by name, bubble sort made 367 swaps and selection sort only 39, though selection made more comparisons: 946, exactly 44 times 43 over 2.</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has its own test program, run with make test: 907 checks in total, all passing. They target the edge cases on purpose. On top of that we drove the whole app with scripted input as a student and as an admin. It never crashed, and the log never contains a password.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now. Run make run and log in as student1. Menu 1: where are you, "lib"; where to, "gate". Read out the directions, then choose Show how BFS found this route, then I'm going. Menu 2 with coordinates 22.8992, 89.5016. Menu 8 and press Back. Menu 3, DFS from Civil with the stack shown. Menu 5 for the tree, menu 4 to search "hall", menu 6 to sort A to Z. Open dsa/stack/Stack.cpp and dsa/queue/Queue.cpp. Then switch to the browser and run the live route finder on the online version, and show the report page.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say these ourselves. BFS ignores walkway length, six buildings are estimated, and the login is for a demo only. The first thing we'd add is Dijkstra alongside BFS, so the app can show both the fewest-stops and the fewest-meters route.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We're happy to take questions, and we can open any file live: the stack, the queue, BFS or DFS, or try any route on the online version.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6.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4.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8.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ettisafxrup.github.io/CholoKUET/" TargetMode="External"/><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hyperlink" Target="https://github.com/ettisafxrup/CholoKUET" TargetMode="External"/><Relationship Id="rId4" Type="http://schemas.openxmlformats.org/officeDocument/2006/relationships/hyperlink" Target="https://ettisafxrup.github.io/CholoKU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114"/>
        </a:solidFill>
        <a:effectLst/>
      </p:bgPr>
    </p:bg>
    <p:spTree>
      <p:nvGrpSpPr>
        <p:cNvPr id="1" name=""/>
        <p:cNvGrpSpPr/>
        <p:nvPr/>
      </p:nvGrpSpPr>
      <p:grpSpPr>
        <a:xfrm>
          <a:off x="0" y="0"/>
          <a:ext cx="0" cy="0"/>
          <a:chOff x="0" y="0"/>
          <a:chExt cx="0" cy="0"/>
        </a:xfrm>
      </p:grpSpPr>
      <p:pic>
        <p:nvPicPr>
          <p:cNvPr id="2" name="Image 0" descr="C:\Users\rup\AppData\Local\Temp\claude\d--Codes-CholoKUET\2a005a77-40ea-402f-8f1e-eba05e0da9d5\scratchpad\deck\img\logo-mark.png"/>
          <p:cNvPicPr>
            <a:picLocks noChangeAspect="1"/>
          </p:cNvPicPr>
          <p:nvPr/>
        </p:nvPicPr>
        <p:blipFill>
          <a:blip r:embed="rId3"/>
          <a:stretch>
            <a:fillRect/>
          </a:stretch>
        </p:blipFill>
        <p:spPr>
          <a:xfrm>
            <a:off x="548640" y="685800"/>
            <a:ext cx="1143000" cy="1143000"/>
          </a:xfrm>
          <a:prstGeom prst="rect">
            <a:avLst/>
          </a:prstGeom>
        </p:spPr>
      </p:pic>
      <p:sp>
        <p:nvSpPr>
          <p:cNvPr id="3" name="Text 0"/>
          <p:cNvSpPr txBox="1"/>
          <p:nvPr/>
        </p:nvSpPr>
        <p:spPr>
          <a:xfrm>
            <a:off x="1920240" y="731520"/>
            <a:ext cx="8229600" cy="274320"/>
          </a:xfrm>
          <a:prstGeom prst="rect">
            <a:avLst/>
          </a:prstGeom>
          <a:noFill/>
          <a:ln/>
        </p:spPr>
        <p:txBody>
          <a:bodyPr wrap="square" lIns="0" tIns="0" rIns="0" bIns="0" rtlCol="0" anchor="ctr"/>
          <a:lstStyle/>
          <a:p>
            <a:pPr marL="0" indent="0">
              <a:buNone/>
            </a:pPr>
            <a:r>
              <a:rPr lang="en-US" sz="1200" b="1" kern="0" spc="300" dirty="0">
                <a:solidFill>
                  <a:srgbClr val="D9B100"/>
                </a:solidFill>
                <a:latin typeface="Arial" pitchFamily="34" charset="0"/>
                <a:ea typeface="Arial" pitchFamily="34" charset="-122"/>
                <a:cs typeface="Arial" pitchFamily="34" charset="-120"/>
              </a:rPr>
              <a:t>DSA LABORATORY PROJECT · DEPARTMENT OF CSE, KUET</a:t>
            </a:r>
            <a:endParaRPr lang="en-US" sz="1200" dirty="0"/>
          </a:p>
        </p:txBody>
      </p:sp>
      <p:sp>
        <p:nvSpPr>
          <p:cNvPr id="4" name="Text 1"/>
          <p:cNvSpPr txBox="1"/>
          <p:nvPr/>
        </p:nvSpPr>
        <p:spPr>
          <a:xfrm>
            <a:off x="1920240" y="1005840"/>
            <a:ext cx="8229600" cy="91440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Cholo</a:t>
            </a:r>
            <a:r>
              <a:rPr lang="en-US" sz="6000" b="1" dirty="0">
                <a:solidFill>
                  <a:srgbClr val="D9B100"/>
                </a:solidFill>
                <a:latin typeface="Arial" pitchFamily="34" charset="0"/>
                <a:ea typeface="Arial" pitchFamily="34" charset="-122"/>
                <a:cs typeface="Arial" pitchFamily="34" charset="-120"/>
              </a:rPr>
              <a:t>KUET</a:t>
            </a:r>
            <a:endParaRPr lang="en-US" sz="6000" dirty="0"/>
          </a:p>
        </p:txBody>
      </p:sp>
      <p:sp>
        <p:nvSpPr>
          <p:cNvPr id="5" name="Text 2"/>
          <p:cNvSpPr txBox="1"/>
          <p:nvPr/>
        </p:nvSpPr>
        <p:spPr>
          <a:xfrm>
            <a:off x="1938528" y="1874520"/>
            <a:ext cx="8229600" cy="274320"/>
          </a:xfrm>
          <a:prstGeom prst="rect">
            <a:avLst/>
          </a:prstGeom>
          <a:noFill/>
          <a:ln/>
        </p:spPr>
        <p:txBody>
          <a:bodyPr wrap="square" lIns="0" tIns="0" rIns="0" bIns="0" rtlCol="0" anchor="ctr"/>
          <a:lstStyle/>
          <a:p>
            <a:pPr marL="0" indent="0">
              <a:buNone/>
            </a:pPr>
            <a:r>
              <a:rPr lang="en-US" sz="1300" kern="0" spc="600" dirty="0">
                <a:solidFill>
                  <a:srgbClr val="C9CAD0"/>
                </a:solidFill>
                <a:latin typeface="Arial" pitchFamily="34" charset="0"/>
                <a:ea typeface="Arial" pitchFamily="34" charset="-122"/>
                <a:cs typeface="Arial" pitchFamily="34" charset="-120"/>
              </a:rPr>
              <a:t>CHOLO EXPLORE KORE ASHI</a:t>
            </a:r>
            <a:endParaRPr lang="en-US" sz="1300" dirty="0"/>
          </a:p>
        </p:txBody>
      </p:sp>
      <p:sp>
        <p:nvSpPr>
          <p:cNvPr id="6" name="Text 3"/>
          <p:cNvSpPr txBox="1"/>
          <p:nvPr/>
        </p:nvSpPr>
        <p:spPr>
          <a:xfrm>
            <a:off x="548640" y="2743200"/>
            <a:ext cx="7498080" cy="731520"/>
          </a:xfrm>
          <a:prstGeom prst="rect">
            <a:avLst/>
          </a:prstGeom>
          <a:noFill/>
          <a:ln/>
        </p:spPr>
        <p:txBody>
          <a:bodyPr wrap="square" lIns="0" tIns="0" rIns="0" bIns="0" rtlCol="0" anchor="ctr"/>
          <a:lstStyle/>
          <a:p>
            <a:pPr marL="0" indent="0">
              <a:buNone/>
            </a:pPr>
            <a:r>
              <a:rPr lang="en-US" sz="1800" dirty="0">
                <a:solidFill>
                  <a:srgbClr val="C9CAD0"/>
                </a:solidFill>
                <a:latin typeface="Calibri" pitchFamily="34" charset="0"/>
                <a:ea typeface="Calibri" pitchFamily="34" charset="-122"/>
                <a:cs typeface="Calibri" pitchFamily="34" charset="-120"/>
              </a:rPr>
              <a:t>An offline KUET campus navigator built on hand-written stacks, queues, trees and graphs. Also online at ettisafxrup.github.io/CholoKUET</a:t>
            </a:r>
            <a:endParaRPr lang="en-US" sz="1800" dirty="0"/>
          </a:p>
        </p:txBody>
      </p:sp>
      <p:pic>
        <p:nvPicPr>
          <p:cNvPr id="7" name="Image 1" descr="C:\Users\rup\AppData\Local\Temp\claude\d--Codes-CholoKUET\2a005a77-40ea-402f-8f1e-eba05e0da9d5\scratchpad\deck\img\ettisaf-rup.jpg"/>
          <p:cNvPicPr>
            <a:picLocks noChangeAspect="1"/>
          </p:cNvPicPr>
          <p:nvPr/>
        </p:nvPicPr>
        <p:blipFill>
          <a:blip r:embed="rId4"/>
          <a:srcRect/>
          <a:stretch/>
        </p:blipFill>
        <p:spPr>
          <a:xfrm>
            <a:off x="548640" y="3931920"/>
            <a:ext cx="960120" cy="1152144"/>
          </a:xfrm>
          <a:prstGeom prst="rect">
            <a:avLst/>
          </a:prstGeom>
        </p:spPr>
      </p:pic>
      <p:sp>
        <p:nvSpPr>
          <p:cNvPr id="8" name="Shape 4"/>
          <p:cNvSpPr/>
          <p:nvPr/>
        </p:nvSpPr>
        <p:spPr>
          <a:xfrm>
            <a:off x="548640" y="3931920"/>
            <a:ext cx="960120" cy="1152144"/>
          </a:xfrm>
          <a:prstGeom prst="rect">
            <a:avLst/>
          </a:prstGeom>
          <a:ln w="19050">
            <a:solidFill>
              <a:srgbClr val="D9B100"/>
            </a:solidFill>
            <a:prstDash val="solid"/>
          </a:ln>
        </p:spPr>
        <p:txBody>
          <a:bodyPr/>
          <a:lstStyle/>
          <a:p>
            <a:endParaRPr lang="en-US"/>
          </a:p>
        </p:txBody>
      </p:sp>
      <p:sp>
        <p:nvSpPr>
          <p:cNvPr id="9" name="Text 5"/>
          <p:cNvSpPr txBox="1"/>
          <p:nvPr/>
        </p:nvSpPr>
        <p:spPr>
          <a:xfrm>
            <a:off x="1691640" y="4069080"/>
            <a:ext cx="228600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Ettisaf Rup</a:t>
            </a:r>
            <a:endParaRPr lang="en-US" sz="1700" dirty="0"/>
          </a:p>
          <a:p>
            <a:pPr marL="0" indent="0">
              <a:buNone/>
            </a:pPr>
            <a:r>
              <a:rPr lang="en-US" sz="1200" dirty="0">
                <a:solidFill>
                  <a:srgbClr val="A6A7AD"/>
                </a:solidFill>
                <a:latin typeface="Calibri" pitchFamily="34" charset="0"/>
                <a:ea typeface="Calibri" pitchFamily="34" charset="-122"/>
                <a:cs typeface="Calibri" pitchFamily="34" charset="-120"/>
              </a:rPr>
              <a:t>Undergraduate, CSE, KUET</a:t>
            </a:r>
            <a:endParaRPr lang="en-US" sz="1700" dirty="0"/>
          </a:p>
          <a:p>
            <a:pPr marL="0" indent="0">
              <a:buNone/>
            </a:pPr>
            <a:r>
              <a:rPr lang="en-US" sz="1200" b="1" dirty="0">
                <a:solidFill>
                  <a:srgbClr val="D9B100"/>
                </a:solidFill>
                <a:latin typeface="Calibri" pitchFamily="34" charset="0"/>
                <a:ea typeface="Calibri" pitchFamily="34" charset="-122"/>
                <a:cs typeface="Calibri" pitchFamily="34" charset="-120"/>
              </a:rPr>
              <a:t>Roll 2407109</a:t>
            </a:r>
            <a:endParaRPr lang="en-US" sz="1700" dirty="0"/>
          </a:p>
        </p:txBody>
      </p:sp>
      <p:pic>
        <p:nvPicPr>
          <p:cNvPr id="10" name="Image 2" descr="C:\Users\rup\AppData\Local\Temp\claude\d--Codes-CholoKUET\2a005a77-40ea-402f-8f1e-eba05e0da9d5\scratchpad\deck\img\afia-anjum-broti.jpg"/>
          <p:cNvPicPr>
            <a:picLocks noChangeAspect="1"/>
          </p:cNvPicPr>
          <p:nvPr/>
        </p:nvPicPr>
        <p:blipFill>
          <a:blip r:embed="rId5"/>
          <a:srcRect/>
          <a:stretch/>
        </p:blipFill>
        <p:spPr>
          <a:xfrm>
            <a:off x="4114800" y="3931920"/>
            <a:ext cx="960120" cy="1152144"/>
          </a:xfrm>
          <a:prstGeom prst="rect">
            <a:avLst/>
          </a:prstGeom>
        </p:spPr>
      </p:pic>
      <p:sp>
        <p:nvSpPr>
          <p:cNvPr id="11" name="Shape 6"/>
          <p:cNvSpPr/>
          <p:nvPr/>
        </p:nvSpPr>
        <p:spPr>
          <a:xfrm>
            <a:off x="4114800" y="3931920"/>
            <a:ext cx="960120" cy="1152144"/>
          </a:xfrm>
          <a:prstGeom prst="rect">
            <a:avLst/>
          </a:prstGeom>
          <a:ln w="19050">
            <a:solidFill>
              <a:srgbClr val="D9B100"/>
            </a:solidFill>
            <a:prstDash val="solid"/>
          </a:ln>
        </p:spPr>
        <p:txBody>
          <a:bodyPr/>
          <a:lstStyle/>
          <a:p>
            <a:endParaRPr lang="en-US"/>
          </a:p>
        </p:txBody>
      </p:sp>
      <p:sp>
        <p:nvSpPr>
          <p:cNvPr id="12" name="Text 7"/>
          <p:cNvSpPr txBox="1"/>
          <p:nvPr/>
        </p:nvSpPr>
        <p:spPr>
          <a:xfrm>
            <a:off x="5257800" y="4069080"/>
            <a:ext cx="2286000" cy="9144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Afia Anjum Broti</a:t>
            </a:r>
            <a:endParaRPr lang="en-US" sz="1700" dirty="0"/>
          </a:p>
          <a:p>
            <a:pPr marL="0" indent="0">
              <a:buNone/>
            </a:pPr>
            <a:r>
              <a:rPr lang="en-US" sz="1200" dirty="0">
                <a:solidFill>
                  <a:srgbClr val="A6A7AD"/>
                </a:solidFill>
                <a:latin typeface="Calibri" pitchFamily="34" charset="0"/>
                <a:ea typeface="Calibri" pitchFamily="34" charset="-122"/>
                <a:cs typeface="Calibri" pitchFamily="34" charset="-120"/>
              </a:rPr>
              <a:t>Undergraduate, CSE, KUET</a:t>
            </a:r>
            <a:endParaRPr lang="en-US" sz="1700" dirty="0"/>
          </a:p>
          <a:p>
            <a:pPr marL="0" indent="0">
              <a:buNone/>
            </a:pPr>
            <a:r>
              <a:rPr lang="en-US" sz="1200" b="1" dirty="0">
                <a:solidFill>
                  <a:srgbClr val="D9B100"/>
                </a:solidFill>
                <a:latin typeface="Calibri" pitchFamily="34" charset="0"/>
                <a:ea typeface="Calibri" pitchFamily="34" charset="-122"/>
                <a:cs typeface="Calibri" pitchFamily="34" charset="-120"/>
              </a:rPr>
              <a:t>Roll 2407096</a:t>
            </a:r>
            <a:endParaRPr lang="en-US" sz="1700" dirty="0"/>
          </a:p>
        </p:txBody>
      </p:sp>
      <p:sp>
        <p:nvSpPr>
          <p:cNvPr id="13" name="Text 8"/>
          <p:cNvSpPr txBox="1"/>
          <p:nvPr/>
        </p:nvSpPr>
        <p:spPr>
          <a:xfrm>
            <a:off x="548640" y="5715000"/>
            <a:ext cx="109728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Course teachers  </a:t>
            </a:r>
            <a:r>
              <a:rPr lang="en-US" sz="1300" dirty="0">
                <a:solidFill>
                  <a:srgbClr val="A6A7AD"/>
                </a:solidFill>
                <a:latin typeface="Calibri" pitchFamily="34" charset="0"/>
                <a:ea typeface="Calibri" pitchFamily="34" charset="-122"/>
                <a:cs typeface="Calibri" pitchFamily="34" charset="-120"/>
              </a:rPr>
              <a:t>Subah Nawar, Lecturer  ·  Lamisa Bintee Mizan Deya, Lecturer  ·  Data Structures and Algorithms Laboratory</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02</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THE PROBLEM</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117 acres, 40-plus buildings, and nothing that tells you the way</a:t>
            </a:r>
            <a:endParaRPr lang="en-US" sz="3400" dirty="0"/>
          </a:p>
        </p:txBody>
      </p:sp>
      <p:sp>
        <p:nvSpPr>
          <p:cNvPr id="5" name="Shape 3"/>
          <p:cNvSpPr/>
          <p:nvPr/>
        </p:nvSpPr>
        <p:spPr>
          <a:xfrm>
            <a:off x="548640" y="2148840"/>
            <a:ext cx="3520440" cy="2926080"/>
          </a:xfrm>
          <a:prstGeom prst="roundRect">
            <a:avLst>
              <a:gd name="adj" fmla="val 3750"/>
            </a:avLst>
          </a:prstGeom>
          <a:solidFill>
            <a:srgbClr val="F3F4F6"/>
          </a:solidFill>
          <a:ln w="12700">
            <a:solidFill>
              <a:srgbClr val="F3F4F6"/>
            </a:solidFill>
            <a:prstDash val="solid"/>
          </a:ln>
        </p:spPr>
        <p:txBody>
          <a:bodyPr/>
          <a:lstStyle/>
          <a:p>
            <a:endParaRPr lang="en-US"/>
          </a:p>
        </p:txBody>
      </p:sp>
      <p:sp>
        <p:nvSpPr>
          <p:cNvPr id="6" name="Shape 4"/>
          <p:cNvSpPr/>
          <p:nvPr/>
        </p:nvSpPr>
        <p:spPr>
          <a:xfrm>
            <a:off x="868680" y="2468880"/>
            <a:ext cx="658368" cy="658368"/>
          </a:xfrm>
          <a:prstGeom prst="ellipse">
            <a:avLst/>
          </a:prstGeom>
          <a:solidFill>
            <a:srgbClr val="FBF4D2"/>
          </a:solidFill>
          <a:ln w="12700">
            <a:solidFill>
              <a:srgbClr val="FBF4D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13521" y="2613721"/>
            <a:ext cx="368686" cy="368686"/>
          </a:xfrm>
          <a:prstGeom prst="rect">
            <a:avLst/>
          </a:prstGeom>
        </p:spPr>
      </p:pic>
      <p:sp>
        <p:nvSpPr>
          <p:cNvPr id="8" name="Text 5"/>
          <p:cNvSpPr txBox="1"/>
          <p:nvPr/>
        </p:nvSpPr>
        <p:spPr>
          <a:xfrm>
            <a:off x="868680" y="3337560"/>
            <a:ext cx="2926080" cy="411480"/>
          </a:xfrm>
          <a:prstGeom prst="rect">
            <a:avLst/>
          </a:prstGeom>
          <a:noFill/>
          <a:ln/>
        </p:spPr>
        <p:txBody>
          <a:bodyPr wrap="square" lIns="0" tIns="0" rIns="0" bIns="0" rtlCol="0" anchor="ctr"/>
          <a:lstStyle/>
          <a:p>
            <a:pPr marL="0" indent="0">
              <a:buNone/>
            </a:pPr>
            <a:r>
              <a:rPr lang="en-US" sz="2000" b="1" dirty="0">
                <a:solidFill>
                  <a:srgbClr val="16171B"/>
                </a:solidFill>
                <a:latin typeface="Arial" pitchFamily="34" charset="0"/>
                <a:ea typeface="Arial" pitchFamily="34" charset="-122"/>
                <a:cs typeface="Arial" pitchFamily="34" charset="-120"/>
              </a:rPr>
              <a:t>Where is it?</a:t>
            </a:r>
            <a:endParaRPr lang="en-US" sz="2000" dirty="0"/>
          </a:p>
        </p:txBody>
      </p:sp>
      <p:sp>
        <p:nvSpPr>
          <p:cNvPr id="9" name="Text 6"/>
          <p:cNvSpPr txBox="1"/>
          <p:nvPr/>
        </p:nvSpPr>
        <p:spPr>
          <a:xfrm>
            <a:off x="868680" y="3840480"/>
            <a:ext cx="2926080" cy="1097280"/>
          </a:xfrm>
          <a:prstGeom prst="rect">
            <a:avLst/>
          </a:prstGeom>
          <a:noFill/>
          <a:ln/>
        </p:spPr>
        <p:txBody>
          <a:bodyPr wrap="square" lIns="0" tIns="0" rIns="0" bIns="0" rtlCol="0" anchor="t"/>
          <a:lstStyle/>
          <a:p>
            <a:pPr marL="0" indent="0">
              <a:buNone/>
            </a:pPr>
            <a:r>
              <a:rPr lang="en-US" sz="1500" dirty="0">
                <a:solidFill>
                  <a:srgbClr val="5F626B"/>
                </a:solidFill>
                <a:latin typeface="Calibri" pitchFamily="34" charset="0"/>
                <a:ea typeface="Calibri" pitchFamily="34" charset="-122"/>
                <a:cs typeface="Calibri" pitchFamily="34" charset="-120"/>
              </a:rPr>
              <a:t>Buildings go by short forms: ACA, ME, Kodom Tola. New students and visitors can't tell which is which.</a:t>
            </a:r>
            <a:endParaRPr lang="en-US" sz="1500" dirty="0"/>
          </a:p>
        </p:txBody>
      </p:sp>
      <p:sp>
        <p:nvSpPr>
          <p:cNvPr id="10" name="Shape 7"/>
          <p:cNvSpPr/>
          <p:nvPr/>
        </p:nvSpPr>
        <p:spPr>
          <a:xfrm>
            <a:off x="4297680" y="2148840"/>
            <a:ext cx="3520440" cy="2926080"/>
          </a:xfrm>
          <a:prstGeom prst="roundRect">
            <a:avLst>
              <a:gd name="adj" fmla="val 3750"/>
            </a:avLst>
          </a:prstGeom>
          <a:solidFill>
            <a:srgbClr val="F3F4F6"/>
          </a:solidFill>
          <a:ln w="12700">
            <a:solidFill>
              <a:srgbClr val="F3F4F6"/>
            </a:solidFill>
            <a:prstDash val="solid"/>
          </a:ln>
        </p:spPr>
        <p:txBody>
          <a:bodyPr/>
          <a:lstStyle/>
          <a:p>
            <a:endParaRPr lang="en-US"/>
          </a:p>
        </p:txBody>
      </p:sp>
      <p:sp>
        <p:nvSpPr>
          <p:cNvPr id="11" name="Shape 8"/>
          <p:cNvSpPr/>
          <p:nvPr/>
        </p:nvSpPr>
        <p:spPr>
          <a:xfrm>
            <a:off x="4617720" y="2468880"/>
            <a:ext cx="658368" cy="658368"/>
          </a:xfrm>
          <a:prstGeom prst="ellipse">
            <a:avLst/>
          </a:prstGeom>
          <a:solidFill>
            <a:srgbClr val="FBF4D2"/>
          </a:solidFill>
          <a:ln w="12700">
            <a:solidFill>
              <a:srgbClr val="FBF4D2"/>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4762561" y="2613721"/>
            <a:ext cx="368686" cy="368686"/>
          </a:xfrm>
          <a:prstGeom prst="rect">
            <a:avLst/>
          </a:prstGeom>
        </p:spPr>
      </p:pic>
      <p:sp>
        <p:nvSpPr>
          <p:cNvPr id="13" name="Text 9"/>
          <p:cNvSpPr txBox="1"/>
          <p:nvPr/>
        </p:nvSpPr>
        <p:spPr>
          <a:xfrm>
            <a:off x="4617720" y="3337560"/>
            <a:ext cx="2926080" cy="411480"/>
          </a:xfrm>
          <a:prstGeom prst="rect">
            <a:avLst/>
          </a:prstGeom>
          <a:noFill/>
          <a:ln/>
        </p:spPr>
        <p:txBody>
          <a:bodyPr wrap="square" lIns="0" tIns="0" rIns="0" bIns="0" rtlCol="0" anchor="ctr"/>
          <a:lstStyle/>
          <a:p>
            <a:pPr marL="0" indent="0">
              <a:buNone/>
            </a:pPr>
            <a:r>
              <a:rPr lang="en-US" sz="2000" b="1" dirty="0">
                <a:solidFill>
                  <a:srgbClr val="16171B"/>
                </a:solidFill>
                <a:latin typeface="Arial" pitchFamily="34" charset="0"/>
                <a:ea typeface="Arial" pitchFamily="34" charset="-122"/>
                <a:cs typeface="Arial" pitchFamily="34" charset="-120"/>
              </a:rPr>
              <a:t>How do I get there?</a:t>
            </a:r>
            <a:endParaRPr lang="en-US" sz="2000" dirty="0"/>
          </a:p>
        </p:txBody>
      </p:sp>
      <p:sp>
        <p:nvSpPr>
          <p:cNvPr id="14" name="Text 10"/>
          <p:cNvSpPr txBox="1"/>
          <p:nvPr/>
        </p:nvSpPr>
        <p:spPr>
          <a:xfrm>
            <a:off x="4617720" y="3840480"/>
            <a:ext cx="2926080" cy="1097280"/>
          </a:xfrm>
          <a:prstGeom prst="rect">
            <a:avLst/>
          </a:prstGeom>
          <a:noFill/>
          <a:ln/>
        </p:spPr>
        <p:txBody>
          <a:bodyPr wrap="square" lIns="0" tIns="0" rIns="0" bIns="0" rtlCol="0" anchor="t"/>
          <a:lstStyle/>
          <a:p>
            <a:pPr marL="0" indent="0">
              <a:buNone/>
            </a:pPr>
            <a:r>
              <a:rPr lang="en-US" sz="1500" dirty="0">
                <a:solidFill>
                  <a:srgbClr val="5F626B"/>
                </a:solidFill>
                <a:latin typeface="Calibri" pitchFamily="34" charset="0"/>
                <a:ea typeface="Calibri" pitchFamily="34" charset="-122"/>
                <a:cs typeface="Calibri" pitchFamily="34" charset="-120"/>
              </a:rPr>
              <a:t>The obvious-looking walk is often not the real one. From the gate to the library you go past the halls.</a:t>
            </a:r>
            <a:endParaRPr lang="en-US" sz="1500" dirty="0"/>
          </a:p>
        </p:txBody>
      </p:sp>
      <p:sp>
        <p:nvSpPr>
          <p:cNvPr id="15" name="Shape 11"/>
          <p:cNvSpPr/>
          <p:nvPr/>
        </p:nvSpPr>
        <p:spPr>
          <a:xfrm>
            <a:off x="8046720" y="2148840"/>
            <a:ext cx="3520440" cy="2926080"/>
          </a:xfrm>
          <a:prstGeom prst="roundRect">
            <a:avLst>
              <a:gd name="adj" fmla="val 3750"/>
            </a:avLst>
          </a:prstGeom>
          <a:solidFill>
            <a:srgbClr val="F3F4F6"/>
          </a:solidFill>
          <a:ln w="12700">
            <a:solidFill>
              <a:srgbClr val="F3F4F6"/>
            </a:solidFill>
            <a:prstDash val="solid"/>
          </a:ln>
        </p:spPr>
        <p:txBody>
          <a:bodyPr/>
          <a:lstStyle/>
          <a:p>
            <a:endParaRPr lang="en-US"/>
          </a:p>
        </p:txBody>
      </p:sp>
      <p:sp>
        <p:nvSpPr>
          <p:cNvPr id="16" name="Shape 12"/>
          <p:cNvSpPr/>
          <p:nvPr/>
        </p:nvSpPr>
        <p:spPr>
          <a:xfrm>
            <a:off x="8366760" y="2468880"/>
            <a:ext cx="658368" cy="658368"/>
          </a:xfrm>
          <a:prstGeom prst="ellipse">
            <a:avLst/>
          </a:prstGeom>
          <a:solidFill>
            <a:srgbClr val="FBF4D2"/>
          </a:solidFill>
          <a:ln w="12700">
            <a:solidFill>
              <a:srgbClr val="FBF4D2"/>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8511601" y="2613721"/>
            <a:ext cx="368686" cy="368686"/>
          </a:xfrm>
          <a:prstGeom prst="rect">
            <a:avLst/>
          </a:prstGeom>
        </p:spPr>
      </p:pic>
      <p:sp>
        <p:nvSpPr>
          <p:cNvPr id="18" name="Text 13"/>
          <p:cNvSpPr txBox="1"/>
          <p:nvPr/>
        </p:nvSpPr>
        <p:spPr>
          <a:xfrm>
            <a:off x="8366760" y="3337560"/>
            <a:ext cx="2926080" cy="411480"/>
          </a:xfrm>
          <a:prstGeom prst="rect">
            <a:avLst/>
          </a:prstGeom>
          <a:noFill/>
          <a:ln/>
        </p:spPr>
        <p:txBody>
          <a:bodyPr wrap="square" lIns="0" tIns="0" rIns="0" bIns="0" rtlCol="0" anchor="ctr"/>
          <a:lstStyle/>
          <a:p>
            <a:pPr marL="0" indent="0">
              <a:buNone/>
            </a:pPr>
            <a:r>
              <a:rPr lang="en-US" sz="2000" b="1" dirty="0">
                <a:solidFill>
                  <a:srgbClr val="16171B"/>
                </a:solidFill>
                <a:latin typeface="Arial" pitchFamily="34" charset="0"/>
                <a:ea typeface="Arial" pitchFamily="34" charset="-122"/>
                <a:cs typeface="Arial" pitchFamily="34" charset="-120"/>
              </a:rPr>
              <a:t>What's near me?</a:t>
            </a:r>
            <a:endParaRPr lang="en-US" sz="2000" dirty="0"/>
          </a:p>
        </p:txBody>
      </p:sp>
      <p:sp>
        <p:nvSpPr>
          <p:cNvPr id="19" name="Text 14"/>
          <p:cNvSpPr txBox="1"/>
          <p:nvPr/>
        </p:nvSpPr>
        <p:spPr>
          <a:xfrm>
            <a:off x="8366760" y="3840480"/>
            <a:ext cx="2926080" cy="1097280"/>
          </a:xfrm>
          <a:prstGeom prst="rect">
            <a:avLst/>
          </a:prstGeom>
          <a:noFill/>
          <a:ln/>
        </p:spPr>
        <p:txBody>
          <a:bodyPr wrap="square" lIns="0" tIns="0" rIns="0" bIns="0" rtlCol="0" anchor="t"/>
          <a:lstStyle/>
          <a:p>
            <a:pPr marL="0" indent="0">
              <a:buNone/>
            </a:pPr>
            <a:r>
              <a:rPr lang="en-US" sz="1500" dirty="0">
                <a:solidFill>
                  <a:srgbClr val="5F626B"/>
                </a:solidFill>
                <a:latin typeface="Calibri" pitchFamily="34" charset="0"/>
                <a:ea typeface="Calibri" pitchFamily="34" charset="-122"/>
                <a:cs typeface="Calibri" pitchFamily="34" charset="-120"/>
              </a:rPr>
              <a:t>Standing somewhere on campus, nothing tells you which hall, bank or canteen is closest.</a:t>
            </a:r>
            <a:endParaRPr lang="en-US" sz="1500" dirty="0"/>
          </a:p>
        </p:txBody>
      </p:sp>
      <p:sp>
        <p:nvSpPr>
          <p:cNvPr id="20" name="Text 15"/>
          <p:cNvSpPr txBox="1"/>
          <p:nvPr/>
        </p:nvSpPr>
        <p:spPr>
          <a:xfrm>
            <a:off x="548640" y="5440680"/>
            <a:ext cx="10972800" cy="365760"/>
          </a:xfrm>
          <a:prstGeom prst="rect">
            <a:avLst/>
          </a:prstGeom>
          <a:noFill/>
          <a:ln/>
        </p:spPr>
        <p:txBody>
          <a:bodyPr wrap="square" lIns="0" tIns="0" rIns="0" bIns="0" rtlCol="0" anchor="ctr"/>
          <a:lstStyle/>
          <a:p>
            <a:pPr marL="0" indent="0">
              <a:buNone/>
            </a:pPr>
            <a:r>
              <a:rPr lang="en-US" sz="1600" i="1" dirty="0">
                <a:solidFill>
                  <a:srgbClr val="16171B"/>
                </a:solidFill>
                <a:latin typeface="Calibri" pitchFamily="34" charset="0"/>
                <a:ea typeface="Calibri" pitchFamily="34" charset="-122"/>
                <a:cs typeface="Calibri" pitchFamily="34" charset="-120"/>
              </a:rPr>
              <a:t>We wanted one small program that answers all three, using only what we learned in this course.</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03</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D9B100"/>
                </a:solidFill>
                <a:latin typeface="Arial" pitchFamily="34" charset="0"/>
                <a:ea typeface="Arial" pitchFamily="34" charset="-122"/>
                <a:cs typeface="Arial" pitchFamily="34" charset="-120"/>
              </a:rPr>
              <a:t>CHOLOKUET AT A GLANCE</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Say where you are and where to go. Get the way.</a:t>
            </a:r>
            <a:endParaRPr lang="en-US" sz="3400" dirty="0"/>
          </a:p>
        </p:txBody>
      </p:sp>
      <p:sp>
        <p:nvSpPr>
          <p:cNvPr id="5" name="Text 3"/>
          <p:cNvSpPr txBox="1"/>
          <p:nvPr/>
        </p:nvSpPr>
        <p:spPr>
          <a:xfrm>
            <a:off x="548640" y="1920240"/>
            <a:ext cx="2651760" cy="1005840"/>
          </a:xfrm>
          <a:prstGeom prst="rect">
            <a:avLst/>
          </a:prstGeom>
          <a:noFill/>
          <a:ln/>
        </p:spPr>
        <p:txBody>
          <a:bodyPr wrap="square" lIns="0" tIns="0" rIns="0" bIns="0" rtlCol="0" anchor="ctr"/>
          <a:lstStyle/>
          <a:p>
            <a:pPr marL="0" indent="0">
              <a:buNone/>
            </a:pPr>
            <a:r>
              <a:rPr lang="en-US" sz="6400" b="1" dirty="0">
                <a:solidFill>
                  <a:srgbClr val="D9B100"/>
                </a:solidFill>
                <a:latin typeface="Arial" pitchFamily="34" charset="0"/>
                <a:ea typeface="Arial" pitchFamily="34" charset="-122"/>
                <a:cs typeface="Arial" pitchFamily="34" charset="-120"/>
              </a:rPr>
              <a:t>44</a:t>
            </a:r>
            <a:endParaRPr lang="en-US" sz="6400" dirty="0"/>
          </a:p>
        </p:txBody>
      </p:sp>
      <p:sp>
        <p:nvSpPr>
          <p:cNvPr id="6" name="Text 4"/>
          <p:cNvSpPr txBox="1"/>
          <p:nvPr/>
        </p:nvSpPr>
        <p:spPr>
          <a:xfrm>
            <a:off x="548640" y="2926080"/>
            <a:ext cx="2651760" cy="320040"/>
          </a:xfrm>
          <a:prstGeom prst="rect">
            <a:avLst/>
          </a:prstGeom>
          <a:noFill/>
          <a:ln/>
        </p:spPr>
        <p:txBody>
          <a:bodyPr wrap="square" lIns="0" tIns="0" rIns="0" bIns="0" rtlCol="0" anchor="ctr"/>
          <a:lstStyle/>
          <a:p>
            <a:pPr marL="0" indent="0">
              <a:buNone/>
            </a:pPr>
            <a:r>
              <a:rPr lang="en-US" sz="1500" dirty="0">
                <a:solidFill>
                  <a:srgbClr val="C9CAD0"/>
                </a:solidFill>
                <a:latin typeface="Calibri" pitchFamily="34" charset="0"/>
                <a:ea typeface="Calibri" pitchFamily="34" charset="-122"/>
                <a:cs typeface="Calibri" pitchFamily="34" charset="-120"/>
              </a:rPr>
              <a:t>places on campus</a:t>
            </a:r>
            <a:endParaRPr lang="en-US" sz="1500" dirty="0"/>
          </a:p>
        </p:txBody>
      </p:sp>
      <p:sp>
        <p:nvSpPr>
          <p:cNvPr id="7" name="Text 5"/>
          <p:cNvSpPr txBox="1"/>
          <p:nvPr/>
        </p:nvSpPr>
        <p:spPr>
          <a:xfrm>
            <a:off x="3337560" y="1920240"/>
            <a:ext cx="2651760" cy="1005840"/>
          </a:xfrm>
          <a:prstGeom prst="rect">
            <a:avLst/>
          </a:prstGeom>
          <a:noFill/>
          <a:ln/>
        </p:spPr>
        <p:txBody>
          <a:bodyPr wrap="square" lIns="0" tIns="0" rIns="0" bIns="0" rtlCol="0" anchor="ctr"/>
          <a:lstStyle/>
          <a:p>
            <a:pPr marL="0" indent="0">
              <a:buNone/>
            </a:pPr>
            <a:r>
              <a:rPr lang="en-US" sz="6400" b="1" dirty="0">
                <a:solidFill>
                  <a:srgbClr val="D9B100"/>
                </a:solidFill>
                <a:latin typeface="Arial" pitchFamily="34" charset="0"/>
                <a:ea typeface="Arial" pitchFamily="34" charset="-122"/>
                <a:cs typeface="Arial" pitchFamily="34" charset="-120"/>
              </a:rPr>
              <a:t>56</a:t>
            </a:r>
            <a:endParaRPr lang="en-US" sz="6400" dirty="0"/>
          </a:p>
        </p:txBody>
      </p:sp>
      <p:sp>
        <p:nvSpPr>
          <p:cNvPr id="8" name="Text 6"/>
          <p:cNvSpPr txBox="1"/>
          <p:nvPr/>
        </p:nvSpPr>
        <p:spPr>
          <a:xfrm>
            <a:off x="3337560" y="2926080"/>
            <a:ext cx="2651760" cy="320040"/>
          </a:xfrm>
          <a:prstGeom prst="rect">
            <a:avLst/>
          </a:prstGeom>
          <a:noFill/>
          <a:ln/>
        </p:spPr>
        <p:txBody>
          <a:bodyPr wrap="square" lIns="0" tIns="0" rIns="0" bIns="0" rtlCol="0" anchor="ctr"/>
          <a:lstStyle/>
          <a:p>
            <a:pPr marL="0" indent="0">
              <a:buNone/>
            </a:pPr>
            <a:r>
              <a:rPr lang="en-US" sz="1500" dirty="0">
                <a:solidFill>
                  <a:srgbClr val="C9CAD0"/>
                </a:solidFill>
                <a:latin typeface="Calibri" pitchFamily="34" charset="0"/>
                <a:ea typeface="Calibri" pitchFamily="34" charset="-122"/>
                <a:cs typeface="Calibri" pitchFamily="34" charset="-120"/>
              </a:rPr>
              <a:t>walkways</a:t>
            </a:r>
            <a:endParaRPr lang="en-US" sz="1500" dirty="0"/>
          </a:p>
        </p:txBody>
      </p:sp>
      <p:sp>
        <p:nvSpPr>
          <p:cNvPr id="9" name="Text 7"/>
          <p:cNvSpPr txBox="1"/>
          <p:nvPr/>
        </p:nvSpPr>
        <p:spPr>
          <a:xfrm>
            <a:off x="6126480" y="1920240"/>
            <a:ext cx="2651760" cy="1005840"/>
          </a:xfrm>
          <a:prstGeom prst="rect">
            <a:avLst/>
          </a:prstGeom>
          <a:noFill/>
          <a:ln/>
        </p:spPr>
        <p:txBody>
          <a:bodyPr wrap="square" lIns="0" tIns="0" rIns="0" bIns="0" rtlCol="0" anchor="ctr"/>
          <a:lstStyle/>
          <a:p>
            <a:pPr marL="0" indent="0">
              <a:buNone/>
            </a:pPr>
            <a:r>
              <a:rPr lang="en-US" sz="6400" b="1" dirty="0">
                <a:solidFill>
                  <a:srgbClr val="D9B100"/>
                </a:solidFill>
                <a:latin typeface="Arial" pitchFamily="34" charset="0"/>
                <a:ea typeface="Arial" pitchFamily="34" charset="-122"/>
                <a:cs typeface="Arial" pitchFamily="34" charset="-120"/>
              </a:rPr>
              <a:t>15</a:t>
            </a:r>
            <a:endParaRPr lang="en-US" sz="6400" dirty="0"/>
          </a:p>
        </p:txBody>
      </p:sp>
      <p:sp>
        <p:nvSpPr>
          <p:cNvPr id="10" name="Text 8"/>
          <p:cNvSpPr txBox="1"/>
          <p:nvPr/>
        </p:nvSpPr>
        <p:spPr>
          <a:xfrm>
            <a:off x="6126480" y="2926080"/>
            <a:ext cx="2651760" cy="320040"/>
          </a:xfrm>
          <a:prstGeom prst="rect">
            <a:avLst/>
          </a:prstGeom>
          <a:noFill/>
          <a:ln/>
        </p:spPr>
        <p:txBody>
          <a:bodyPr wrap="square" lIns="0" tIns="0" rIns="0" bIns="0" rtlCol="0" anchor="ctr"/>
          <a:lstStyle/>
          <a:p>
            <a:pPr marL="0" indent="0">
              <a:buNone/>
            </a:pPr>
            <a:r>
              <a:rPr lang="en-US" sz="1500" dirty="0">
                <a:solidFill>
                  <a:srgbClr val="C9CAD0"/>
                </a:solidFill>
                <a:latin typeface="Calibri" pitchFamily="34" charset="0"/>
                <a:ea typeface="Calibri" pitchFamily="34" charset="-122"/>
                <a:cs typeface="Calibri" pitchFamily="34" charset="-120"/>
              </a:rPr>
              <a:t>named roads</a:t>
            </a:r>
            <a:endParaRPr lang="en-US" sz="1500" dirty="0"/>
          </a:p>
        </p:txBody>
      </p:sp>
      <p:sp>
        <p:nvSpPr>
          <p:cNvPr id="11" name="Text 9"/>
          <p:cNvSpPr txBox="1"/>
          <p:nvPr/>
        </p:nvSpPr>
        <p:spPr>
          <a:xfrm>
            <a:off x="8915400" y="1920240"/>
            <a:ext cx="2651760" cy="1005840"/>
          </a:xfrm>
          <a:prstGeom prst="rect">
            <a:avLst/>
          </a:prstGeom>
          <a:noFill/>
          <a:ln/>
        </p:spPr>
        <p:txBody>
          <a:bodyPr wrap="square" lIns="0" tIns="0" rIns="0" bIns="0" rtlCol="0" anchor="ctr"/>
          <a:lstStyle/>
          <a:p>
            <a:pPr marL="0" indent="0">
              <a:buNone/>
            </a:pPr>
            <a:r>
              <a:rPr lang="en-US" sz="6400" b="1" dirty="0">
                <a:solidFill>
                  <a:srgbClr val="D9B100"/>
                </a:solidFill>
                <a:latin typeface="Arial" pitchFamily="34" charset="0"/>
                <a:ea typeface="Arial" pitchFamily="34" charset="-122"/>
                <a:cs typeface="Arial" pitchFamily="34" charset="-120"/>
              </a:rPr>
              <a:t>907</a:t>
            </a:r>
            <a:endParaRPr lang="en-US" sz="6400" dirty="0"/>
          </a:p>
        </p:txBody>
      </p:sp>
      <p:sp>
        <p:nvSpPr>
          <p:cNvPr id="12" name="Text 10"/>
          <p:cNvSpPr txBox="1"/>
          <p:nvPr/>
        </p:nvSpPr>
        <p:spPr>
          <a:xfrm>
            <a:off x="8915400" y="2926080"/>
            <a:ext cx="2651760" cy="320040"/>
          </a:xfrm>
          <a:prstGeom prst="rect">
            <a:avLst/>
          </a:prstGeom>
          <a:noFill/>
          <a:ln/>
        </p:spPr>
        <p:txBody>
          <a:bodyPr wrap="square" lIns="0" tIns="0" rIns="0" bIns="0" rtlCol="0" anchor="ctr"/>
          <a:lstStyle/>
          <a:p>
            <a:pPr marL="0" indent="0">
              <a:buNone/>
            </a:pPr>
            <a:r>
              <a:rPr lang="en-US" sz="1500" dirty="0">
                <a:solidFill>
                  <a:srgbClr val="C9CAD0"/>
                </a:solidFill>
                <a:latin typeface="Calibri" pitchFamily="34" charset="0"/>
                <a:ea typeface="Calibri" pitchFamily="34" charset="-122"/>
                <a:cs typeface="Calibri" pitchFamily="34" charset="-120"/>
              </a:rPr>
              <a:t>unit checks passing</a:t>
            </a:r>
            <a:endParaRPr lang="en-US" sz="1500" dirty="0"/>
          </a:p>
        </p:txBody>
      </p:sp>
      <p:sp>
        <p:nvSpPr>
          <p:cNvPr id="13" name="Shape 11"/>
          <p:cNvSpPr/>
          <p:nvPr/>
        </p:nvSpPr>
        <p:spPr>
          <a:xfrm>
            <a:off x="548640" y="3840480"/>
            <a:ext cx="5394960" cy="1783080"/>
          </a:xfrm>
          <a:prstGeom prst="roundRect">
            <a:avLst>
              <a:gd name="adj" fmla="val 6154"/>
            </a:avLst>
          </a:prstGeom>
          <a:solidFill>
            <a:srgbClr val="1B1D24"/>
          </a:solidFill>
          <a:ln w="12700">
            <a:solidFill>
              <a:srgbClr val="2C2F38"/>
            </a:solidFill>
            <a:prstDash val="solid"/>
          </a:ln>
        </p:spPr>
        <p:txBody>
          <a:bodyPr/>
          <a:lstStyle/>
          <a:p>
            <a:endParaRPr lang="en-US"/>
          </a:p>
        </p:txBody>
      </p:sp>
      <p:sp>
        <p:nvSpPr>
          <p:cNvPr id="14" name="Shape 12"/>
          <p:cNvSpPr/>
          <p:nvPr/>
        </p:nvSpPr>
        <p:spPr>
          <a:xfrm>
            <a:off x="822960" y="411480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15" name="Image 0" descr="preencoded.png"/>
          <p:cNvPicPr>
            <a:picLocks noChangeAspect="1"/>
          </p:cNvPicPr>
          <p:nvPr/>
        </p:nvPicPr>
        <p:blipFill>
          <a:blip r:embed="rId3"/>
          <a:stretch>
            <a:fillRect/>
          </a:stretch>
        </p:blipFill>
        <p:spPr>
          <a:xfrm>
            <a:off x="955731" y="4247571"/>
            <a:ext cx="337962" cy="337962"/>
          </a:xfrm>
          <a:prstGeom prst="rect">
            <a:avLst/>
          </a:prstGeom>
        </p:spPr>
      </p:pic>
      <p:sp>
        <p:nvSpPr>
          <p:cNvPr id="16" name="Text 13"/>
          <p:cNvSpPr txBox="1"/>
          <p:nvPr/>
        </p:nvSpPr>
        <p:spPr>
          <a:xfrm>
            <a:off x="1600200" y="411480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The terminal app</a:t>
            </a:r>
            <a:endParaRPr lang="en-US" sz="1900" dirty="0"/>
          </a:p>
        </p:txBody>
      </p:sp>
      <p:sp>
        <p:nvSpPr>
          <p:cNvPr id="17" name="Text 14"/>
          <p:cNvSpPr txBox="1"/>
          <p:nvPr/>
        </p:nvSpPr>
        <p:spPr>
          <a:xfrm>
            <a:off x="1600200" y="4572000"/>
            <a:ext cx="4114800" cy="91440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C++17, one portable CholoKUET.exe with its own icon. Works fully offline, with student and admin accounts.</a:t>
            </a:r>
            <a:endParaRPr lang="en-US" sz="1400" dirty="0"/>
          </a:p>
        </p:txBody>
      </p:sp>
      <p:sp>
        <p:nvSpPr>
          <p:cNvPr id="18" name="Shape 15"/>
          <p:cNvSpPr/>
          <p:nvPr/>
        </p:nvSpPr>
        <p:spPr>
          <a:xfrm>
            <a:off x="6126480" y="3840480"/>
            <a:ext cx="5394960" cy="1783080"/>
          </a:xfrm>
          <a:prstGeom prst="roundRect">
            <a:avLst>
              <a:gd name="adj" fmla="val 6154"/>
            </a:avLst>
          </a:prstGeom>
          <a:solidFill>
            <a:srgbClr val="1B1D24"/>
          </a:solidFill>
          <a:ln w="12700">
            <a:solidFill>
              <a:srgbClr val="2C2F38"/>
            </a:solidFill>
            <a:prstDash val="solid"/>
          </a:ln>
        </p:spPr>
        <p:txBody>
          <a:bodyPr/>
          <a:lstStyle/>
          <a:p>
            <a:endParaRPr lang="en-US"/>
          </a:p>
        </p:txBody>
      </p:sp>
      <p:sp>
        <p:nvSpPr>
          <p:cNvPr id="19" name="Shape 16"/>
          <p:cNvSpPr/>
          <p:nvPr/>
        </p:nvSpPr>
        <p:spPr>
          <a:xfrm>
            <a:off x="6400800" y="411480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20" name="Image 1" descr="preencoded.png"/>
          <p:cNvPicPr>
            <a:picLocks noChangeAspect="1"/>
          </p:cNvPicPr>
          <p:nvPr/>
        </p:nvPicPr>
        <p:blipFill>
          <a:blip r:embed="rId4"/>
          <a:stretch>
            <a:fillRect/>
          </a:stretch>
        </p:blipFill>
        <p:spPr>
          <a:xfrm>
            <a:off x="6533571" y="4247571"/>
            <a:ext cx="337962" cy="337962"/>
          </a:xfrm>
          <a:prstGeom prst="rect">
            <a:avLst/>
          </a:prstGeom>
        </p:spPr>
      </p:pic>
      <p:sp>
        <p:nvSpPr>
          <p:cNvPr id="21" name="Text 17"/>
          <p:cNvSpPr txBox="1"/>
          <p:nvPr/>
        </p:nvSpPr>
        <p:spPr>
          <a:xfrm>
            <a:off x="7178040" y="411480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The online version</a:t>
            </a:r>
            <a:endParaRPr lang="en-US" sz="1900" dirty="0"/>
          </a:p>
        </p:txBody>
      </p:sp>
      <p:sp>
        <p:nvSpPr>
          <p:cNvPr id="22" name="Text 18"/>
          <p:cNvSpPr txBox="1"/>
          <p:nvPr/>
        </p:nvSpPr>
        <p:spPr>
          <a:xfrm>
            <a:off x="7178040" y="4572000"/>
            <a:ext cx="4114800" cy="91440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ettisafxrup.github.io/CholoKUET: the same campus data with BFS and DFS running live in the browser, plus the full report.</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04</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FEATURES</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Everything CholoKUET does</a:t>
            </a:r>
            <a:endParaRPr lang="en-US" sz="3400" dirty="0"/>
          </a:p>
        </p:txBody>
      </p:sp>
      <p:sp>
        <p:nvSpPr>
          <p:cNvPr id="5" name="Shape 3"/>
          <p:cNvSpPr/>
          <p:nvPr/>
        </p:nvSpPr>
        <p:spPr>
          <a:xfrm>
            <a:off x="548640" y="1691640"/>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6" name="Shape 4"/>
          <p:cNvSpPr/>
          <p:nvPr/>
        </p:nvSpPr>
        <p:spPr>
          <a:xfrm>
            <a:off x="731520" y="1892808"/>
            <a:ext cx="457200" cy="457200"/>
          </a:xfrm>
          <a:prstGeom prst="ellipse">
            <a:avLst/>
          </a:prstGeom>
          <a:solidFill>
            <a:srgbClr val="FBF4D2"/>
          </a:solidFill>
          <a:ln w="12700">
            <a:solidFill>
              <a:srgbClr val="FBF4D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32104" y="1993392"/>
            <a:ext cx="256032" cy="256032"/>
          </a:xfrm>
          <a:prstGeom prst="rect">
            <a:avLst/>
          </a:prstGeom>
        </p:spPr>
      </p:pic>
      <p:sp>
        <p:nvSpPr>
          <p:cNvPr id="8" name="Text 5"/>
          <p:cNvSpPr txBox="1"/>
          <p:nvPr/>
        </p:nvSpPr>
        <p:spPr>
          <a:xfrm>
            <a:off x="1298448" y="1874520"/>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Take me somewhere</a:t>
            </a:r>
            <a:endParaRPr lang="en-US" sz="1400" dirty="0"/>
          </a:p>
        </p:txBody>
      </p:sp>
      <p:sp>
        <p:nvSpPr>
          <p:cNvPr id="9" name="Text 6"/>
          <p:cNvSpPr txBox="1"/>
          <p:nvPr/>
        </p:nvSpPr>
        <p:spPr>
          <a:xfrm>
            <a:off x="1298448" y="2194560"/>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Turn-by-turn walking directions</a:t>
            </a:r>
            <a:endParaRPr lang="en-US" sz="1150" dirty="0"/>
          </a:p>
        </p:txBody>
      </p:sp>
      <p:sp>
        <p:nvSpPr>
          <p:cNvPr id="10" name="Text 7"/>
          <p:cNvSpPr txBox="1"/>
          <p:nvPr/>
        </p:nvSpPr>
        <p:spPr>
          <a:xfrm>
            <a:off x="1298448" y="2606040"/>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BFS · Queue · Stack</a:t>
            </a:r>
            <a:endParaRPr lang="en-US" sz="950" dirty="0"/>
          </a:p>
        </p:txBody>
      </p:sp>
      <p:sp>
        <p:nvSpPr>
          <p:cNvPr id="11" name="Shape 8"/>
          <p:cNvSpPr/>
          <p:nvPr/>
        </p:nvSpPr>
        <p:spPr>
          <a:xfrm>
            <a:off x="3328416" y="1691640"/>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12" name="Shape 9"/>
          <p:cNvSpPr/>
          <p:nvPr/>
        </p:nvSpPr>
        <p:spPr>
          <a:xfrm>
            <a:off x="3511296" y="1892808"/>
            <a:ext cx="457200" cy="457200"/>
          </a:xfrm>
          <a:prstGeom prst="ellipse">
            <a:avLst/>
          </a:prstGeom>
          <a:solidFill>
            <a:srgbClr val="FBF4D2"/>
          </a:solidFill>
          <a:ln w="12700">
            <a:solidFill>
              <a:srgbClr val="FBF4D2"/>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611880" y="1993392"/>
            <a:ext cx="256032" cy="256032"/>
          </a:xfrm>
          <a:prstGeom prst="rect">
            <a:avLst/>
          </a:prstGeom>
        </p:spPr>
      </p:pic>
      <p:sp>
        <p:nvSpPr>
          <p:cNvPr id="14" name="Text 10"/>
          <p:cNvSpPr txBox="1"/>
          <p:nvPr/>
        </p:nvSpPr>
        <p:spPr>
          <a:xfrm>
            <a:off x="4078224" y="1874520"/>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What's near me</a:t>
            </a:r>
            <a:endParaRPr lang="en-US" sz="1400" dirty="0"/>
          </a:p>
        </p:txBody>
      </p:sp>
      <p:sp>
        <p:nvSpPr>
          <p:cNvPr id="15" name="Text 11"/>
          <p:cNvSpPr txBox="1"/>
          <p:nvPr/>
        </p:nvSpPr>
        <p:spPr>
          <a:xfrm>
            <a:off x="4078224" y="2194560"/>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10 closest places, distance and direction</a:t>
            </a:r>
            <a:endParaRPr lang="en-US" sz="1150" dirty="0"/>
          </a:p>
        </p:txBody>
      </p:sp>
      <p:sp>
        <p:nvSpPr>
          <p:cNvPr id="16" name="Text 12"/>
          <p:cNvSpPr txBox="1"/>
          <p:nvPr/>
        </p:nvSpPr>
        <p:spPr>
          <a:xfrm>
            <a:off x="4078224" y="2606040"/>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Haversine · bubble sort</a:t>
            </a:r>
            <a:endParaRPr lang="en-US" sz="950" dirty="0"/>
          </a:p>
        </p:txBody>
      </p:sp>
      <p:sp>
        <p:nvSpPr>
          <p:cNvPr id="17" name="Shape 13"/>
          <p:cNvSpPr/>
          <p:nvPr/>
        </p:nvSpPr>
        <p:spPr>
          <a:xfrm>
            <a:off x="6108192" y="1691640"/>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18" name="Shape 14"/>
          <p:cNvSpPr/>
          <p:nvPr/>
        </p:nvSpPr>
        <p:spPr>
          <a:xfrm>
            <a:off x="6291072" y="1892808"/>
            <a:ext cx="457200" cy="457200"/>
          </a:xfrm>
          <a:prstGeom prst="ellipse">
            <a:avLst/>
          </a:prstGeom>
          <a:solidFill>
            <a:srgbClr val="FBF4D2"/>
          </a:solidFill>
          <a:ln w="12700">
            <a:solidFill>
              <a:srgbClr val="FBF4D2"/>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391656" y="1993392"/>
            <a:ext cx="256032" cy="256032"/>
          </a:xfrm>
          <a:prstGeom prst="rect">
            <a:avLst/>
          </a:prstGeom>
        </p:spPr>
      </p:pic>
      <p:sp>
        <p:nvSpPr>
          <p:cNvPr id="20" name="Text 15"/>
          <p:cNvSpPr txBox="1"/>
          <p:nvPr/>
        </p:nvSpPr>
        <p:spPr>
          <a:xfrm>
            <a:off x="6858000" y="1874520"/>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Explore the campus</a:t>
            </a:r>
            <a:endParaRPr lang="en-US" sz="1400" dirty="0"/>
          </a:p>
        </p:txBody>
      </p:sp>
      <p:sp>
        <p:nvSpPr>
          <p:cNvPr id="21" name="Text 16"/>
          <p:cNvSpPr txBox="1"/>
          <p:nvPr/>
        </p:nvSpPr>
        <p:spPr>
          <a:xfrm>
            <a:off x="6858000" y="2194560"/>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Walk it all, check it's connected</a:t>
            </a:r>
            <a:endParaRPr lang="en-US" sz="1150" dirty="0"/>
          </a:p>
        </p:txBody>
      </p:sp>
      <p:sp>
        <p:nvSpPr>
          <p:cNvPr id="22" name="Text 17"/>
          <p:cNvSpPr txBox="1"/>
          <p:nvPr/>
        </p:nvSpPr>
        <p:spPr>
          <a:xfrm>
            <a:off x="6858000" y="2606040"/>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DFS · Stack</a:t>
            </a:r>
            <a:endParaRPr lang="en-US" sz="950" dirty="0"/>
          </a:p>
        </p:txBody>
      </p:sp>
      <p:sp>
        <p:nvSpPr>
          <p:cNvPr id="23" name="Shape 18"/>
          <p:cNvSpPr/>
          <p:nvPr/>
        </p:nvSpPr>
        <p:spPr>
          <a:xfrm>
            <a:off x="8887968" y="1691640"/>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24" name="Shape 19"/>
          <p:cNvSpPr/>
          <p:nvPr/>
        </p:nvSpPr>
        <p:spPr>
          <a:xfrm>
            <a:off x="9070848" y="1892808"/>
            <a:ext cx="457200" cy="457200"/>
          </a:xfrm>
          <a:prstGeom prst="ellipse">
            <a:avLst/>
          </a:prstGeom>
          <a:solidFill>
            <a:srgbClr val="FBF4D2"/>
          </a:solidFill>
          <a:ln w="12700">
            <a:solidFill>
              <a:srgbClr val="FBF4D2"/>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9171432" y="1993392"/>
            <a:ext cx="256032" cy="256032"/>
          </a:xfrm>
          <a:prstGeom prst="rect">
            <a:avLst/>
          </a:prstGeom>
        </p:spPr>
      </p:pic>
      <p:sp>
        <p:nvSpPr>
          <p:cNvPr id="26" name="Text 20"/>
          <p:cNvSpPr txBox="1"/>
          <p:nvPr/>
        </p:nvSpPr>
        <p:spPr>
          <a:xfrm>
            <a:off x="9637776" y="1874520"/>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Search</a:t>
            </a:r>
            <a:endParaRPr lang="en-US" sz="1400" dirty="0"/>
          </a:p>
        </p:txBody>
      </p:sp>
      <p:sp>
        <p:nvSpPr>
          <p:cNvPr id="27" name="Text 21"/>
          <p:cNvSpPr txBox="1"/>
          <p:nvPr/>
        </p:nvSpPr>
        <p:spPr>
          <a:xfrm>
            <a:off x="9637776" y="2194560"/>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Name, category or number</a:t>
            </a:r>
            <a:endParaRPr lang="en-US" sz="1150" dirty="0"/>
          </a:p>
        </p:txBody>
      </p:sp>
      <p:sp>
        <p:nvSpPr>
          <p:cNvPr id="28" name="Text 22"/>
          <p:cNvSpPr txBox="1"/>
          <p:nvPr/>
        </p:nvSpPr>
        <p:spPr>
          <a:xfrm>
            <a:off x="9637776" y="2606040"/>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Linear · binary search</a:t>
            </a:r>
            <a:endParaRPr lang="en-US" sz="950" dirty="0"/>
          </a:p>
        </p:txBody>
      </p:sp>
      <p:sp>
        <p:nvSpPr>
          <p:cNvPr id="29" name="Shape 23"/>
          <p:cNvSpPr/>
          <p:nvPr/>
        </p:nvSpPr>
        <p:spPr>
          <a:xfrm>
            <a:off x="548640" y="3081528"/>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30" name="Shape 24"/>
          <p:cNvSpPr/>
          <p:nvPr/>
        </p:nvSpPr>
        <p:spPr>
          <a:xfrm>
            <a:off x="731520" y="3282696"/>
            <a:ext cx="457200" cy="457200"/>
          </a:xfrm>
          <a:prstGeom prst="ellipse">
            <a:avLst/>
          </a:prstGeom>
          <a:solidFill>
            <a:srgbClr val="FBF4D2"/>
          </a:solidFill>
          <a:ln w="12700">
            <a:solidFill>
              <a:srgbClr val="FBF4D2"/>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832104" y="3383280"/>
            <a:ext cx="256032" cy="256032"/>
          </a:xfrm>
          <a:prstGeom prst="rect">
            <a:avLst/>
          </a:prstGeom>
        </p:spPr>
      </p:pic>
      <p:sp>
        <p:nvSpPr>
          <p:cNvPr id="32" name="Text 25"/>
          <p:cNvSpPr txBox="1"/>
          <p:nvPr/>
        </p:nvSpPr>
        <p:spPr>
          <a:xfrm>
            <a:off x="1298448" y="3264408"/>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Browse by category</a:t>
            </a:r>
            <a:endParaRPr lang="en-US" sz="1400" dirty="0"/>
          </a:p>
        </p:txBody>
      </p:sp>
      <p:sp>
        <p:nvSpPr>
          <p:cNvPr id="33" name="Text 26"/>
          <p:cNvSpPr txBox="1"/>
          <p:nvPr/>
        </p:nvSpPr>
        <p:spPr>
          <a:xfrm>
            <a:off x="1298448" y="3584448"/>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KUET → category → place</a:t>
            </a:r>
            <a:endParaRPr lang="en-US" sz="1150" dirty="0"/>
          </a:p>
        </p:txBody>
      </p:sp>
      <p:sp>
        <p:nvSpPr>
          <p:cNvPr id="34" name="Text 27"/>
          <p:cNvSpPr txBox="1"/>
          <p:nvPr/>
        </p:nvSpPr>
        <p:spPr>
          <a:xfrm>
            <a:off x="1298448" y="3995928"/>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General tree</a:t>
            </a:r>
            <a:endParaRPr lang="en-US" sz="950" dirty="0"/>
          </a:p>
        </p:txBody>
      </p:sp>
      <p:sp>
        <p:nvSpPr>
          <p:cNvPr id="35" name="Shape 28"/>
          <p:cNvSpPr/>
          <p:nvPr/>
        </p:nvSpPr>
        <p:spPr>
          <a:xfrm>
            <a:off x="3328416" y="3081528"/>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36" name="Shape 29"/>
          <p:cNvSpPr/>
          <p:nvPr/>
        </p:nvSpPr>
        <p:spPr>
          <a:xfrm>
            <a:off x="3511296" y="3282696"/>
            <a:ext cx="457200" cy="457200"/>
          </a:xfrm>
          <a:prstGeom prst="ellipse">
            <a:avLst/>
          </a:prstGeom>
          <a:solidFill>
            <a:srgbClr val="FBF4D2"/>
          </a:solidFill>
          <a:ln w="12700">
            <a:solidFill>
              <a:srgbClr val="FBF4D2"/>
            </a:solidFill>
            <a:prstDash val="solid"/>
          </a:ln>
        </p:spPr>
        <p:txBody>
          <a:bodyPr/>
          <a:lstStyle/>
          <a:p>
            <a:endParaRPr lang="en-US"/>
          </a:p>
        </p:txBody>
      </p:sp>
      <p:pic>
        <p:nvPicPr>
          <p:cNvPr id="37" name="Image 5" descr="preencoded.png"/>
          <p:cNvPicPr>
            <a:picLocks noChangeAspect="1"/>
          </p:cNvPicPr>
          <p:nvPr/>
        </p:nvPicPr>
        <p:blipFill>
          <a:blip r:embed="rId8"/>
          <a:stretch>
            <a:fillRect/>
          </a:stretch>
        </p:blipFill>
        <p:spPr>
          <a:xfrm>
            <a:off x="3611880" y="3383280"/>
            <a:ext cx="256032" cy="256032"/>
          </a:xfrm>
          <a:prstGeom prst="rect">
            <a:avLst/>
          </a:prstGeom>
        </p:spPr>
      </p:pic>
      <p:sp>
        <p:nvSpPr>
          <p:cNvPr id="38" name="Text 30"/>
          <p:cNvSpPr txBox="1"/>
          <p:nvPr/>
        </p:nvSpPr>
        <p:spPr>
          <a:xfrm>
            <a:off x="4078224" y="3264408"/>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Sort places</a:t>
            </a:r>
            <a:endParaRPr lang="en-US" sz="1400" dirty="0"/>
          </a:p>
        </p:txBody>
      </p:sp>
      <p:sp>
        <p:nvSpPr>
          <p:cNvPr id="39" name="Text 31"/>
          <p:cNvSpPr txBox="1"/>
          <p:nvPr/>
        </p:nvSpPr>
        <p:spPr>
          <a:xfrm>
            <a:off x="4078224" y="3584448"/>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A–Z, Z–A, category, distance</a:t>
            </a:r>
            <a:endParaRPr lang="en-US" sz="1150" dirty="0"/>
          </a:p>
        </p:txBody>
      </p:sp>
      <p:sp>
        <p:nvSpPr>
          <p:cNvPr id="40" name="Text 32"/>
          <p:cNvSpPr txBox="1"/>
          <p:nvPr/>
        </p:nvSpPr>
        <p:spPr>
          <a:xfrm>
            <a:off x="4078224" y="3995928"/>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Bubble · selection</a:t>
            </a:r>
            <a:endParaRPr lang="en-US" sz="950" dirty="0"/>
          </a:p>
        </p:txBody>
      </p:sp>
      <p:sp>
        <p:nvSpPr>
          <p:cNvPr id="41" name="Shape 33"/>
          <p:cNvSpPr/>
          <p:nvPr/>
        </p:nvSpPr>
        <p:spPr>
          <a:xfrm>
            <a:off x="6108192" y="3081528"/>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42" name="Shape 34"/>
          <p:cNvSpPr/>
          <p:nvPr/>
        </p:nvSpPr>
        <p:spPr>
          <a:xfrm>
            <a:off x="6291072" y="3282696"/>
            <a:ext cx="457200" cy="457200"/>
          </a:xfrm>
          <a:prstGeom prst="ellipse">
            <a:avLst/>
          </a:prstGeom>
          <a:solidFill>
            <a:srgbClr val="FBF4D2"/>
          </a:solidFill>
          <a:ln w="12700">
            <a:solidFill>
              <a:srgbClr val="FBF4D2"/>
            </a:solidFill>
            <a:prstDash val="solid"/>
          </a:ln>
        </p:spPr>
        <p:txBody>
          <a:bodyPr/>
          <a:lstStyle/>
          <a:p>
            <a:endParaRPr lang="en-US"/>
          </a:p>
        </p:txBody>
      </p:sp>
      <p:pic>
        <p:nvPicPr>
          <p:cNvPr id="43" name="Image 6" descr="preencoded.png"/>
          <p:cNvPicPr>
            <a:picLocks noChangeAspect="1"/>
          </p:cNvPicPr>
          <p:nvPr/>
        </p:nvPicPr>
        <p:blipFill>
          <a:blip r:embed="rId9"/>
          <a:stretch>
            <a:fillRect/>
          </a:stretch>
        </p:blipFill>
        <p:spPr>
          <a:xfrm>
            <a:off x="6391656" y="3383280"/>
            <a:ext cx="256032" cy="256032"/>
          </a:xfrm>
          <a:prstGeom prst="rect">
            <a:avLst/>
          </a:prstGeom>
        </p:spPr>
      </p:pic>
      <p:sp>
        <p:nvSpPr>
          <p:cNvPr id="44" name="Text 35"/>
          <p:cNvSpPr txBox="1"/>
          <p:nvPr/>
        </p:nvSpPr>
        <p:spPr>
          <a:xfrm>
            <a:off x="6858000" y="3264408"/>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Where am I?</a:t>
            </a:r>
            <a:endParaRPr lang="en-US" sz="1400" dirty="0"/>
          </a:p>
        </p:txBody>
      </p:sp>
      <p:sp>
        <p:nvSpPr>
          <p:cNvPr id="45" name="Text 36"/>
          <p:cNvSpPr txBox="1"/>
          <p:nvPr/>
        </p:nvSpPr>
        <p:spPr>
          <a:xfrm>
            <a:off x="6858000" y="3584448"/>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Set location by place or coordinates</a:t>
            </a:r>
            <a:endParaRPr lang="en-US" sz="1150" dirty="0"/>
          </a:p>
        </p:txBody>
      </p:sp>
      <p:sp>
        <p:nvSpPr>
          <p:cNvPr id="46" name="Text 37"/>
          <p:cNvSpPr txBox="1"/>
          <p:nvPr/>
        </p:nvSpPr>
        <p:spPr>
          <a:xfrm>
            <a:off x="6858000" y="3995928"/>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Haversine</a:t>
            </a:r>
            <a:endParaRPr lang="en-US" sz="950" dirty="0"/>
          </a:p>
        </p:txBody>
      </p:sp>
      <p:sp>
        <p:nvSpPr>
          <p:cNvPr id="47" name="Shape 38"/>
          <p:cNvSpPr/>
          <p:nvPr/>
        </p:nvSpPr>
        <p:spPr>
          <a:xfrm>
            <a:off x="8887968" y="3081528"/>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48" name="Shape 39"/>
          <p:cNvSpPr/>
          <p:nvPr/>
        </p:nvSpPr>
        <p:spPr>
          <a:xfrm>
            <a:off x="9070848" y="3282696"/>
            <a:ext cx="457200" cy="457200"/>
          </a:xfrm>
          <a:prstGeom prst="ellipse">
            <a:avLst/>
          </a:prstGeom>
          <a:solidFill>
            <a:srgbClr val="FBF4D2"/>
          </a:solidFill>
          <a:ln w="12700">
            <a:solidFill>
              <a:srgbClr val="FBF4D2"/>
            </a:solidFill>
            <a:prstDash val="solid"/>
          </a:ln>
        </p:spPr>
        <p:txBody>
          <a:bodyPr/>
          <a:lstStyle/>
          <a:p>
            <a:endParaRPr lang="en-US"/>
          </a:p>
        </p:txBody>
      </p:sp>
      <p:pic>
        <p:nvPicPr>
          <p:cNvPr id="49" name="Image 7" descr="preencoded.png"/>
          <p:cNvPicPr>
            <a:picLocks noChangeAspect="1"/>
          </p:cNvPicPr>
          <p:nvPr/>
        </p:nvPicPr>
        <p:blipFill>
          <a:blip r:embed="rId10"/>
          <a:stretch>
            <a:fillRect/>
          </a:stretch>
        </p:blipFill>
        <p:spPr>
          <a:xfrm>
            <a:off x="9171432" y="3383280"/>
            <a:ext cx="256032" cy="256032"/>
          </a:xfrm>
          <a:prstGeom prst="rect">
            <a:avLst/>
          </a:prstGeom>
        </p:spPr>
      </p:pic>
      <p:sp>
        <p:nvSpPr>
          <p:cNvPr id="50" name="Text 40"/>
          <p:cNvSpPr txBox="1"/>
          <p:nvPr/>
        </p:nvSpPr>
        <p:spPr>
          <a:xfrm>
            <a:off x="9637776" y="3264408"/>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Trip history</a:t>
            </a:r>
            <a:endParaRPr lang="en-US" sz="1400" dirty="0"/>
          </a:p>
        </p:txBody>
      </p:sp>
      <p:sp>
        <p:nvSpPr>
          <p:cNvPr id="51" name="Text 41"/>
          <p:cNvSpPr txBox="1"/>
          <p:nvPr/>
        </p:nvSpPr>
        <p:spPr>
          <a:xfrm>
            <a:off x="9637776" y="3584448"/>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Everywhere you've been, with Back</a:t>
            </a:r>
            <a:endParaRPr lang="en-US" sz="1150" dirty="0"/>
          </a:p>
        </p:txBody>
      </p:sp>
      <p:sp>
        <p:nvSpPr>
          <p:cNvPr id="52" name="Text 42"/>
          <p:cNvSpPr txBox="1"/>
          <p:nvPr/>
        </p:nvSpPr>
        <p:spPr>
          <a:xfrm>
            <a:off x="9637776" y="3995928"/>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Stack</a:t>
            </a:r>
            <a:endParaRPr lang="en-US" sz="950" dirty="0"/>
          </a:p>
        </p:txBody>
      </p:sp>
      <p:sp>
        <p:nvSpPr>
          <p:cNvPr id="53" name="Shape 43"/>
          <p:cNvSpPr/>
          <p:nvPr/>
        </p:nvSpPr>
        <p:spPr>
          <a:xfrm>
            <a:off x="548640" y="4471416"/>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54" name="Shape 44"/>
          <p:cNvSpPr/>
          <p:nvPr/>
        </p:nvSpPr>
        <p:spPr>
          <a:xfrm>
            <a:off x="731520" y="4672584"/>
            <a:ext cx="457200" cy="457200"/>
          </a:xfrm>
          <a:prstGeom prst="ellipse">
            <a:avLst/>
          </a:prstGeom>
          <a:solidFill>
            <a:srgbClr val="FBF4D2"/>
          </a:solidFill>
          <a:ln w="12700">
            <a:solidFill>
              <a:srgbClr val="FBF4D2"/>
            </a:solidFill>
            <a:prstDash val="solid"/>
          </a:ln>
        </p:spPr>
        <p:txBody>
          <a:bodyPr/>
          <a:lstStyle/>
          <a:p>
            <a:endParaRPr lang="en-US"/>
          </a:p>
        </p:txBody>
      </p:sp>
      <p:pic>
        <p:nvPicPr>
          <p:cNvPr id="55" name="Image 8" descr="preencoded.png"/>
          <p:cNvPicPr>
            <a:picLocks noChangeAspect="1"/>
          </p:cNvPicPr>
          <p:nvPr/>
        </p:nvPicPr>
        <p:blipFill>
          <a:blip r:embed="rId11"/>
          <a:stretch>
            <a:fillRect/>
          </a:stretch>
        </p:blipFill>
        <p:spPr>
          <a:xfrm>
            <a:off x="832104" y="4773168"/>
            <a:ext cx="256032" cy="256032"/>
          </a:xfrm>
          <a:prstGeom prst="rect">
            <a:avLst/>
          </a:prstGeom>
        </p:spPr>
      </p:pic>
      <p:sp>
        <p:nvSpPr>
          <p:cNvPr id="56" name="Text 45"/>
          <p:cNvSpPr txBox="1"/>
          <p:nvPr/>
        </p:nvSpPr>
        <p:spPr>
          <a:xfrm>
            <a:off x="1298448" y="4654296"/>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Recent searches</a:t>
            </a:r>
            <a:endParaRPr lang="en-US" sz="1400" dirty="0"/>
          </a:p>
        </p:txBody>
      </p:sp>
      <p:sp>
        <p:nvSpPr>
          <p:cNvPr id="57" name="Text 46"/>
          <p:cNvSpPr txBox="1"/>
          <p:nvPr/>
        </p:nvSpPr>
        <p:spPr>
          <a:xfrm>
            <a:off x="1298448" y="4974336"/>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The last 10, newest first</a:t>
            </a:r>
            <a:endParaRPr lang="en-US" sz="1150" dirty="0"/>
          </a:p>
        </p:txBody>
      </p:sp>
      <p:sp>
        <p:nvSpPr>
          <p:cNvPr id="58" name="Text 47"/>
          <p:cNvSpPr txBox="1"/>
          <p:nvPr/>
        </p:nvSpPr>
        <p:spPr>
          <a:xfrm>
            <a:off x="1298448" y="5385816"/>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Linked list</a:t>
            </a:r>
            <a:endParaRPr lang="en-US" sz="950" dirty="0"/>
          </a:p>
        </p:txBody>
      </p:sp>
      <p:sp>
        <p:nvSpPr>
          <p:cNvPr id="59" name="Shape 48"/>
          <p:cNvSpPr/>
          <p:nvPr/>
        </p:nvSpPr>
        <p:spPr>
          <a:xfrm>
            <a:off x="3328416" y="4471416"/>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60" name="Shape 49"/>
          <p:cNvSpPr/>
          <p:nvPr/>
        </p:nvSpPr>
        <p:spPr>
          <a:xfrm>
            <a:off x="3511296" y="4672584"/>
            <a:ext cx="457200" cy="457200"/>
          </a:xfrm>
          <a:prstGeom prst="ellipse">
            <a:avLst/>
          </a:prstGeom>
          <a:solidFill>
            <a:srgbClr val="FBF4D2"/>
          </a:solidFill>
          <a:ln w="12700">
            <a:solidFill>
              <a:srgbClr val="FBF4D2"/>
            </a:solidFill>
            <a:prstDash val="solid"/>
          </a:ln>
        </p:spPr>
        <p:txBody>
          <a:bodyPr/>
          <a:lstStyle/>
          <a:p>
            <a:endParaRPr lang="en-US"/>
          </a:p>
        </p:txBody>
      </p:sp>
      <p:pic>
        <p:nvPicPr>
          <p:cNvPr id="61" name="Image 9" descr="preencoded.png"/>
          <p:cNvPicPr>
            <a:picLocks noChangeAspect="1"/>
          </p:cNvPicPr>
          <p:nvPr/>
        </p:nvPicPr>
        <p:blipFill>
          <a:blip r:embed="rId12"/>
          <a:stretch>
            <a:fillRect/>
          </a:stretch>
        </p:blipFill>
        <p:spPr>
          <a:xfrm>
            <a:off x="3611880" y="4773168"/>
            <a:ext cx="256032" cy="256032"/>
          </a:xfrm>
          <a:prstGeom prst="rect">
            <a:avLst/>
          </a:prstGeom>
        </p:spPr>
      </p:pic>
      <p:sp>
        <p:nvSpPr>
          <p:cNvPr id="62" name="Text 50"/>
          <p:cNvSpPr txBox="1"/>
          <p:nvPr/>
        </p:nvSpPr>
        <p:spPr>
          <a:xfrm>
            <a:off x="4078224" y="4654296"/>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Favorites</a:t>
            </a:r>
            <a:endParaRPr lang="en-US" sz="1400" dirty="0"/>
          </a:p>
        </p:txBody>
      </p:sp>
      <p:sp>
        <p:nvSpPr>
          <p:cNvPr id="63" name="Text 51"/>
          <p:cNvSpPr txBox="1"/>
          <p:nvPr/>
        </p:nvSpPr>
        <p:spPr>
          <a:xfrm>
            <a:off x="4078224" y="4974336"/>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Starred places, saved per user</a:t>
            </a:r>
            <a:endParaRPr lang="en-US" sz="1150" dirty="0"/>
          </a:p>
        </p:txBody>
      </p:sp>
      <p:sp>
        <p:nvSpPr>
          <p:cNvPr id="64" name="Text 52"/>
          <p:cNvSpPr txBox="1"/>
          <p:nvPr/>
        </p:nvSpPr>
        <p:spPr>
          <a:xfrm>
            <a:off x="4078224" y="5385816"/>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Linked list</a:t>
            </a:r>
            <a:endParaRPr lang="en-US" sz="950" dirty="0"/>
          </a:p>
        </p:txBody>
      </p:sp>
      <p:sp>
        <p:nvSpPr>
          <p:cNvPr id="65" name="Shape 53"/>
          <p:cNvSpPr/>
          <p:nvPr/>
        </p:nvSpPr>
        <p:spPr>
          <a:xfrm>
            <a:off x="6108192" y="4471416"/>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66" name="Shape 54"/>
          <p:cNvSpPr/>
          <p:nvPr/>
        </p:nvSpPr>
        <p:spPr>
          <a:xfrm>
            <a:off x="6291072" y="4672584"/>
            <a:ext cx="457200" cy="457200"/>
          </a:xfrm>
          <a:prstGeom prst="ellipse">
            <a:avLst/>
          </a:prstGeom>
          <a:solidFill>
            <a:srgbClr val="FBF4D2"/>
          </a:solidFill>
          <a:ln w="12700">
            <a:solidFill>
              <a:srgbClr val="FBF4D2"/>
            </a:solidFill>
            <a:prstDash val="solid"/>
          </a:ln>
        </p:spPr>
        <p:txBody>
          <a:bodyPr/>
          <a:lstStyle/>
          <a:p>
            <a:endParaRPr lang="en-US"/>
          </a:p>
        </p:txBody>
      </p:sp>
      <p:pic>
        <p:nvPicPr>
          <p:cNvPr id="67" name="Image 10" descr="preencoded.png"/>
          <p:cNvPicPr>
            <a:picLocks noChangeAspect="1"/>
          </p:cNvPicPr>
          <p:nvPr/>
        </p:nvPicPr>
        <p:blipFill>
          <a:blip r:embed="rId13"/>
          <a:stretch>
            <a:fillRect/>
          </a:stretch>
        </p:blipFill>
        <p:spPr>
          <a:xfrm>
            <a:off x="6391656" y="4773168"/>
            <a:ext cx="256032" cy="256032"/>
          </a:xfrm>
          <a:prstGeom prst="rect">
            <a:avLst/>
          </a:prstGeom>
        </p:spPr>
      </p:pic>
      <p:sp>
        <p:nvSpPr>
          <p:cNvPr id="68" name="Text 55"/>
          <p:cNvSpPr txBox="1"/>
          <p:nvPr/>
        </p:nvSpPr>
        <p:spPr>
          <a:xfrm>
            <a:off x="6858000" y="4654296"/>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Admin tools</a:t>
            </a:r>
            <a:endParaRPr lang="en-US" sz="1400" dirty="0"/>
          </a:p>
        </p:txBody>
      </p:sp>
      <p:sp>
        <p:nvSpPr>
          <p:cNvPr id="69" name="Text 56"/>
          <p:cNvSpPr txBox="1"/>
          <p:nvPr/>
        </p:nvSpPr>
        <p:spPr>
          <a:xfrm>
            <a:off x="6858000" y="4974336"/>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Edit places, walkways, users, log</a:t>
            </a:r>
            <a:endParaRPr lang="en-US" sz="1150" dirty="0"/>
          </a:p>
        </p:txBody>
      </p:sp>
      <p:sp>
        <p:nvSpPr>
          <p:cNvPr id="70" name="Text 57"/>
          <p:cNvSpPr txBox="1"/>
          <p:nvPr/>
        </p:nvSpPr>
        <p:spPr>
          <a:xfrm>
            <a:off x="6858000" y="5385816"/>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Array · Graph · Tree</a:t>
            </a:r>
            <a:endParaRPr lang="en-US" sz="950" dirty="0"/>
          </a:p>
        </p:txBody>
      </p:sp>
      <p:sp>
        <p:nvSpPr>
          <p:cNvPr id="71" name="Shape 58"/>
          <p:cNvSpPr/>
          <p:nvPr/>
        </p:nvSpPr>
        <p:spPr>
          <a:xfrm>
            <a:off x="8887968" y="4471416"/>
            <a:ext cx="2670048" cy="1261872"/>
          </a:xfrm>
          <a:prstGeom prst="roundRect">
            <a:avLst>
              <a:gd name="adj" fmla="val 7246"/>
            </a:avLst>
          </a:prstGeom>
          <a:solidFill>
            <a:srgbClr val="F3F4F6"/>
          </a:solidFill>
          <a:ln w="12700">
            <a:solidFill>
              <a:srgbClr val="F3F4F6"/>
            </a:solidFill>
            <a:prstDash val="solid"/>
          </a:ln>
        </p:spPr>
        <p:txBody>
          <a:bodyPr/>
          <a:lstStyle/>
          <a:p>
            <a:endParaRPr lang="en-US"/>
          </a:p>
        </p:txBody>
      </p:sp>
      <p:sp>
        <p:nvSpPr>
          <p:cNvPr id="72" name="Shape 59"/>
          <p:cNvSpPr/>
          <p:nvPr/>
        </p:nvSpPr>
        <p:spPr>
          <a:xfrm>
            <a:off x="9070848" y="4672584"/>
            <a:ext cx="457200" cy="457200"/>
          </a:xfrm>
          <a:prstGeom prst="ellipse">
            <a:avLst/>
          </a:prstGeom>
          <a:solidFill>
            <a:srgbClr val="FBF4D2"/>
          </a:solidFill>
          <a:ln w="12700">
            <a:solidFill>
              <a:srgbClr val="FBF4D2"/>
            </a:solidFill>
            <a:prstDash val="solid"/>
          </a:ln>
        </p:spPr>
        <p:txBody>
          <a:bodyPr/>
          <a:lstStyle/>
          <a:p>
            <a:endParaRPr lang="en-US"/>
          </a:p>
        </p:txBody>
      </p:sp>
      <p:pic>
        <p:nvPicPr>
          <p:cNvPr id="73" name="Image 11" descr="preencoded.png"/>
          <p:cNvPicPr>
            <a:picLocks noChangeAspect="1"/>
          </p:cNvPicPr>
          <p:nvPr/>
        </p:nvPicPr>
        <p:blipFill>
          <a:blip r:embed="rId14"/>
          <a:stretch>
            <a:fillRect/>
          </a:stretch>
        </p:blipFill>
        <p:spPr>
          <a:xfrm>
            <a:off x="9171432" y="4773168"/>
            <a:ext cx="256032" cy="256032"/>
          </a:xfrm>
          <a:prstGeom prst="rect">
            <a:avLst/>
          </a:prstGeom>
        </p:spPr>
      </p:pic>
      <p:sp>
        <p:nvSpPr>
          <p:cNvPr id="74" name="Text 60"/>
          <p:cNvSpPr txBox="1"/>
          <p:nvPr/>
        </p:nvSpPr>
        <p:spPr>
          <a:xfrm>
            <a:off x="9637776" y="4654296"/>
            <a:ext cx="1801368" cy="310896"/>
          </a:xfrm>
          <a:prstGeom prst="rect">
            <a:avLst/>
          </a:prstGeom>
          <a:noFill/>
          <a:ln/>
        </p:spPr>
        <p:txBody>
          <a:bodyPr wrap="square" lIns="0" tIns="0" rIns="0" bIns="0" rtlCol="0" anchor="ctr"/>
          <a:lstStyle/>
          <a:p>
            <a:pPr marL="0" indent="0">
              <a:buNone/>
            </a:pPr>
            <a:r>
              <a:rPr lang="en-US" sz="1400" b="1" dirty="0">
                <a:solidFill>
                  <a:srgbClr val="16171B"/>
                </a:solidFill>
                <a:latin typeface="Arial" pitchFamily="34" charset="0"/>
                <a:ea typeface="Arial" pitchFamily="34" charset="-122"/>
                <a:cs typeface="Arial" pitchFamily="34" charset="-120"/>
              </a:rPr>
              <a:t>Online version</a:t>
            </a:r>
            <a:endParaRPr lang="en-US" sz="1400" dirty="0"/>
          </a:p>
        </p:txBody>
      </p:sp>
      <p:sp>
        <p:nvSpPr>
          <p:cNvPr id="75" name="Text 61"/>
          <p:cNvSpPr txBox="1"/>
          <p:nvPr/>
        </p:nvSpPr>
        <p:spPr>
          <a:xfrm>
            <a:off x="9637776" y="4974336"/>
            <a:ext cx="1801368" cy="384048"/>
          </a:xfrm>
          <a:prstGeom prst="rect">
            <a:avLst/>
          </a:prstGeom>
          <a:noFill/>
          <a:ln/>
        </p:spPr>
        <p:txBody>
          <a:bodyPr wrap="square" lIns="0" tIns="0" rIns="0" bIns="0" rtlCol="0" anchor="t"/>
          <a:lstStyle/>
          <a:p>
            <a:pPr marL="0" indent="0">
              <a:buNone/>
            </a:pPr>
            <a:r>
              <a:rPr lang="en-US" sz="1150" dirty="0">
                <a:solidFill>
                  <a:srgbClr val="5F626B"/>
                </a:solidFill>
                <a:latin typeface="Calibri" pitchFamily="34" charset="0"/>
                <a:ea typeface="Calibri" pitchFamily="34" charset="-122"/>
                <a:cs typeface="Calibri" pitchFamily="34" charset="-120"/>
              </a:rPr>
              <a:t>Live BFS/DFS demo in the browser</a:t>
            </a:r>
            <a:endParaRPr lang="en-US" sz="1150" dirty="0"/>
          </a:p>
        </p:txBody>
      </p:sp>
      <p:sp>
        <p:nvSpPr>
          <p:cNvPr id="76" name="Text 62"/>
          <p:cNvSpPr txBox="1"/>
          <p:nvPr/>
        </p:nvSpPr>
        <p:spPr>
          <a:xfrm>
            <a:off x="9637776" y="5385816"/>
            <a:ext cx="1801368" cy="228600"/>
          </a:xfrm>
          <a:prstGeom prst="rect">
            <a:avLst/>
          </a:prstGeom>
          <a:noFill/>
          <a:ln/>
        </p:spPr>
        <p:txBody>
          <a:bodyPr wrap="square" lIns="0" tIns="0" rIns="0" bIns="0" rtlCol="0" anchor="ctr"/>
          <a:lstStyle/>
          <a:p>
            <a:pPr marL="0" indent="0">
              <a:buNone/>
            </a:pPr>
            <a:r>
              <a:rPr lang="en-US" sz="950" b="1" dirty="0">
                <a:solidFill>
                  <a:srgbClr val="8F7200"/>
                </a:solidFill>
                <a:latin typeface="Consolas" pitchFamily="34" charset="0"/>
                <a:ea typeface="Consolas" pitchFamily="34" charset="-122"/>
                <a:cs typeface="Consolas" pitchFamily="34" charset="-120"/>
              </a:rPr>
              <a:t>GitHub Pages</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05</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FEATURE 1 · TAKE ME SOMEWHERE</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Directions a person can actually follow</a:t>
            </a:r>
            <a:endParaRPr lang="en-US" sz="3400" dirty="0"/>
          </a:p>
        </p:txBody>
      </p:sp>
      <p:sp>
        <p:nvSpPr>
          <p:cNvPr id="5" name="Shape 3"/>
          <p:cNvSpPr/>
          <p:nvPr/>
        </p:nvSpPr>
        <p:spPr>
          <a:xfrm>
            <a:off x="548640" y="1810512"/>
            <a:ext cx="329184" cy="329184"/>
          </a:xfrm>
          <a:prstGeom prst="ellipse">
            <a:avLst/>
          </a:prstGeom>
          <a:solidFill>
            <a:srgbClr val="D9B100"/>
          </a:solidFill>
          <a:ln w="12700">
            <a:solidFill>
              <a:srgbClr val="D9B100"/>
            </a:solidFill>
            <a:prstDash val="solid"/>
          </a:ln>
        </p:spPr>
        <p:txBody>
          <a:bodyPr/>
          <a:lstStyle/>
          <a:p>
            <a:endParaRPr lang="en-US"/>
          </a:p>
        </p:txBody>
      </p:sp>
      <p:sp>
        <p:nvSpPr>
          <p:cNvPr id="6" name="Text 4"/>
          <p:cNvSpPr txBox="1"/>
          <p:nvPr/>
        </p:nvSpPr>
        <p:spPr>
          <a:xfrm>
            <a:off x="548640" y="1810512"/>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1</a:t>
            </a:r>
            <a:endParaRPr lang="en-US" sz="1200" dirty="0"/>
          </a:p>
        </p:txBody>
      </p:sp>
      <p:sp>
        <p:nvSpPr>
          <p:cNvPr id="7" name="Text 5"/>
          <p:cNvSpPr txBox="1"/>
          <p:nvPr/>
        </p:nvSpPr>
        <p:spPr>
          <a:xfrm>
            <a:off x="1051560" y="1783080"/>
            <a:ext cx="4754880" cy="77724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Type the start any way</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Part of a name ("lib"), its number on the map, raw coordinates, or just Enter for where you are.</a:t>
            </a:r>
            <a:endParaRPr lang="en-US" sz="1500" dirty="0"/>
          </a:p>
        </p:txBody>
      </p:sp>
      <p:sp>
        <p:nvSpPr>
          <p:cNvPr id="8" name="Shape 6"/>
          <p:cNvSpPr/>
          <p:nvPr/>
        </p:nvSpPr>
        <p:spPr>
          <a:xfrm>
            <a:off x="548640" y="2660904"/>
            <a:ext cx="329184" cy="329184"/>
          </a:xfrm>
          <a:prstGeom prst="ellipse">
            <a:avLst/>
          </a:prstGeom>
          <a:solidFill>
            <a:srgbClr val="D9B100"/>
          </a:solidFill>
          <a:ln w="12700">
            <a:solidFill>
              <a:srgbClr val="D9B100"/>
            </a:solidFill>
            <a:prstDash val="solid"/>
          </a:ln>
        </p:spPr>
        <p:txBody>
          <a:bodyPr/>
          <a:lstStyle/>
          <a:p>
            <a:endParaRPr lang="en-US"/>
          </a:p>
        </p:txBody>
      </p:sp>
      <p:sp>
        <p:nvSpPr>
          <p:cNvPr id="9" name="Text 7"/>
          <p:cNvSpPr txBox="1"/>
          <p:nvPr/>
        </p:nvSpPr>
        <p:spPr>
          <a:xfrm>
            <a:off x="548640" y="2660904"/>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2</a:t>
            </a:r>
            <a:endParaRPr lang="en-US" sz="1200" dirty="0"/>
          </a:p>
        </p:txBody>
      </p:sp>
      <p:sp>
        <p:nvSpPr>
          <p:cNvPr id="10" name="Text 8"/>
          <p:cNvSpPr txBox="1"/>
          <p:nvPr/>
        </p:nvSpPr>
        <p:spPr>
          <a:xfrm>
            <a:off x="1051560" y="2633472"/>
            <a:ext cx="4754880" cy="77724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Directions by road</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Consecutive walkways on one road merge into one step; compass bearings decide left, right or straight.</a:t>
            </a:r>
            <a:endParaRPr lang="en-US" sz="1500" dirty="0"/>
          </a:p>
        </p:txBody>
      </p:sp>
      <p:sp>
        <p:nvSpPr>
          <p:cNvPr id="11" name="Shape 9"/>
          <p:cNvSpPr/>
          <p:nvPr/>
        </p:nvSpPr>
        <p:spPr>
          <a:xfrm>
            <a:off x="548640" y="3511296"/>
            <a:ext cx="329184" cy="329184"/>
          </a:xfrm>
          <a:prstGeom prst="ellipse">
            <a:avLst/>
          </a:prstGeom>
          <a:solidFill>
            <a:srgbClr val="D9B100"/>
          </a:solidFill>
          <a:ln w="12700">
            <a:solidFill>
              <a:srgbClr val="D9B100"/>
            </a:solidFill>
            <a:prstDash val="solid"/>
          </a:ln>
        </p:spPr>
        <p:txBody>
          <a:bodyPr/>
          <a:lstStyle/>
          <a:p>
            <a:endParaRPr lang="en-US"/>
          </a:p>
        </p:txBody>
      </p:sp>
      <p:sp>
        <p:nvSpPr>
          <p:cNvPr id="12" name="Text 10"/>
          <p:cNvSpPr txBox="1"/>
          <p:nvPr/>
        </p:nvSpPr>
        <p:spPr>
          <a:xfrm>
            <a:off x="548640" y="3511296"/>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3</a:t>
            </a:r>
            <a:endParaRPr lang="en-US" sz="1200" dirty="0"/>
          </a:p>
        </p:txBody>
      </p:sp>
      <p:sp>
        <p:nvSpPr>
          <p:cNvPr id="13" name="Text 11"/>
          <p:cNvSpPr txBox="1"/>
          <p:nvPr/>
        </p:nvSpPr>
        <p:spPr>
          <a:xfrm>
            <a:off x="1051560" y="3483864"/>
            <a:ext cx="4754880" cy="77724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Every stop, with totals</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A stops table with each leg and the running distance; walking time at 75 m a minute.</a:t>
            </a:r>
            <a:endParaRPr lang="en-US" sz="1500" dirty="0"/>
          </a:p>
        </p:txBody>
      </p:sp>
      <p:sp>
        <p:nvSpPr>
          <p:cNvPr id="14" name="Shape 12"/>
          <p:cNvSpPr/>
          <p:nvPr/>
        </p:nvSpPr>
        <p:spPr>
          <a:xfrm>
            <a:off x="548640" y="4361688"/>
            <a:ext cx="329184" cy="329184"/>
          </a:xfrm>
          <a:prstGeom prst="ellipse">
            <a:avLst/>
          </a:prstGeom>
          <a:solidFill>
            <a:srgbClr val="D9B100"/>
          </a:solidFill>
          <a:ln w="12700">
            <a:solidFill>
              <a:srgbClr val="D9B100"/>
            </a:solidFill>
            <a:prstDash val="solid"/>
          </a:ln>
        </p:spPr>
        <p:txBody>
          <a:bodyPr/>
          <a:lstStyle/>
          <a:p>
            <a:endParaRPr lang="en-US"/>
          </a:p>
        </p:txBody>
      </p:sp>
      <p:sp>
        <p:nvSpPr>
          <p:cNvPr id="15" name="Text 13"/>
          <p:cNvSpPr txBox="1"/>
          <p:nvPr/>
        </p:nvSpPr>
        <p:spPr>
          <a:xfrm>
            <a:off x="548640" y="4361688"/>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4</a:t>
            </a:r>
            <a:endParaRPr lang="en-US" sz="1200" dirty="0"/>
          </a:p>
        </p:txBody>
      </p:sp>
      <p:sp>
        <p:nvSpPr>
          <p:cNvPr id="16" name="Text 14"/>
          <p:cNvSpPr txBox="1"/>
          <p:nvPr/>
        </p:nvSpPr>
        <p:spPr>
          <a:xfrm>
            <a:off x="1051560" y="4334256"/>
            <a:ext cx="4754880" cy="77724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See the algorithm</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"Show how BFS found this route" prints the queue and parent[] at every step.</a:t>
            </a:r>
            <a:endParaRPr lang="en-US" sz="1500" dirty="0"/>
          </a:p>
        </p:txBody>
      </p:sp>
      <p:sp>
        <p:nvSpPr>
          <p:cNvPr id="17" name="Shape 15"/>
          <p:cNvSpPr/>
          <p:nvPr/>
        </p:nvSpPr>
        <p:spPr>
          <a:xfrm>
            <a:off x="548640" y="5212080"/>
            <a:ext cx="329184" cy="329184"/>
          </a:xfrm>
          <a:prstGeom prst="ellipse">
            <a:avLst/>
          </a:prstGeom>
          <a:solidFill>
            <a:srgbClr val="D9B100"/>
          </a:solidFill>
          <a:ln w="12700">
            <a:solidFill>
              <a:srgbClr val="D9B100"/>
            </a:solidFill>
            <a:prstDash val="solid"/>
          </a:ln>
        </p:spPr>
        <p:txBody>
          <a:bodyPr/>
          <a:lstStyle/>
          <a:p>
            <a:endParaRPr lang="en-US"/>
          </a:p>
        </p:txBody>
      </p:sp>
      <p:sp>
        <p:nvSpPr>
          <p:cNvPr id="18" name="Text 16"/>
          <p:cNvSpPr txBox="1"/>
          <p:nvPr/>
        </p:nvSpPr>
        <p:spPr>
          <a:xfrm>
            <a:off x="548640" y="5212080"/>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5</a:t>
            </a:r>
            <a:endParaRPr lang="en-US" sz="1200" dirty="0"/>
          </a:p>
        </p:txBody>
      </p:sp>
      <p:sp>
        <p:nvSpPr>
          <p:cNvPr id="19" name="Text 17"/>
          <p:cNvSpPr txBox="1"/>
          <p:nvPr/>
        </p:nvSpPr>
        <p:spPr>
          <a:xfrm>
            <a:off x="1051560" y="5184648"/>
            <a:ext cx="4754880" cy="77724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"I'm going"</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Pushes the trip onto the history stack, so Back can undo it.</a:t>
            </a:r>
            <a:endParaRPr lang="en-US" sz="1500" dirty="0"/>
          </a:p>
        </p:txBody>
      </p:sp>
      <p:sp>
        <p:nvSpPr>
          <p:cNvPr id="20" name="Shape 18"/>
          <p:cNvSpPr/>
          <p:nvPr/>
        </p:nvSpPr>
        <p:spPr>
          <a:xfrm>
            <a:off x="6172200" y="1691640"/>
            <a:ext cx="5486400" cy="4526280"/>
          </a:xfrm>
          <a:prstGeom prst="roundRect">
            <a:avLst>
              <a:gd name="adj" fmla="val 2020"/>
            </a:avLst>
          </a:prstGeom>
          <a:solidFill>
            <a:srgbClr val="07080A"/>
          </a:solidFill>
          <a:ln w="12700">
            <a:solidFill>
              <a:srgbClr val="2C2F38"/>
            </a:solidFill>
            <a:prstDash val="solid"/>
          </a:ln>
        </p:spPr>
        <p:txBody>
          <a:bodyPr/>
          <a:lstStyle/>
          <a:p>
            <a:endParaRPr lang="en-US"/>
          </a:p>
        </p:txBody>
      </p:sp>
      <p:sp>
        <p:nvSpPr>
          <p:cNvPr id="21" name="Shape 19"/>
          <p:cNvSpPr/>
          <p:nvPr/>
        </p:nvSpPr>
        <p:spPr>
          <a:xfrm>
            <a:off x="6355080" y="1847088"/>
            <a:ext cx="109728" cy="109728"/>
          </a:xfrm>
          <a:prstGeom prst="ellipse">
            <a:avLst/>
          </a:prstGeom>
          <a:solidFill>
            <a:srgbClr val="FF5F57"/>
          </a:solidFill>
          <a:ln w="12700">
            <a:solidFill>
              <a:srgbClr val="FF5F57"/>
            </a:solidFill>
            <a:prstDash val="solid"/>
          </a:ln>
        </p:spPr>
        <p:txBody>
          <a:bodyPr/>
          <a:lstStyle/>
          <a:p>
            <a:endParaRPr lang="en-US"/>
          </a:p>
        </p:txBody>
      </p:sp>
      <p:sp>
        <p:nvSpPr>
          <p:cNvPr id="22" name="Shape 20"/>
          <p:cNvSpPr/>
          <p:nvPr/>
        </p:nvSpPr>
        <p:spPr>
          <a:xfrm>
            <a:off x="6537960" y="1847088"/>
            <a:ext cx="109728" cy="109728"/>
          </a:xfrm>
          <a:prstGeom prst="ellipse">
            <a:avLst/>
          </a:prstGeom>
          <a:solidFill>
            <a:srgbClr val="FEBC2E"/>
          </a:solidFill>
          <a:ln w="12700">
            <a:solidFill>
              <a:srgbClr val="FEBC2E"/>
            </a:solidFill>
            <a:prstDash val="solid"/>
          </a:ln>
        </p:spPr>
        <p:txBody>
          <a:bodyPr/>
          <a:lstStyle/>
          <a:p>
            <a:endParaRPr lang="en-US"/>
          </a:p>
        </p:txBody>
      </p:sp>
      <p:sp>
        <p:nvSpPr>
          <p:cNvPr id="23" name="Shape 21"/>
          <p:cNvSpPr/>
          <p:nvPr/>
        </p:nvSpPr>
        <p:spPr>
          <a:xfrm>
            <a:off x="6720840" y="1847088"/>
            <a:ext cx="109728" cy="109728"/>
          </a:xfrm>
          <a:prstGeom prst="ellipse">
            <a:avLst/>
          </a:prstGeom>
          <a:solidFill>
            <a:srgbClr val="28C840"/>
          </a:solidFill>
          <a:ln w="12700">
            <a:solidFill>
              <a:srgbClr val="28C840"/>
            </a:solidFill>
            <a:prstDash val="solid"/>
          </a:ln>
        </p:spPr>
        <p:txBody>
          <a:bodyPr/>
          <a:lstStyle/>
          <a:p>
            <a:endParaRPr lang="en-US"/>
          </a:p>
        </p:txBody>
      </p:sp>
      <p:sp>
        <p:nvSpPr>
          <p:cNvPr id="24" name="Text 22"/>
          <p:cNvSpPr txBox="1"/>
          <p:nvPr/>
        </p:nvSpPr>
        <p:spPr>
          <a:xfrm>
            <a:off x="6373368" y="2103120"/>
            <a:ext cx="5084064" cy="3977640"/>
          </a:xfrm>
          <a:prstGeom prst="rect">
            <a:avLst/>
          </a:prstGeom>
          <a:noFill/>
          <a:ln/>
        </p:spPr>
        <p:txBody>
          <a:bodyPr wrap="square" lIns="0" tIns="0" rIns="0" bIns="0" rtlCol="0" anchor="t"/>
          <a:lstStyle/>
          <a:p>
            <a:pPr marL="0" indent="0">
              <a:lnSpc>
                <a:spcPct val="105000"/>
              </a:lnSpc>
              <a:buNone/>
            </a:pPr>
            <a:r>
              <a:rPr lang="en-US" sz="1250" b="1" dirty="0">
                <a:solidFill>
                  <a:srgbClr val="D9B100"/>
                </a:solidFill>
                <a:latin typeface="Consolas" pitchFamily="34" charset="0"/>
                <a:ea typeface="Consolas" pitchFamily="34" charset="-122"/>
                <a:cs typeface="Consolas" pitchFamily="34" charset="-120"/>
              </a:rPr>
              <a:t>  Central Library  →  KUET Main Gate</a:t>
            </a:r>
            <a:endParaRPr lang="en-US" sz="1250" dirty="0"/>
          </a:p>
          <a:p>
            <a:pPr marL="0" indent="0">
              <a:lnSpc>
                <a:spcPct val="105000"/>
              </a:lnSpc>
              <a:buNone/>
            </a:pPr>
            <a:r>
              <a:rPr lang="en-US" sz="1250" b="1" dirty="0">
                <a:solidFill>
                  <a:srgbClr val="FFFFFF"/>
                </a:solidFill>
                <a:latin typeface="Consolas" pitchFamily="34" charset="0"/>
                <a:ea typeface="Consolas" pitchFamily="34" charset="-122"/>
                <a:cs typeface="Consolas" pitchFamily="34" charset="-120"/>
              </a:rPr>
              <a:t>  707 m</a:t>
            </a:r>
            <a:r>
              <a:rPr lang="en-US" sz="1250" dirty="0">
                <a:solidFill>
                  <a:srgbClr val="7C7F89"/>
                </a:solidFill>
                <a:latin typeface="Consolas" pitchFamily="34" charset="0"/>
                <a:ea typeface="Consolas" pitchFamily="34" charset="-122"/>
                <a:cs typeface="Consolas" pitchFamily="34" charset="-120"/>
              </a:rPr>
              <a:t> walk · </a:t>
            </a:r>
            <a:r>
              <a:rPr lang="en-US" sz="1250" b="1" dirty="0">
                <a:solidFill>
                  <a:srgbClr val="FFFFFF"/>
                </a:solidFill>
                <a:latin typeface="Consolas" pitchFamily="34" charset="0"/>
                <a:ea typeface="Consolas" pitchFamily="34" charset="-122"/>
                <a:cs typeface="Consolas" pitchFamily="34" charset="-120"/>
              </a:rPr>
              <a:t>about 10 min</a:t>
            </a:r>
            <a:r>
              <a:rPr lang="en-US" sz="1250" dirty="0">
                <a:solidFill>
                  <a:srgbClr val="7C7F89"/>
                </a:solidFill>
                <a:latin typeface="Consolas" pitchFamily="34" charset="0"/>
                <a:ea typeface="Consolas" pitchFamily="34" charset="-122"/>
                <a:cs typeface="Consolas" pitchFamily="34" charset="-120"/>
              </a:rPr>
              <a:t> · 9 places · 3 roads</a:t>
            </a:r>
            <a:endParaRPr lang="en-US" sz="1250" dirty="0"/>
          </a:p>
          <a:p>
            <a:pPr marL="0" indent="0">
              <a:lnSpc>
                <a:spcPct val="105000"/>
              </a:lnSpc>
              <a:buNone/>
            </a:pPr>
            <a:r>
              <a:rPr lang="en-US" sz="1250" dirty="0">
                <a:solidFill>
                  <a:srgbClr val="D7D8DC"/>
                </a:solidFill>
                <a:latin typeface="Consolas" pitchFamily="34" charset="0"/>
                <a:ea typeface="Consolas" pitchFamily="34" charset="-122"/>
                <a:cs typeface="Consolas" pitchFamily="34" charset="-120"/>
              </a:rPr>
              <a:t> </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DIRECTIONS</a:t>
            </a:r>
            <a:endParaRPr lang="en-US" sz="1250" dirty="0"/>
          </a:p>
          <a:p>
            <a:pPr marL="0" indent="0">
              <a:lnSpc>
                <a:spcPct val="105000"/>
              </a:lnSpc>
              <a:buNone/>
            </a:pPr>
            <a:r>
              <a:rPr lang="en-US" sz="1250" dirty="0">
                <a:solidFill>
                  <a:srgbClr val="5FBE78"/>
                </a:solidFill>
                <a:latin typeface="Consolas" pitchFamily="34" charset="0"/>
                <a:ea typeface="Consolas" pitchFamily="34" charset="-122"/>
                <a:cs typeface="Consolas" pitchFamily="34" charset="-120"/>
              </a:rPr>
              <a:t>   ●</a:t>
            </a:r>
            <a:r>
              <a:rPr lang="en-US" sz="1250" dirty="0">
                <a:solidFill>
                  <a:srgbClr val="D7D8DC"/>
                </a:solidFill>
                <a:latin typeface="Consolas" pitchFamily="34" charset="0"/>
                <a:ea typeface="Consolas" pitchFamily="34" charset="-122"/>
                <a:cs typeface="Consolas" pitchFamily="34" charset="-120"/>
              </a:rPr>
              <a:t>  Start at </a:t>
            </a:r>
            <a:r>
              <a:rPr lang="en-US" sz="1250" b="1" dirty="0">
                <a:solidFill>
                  <a:srgbClr val="FFFFFF"/>
                </a:solidFill>
                <a:latin typeface="Consolas" pitchFamily="34" charset="0"/>
                <a:ea typeface="Consolas" pitchFamily="34" charset="-122"/>
                <a:cs typeface="Consolas" pitchFamily="34" charset="-120"/>
              </a:rPr>
              <a:t>Central Library</a:t>
            </a:r>
            <a:endParaRPr lang="en-US" sz="1250" dirty="0"/>
          </a:p>
          <a:p>
            <a:pPr marL="0" indent="0">
              <a:lnSpc>
                <a:spcPct val="105000"/>
              </a:lnSpc>
              <a:buNone/>
            </a:pPr>
            <a:r>
              <a:rPr lang="en-US" sz="1250" dirty="0">
                <a:solidFill>
                  <a:srgbClr val="D9B100"/>
                </a:solidFill>
                <a:latin typeface="Consolas" pitchFamily="34" charset="0"/>
                <a:ea typeface="Consolas" pitchFamily="34" charset="-122"/>
                <a:cs typeface="Consolas" pitchFamily="34" charset="-120"/>
              </a:rPr>
              <a:t>   1</a:t>
            </a:r>
            <a:r>
              <a:rPr lang="en-US" sz="1250" dirty="0">
                <a:solidFill>
                  <a:srgbClr val="D7D8DC"/>
                </a:solidFill>
                <a:latin typeface="Consolas" pitchFamily="34" charset="0"/>
                <a:ea typeface="Consolas" pitchFamily="34" charset="-122"/>
                <a:cs typeface="Consolas" pitchFamily="34" charset="-120"/>
              </a:rPr>
              <a:t>  Head south on </a:t>
            </a:r>
            <a:r>
              <a:rPr lang="en-US" sz="1250" dirty="0">
                <a:solidFill>
                  <a:srgbClr val="D9B100"/>
                </a:solidFill>
                <a:latin typeface="Consolas" pitchFamily="34" charset="0"/>
                <a:ea typeface="Consolas" pitchFamily="34" charset="-122"/>
                <a:cs typeface="Consolas" pitchFamily="34" charset="-120"/>
              </a:rPr>
              <a:t>Library Lane</a:t>
            </a:r>
            <a:r>
              <a:rPr lang="en-US" sz="1250" dirty="0">
                <a:solidFill>
                  <a:srgbClr val="7C7F89"/>
                </a:solidFill>
                <a:latin typeface="Consolas" pitchFamily="34" charset="0"/>
                <a:ea typeface="Consolas" pitchFamily="34" charset="-122"/>
                <a:cs typeface="Consolas" pitchFamily="34" charset="-120"/>
              </a:rPr>
              <a:t>  ·  89 m</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  until you reach Fazlul Haque Hall</a:t>
            </a:r>
            <a:endParaRPr lang="en-US" sz="1250" dirty="0"/>
          </a:p>
          <a:p>
            <a:pPr marL="0" indent="0">
              <a:lnSpc>
                <a:spcPct val="105000"/>
              </a:lnSpc>
              <a:buNone/>
            </a:pPr>
            <a:r>
              <a:rPr lang="en-US" sz="1250" dirty="0">
                <a:solidFill>
                  <a:srgbClr val="D9B100"/>
                </a:solidFill>
                <a:latin typeface="Consolas" pitchFamily="34" charset="0"/>
                <a:ea typeface="Consolas" pitchFamily="34" charset="-122"/>
                <a:cs typeface="Consolas" pitchFamily="34" charset="-120"/>
              </a:rPr>
              <a:t>   2</a:t>
            </a:r>
            <a:r>
              <a:rPr lang="en-US" sz="1250" dirty="0">
                <a:solidFill>
                  <a:srgbClr val="D7D8DC"/>
                </a:solidFill>
                <a:latin typeface="Consolas" pitchFamily="34" charset="0"/>
                <a:ea typeface="Consolas" pitchFamily="34" charset="-122"/>
                <a:cs typeface="Consolas" pitchFamily="34" charset="-120"/>
              </a:rPr>
              <a:t>  Turn left, heading east on </a:t>
            </a:r>
            <a:r>
              <a:rPr lang="en-US" sz="1250" dirty="0">
                <a:solidFill>
                  <a:srgbClr val="D9B100"/>
                </a:solidFill>
                <a:latin typeface="Consolas" pitchFamily="34" charset="0"/>
                <a:ea typeface="Consolas" pitchFamily="34" charset="-122"/>
                <a:cs typeface="Consolas" pitchFamily="34" charset="-120"/>
              </a:rPr>
              <a:t>Hall Road</a:t>
            </a:r>
            <a:r>
              <a:rPr lang="en-US" sz="1250" dirty="0">
                <a:solidFill>
                  <a:srgbClr val="7C7F89"/>
                </a:solidFill>
                <a:latin typeface="Consolas" pitchFamily="34" charset="0"/>
                <a:ea typeface="Consolas" pitchFamily="34" charset="-122"/>
                <a:cs typeface="Consolas" pitchFamily="34" charset="-120"/>
              </a:rPr>
              <a:t>  ·  258 m</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  past Shaheed Smrity Hall, Rashid Hall</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  and Cafeteria, until you reach Kodom Tola</a:t>
            </a:r>
            <a:endParaRPr lang="en-US" sz="1250" dirty="0"/>
          </a:p>
          <a:p>
            <a:pPr marL="0" indent="0">
              <a:lnSpc>
                <a:spcPct val="105000"/>
              </a:lnSpc>
              <a:buNone/>
            </a:pPr>
            <a:r>
              <a:rPr lang="en-US" sz="1250" dirty="0">
                <a:solidFill>
                  <a:srgbClr val="D9B100"/>
                </a:solidFill>
                <a:latin typeface="Consolas" pitchFamily="34" charset="0"/>
                <a:ea typeface="Consolas" pitchFamily="34" charset="-122"/>
                <a:cs typeface="Consolas" pitchFamily="34" charset="-120"/>
              </a:rPr>
              <a:t>   3</a:t>
            </a:r>
            <a:r>
              <a:rPr lang="en-US" sz="1250" dirty="0">
                <a:solidFill>
                  <a:srgbClr val="D7D8DC"/>
                </a:solidFill>
                <a:latin typeface="Consolas" pitchFamily="34" charset="0"/>
                <a:ea typeface="Consolas" pitchFamily="34" charset="-122"/>
                <a:cs typeface="Consolas" pitchFamily="34" charset="-120"/>
              </a:rPr>
              <a:t>  Turn left, heading east on </a:t>
            </a:r>
            <a:r>
              <a:rPr lang="en-US" sz="1250" dirty="0">
                <a:solidFill>
                  <a:srgbClr val="D9B100"/>
                </a:solidFill>
                <a:latin typeface="Consolas" pitchFamily="34" charset="0"/>
                <a:ea typeface="Consolas" pitchFamily="34" charset="-122"/>
                <a:cs typeface="Consolas" pitchFamily="34" charset="-120"/>
              </a:rPr>
              <a:t>KUET Road</a:t>
            </a:r>
            <a:r>
              <a:rPr lang="en-US" sz="1250" dirty="0">
                <a:solidFill>
                  <a:srgbClr val="7C7F89"/>
                </a:solidFill>
                <a:latin typeface="Consolas" pitchFamily="34" charset="0"/>
                <a:ea typeface="Consolas" pitchFamily="34" charset="-122"/>
                <a:cs typeface="Consolas" pitchFamily="34" charset="-120"/>
              </a:rPr>
              <a:t>  ·  360 m</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  past KUET Dighi and Khan Jahan Ali Hall</a:t>
            </a:r>
            <a:endParaRPr lang="en-US" sz="1250" dirty="0"/>
          </a:p>
          <a:p>
            <a:pPr marL="0" indent="0">
              <a:lnSpc>
                <a:spcPct val="105000"/>
              </a:lnSpc>
              <a:buNone/>
            </a:pPr>
            <a:r>
              <a:rPr lang="en-US" sz="1250" dirty="0">
                <a:solidFill>
                  <a:srgbClr val="5FBE78"/>
                </a:solidFill>
                <a:latin typeface="Consolas" pitchFamily="34" charset="0"/>
                <a:ea typeface="Consolas" pitchFamily="34" charset="-122"/>
                <a:cs typeface="Consolas" pitchFamily="34" charset="-120"/>
              </a:rPr>
              <a:t>   ●</a:t>
            </a:r>
            <a:r>
              <a:rPr lang="en-US" sz="1250" dirty="0">
                <a:solidFill>
                  <a:srgbClr val="D7D8DC"/>
                </a:solidFill>
                <a:latin typeface="Consolas" pitchFamily="34" charset="0"/>
                <a:ea typeface="Consolas" pitchFamily="34" charset="-122"/>
                <a:cs typeface="Consolas" pitchFamily="34" charset="-120"/>
              </a:rPr>
              <a:t>  Arrive at </a:t>
            </a:r>
            <a:r>
              <a:rPr lang="en-US" sz="1250" b="1" dirty="0">
                <a:solidFill>
                  <a:srgbClr val="FFFFFF"/>
                </a:solidFill>
                <a:latin typeface="Consolas" pitchFamily="34" charset="0"/>
                <a:ea typeface="Consolas" pitchFamily="34" charset="-122"/>
                <a:cs typeface="Consolas" pitchFamily="34" charset="-120"/>
              </a:rPr>
              <a:t>KUET Main Gate</a:t>
            </a:r>
            <a:endParaRPr lang="en-US" sz="1250" dirty="0"/>
          </a:p>
          <a:p>
            <a:pPr marL="0" indent="0">
              <a:lnSpc>
                <a:spcPct val="105000"/>
              </a:lnSpc>
              <a:buNone/>
            </a:pPr>
            <a:r>
              <a:rPr lang="en-US" sz="1250" dirty="0">
                <a:solidFill>
                  <a:srgbClr val="D7D8DC"/>
                </a:solidFill>
                <a:latin typeface="Consolas" pitchFamily="34" charset="0"/>
                <a:ea typeface="Consolas" pitchFamily="34" charset="-122"/>
                <a:cs typeface="Consolas" pitchFamily="34" charset="-120"/>
              </a:rPr>
              <a:t> </a:t>
            </a:r>
            <a:endParaRPr lang="en-US" sz="1250" dirty="0"/>
          </a:p>
          <a:p>
            <a:pPr marL="0" indent="0">
              <a:lnSpc>
                <a:spcPct val="105000"/>
              </a:lnSpc>
              <a:buNone/>
            </a:pPr>
            <a:r>
              <a:rPr lang="en-US" sz="1250" dirty="0">
                <a:solidFill>
                  <a:srgbClr val="7C7F89"/>
                </a:solidFill>
                <a:latin typeface="Consolas" pitchFamily="34" charset="0"/>
                <a:ea typeface="Consolas" pitchFamily="34" charset="-122"/>
                <a:cs typeface="Consolas" pitchFamily="34" charset="-120"/>
              </a:rPr>
              <a:t>  ROADS  </a:t>
            </a:r>
            <a:r>
              <a:rPr lang="en-US" sz="1250" dirty="0">
                <a:solidFill>
                  <a:srgbClr val="D7D8DC"/>
                </a:solidFill>
                <a:latin typeface="Consolas" pitchFamily="34" charset="0"/>
                <a:ea typeface="Consolas" pitchFamily="34" charset="-122"/>
                <a:cs typeface="Consolas" pitchFamily="34" charset="-120"/>
              </a:rPr>
              <a:t>Library Lane  →  Hall Road  →  KUET Road</a:t>
            </a:r>
            <a:endParaRPr lang="en-US" sz="125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06</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FEATURES 2, 3, 7 · GETTING AROUND</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Know what's around you, and see the whole campus</a:t>
            </a:r>
            <a:endParaRPr lang="en-US" sz="3400" dirty="0"/>
          </a:p>
        </p:txBody>
      </p:sp>
      <p:sp>
        <p:nvSpPr>
          <p:cNvPr id="5" name="Shape 3"/>
          <p:cNvSpPr/>
          <p:nvPr/>
        </p:nvSpPr>
        <p:spPr>
          <a:xfrm>
            <a:off x="54864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6" name="Shape 4"/>
          <p:cNvSpPr/>
          <p:nvPr/>
        </p:nvSpPr>
        <p:spPr>
          <a:xfrm>
            <a:off x="82296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55731" y="2190171"/>
            <a:ext cx="337962" cy="337962"/>
          </a:xfrm>
          <a:prstGeom prst="rect">
            <a:avLst/>
          </a:prstGeom>
        </p:spPr>
      </p:pic>
      <p:sp>
        <p:nvSpPr>
          <p:cNvPr id="8" name="Text 5"/>
          <p:cNvSpPr txBox="1"/>
          <p:nvPr/>
        </p:nvSpPr>
        <p:spPr>
          <a:xfrm>
            <a:off x="155448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What's near me</a:t>
            </a:r>
            <a:endParaRPr lang="en-US" sz="1900" dirty="0"/>
          </a:p>
        </p:txBody>
      </p:sp>
      <p:sp>
        <p:nvSpPr>
          <p:cNvPr id="9" name="Text 6"/>
          <p:cNvSpPr txBox="1"/>
          <p:nvPr/>
        </p:nvSpPr>
        <p:spPr>
          <a:xfrm>
            <a:off x="822960" y="2880360"/>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From a place or exact coordinates like 22.8992, 89.5016</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Haversine distance to all 44 places</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Bubble-sorted, nearest 10 shown with compass direction and walking time</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Shows the comparison and swap counts</a:t>
            </a:r>
            <a:endParaRPr lang="en-US" sz="1350" dirty="0"/>
          </a:p>
        </p:txBody>
      </p:sp>
      <p:sp>
        <p:nvSpPr>
          <p:cNvPr id="10" name="Shape 7"/>
          <p:cNvSpPr/>
          <p:nvPr/>
        </p:nvSpPr>
        <p:spPr>
          <a:xfrm>
            <a:off x="822960" y="5486400"/>
            <a:ext cx="802843"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11" name="Text 8"/>
          <p:cNvSpPr txBox="1"/>
          <p:nvPr/>
        </p:nvSpPr>
        <p:spPr>
          <a:xfrm>
            <a:off x="822960" y="5486400"/>
            <a:ext cx="802843"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Haversine</a:t>
            </a:r>
            <a:endParaRPr lang="en-US" sz="950" dirty="0"/>
          </a:p>
        </p:txBody>
      </p:sp>
      <p:sp>
        <p:nvSpPr>
          <p:cNvPr id="12" name="Shape 9"/>
          <p:cNvSpPr/>
          <p:nvPr/>
        </p:nvSpPr>
        <p:spPr>
          <a:xfrm>
            <a:off x="1698955" y="5486400"/>
            <a:ext cx="952805"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13" name="Text 10"/>
          <p:cNvSpPr txBox="1"/>
          <p:nvPr/>
        </p:nvSpPr>
        <p:spPr>
          <a:xfrm>
            <a:off x="1698955" y="5486400"/>
            <a:ext cx="952805"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Bubble sort</a:t>
            </a:r>
            <a:endParaRPr lang="en-US" sz="950" dirty="0"/>
          </a:p>
        </p:txBody>
      </p:sp>
      <p:sp>
        <p:nvSpPr>
          <p:cNvPr id="14" name="Shape 11"/>
          <p:cNvSpPr/>
          <p:nvPr/>
        </p:nvSpPr>
        <p:spPr>
          <a:xfrm>
            <a:off x="429768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15" name="Shape 12"/>
          <p:cNvSpPr/>
          <p:nvPr/>
        </p:nvSpPr>
        <p:spPr>
          <a:xfrm>
            <a:off x="457200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4704771" y="2190171"/>
            <a:ext cx="337962" cy="337962"/>
          </a:xfrm>
          <a:prstGeom prst="rect">
            <a:avLst/>
          </a:prstGeom>
        </p:spPr>
      </p:pic>
      <p:sp>
        <p:nvSpPr>
          <p:cNvPr id="17" name="Text 13"/>
          <p:cNvSpPr txBox="1"/>
          <p:nvPr/>
        </p:nvSpPr>
        <p:spPr>
          <a:xfrm>
            <a:off x="530352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Where am I?</a:t>
            </a:r>
            <a:endParaRPr lang="en-US" sz="1900" dirty="0"/>
          </a:p>
        </p:txBody>
      </p:sp>
      <p:sp>
        <p:nvSpPr>
          <p:cNvPr id="18" name="Text 14"/>
          <p:cNvSpPr txBox="1"/>
          <p:nvPr/>
        </p:nvSpPr>
        <p:spPr>
          <a:xfrm>
            <a:off x="4572000" y="2880360"/>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Pick a place, or type coordinates</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Coordinates snap to the closest building (warns if over 2 km away)</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Copy your coordinates to the clipboard for any map app</a:t>
            </a:r>
            <a:endParaRPr lang="en-US" sz="1350" dirty="0"/>
          </a:p>
        </p:txBody>
      </p:sp>
      <p:sp>
        <p:nvSpPr>
          <p:cNvPr id="19" name="Shape 15"/>
          <p:cNvSpPr/>
          <p:nvPr/>
        </p:nvSpPr>
        <p:spPr>
          <a:xfrm>
            <a:off x="4572000" y="5486400"/>
            <a:ext cx="952805"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20" name="Text 16"/>
          <p:cNvSpPr txBox="1"/>
          <p:nvPr/>
        </p:nvSpPr>
        <p:spPr>
          <a:xfrm>
            <a:off x="4572000" y="5486400"/>
            <a:ext cx="952805"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Linear scan</a:t>
            </a:r>
            <a:endParaRPr lang="en-US" sz="950" dirty="0"/>
          </a:p>
        </p:txBody>
      </p:sp>
      <p:sp>
        <p:nvSpPr>
          <p:cNvPr id="21" name="Shape 17"/>
          <p:cNvSpPr/>
          <p:nvPr/>
        </p:nvSpPr>
        <p:spPr>
          <a:xfrm>
            <a:off x="5597957" y="5486400"/>
            <a:ext cx="802843"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22" name="Text 18"/>
          <p:cNvSpPr txBox="1"/>
          <p:nvPr/>
        </p:nvSpPr>
        <p:spPr>
          <a:xfrm>
            <a:off x="5597957" y="5486400"/>
            <a:ext cx="802843"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Haversine</a:t>
            </a:r>
            <a:endParaRPr lang="en-US" sz="950" dirty="0"/>
          </a:p>
        </p:txBody>
      </p:sp>
      <p:sp>
        <p:nvSpPr>
          <p:cNvPr id="23" name="Shape 19"/>
          <p:cNvSpPr/>
          <p:nvPr/>
        </p:nvSpPr>
        <p:spPr>
          <a:xfrm>
            <a:off x="804672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24" name="Shape 20"/>
          <p:cNvSpPr/>
          <p:nvPr/>
        </p:nvSpPr>
        <p:spPr>
          <a:xfrm>
            <a:off x="832104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8453811" y="2190171"/>
            <a:ext cx="337962" cy="337962"/>
          </a:xfrm>
          <a:prstGeom prst="rect">
            <a:avLst/>
          </a:prstGeom>
        </p:spPr>
      </p:pic>
      <p:sp>
        <p:nvSpPr>
          <p:cNvPr id="26" name="Text 21"/>
          <p:cNvSpPr txBox="1"/>
          <p:nvPr/>
        </p:nvSpPr>
        <p:spPr>
          <a:xfrm>
            <a:off x="905256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Explore the campus</a:t>
            </a:r>
            <a:endParaRPr lang="en-US" sz="1900" dirty="0"/>
          </a:p>
        </p:txBody>
      </p:sp>
      <p:sp>
        <p:nvSpPr>
          <p:cNvPr id="27" name="Text 22"/>
          <p:cNvSpPr txBox="1"/>
          <p:nvPr/>
        </p:nvSpPr>
        <p:spPr>
          <a:xfrm>
            <a:off x="8321040" y="2880360"/>
            <a:ext cx="3017520" cy="2468880"/>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DFS from any place, optionally showing the stack at every step</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Connectivity check: can every place be reached?</a:t>
            </a:r>
            <a:endParaRPr lang="en-US" sz="1350" dirty="0"/>
          </a:p>
          <a:p>
            <a:pPr marL="342900" indent="-342900">
              <a:spcAft>
                <a:spcPts val="700"/>
              </a:spcAft>
              <a:buSzPct val="100000"/>
              <a:buChar char="•"/>
            </a:pPr>
            <a:r>
              <a:rPr lang="en-US" sz="1350" dirty="0">
                <a:solidFill>
                  <a:srgbClr val="5F626B"/>
                </a:solidFill>
                <a:latin typeface="Calibri" pitchFamily="34" charset="0"/>
                <a:ea typeface="Calibri" pitchFamily="34" charset="-122"/>
                <a:cs typeface="Calibri" pitchFamily="34" charset="-120"/>
              </a:rPr>
              <a:t>Every road with its walkways and total length</a:t>
            </a:r>
            <a:endParaRPr lang="en-US" sz="1350" dirty="0"/>
          </a:p>
        </p:txBody>
      </p:sp>
      <p:sp>
        <p:nvSpPr>
          <p:cNvPr id="28" name="Shape 23"/>
          <p:cNvSpPr/>
          <p:nvPr/>
        </p:nvSpPr>
        <p:spPr>
          <a:xfrm>
            <a:off x="8321040" y="5486400"/>
            <a:ext cx="352958"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29" name="Text 24"/>
          <p:cNvSpPr txBox="1"/>
          <p:nvPr/>
        </p:nvSpPr>
        <p:spPr>
          <a:xfrm>
            <a:off x="8321040" y="5486400"/>
            <a:ext cx="352958"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DFS</a:t>
            </a:r>
            <a:endParaRPr lang="en-US" sz="950" dirty="0"/>
          </a:p>
        </p:txBody>
      </p:sp>
      <p:sp>
        <p:nvSpPr>
          <p:cNvPr id="30" name="Shape 25"/>
          <p:cNvSpPr/>
          <p:nvPr/>
        </p:nvSpPr>
        <p:spPr>
          <a:xfrm>
            <a:off x="8747150" y="5486400"/>
            <a:ext cx="502920"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31" name="Text 26"/>
          <p:cNvSpPr txBox="1"/>
          <p:nvPr/>
        </p:nvSpPr>
        <p:spPr>
          <a:xfrm>
            <a:off x="8747150" y="5486400"/>
            <a:ext cx="502920"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Stack</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07</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FEATURES 4, 5, 6 · FINDING PLACES</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Search it, browse it, sort it</a:t>
            </a:r>
            <a:endParaRPr lang="en-US" sz="3400" dirty="0"/>
          </a:p>
        </p:txBody>
      </p:sp>
      <p:sp>
        <p:nvSpPr>
          <p:cNvPr id="5" name="Shape 3"/>
          <p:cNvSpPr/>
          <p:nvPr/>
        </p:nvSpPr>
        <p:spPr>
          <a:xfrm>
            <a:off x="54864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6" name="Shape 4"/>
          <p:cNvSpPr/>
          <p:nvPr/>
        </p:nvSpPr>
        <p:spPr>
          <a:xfrm>
            <a:off x="82296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55731" y="2190171"/>
            <a:ext cx="337962" cy="337962"/>
          </a:xfrm>
          <a:prstGeom prst="rect">
            <a:avLst/>
          </a:prstGeom>
        </p:spPr>
      </p:pic>
      <p:sp>
        <p:nvSpPr>
          <p:cNvPr id="8" name="Text 5"/>
          <p:cNvSpPr txBox="1"/>
          <p:nvPr/>
        </p:nvSpPr>
        <p:spPr>
          <a:xfrm>
            <a:off x="155448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Search</a:t>
            </a:r>
            <a:endParaRPr lang="en-US" sz="1900" dirty="0"/>
          </a:p>
        </p:txBody>
      </p:sp>
      <p:sp>
        <p:nvSpPr>
          <p:cNvPr id="9" name="Text 6"/>
          <p:cNvSpPr txBox="1"/>
          <p:nvPr/>
        </p:nvSpPr>
        <p:spPr>
          <a:xfrm>
            <a:off x="822960" y="2834640"/>
            <a:ext cx="3017520" cy="1097280"/>
          </a:xfrm>
          <a:prstGeom prst="rect">
            <a:avLst/>
          </a:prstGeom>
          <a:noFill/>
          <a:ln/>
        </p:spPr>
        <p:txBody>
          <a:bodyPr wrap="square" lIns="0" tIns="0" rIns="0" bIns="0" rtlCol="0" anchor="t"/>
          <a:lstStyle/>
          <a:p>
            <a:pPr marL="0" indent="0">
              <a:buNone/>
            </a:pPr>
            <a:r>
              <a:rPr lang="en-US" sz="1350" dirty="0">
                <a:solidFill>
                  <a:srgbClr val="5F626B"/>
                </a:solidFill>
                <a:latin typeface="Calibri" pitchFamily="34" charset="0"/>
                <a:ea typeface="Calibri" pitchFamily="34" charset="-122"/>
                <a:cs typeface="Calibri" pitchFamily="34" charset="-120"/>
              </a:rPr>
              <a:t>One box for everything. Exact names are found first with binary search on a sorted copy, then partial name and category matches with linear search.</a:t>
            </a:r>
            <a:endParaRPr lang="en-US" sz="1350" dirty="0"/>
          </a:p>
        </p:txBody>
      </p:sp>
      <p:sp>
        <p:nvSpPr>
          <p:cNvPr id="10" name="Shape 7"/>
          <p:cNvSpPr/>
          <p:nvPr/>
        </p:nvSpPr>
        <p:spPr>
          <a:xfrm>
            <a:off x="822960" y="5486400"/>
            <a:ext cx="577901"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11" name="Text 8"/>
          <p:cNvSpPr txBox="1"/>
          <p:nvPr/>
        </p:nvSpPr>
        <p:spPr>
          <a:xfrm>
            <a:off x="822960" y="5486400"/>
            <a:ext cx="577901"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Linear</a:t>
            </a:r>
            <a:endParaRPr lang="en-US" sz="950" dirty="0"/>
          </a:p>
        </p:txBody>
      </p:sp>
      <p:sp>
        <p:nvSpPr>
          <p:cNvPr id="12" name="Shape 9"/>
          <p:cNvSpPr/>
          <p:nvPr/>
        </p:nvSpPr>
        <p:spPr>
          <a:xfrm>
            <a:off x="1474013" y="5486400"/>
            <a:ext cx="1102766"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13" name="Text 10"/>
          <p:cNvSpPr txBox="1"/>
          <p:nvPr/>
        </p:nvSpPr>
        <p:spPr>
          <a:xfrm>
            <a:off x="1474013" y="5486400"/>
            <a:ext cx="1102766"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Binary search</a:t>
            </a:r>
            <a:endParaRPr lang="en-US" sz="950" dirty="0"/>
          </a:p>
        </p:txBody>
      </p:sp>
      <p:sp>
        <p:nvSpPr>
          <p:cNvPr id="14" name="Shape 11"/>
          <p:cNvSpPr/>
          <p:nvPr/>
        </p:nvSpPr>
        <p:spPr>
          <a:xfrm>
            <a:off x="822960" y="3977640"/>
            <a:ext cx="2971800" cy="1325880"/>
          </a:xfrm>
          <a:prstGeom prst="roundRect">
            <a:avLst>
              <a:gd name="adj" fmla="val 6897"/>
            </a:avLst>
          </a:prstGeom>
          <a:solidFill>
            <a:srgbClr val="07080A"/>
          </a:solidFill>
          <a:ln w="12700">
            <a:solidFill>
              <a:srgbClr val="2C2F38"/>
            </a:solidFill>
            <a:prstDash val="solid"/>
          </a:ln>
        </p:spPr>
        <p:txBody>
          <a:bodyPr/>
          <a:lstStyle/>
          <a:p>
            <a:endParaRPr lang="en-US"/>
          </a:p>
        </p:txBody>
      </p:sp>
      <p:sp>
        <p:nvSpPr>
          <p:cNvPr id="15" name="Shape 12"/>
          <p:cNvSpPr/>
          <p:nvPr/>
        </p:nvSpPr>
        <p:spPr>
          <a:xfrm>
            <a:off x="1005840" y="4133088"/>
            <a:ext cx="109728" cy="109728"/>
          </a:xfrm>
          <a:prstGeom prst="ellipse">
            <a:avLst/>
          </a:prstGeom>
          <a:solidFill>
            <a:srgbClr val="FF5F57"/>
          </a:solidFill>
          <a:ln w="12700">
            <a:solidFill>
              <a:srgbClr val="FF5F57"/>
            </a:solidFill>
            <a:prstDash val="solid"/>
          </a:ln>
        </p:spPr>
        <p:txBody>
          <a:bodyPr/>
          <a:lstStyle/>
          <a:p>
            <a:endParaRPr lang="en-US"/>
          </a:p>
        </p:txBody>
      </p:sp>
      <p:sp>
        <p:nvSpPr>
          <p:cNvPr id="16" name="Shape 13"/>
          <p:cNvSpPr/>
          <p:nvPr/>
        </p:nvSpPr>
        <p:spPr>
          <a:xfrm>
            <a:off x="1188720" y="4133088"/>
            <a:ext cx="109728" cy="109728"/>
          </a:xfrm>
          <a:prstGeom prst="ellipse">
            <a:avLst/>
          </a:prstGeom>
          <a:solidFill>
            <a:srgbClr val="FEBC2E"/>
          </a:solidFill>
          <a:ln w="12700">
            <a:solidFill>
              <a:srgbClr val="FEBC2E"/>
            </a:solidFill>
            <a:prstDash val="solid"/>
          </a:ln>
        </p:spPr>
        <p:txBody>
          <a:bodyPr/>
          <a:lstStyle/>
          <a:p>
            <a:endParaRPr lang="en-US"/>
          </a:p>
        </p:txBody>
      </p:sp>
      <p:sp>
        <p:nvSpPr>
          <p:cNvPr id="17" name="Shape 14"/>
          <p:cNvSpPr/>
          <p:nvPr/>
        </p:nvSpPr>
        <p:spPr>
          <a:xfrm>
            <a:off x="1371600" y="4133088"/>
            <a:ext cx="109728" cy="109728"/>
          </a:xfrm>
          <a:prstGeom prst="ellipse">
            <a:avLst/>
          </a:prstGeom>
          <a:solidFill>
            <a:srgbClr val="28C840"/>
          </a:solidFill>
          <a:ln w="12700">
            <a:solidFill>
              <a:srgbClr val="28C840"/>
            </a:solidFill>
            <a:prstDash val="solid"/>
          </a:ln>
        </p:spPr>
        <p:txBody>
          <a:bodyPr/>
          <a:lstStyle/>
          <a:p>
            <a:endParaRPr lang="en-US"/>
          </a:p>
        </p:txBody>
      </p:sp>
      <p:sp>
        <p:nvSpPr>
          <p:cNvPr id="18" name="Text 15"/>
          <p:cNvSpPr txBox="1"/>
          <p:nvPr/>
        </p:nvSpPr>
        <p:spPr>
          <a:xfrm>
            <a:off x="1024128" y="4389120"/>
            <a:ext cx="2569464" cy="777240"/>
          </a:xfrm>
          <a:prstGeom prst="rect">
            <a:avLst/>
          </a:prstGeom>
          <a:noFill/>
          <a:ln/>
        </p:spPr>
        <p:txBody>
          <a:bodyPr wrap="square" lIns="0" tIns="0" rIns="0" bIns="0" rtlCol="0" anchor="t"/>
          <a:lstStyle/>
          <a:p>
            <a:pPr marL="0" indent="0">
              <a:lnSpc>
                <a:spcPct val="105000"/>
              </a:lnSpc>
              <a:buNone/>
            </a:pPr>
            <a:r>
              <a:rPr lang="en-US" sz="1050" dirty="0">
                <a:solidFill>
                  <a:srgbClr val="D9B100"/>
                </a:solidFill>
                <a:latin typeface="Consolas" pitchFamily="34" charset="0"/>
                <a:ea typeface="Consolas" pitchFamily="34" charset="-122"/>
                <a:cs typeface="Consolas" pitchFamily="34" charset="-120"/>
              </a:rPr>
              <a:t>  › </a:t>
            </a:r>
            <a:r>
              <a:rPr lang="en-US" sz="1050" dirty="0">
                <a:solidFill>
                  <a:srgbClr val="FFFFFF"/>
                </a:solidFill>
                <a:latin typeface="Consolas" pitchFamily="34" charset="0"/>
                <a:ea typeface="Consolas" pitchFamily="34" charset="-122"/>
                <a:cs typeface="Consolas" pitchFamily="34" charset="-120"/>
              </a:rPr>
              <a:t>lib</a:t>
            </a:r>
            <a:endParaRPr lang="en-US" sz="1050" dirty="0"/>
          </a:p>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binary search: 6 steps</a:t>
            </a:r>
            <a:endParaRPr lang="en-US" sz="1050" dirty="0"/>
          </a:p>
          <a:p>
            <a:pPr marL="0" indent="0">
              <a:lnSpc>
                <a:spcPct val="105000"/>
              </a:lnSpc>
              <a:buNone/>
            </a:pPr>
            <a:r>
              <a:rPr lang="en-US" sz="1050" dirty="0">
                <a:solidFill>
                  <a:srgbClr val="D7D8DC"/>
                </a:solidFill>
                <a:latin typeface="Consolas" pitchFamily="34" charset="0"/>
                <a:ea typeface="Consolas" pitchFamily="34" charset="-122"/>
                <a:cs typeface="Consolas" pitchFamily="34" charset="-120"/>
              </a:rPr>
              <a:t>   1  Central Library</a:t>
            </a:r>
            <a:endParaRPr lang="en-US" sz="1050" dirty="0"/>
          </a:p>
        </p:txBody>
      </p:sp>
      <p:sp>
        <p:nvSpPr>
          <p:cNvPr id="19" name="Shape 16"/>
          <p:cNvSpPr/>
          <p:nvPr/>
        </p:nvSpPr>
        <p:spPr>
          <a:xfrm>
            <a:off x="429768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20" name="Shape 17"/>
          <p:cNvSpPr/>
          <p:nvPr/>
        </p:nvSpPr>
        <p:spPr>
          <a:xfrm>
            <a:off x="457200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21" name="Image 1" descr="preencoded.png"/>
          <p:cNvPicPr>
            <a:picLocks noChangeAspect="1"/>
          </p:cNvPicPr>
          <p:nvPr/>
        </p:nvPicPr>
        <p:blipFill>
          <a:blip r:embed="rId4"/>
          <a:stretch>
            <a:fillRect/>
          </a:stretch>
        </p:blipFill>
        <p:spPr>
          <a:xfrm>
            <a:off x="4704771" y="2190171"/>
            <a:ext cx="337962" cy="337962"/>
          </a:xfrm>
          <a:prstGeom prst="rect">
            <a:avLst/>
          </a:prstGeom>
        </p:spPr>
      </p:pic>
      <p:sp>
        <p:nvSpPr>
          <p:cNvPr id="22" name="Text 18"/>
          <p:cNvSpPr txBox="1"/>
          <p:nvPr/>
        </p:nvSpPr>
        <p:spPr>
          <a:xfrm>
            <a:off x="530352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Browse by category</a:t>
            </a:r>
            <a:endParaRPr lang="en-US" sz="1900" dirty="0"/>
          </a:p>
        </p:txBody>
      </p:sp>
      <p:sp>
        <p:nvSpPr>
          <p:cNvPr id="23" name="Text 19"/>
          <p:cNvSpPr txBox="1"/>
          <p:nvPr/>
        </p:nvSpPr>
        <p:spPr>
          <a:xfrm>
            <a:off x="4572000" y="2834640"/>
            <a:ext cx="3017520" cy="1097280"/>
          </a:xfrm>
          <a:prstGeom prst="rect">
            <a:avLst/>
          </a:prstGeom>
          <a:noFill/>
          <a:ln/>
        </p:spPr>
        <p:txBody>
          <a:bodyPr wrap="square" lIns="0" tIns="0" rIns="0" bIns="0" rtlCol="0" anchor="t"/>
          <a:lstStyle/>
          <a:p>
            <a:pPr marL="0" indent="0">
              <a:buNone/>
            </a:pPr>
            <a:r>
              <a:rPr lang="en-US" sz="1350" dirty="0">
                <a:solidFill>
                  <a:srgbClr val="5F626B"/>
                </a:solidFill>
                <a:latin typeface="Calibri" pitchFamily="34" charset="0"/>
                <a:ea typeface="Calibri" pitchFamily="34" charset="-122"/>
                <a:cs typeface="Calibri" pitchFamily="34" charset="-120"/>
              </a:rPr>
              <a:t>The campus as a general tree: KUET at the root, 10 categories, 44 places as leaves. 55 nodes, height 3.</a:t>
            </a:r>
            <a:endParaRPr lang="en-US" sz="1350" dirty="0"/>
          </a:p>
        </p:txBody>
      </p:sp>
      <p:sp>
        <p:nvSpPr>
          <p:cNvPr id="24" name="Shape 20"/>
          <p:cNvSpPr/>
          <p:nvPr/>
        </p:nvSpPr>
        <p:spPr>
          <a:xfrm>
            <a:off x="4572000" y="5486400"/>
            <a:ext cx="1027786"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25" name="Text 21"/>
          <p:cNvSpPr txBox="1"/>
          <p:nvPr/>
        </p:nvSpPr>
        <p:spPr>
          <a:xfrm>
            <a:off x="4572000" y="5486400"/>
            <a:ext cx="1027786"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General tree</a:t>
            </a:r>
            <a:endParaRPr lang="en-US" sz="950" dirty="0"/>
          </a:p>
        </p:txBody>
      </p:sp>
      <p:sp>
        <p:nvSpPr>
          <p:cNvPr id="26" name="Shape 22"/>
          <p:cNvSpPr/>
          <p:nvPr/>
        </p:nvSpPr>
        <p:spPr>
          <a:xfrm>
            <a:off x="4572000" y="3977640"/>
            <a:ext cx="2971800" cy="1325880"/>
          </a:xfrm>
          <a:prstGeom prst="roundRect">
            <a:avLst>
              <a:gd name="adj" fmla="val 6897"/>
            </a:avLst>
          </a:prstGeom>
          <a:solidFill>
            <a:srgbClr val="07080A"/>
          </a:solidFill>
          <a:ln w="12700">
            <a:solidFill>
              <a:srgbClr val="2C2F38"/>
            </a:solidFill>
            <a:prstDash val="solid"/>
          </a:ln>
        </p:spPr>
        <p:txBody>
          <a:bodyPr/>
          <a:lstStyle/>
          <a:p>
            <a:endParaRPr lang="en-US"/>
          </a:p>
        </p:txBody>
      </p:sp>
      <p:sp>
        <p:nvSpPr>
          <p:cNvPr id="27" name="Shape 23"/>
          <p:cNvSpPr/>
          <p:nvPr/>
        </p:nvSpPr>
        <p:spPr>
          <a:xfrm>
            <a:off x="4754880" y="4133088"/>
            <a:ext cx="109728" cy="109728"/>
          </a:xfrm>
          <a:prstGeom prst="ellipse">
            <a:avLst/>
          </a:prstGeom>
          <a:solidFill>
            <a:srgbClr val="FF5F57"/>
          </a:solidFill>
          <a:ln w="12700">
            <a:solidFill>
              <a:srgbClr val="FF5F57"/>
            </a:solidFill>
            <a:prstDash val="solid"/>
          </a:ln>
        </p:spPr>
        <p:txBody>
          <a:bodyPr/>
          <a:lstStyle/>
          <a:p>
            <a:endParaRPr lang="en-US"/>
          </a:p>
        </p:txBody>
      </p:sp>
      <p:sp>
        <p:nvSpPr>
          <p:cNvPr id="28" name="Shape 24"/>
          <p:cNvSpPr/>
          <p:nvPr/>
        </p:nvSpPr>
        <p:spPr>
          <a:xfrm>
            <a:off x="4937760" y="4133088"/>
            <a:ext cx="109728" cy="109728"/>
          </a:xfrm>
          <a:prstGeom prst="ellipse">
            <a:avLst/>
          </a:prstGeom>
          <a:solidFill>
            <a:srgbClr val="FEBC2E"/>
          </a:solidFill>
          <a:ln w="12700">
            <a:solidFill>
              <a:srgbClr val="FEBC2E"/>
            </a:solidFill>
            <a:prstDash val="solid"/>
          </a:ln>
        </p:spPr>
        <p:txBody>
          <a:bodyPr/>
          <a:lstStyle/>
          <a:p>
            <a:endParaRPr lang="en-US"/>
          </a:p>
        </p:txBody>
      </p:sp>
      <p:sp>
        <p:nvSpPr>
          <p:cNvPr id="29" name="Shape 25"/>
          <p:cNvSpPr/>
          <p:nvPr/>
        </p:nvSpPr>
        <p:spPr>
          <a:xfrm>
            <a:off x="5120640" y="4133088"/>
            <a:ext cx="109728" cy="109728"/>
          </a:xfrm>
          <a:prstGeom prst="ellipse">
            <a:avLst/>
          </a:prstGeom>
          <a:solidFill>
            <a:srgbClr val="28C840"/>
          </a:solidFill>
          <a:ln w="12700">
            <a:solidFill>
              <a:srgbClr val="28C840"/>
            </a:solidFill>
            <a:prstDash val="solid"/>
          </a:ln>
        </p:spPr>
        <p:txBody>
          <a:bodyPr/>
          <a:lstStyle/>
          <a:p>
            <a:endParaRPr lang="en-US"/>
          </a:p>
        </p:txBody>
      </p:sp>
      <p:sp>
        <p:nvSpPr>
          <p:cNvPr id="30" name="Text 26"/>
          <p:cNvSpPr txBox="1"/>
          <p:nvPr/>
        </p:nvSpPr>
        <p:spPr>
          <a:xfrm>
            <a:off x="4773168" y="4389120"/>
            <a:ext cx="2569464" cy="777240"/>
          </a:xfrm>
          <a:prstGeom prst="rect">
            <a:avLst/>
          </a:prstGeom>
          <a:noFill/>
          <a:ln/>
        </p:spPr>
        <p:txBody>
          <a:bodyPr wrap="square" lIns="0" tIns="0" rIns="0" bIns="0" rtlCol="0" anchor="t"/>
          <a:lstStyle/>
          <a:p>
            <a:pPr marL="0" indent="0">
              <a:lnSpc>
                <a:spcPct val="105000"/>
              </a:lnSpc>
              <a:buNone/>
            </a:pPr>
            <a:r>
              <a:rPr lang="en-US" sz="1050" b="1" dirty="0">
                <a:solidFill>
                  <a:srgbClr val="FFFFFF"/>
                </a:solidFill>
                <a:latin typeface="Consolas" pitchFamily="34" charset="0"/>
                <a:ea typeface="Consolas" pitchFamily="34" charset="-122"/>
                <a:cs typeface="Consolas" pitchFamily="34" charset="-120"/>
              </a:rPr>
              <a:t>  KUET</a:t>
            </a:r>
            <a:endParaRPr lang="en-US" sz="1050" dirty="0"/>
          </a:p>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 </a:t>
            </a:r>
            <a:r>
              <a:rPr lang="en-US" sz="1050" dirty="0">
                <a:solidFill>
                  <a:srgbClr val="D9B100"/>
                </a:solidFill>
                <a:latin typeface="Consolas" pitchFamily="34" charset="0"/>
                <a:ea typeface="Consolas" pitchFamily="34" charset="-122"/>
                <a:cs typeface="Consolas" pitchFamily="34" charset="-120"/>
              </a:rPr>
              <a:t>Academic</a:t>
            </a:r>
            <a:r>
              <a:rPr lang="en-US" sz="1050" dirty="0">
                <a:solidFill>
                  <a:srgbClr val="7C7F89"/>
                </a:solidFill>
                <a:latin typeface="Consolas" pitchFamily="34" charset="0"/>
                <a:ea typeface="Consolas" pitchFamily="34" charset="-122"/>
                <a:cs typeface="Consolas" pitchFamily="34" charset="-120"/>
              </a:rPr>
              <a:t>   11 places</a:t>
            </a:r>
            <a:endParaRPr lang="en-US" sz="1050" dirty="0"/>
          </a:p>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 </a:t>
            </a:r>
            <a:r>
              <a:rPr lang="en-US" sz="1050" dirty="0">
                <a:solidFill>
                  <a:srgbClr val="D9B100"/>
                </a:solidFill>
                <a:latin typeface="Consolas" pitchFamily="34" charset="0"/>
                <a:ea typeface="Consolas" pitchFamily="34" charset="-122"/>
                <a:cs typeface="Consolas" pitchFamily="34" charset="-120"/>
              </a:rPr>
              <a:t>Residential</a:t>
            </a:r>
            <a:r>
              <a:rPr lang="en-US" sz="1050" dirty="0">
                <a:solidFill>
                  <a:srgbClr val="7C7F89"/>
                </a:solidFill>
                <a:latin typeface="Consolas" pitchFamily="34" charset="0"/>
                <a:ea typeface="Consolas" pitchFamily="34" charset="-122"/>
                <a:cs typeface="Consolas" pitchFamily="34" charset="-120"/>
              </a:rPr>
              <a:t>  9 places</a:t>
            </a:r>
            <a:endParaRPr lang="en-US" sz="1050" dirty="0"/>
          </a:p>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 </a:t>
            </a:r>
            <a:r>
              <a:rPr lang="en-US" sz="1050" dirty="0">
                <a:solidFill>
                  <a:srgbClr val="D9B100"/>
                </a:solidFill>
                <a:latin typeface="Consolas" pitchFamily="34" charset="0"/>
                <a:ea typeface="Consolas" pitchFamily="34" charset="-122"/>
                <a:cs typeface="Consolas" pitchFamily="34" charset="-120"/>
              </a:rPr>
              <a:t>Landmark</a:t>
            </a:r>
            <a:r>
              <a:rPr lang="en-US" sz="1050" dirty="0">
                <a:solidFill>
                  <a:srgbClr val="7C7F89"/>
                </a:solidFill>
                <a:latin typeface="Consolas" pitchFamily="34" charset="0"/>
                <a:ea typeface="Consolas" pitchFamily="34" charset="-122"/>
                <a:cs typeface="Consolas" pitchFamily="34" charset="-120"/>
              </a:rPr>
              <a:t>     4 places</a:t>
            </a:r>
            <a:endParaRPr lang="en-US" sz="1050" dirty="0"/>
          </a:p>
        </p:txBody>
      </p:sp>
      <p:sp>
        <p:nvSpPr>
          <p:cNvPr id="31" name="Shape 27"/>
          <p:cNvSpPr/>
          <p:nvPr/>
        </p:nvSpPr>
        <p:spPr>
          <a:xfrm>
            <a:off x="8046720" y="1783080"/>
            <a:ext cx="3520440" cy="4206240"/>
          </a:xfrm>
          <a:prstGeom prst="roundRect">
            <a:avLst>
              <a:gd name="adj" fmla="val 3117"/>
            </a:avLst>
          </a:prstGeom>
          <a:solidFill>
            <a:srgbClr val="F3F4F6"/>
          </a:solidFill>
          <a:ln w="12700">
            <a:solidFill>
              <a:srgbClr val="F3F4F6"/>
            </a:solidFill>
            <a:prstDash val="solid"/>
          </a:ln>
        </p:spPr>
        <p:txBody>
          <a:bodyPr/>
          <a:lstStyle/>
          <a:p>
            <a:endParaRPr lang="en-US"/>
          </a:p>
        </p:txBody>
      </p:sp>
      <p:sp>
        <p:nvSpPr>
          <p:cNvPr id="32" name="Shape 28"/>
          <p:cNvSpPr/>
          <p:nvPr/>
        </p:nvSpPr>
        <p:spPr>
          <a:xfrm>
            <a:off x="8321040" y="2057400"/>
            <a:ext cx="603504" cy="603504"/>
          </a:xfrm>
          <a:prstGeom prst="ellipse">
            <a:avLst/>
          </a:prstGeom>
          <a:solidFill>
            <a:srgbClr val="FBF4D2"/>
          </a:solidFill>
          <a:ln w="12700">
            <a:solidFill>
              <a:srgbClr val="FBF4D2"/>
            </a:solidFill>
            <a:prstDash val="solid"/>
          </a:ln>
        </p:spPr>
        <p:txBody>
          <a:bodyPr/>
          <a:lstStyle/>
          <a:p>
            <a:endParaRPr lang="en-US"/>
          </a:p>
        </p:txBody>
      </p:sp>
      <p:pic>
        <p:nvPicPr>
          <p:cNvPr id="33" name="Image 2" descr="preencoded.png"/>
          <p:cNvPicPr>
            <a:picLocks noChangeAspect="1"/>
          </p:cNvPicPr>
          <p:nvPr/>
        </p:nvPicPr>
        <p:blipFill>
          <a:blip r:embed="rId5"/>
          <a:stretch>
            <a:fillRect/>
          </a:stretch>
        </p:blipFill>
        <p:spPr>
          <a:xfrm>
            <a:off x="8453811" y="2190171"/>
            <a:ext cx="337962" cy="337962"/>
          </a:xfrm>
          <a:prstGeom prst="rect">
            <a:avLst/>
          </a:prstGeom>
        </p:spPr>
      </p:pic>
      <p:sp>
        <p:nvSpPr>
          <p:cNvPr id="34" name="Text 29"/>
          <p:cNvSpPr txBox="1"/>
          <p:nvPr/>
        </p:nvSpPr>
        <p:spPr>
          <a:xfrm>
            <a:off x="9052560" y="2130552"/>
            <a:ext cx="2377440" cy="45720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Sort places</a:t>
            </a:r>
            <a:endParaRPr lang="en-US" sz="1900" dirty="0"/>
          </a:p>
        </p:txBody>
      </p:sp>
      <p:sp>
        <p:nvSpPr>
          <p:cNvPr id="35" name="Text 30"/>
          <p:cNvSpPr txBox="1"/>
          <p:nvPr/>
        </p:nvSpPr>
        <p:spPr>
          <a:xfrm>
            <a:off x="8321040" y="2834640"/>
            <a:ext cx="3017520" cy="1097280"/>
          </a:xfrm>
          <a:prstGeom prst="rect">
            <a:avLst/>
          </a:prstGeom>
          <a:noFill/>
          <a:ln/>
        </p:spPr>
        <p:txBody>
          <a:bodyPr wrap="square" lIns="0" tIns="0" rIns="0" bIns="0" rtlCol="0" anchor="t"/>
          <a:lstStyle/>
          <a:p>
            <a:pPr marL="0" indent="0">
              <a:buNone/>
            </a:pPr>
            <a:r>
              <a:rPr lang="en-US" sz="1350" dirty="0">
                <a:solidFill>
                  <a:srgbClr val="5F626B"/>
                </a:solidFill>
                <a:latin typeface="Calibri" pitchFamily="34" charset="0"/>
                <a:ea typeface="Calibri" pitchFamily="34" charset="-122"/>
                <a:cs typeface="Calibri" pitchFamily="34" charset="-120"/>
              </a:rPr>
              <a:t>A–Z, Z–A, by category, or by distance from you. Prints how many comparisons and swaps each sort made.</a:t>
            </a:r>
            <a:endParaRPr lang="en-US" sz="1350" dirty="0"/>
          </a:p>
        </p:txBody>
      </p:sp>
      <p:sp>
        <p:nvSpPr>
          <p:cNvPr id="36" name="Shape 31"/>
          <p:cNvSpPr/>
          <p:nvPr/>
        </p:nvSpPr>
        <p:spPr>
          <a:xfrm>
            <a:off x="8321040" y="5486400"/>
            <a:ext cx="577901"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37" name="Text 32"/>
          <p:cNvSpPr txBox="1"/>
          <p:nvPr/>
        </p:nvSpPr>
        <p:spPr>
          <a:xfrm>
            <a:off x="8321040" y="5486400"/>
            <a:ext cx="577901"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Bubble</a:t>
            </a:r>
            <a:endParaRPr lang="en-US" sz="950" dirty="0"/>
          </a:p>
        </p:txBody>
      </p:sp>
      <p:sp>
        <p:nvSpPr>
          <p:cNvPr id="38" name="Shape 33"/>
          <p:cNvSpPr/>
          <p:nvPr/>
        </p:nvSpPr>
        <p:spPr>
          <a:xfrm>
            <a:off x="8972093" y="5486400"/>
            <a:ext cx="1177747" cy="256032"/>
          </a:xfrm>
          <a:prstGeom prst="roundRect">
            <a:avLst>
              <a:gd name="adj" fmla="val 21429"/>
            </a:avLst>
          </a:prstGeom>
          <a:solidFill>
            <a:srgbClr val="FBF4D2"/>
          </a:solidFill>
          <a:ln w="12700">
            <a:solidFill>
              <a:srgbClr val="FBF4D2"/>
            </a:solidFill>
            <a:prstDash val="solid"/>
          </a:ln>
        </p:spPr>
        <p:txBody>
          <a:bodyPr/>
          <a:lstStyle/>
          <a:p>
            <a:endParaRPr lang="en-US"/>
          </a:p>
        </p:txBody>
      </p:sp>
      <p:sp>
        <p:nvSpPr>
          <p:cNvPr id="39" name="Text 34"/>
          <p:cNvSpPr txBox="1"/>
          <p:nvPr/>
        </p:nvSpPr>
        <p:spPr>
          <a:xfrm>
            <a:off x="8972093" y="5486400"/>
            <a:ext cx="1177747" cy="256032"/>
          </a:xfrm>
          <a:prstGeom prst="rect">
            <a:avLst/>
          </a:prstGeom>
          <a:noFill/>
          <a:ln/>
        </p:spPr>
        <p:txBody>
          <a:bodyPr wrap="square" lIns="0" tIns="0" rIns="0" bIns="0" rtlCol="0" anchor="ctr"/>
          <a:lstStyle/>
          <a:p>
            <a:pPr marL="0" indent="0" algn="ctr">
              <a:buNone/>
            </a:pPr>
            <a:r>
              <a:rPr lang="en-US" sz="950" b="1" dirty="0">
                <a:solidFill>
                  <a:srgbClr val="8F7200"/>
                </a:solidFill>
                <a:latin typeface="Consolas" pitchFamily="34" charset="0"/>
                <a:ea typeface="Consolas" pitchFamily="34" charset="-122"/>
                <a:cs typeface="Consolas" pitchFamily="34" charset="-120"/>
              </a:rPr>
              <a:t>Selection sort</a:t>
            </a:r>
            <a:endParaRPr lang="en-US" sz="950" dirty="0"/>
          </a:p>
        </p:txBody>
      </p:sp>
      <p:sp>
        <p:nvSpPr>
          <p:cNvPr id="40" name="Shape 35"/>
          <p:cNvSpPr/>
          <p:nvPr/>
        </p:nvSpPr>
        <p:spPr>
          <a:xfrm>
            <a:off x="8321040" y="3977640"/>
            <a:ext cx="2971800" cy="1325880"/>
          </a:xfrm>
          <a:prstGeom prst="roundRect">
            <a:avLst>
              <a:gd name="adj" fmla="val 6897"/>
            </a:avLst>
          </a:prstGeom>
          <a:solidFill>
            <a:srgbClr val="07080A"/>
          </a:solidFill>
          <a:ln w="12700">
            <a:solidFill>
              <a:srgbClr val="2C2F38"/>
            </a:solidFill>
            <a:prstDash val="solid"/>
          </a:ln>
        </p:spPr>
        <p:txBody>
          <a:bodyPr/>
          <a:lstStyle/>
          <a:p>
            <a:endParaRPr lang="en-US"/>
          </a:p>
        </p:txBody>
      </p:sp>
      <p:sp>
        <p:nvSpPr>
          <p:cNvPr id="41" name="Shape 36"/>
          <p:cNvSpPr/>
          <p:nvPr/>
        </p:nvSpPr>
        <p:spPr>
          <a:xfrm>
            <a:off x="8503920" y="4133088"/>
            <a:ext cx="109728" cy="109728"/>
          </a:xfrm>
          <a:prstGeom prst="ellipse">
            <a:avLst/>
          </a:prstGeom>
          <a:solidFill>
            <a:srgbClr val="FF5F57"/>
          </a:solidFill>
          <a:ln w="12700">
            <a:solidFill>
              <a:srgbClr val="FF5F57"/>
            </a:solidFill>
            <a:prstDash val="solid"/>
          </a:ln>
        </p:spPr>
        <p:txBody>
          <a:bodyPr/>
          <a:lstStyle/>
          <a:p>
            <a:endParaRPr lang="en-US"/>
          </a:p>
        </p:txBody>
      </p:sp>
      <p:sp>
        <p:nvSpPr>
          <p:cNvPr id="42" name="Shape 37"/>
          <p:cNvSpPr/>
          <p:nvPr/>
        </p:nvSpPr>
        <p:spPr>
          <a:xfrm>
            <a:off x="8686800" y="4133088"/>
            <a:ext cx="109728" cy="109728"/>
          </a:xfrm>
          <a:prstGeom prst="ellipse">
            <a:avLst/>
          </a:prstGeom>
          <a:solidFill>
            <a:srgbClr val="FEBC2E"/>
          </a:solidFill>
          <a:ln w="12700">
            <a:solidFill>
              <a:srgbClr val="FEBC2E"/>
            </a:solidFill>
            <a:prstDash val="solid"/>
          </a:ln>
        </p:spPr>
        <p:txBody>
          <a:bodyPr/>
          <a:lstStyle/>
          <a:p>
            <a:endParaRPr lang="en-US"/>
          </a:p>
        </p:txBody>
      </p:sp>
      <p:sp>
        <p:nvSpPr>
          <p:cNvPr id="43" name="Shape 38"/>
          <p:cNvSpPr/>
          <p:nvPr/>
        </p:nvSpPr>
        <p:spPr>
          <a:xfrm>
            <a:off x="8869680" y="4133088"/>
            <a:ext cx="109728" cy="109728"/>
          </a:xfrm>
          <a:prstGeom prst="ellipse">
            <a:avLst/>
          </a:prstGeom>
          <a:solidFill>
            <a:srgbClr val="28C840"/>
          </a:solidFill>
          <a:ln w="12700">
            <a:solidFill>
              <a:srgbClr val="28C840"/>
            </a:solidFill>
            <a:prstDash val="solid"/>
          </a:ln>
        </p:spPr>
        <p:txBody>
          <a:bodyPr/>
          <a:lstStyle/>
          <a:p>
            <a:endParaRPr lang="en-US"/>
          </a:p>
        </p:txBody>
      </p:sp>
      <p:sp>
        <p:nvSpPr>
          <p:cNvPr id="44" name="Text 39"/>
          <p:cNvSpPr txBox="1"/>
          <p:nvPr/>
        </p:nvSpPr>
        <p:spPr>
          <a:xfrm>
            <a:off x="8522208" y="4389120"/>
            <a:ext cx="2569464" cy="777240"/>
          </a:xfrm>
          <a:prstGeom prst="rect">
            <a:avLst/>
          </a:prstGeom>
          <a:noFill/>
          <a:ln/>
        </p:spPr>
        <p:txBody>
          <a:bodyPr wrap="square" lIns="0" tIns="0" rIns="0" bIns="0" rtlCol="0" anchor="t"/>
          <a:lstStyle/>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by name, 44 places</a:t>
            </a:r>
            <a:endParaRPr lang="en-US" sz="1050" dirty="0"/>
          </a:p>
          <a:p>
            <a:pPr marL="0" indent="0">
              <a:lnSpc>
                <a:spcPct val="105000"/>
              </a:lnSpc>
              <a:buNone/>
            </a:pPr>
            <a:r>
              <a:rPr lang="en-US" sz="1050" dirty="0">
                <a:solidFill>
                  <a:srgbClr val="D9B100"/>
                </a:solidFill>
                <a:latin typeface="Consolas" pitchFamily="34" charset="0"/>
                <a:ea typeface="Consolas" pitchFamily="34" charset="-122"/>
                <a:cs typeface="Consolas" pitchFamily="34" charset="-120"/>
              </a:rPr>
              <a:t>  bubble     </a:t>
            </a:r>
            <a:r>
              <a:rPr lang="en-US" sz="1050" dirty="0">
                <a:solidFill>
                  <a:srgbClr val="D7D8DC"/>
                </a:solidFill>
                <a:latin typeface="Consolas" pitchFamily="34" charset="0"/>
                <a:ea typeface="Consolas" pitchFamily="34" charset="-122"/>
                <a:cs typeface="Consolas" pitchFamily="34" charset="-120"/>
              </a:rPr>
              <a:t>367 swaps</a:t>
            </a:r>
            <a:endParaRPr lang="en-US" sz="1050" dirty="0"/>
          </a:p>
          <a:p>
            <a:pPr marL="0" indent="0">
              <a:lnSpc>
                <a:spcPct val="105000"/>
              </a:lnSpc>
              <a:buNone/>
            </a:pPr>
            <a:r>
              <a:rPr lang="en-US" sz="1050" dirty="0">
                <a:solidFill>
                  <a:srgbClr val="D9B100"/>
                </a:solidFill>
                <a:latin typeface="Consolas" pitchFamily="34" charset="0"/>
                <a:ea typeface="Consolas" pitchFamily="34" charset="-122"/>
                <a:cs typeface="Consolas" pitchFamily="34" charset="-120"/>
              </a:rPr>
              <a:t>  selection  </a:t>
            </a:r>
            <a:r>
              <a:rPr lang="en-US" sz="1050" dirty="0">
                <a:solidFill>
                  <a:srgbClr val="D7D8DC"/>
                </a:solidFill>
                <a:latin typeface="Consolas" pitchFamily="34" charset="0"/>
                <a:ea typeface="Consolas" pitchFamily="34" charset="-122"/>
                <a:cs typeface="Consolas" pitchFamily="34" charset="-120"/>
              </a:rPr>
              <a:t> 39 swaps</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08</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D9B100"/>
                </a:solidFill>
                <a:latin typeface="Arial" pitchFamily="34" charset="0"/>
                <a:ea typeface="Arial" pitchFamily="34" charset="-122"/>
                <a:cs typeface="Arial" pitchFamily="34" charset="-120"/>
              </a:rPr>
              <a:t>FEATURES 8, 9, 10 · YOUR OWN TRAIL</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It remembers where you've been</a:t>
            </a:r>
            <a:endParaRPr lang="en-US" sz="3400" dirty="0"/>
          </a:p>
        </p:txBody>
      </p:sp>
      <p:sp>
        <p:nvSpPr>
          <p:cNvPr id="5" name="Shape 3"/>
          <p:cNvSpPr/>
          <p:nvPr/>
        </p:nvSpPr>
        <p:spPr>
          <a:xfrm>
            <a:off x="548640" y="1783080"/>
            <a:ext cx="5394960" cy="1965960"/>
          </a:xfrm>
          <a:prstGeom prst="roundRect">
            <a:avLst>
              <a:gd name="adj" fmla="val 5581"/>
            </a:avLst>
          </a:prstGeom>
          <a:solidFill>
            <a:srgbClr val="1B1D24"/>
          </a:solidFill>
          <a:ln w="12700">
            <a:solidFill>
              <a:srgbClr val="2C2F38"/>
            </a:solidFill>
            <a:prstDash val="solid"/>
          </a:ln>
        </p:spPr>
        <p:txBody>
          <a:bodyPr/>
          <a:lstStyle/>
          <a:p>
            <a:endParaRPr lang="en-US"/>
          </a:p>
        </p:txBody>
      </p:sp>
      <p:sp>
        <p:nvSpPr>
          <p:cNvPr id="6" name="Shape 4"/>
          <p:cNvSpPr/>
          <p:nvPr/>
        </p:nvSpPr>
        <p:spPr>
          <a:xfrm>
            <a:off x="822960" y="205740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55731" y="2190171"/>
            <a:ext cx="337962" cy="337962"/>
          </a:xfrm>
          <a:prstGeom prst="rect">
            <a:avLst/>
          </a:prstGeom>
        </p:spPr>
      </p:pic>
      <p:sp>
        <p:nvSpPr>
          <p:cNvPr id="8" name="Text 5"/>
          <p:cNvSpPr txBox="1"/>
          <p:nvPr/>
        </p:nvSpPr>
        <p:spPr>
          <a:xfrm>
            <a:off x="1600200" y="210312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Trip history</a:t>
            </a:r>
            <a:endParaRPr lang="en-US" sz="1900" dirty="0"/>
          </a:p>
        </p:txBody>
      </p:sp>
      <p:sp>
        <p:nvSpPr>
          <p:cNvPr id="9" name="Text 6"/>
          <p:cNvSpPr txBox="1"/>
          <p:nvPr/>
        </p:nvSpPr>
        <p:spPr>
          <a:xfrm>
            <a:off x="1600200" y="2560320"/>
            <a:ext cx="4114800" cy="77724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Every place you go is pushed on a stack. Back pops the top and takes you to where you were before.</a:t>
            </a:r>
            <a:endParaRPr lang="en-US" sz="1400" dirty="0"/>
          </a:p>
        </p:txBody>
      </p:sp>
      <p:sp>
        <p:nvSpPr>
          <p:cNvPr id="10" name="Shape 7"/>
          <p:cNvSpPr/>
          <p:nvPr/>
        </p:nvSpPr>
        <p:spPr>
          <a:xfrm>
            <a:off x="1600200" y="3337560"/>
            <a:ext cx="502920" cy="256032"/>
          </a:xfrm>
          <a:prstGeom prst="roundRect">
            <a:avLst>
              <a:gd name="adj" fmla="val 21429"/>
            </a:avLst>
          </a:prstGeom>
          <a:solidFill>
            <a:srgbClr val="2A2410"/>
          </a:solidFill>
          <a:ln w="12700">
            <a:solidFill>
              <a:srgbClr val="2A2410"/>
            </a:solidFill>
            <a:prstDash val="solid"/>
          </a:ln>
        </p:spPr>
        <p:txBody>
          <a:bodyPr/>
          <a:lstStyle/>
          <a:p>
            <a:endParaRPr lang="en-US"/>
          </a:p>
        </p:txBody>
      </p:sp>
      <p:sp>
        <p:nvSpPr>
          <p:cNvPr id="11" name="Text 8"/>
          <p:cNvSpPr txBox="1"/>
          <p:nvPr/>
        </p:nvSpPr>
        <p:spPr>
          <a:xfrm>
            <a:off x="1600200" y="3337560"/>
            <a:ext cx="502920" cy="256032"/>
          </a:xfrm>
          <a:prstGeom prst="rect">
            <a:avLst/>
          </a:prstGeom>
          <a:noFill/>
          <a:ln/>
        </p:spPr>
        <p:txBody>
          <a:bodyPr wrap="square" lIns="0" tIns="0" rIns="0" bIns="0" rtlCol="0" anchor="ctr"/>
          <a:lstStyle/>
          <a:p>
            <a:pPr marL="0" indent="0" algn="ctr">
              <a:buNone/>
            </a:pPr>
            <a:r>
              <a:rPr lang="en-US" sz="950" b="1" dirty="0">
                <a:solidFill>
                  <a:srgbClr val="D9B100"/>
                </a:solidFill>
                <a:latin typeface="Consolas" pitchFamily="34" charset="0"/>
                <a:ea typeface="Consolas" pitchFamily="34" charset="-122"/>
                <a:cs typeface="Consolas" pitchFamily="34" charset="-120"/>
              </a:rPr>
              <a:t>Stack</a:t>
            </a:r>
            <a:endParaRPr lang="en-US" sz="950" dirty="0"/>
          </a:p>
        </p:txBody>
      </p:sp>
      <p:sp>
        <p:nvSpPr>
          <p:cNvPr id="12" name="Shape 9"/>
          <p:cNvSpPr/>
          <p:nvPr/>
        </p:nvSpPr>
        <p:spPr>
          <a:xfrm>
            <a:off x="6126480" y="1783080"/>
            <a:ext cx="5394960" cy="1965960"/>
          </a:xfrm>
          <a:prstGeom prst="roundRect">
            <a:avLst>
              <a:gd name="adj" fmla="val 5581"/>
            </a:avLst>
          </a:prstGeom>
          <a:solidFill>
            <a:srgbClr val="1B1D24"/>
          </a:solidFill>
          <a:ln w="12700">
            <a:solidFill>
              <a:srgbClr val="2C2F38"/>
            </a:solidFill>
            <a:prstDash val="solid"/>
          </a:ln>
        </p:spPr>
        <p:txBody>
          <a:bodyPr/>
          <a:lstStyle/>
          <a:p>
            <a:endParaRPr lang="en-US"/>
          </a:p>
        </p:txBody>
      </p:sp>
      <p:sp>
        <p:nvSpPr>
          <p:cNvPr id="13" name="Shape 10"/>
          <p:cNvSpPr/>
          <p:nvPr/>
        </p:nvSpPr>
        <p:spPr>
          <a:xfrm>
            <a:off x="6400800" y="205740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6533571" y="2190171"/>
            <a:ext cx="337962" cy="337962"/>
          </a:xfrm>
          <a:prstGeom prst="rect">
            <a:avLst/>
          </a:prstGeom>
        </p:spPr>
      </p:pic>
      <p:sp>
        <p:nvSpPr>
          <p:cNvPr id="15" name="Text 11"/>
          <p:cNvSpPr txBox="1"/>
          <p:nvPr/>
        </p:nvSpPr>
        <p:spPr>
          <a:xfrm>
            <a:off x="7178040" y="210312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Recent searches</a:t>
            </a:r>
            <a:endParaRPr lang="en-US" sz="1900" dirty="0"/>
          </a:p>
        </p:txBody>
      </p:sp>
      <p:sp>
        <p:nvSpPr>
          <p:cNvPr id="16" name="Text 12"/>
          <p:cNvSpPr txBox="1"/>
          <p:nvPr/>
        </p:nvSpPr>
        <p:spPr>
          <a:xfrm>
            <a:off x="7178040" y="2560320"/>
            <a:ext cx="4114800" cy="77724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The last 10 places you opened, newest first. A repeat moves to the front instead of appearing twice.</a:t>
            </a:r>
            <a:endParaRPr lang="en-US" sz="1400" dirty="0"/>
          </a:p>
        </p:txBody>
      </p:sp>
      <p:sp>
        <p:nvSpPr>
          <p:cNvPr id="17" name="Shape 13"/>
          <p:cNvSpPr/>
          <p:nvPr/>
        </p:nvSpPr>
        <p:spPr>
          <a:xfrm>
            <a:off x="7178040" y="3337560"/>
            <a:ext cx="952805" cy="256032"/>
          </a:xfrm>
          <a:prstGeom prst="roundRect">
            <a:avLst>
              <a:gd name="adj" fmla="val 21429"/>
            </a:avLst>
          </a:prstGeom>
          <a:solidFill>
            <a:srgbClr val="2A2410"/>
          </a:solidFill>
          <a:ln w="12700">
            <a:solidFill>
              <a:srgbClr val="2A2410"/>
            </a:solidFill>
            <a:prstDash val="solid"/>
          </a:ln>
        </p:spPr>
        <p:txBody>
          <a:bodyPr/>
          <a:lstStyle/>
          <a:p>
            <a:endParaRPr lang="en-US"/>
          </a:p>
        </p:txBody>
      </p:sp>
      <p:sp>
        <p:nvSpPr>
          <p:cNvPr id="18" name="Text 14"/>
          <p:cNvSpPr txBox="1"/>
          <p:nvPr/>
        </p:nvSpPr>
        <p:spPr>
          <a:xfrm>
            <a:off x="7178040" y="3337560"/>
            <a:ext cx="952805" cy="256032"/>
          </a:xfrm>
          <a:prstGeom prst="rect">
            <a:avLst/>
          </a:prstGeom>
          <a:noFill/>
          <a:ln/>
        </p:spPr>
        <p:txBody>
          <a:bodyPr wrap="square" lIns="0" tIns="0" rIns="0" bIns="0" rtlCol="0" anchor="ctr"/>
          <a:lstStyle/>
          <a:p>
            <a:pPr marL="0" indent="0" algn="ctr">
              <a:buNone/>
            </a:pPr>
            <a:r>
              <a:rPr lang="en-US" sz="950" b="1" dirty="0">
                <a:solidFill>
                  <a:srgbClr val="D9B100"/>
                </a:solidFill>
                <a:latin typeface="Consolas" pitchFamily="34" charset="0"/>
                <a:ea typeface="Consolas" pitchFamily="34" charset="-122"/>
                <a:cs typeface="Consolas" pitchFamily="34" charset="-120"/>
              </a:rPr>
              <a:t>Linked list</a:t>
            </a:r>
            <a:endParaRPr lang="en-US" sz="950" dirty="0"/>
          </a:p>
        </p:txBody>
      </p:sp>
      <p:sp>
        <p:nvSpPr>
          <p:cNvPr id="19" name="Shape 15"/>
          <p:cNvSpPr/>
          <p:nvPr/>
        </p:nvSpPr>
        <p:spPr>
          <a:xfrm>
            <a:off x="548640" y="3931920"/>
            <a:ext cx="5394960" cy="1965960"/>
          </a:xfrm>
          <a:prstGeom prst="roundRect">
            <a:avLst>
              <a:gd name="adj" fmla="val 5581"/>
            </a:avLst>
          </a:prstGeom>
          <a:solidFill>
            <a:srgbClr val="1B1D24"/>
          </a:solidFill>
          <a:ln w="12700">
            <a:solidFill>
              <a:srgbClr val="2C2F38"/>
            </a:solidFill>
            <a:prstDash val="solid"/>
          </a:ln>
        </p:spPr>
        <p:txBody>
          <a:bodyPr/>
          <a:lstStyle/>
          <a:p>
            <a:endParaRPr lang="en-US"/>
          </a:p>
        </p:txBody>
      </p:sp>
      <p:sp>
        <p:nvSpPr>
          <p:cNvPr id="20" name="Shape 16"/>
          <p:cNvSpPr/>
          <p:nvPr/>
        </p:nvSpPr>
        <p:spPr>
          <a:xfrm>
            <a:off x="822960" y="420624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955731" y="4339011"/>
            <a:ext cx="337962" cy="337962"/>
          </a:xfrm>
          <a:prstGeom prst="rect">
            <a:avLst/>
          </a:prstGeom>
        </p:spPr>
      </p:pic>
      <p:sp>
        <p:nvSpPr>
          <p:cNvPr id="22" name="Text 17"/>
          <p:cNvSpPr txBox="1"/>
          <p:nvPr/>
        </p:nvSpPr>
        <p:spPr>
          <a:xfrm>
            <a:off x="1600200" y="425196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Favorites</a:t>
            </a:r>
            <a:endParaRPr lang="en-US" sz="1900" dirty="0"/>
          </a:p>
        </p:txBody>
      </p:sp>
      <p:sp>
        <p:nvSpPr>
          <p:cNvPr id="23" name="Text 18"/>
          <p:cNvSpPr txBox="1"/>
          <p:nvPr/>
        </p:nvSpPr>
        <p:spPr>
          <a:xfrm>
            <a:off x="1600200" y="4709160"/>
            <a:ext cx="4114800" cy="77724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Star any place from its page. Saved per user in favorites.txt, so they are there next time you log in.</a:t>
            </a:r>
            <a:endParaRPr lang="en-US" sz="1400" dirty="0"/>
          </a:p>
        </p:txBody>
      </p:sp>
      <p:sp>
        <p:nvSpPr>
          <p:cNvPr id="24" name="Shape 19"/>
          <p:cNvSpPr/>
          <p:nvPr/>
        </p:nvSpPr>
        <p:spPr>
          <a:xfrm>
            <a:off x="1600200" y="5486400"/>
            <a:ext cx="952805" cy="256032"/>
          </a:xfrm>
          <a:prstGeom prst="roundRect">
            <a:avLst>
              <a:gd name="adj" fmla="val 21429"/>
            </a:avLst>
          </a:prstGeom>
          <a:solidFill>
            <a:srgbClr val="2A2410"/>
          </a:solidFill>
          <a:ln w="12700">
            <a:solidFill>
              <a:srgbClr val="2A2410"/>
            </a:solidFill>
            <a:prstDash val="solid"/>
          </a:ln>
        </p:spPr>
        <p:txBody>
          <a:bodyPr/>
          <a:lstStyle/>
          <a:p>
            <a:endParaRPr lang="en-US"/>
          </a:p>
        </p:txBody>
      </p:sp>
      <p:sp>
        <p:nvSpPr>
          <p:cNvPr id="25" name="Text 20"/>
          <p:cNvSpPr txBox="1"/>
          <p:nvPr/>
        </p:nvSpPr>
        <p:spPr>
          <a:xfrm>
            <a:off x="1600200" y="5486400"/>
            <a:ext cx="952805" cy="256032"/>
          </a:xfrm>
          <a:prstGeom prst="rect">
            <a:avLst/>
          </a:prstGeom>
          <a:noFill/>
          <a:ln/>
        </p:spPr>
        <p:txBody>
          <a:bodyPr wrap="square" lIns="0" tIns="0" rIns="0" bIns="0" rtlCol="0" anchor="ctr"/>
          <a:lstStyle/>
          <a:p>
            <a:pPr marL="0" indent="0" algn="ctr">
              <a:buNone/>
            </a:pPr>
            <a:r>
              <a:rPr lang="en-US" sz="950" b="1" dirty="0">
                <a:solidFill>
                  <a:srgbClr val="D9B100"/>
                </a:solidFill>
                <a:latin typeface="Consolas" pitchFamily="34" charset="0"/>
                <a:ea typeface="Consolas" pitchFamily="34" charset="-122"/>
                <a:cs typeface="Consolas" pitchFamily="34" charset="-120"/>
              </a:rPr>
              <a:t>Linked list</a:t>
            </a:r>
            <a:endParaRPr lang="en-US" sz="950" dirty="0"/>
          </a:p>
        </p:txBody>
      </p:sp>
      <p:sp>
        <p:nvSpPr>
          <p:cNvPr id="26" name="Shape 21"/>
          <p:cNvSpPr/>
          <p:nvPr/>
        </p:nvSpPr>
        <p:spPr>
          <a:xfrm>
            <a:off x="6126480" y="3931920"/>
            <a:ext cx="5394960" cy="1965960"/>
          </a:xfrm>
          <a:prstGeom prst="roundRect">
            <a:avLst>
              <a:gd name="adj" fmla="val 5581"/>
            </a:avLst>
          </a:prstGeom>
          <a:solidFill>
            <a:srgbClr val="1B1D24"/>
          </a:solidFill>
          <a:ln w="12700">
            <a:solidFill>
              <a:srgbClr val="2C2F38"/>
            </a:solidFill>
            <a:prstDash val="solid"/>
          </a:ln>
        </p:spPr>
        <p:txBody>
          <a:bodyPr/>
          <a:lstStyle/>
          <a:p>
            <a:endParaRPr lang="en-US"/>
          </a:p>
        </p:txBody>
      </p:sp>
      <p:sp>
        <p:nvSpPr>
          <p:cNvPr id="27" name="Shape 22"/>
          <p:cNvSpPr/>
          <p:nvPr/>
        </p:nvSpPr>
        <p:spPr>
          <a:xfrm>
            <a:off x="6400800" y="4206240"/>
            <a:ext cx="603504" cy="603504"/>
          </a:xfrm>
          <a:prstGeom prst="ellipse">
            <a:avLst/>
          </a:prstGeom>
          <a:solidFill>
            <a:srgbClr val="2A2410"/>
          </a:solidFill>
          <a:ln w="12700">
            <a:solidFill>
              <a:srgbClr val="2A2410"/>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6533571" y="4339011"/>
            <a:ext cx="337962" cy="337962"/>
          </a:xfrm>
          <a:prstGeom prst="rect">
            <a:avLst/>
          </a:prstGeom>
        </p:spPr>
      </p:pic>
      <p:sp>
        <p:nvSpPr>
          <p:cNvPr id="29" name="Text 23"/>
          <p:cNvSpPr txBox="1"/>
          <p:nvPr/>
        </p:nvSpPr>
        <p:spPr>
          <a:xfrm>
            <a:off x="7178040" y="4251960"/>
            <a:ext cx="4114800" cy="411480"/>
          </a:xfrm>
          <a:prstGeom prst="rect">
            <a:avLst/>
          </a:prstGeom>
          <a:noFill/>
          <a:ln/>
        </p:spPr>
        <p:txBody>
          <a:bodyPr wrap="square" lIns="0" tIns="0" rIns="0" bIns="0" rtlCol="0" anchor="ctr"/>
          <a:lstStyle/>
          <a:p>
            <a:pPr marL="0" indent="0">
              <a:buNone/>
            </a:pPr>
            <a:r>
              <a:rPr lang="en-US" sz="1900" b="1" dirty="0">
                <a:solidFill>
                  <a:srgbClr val="FFFFFF"/>
                </a:solidFill>
                <a:latin typeface="Arial" pitchFamily="34" charset="0"/>
                <a:ea typeface="Arial" pitchFamily="34" charset="-122"/>
                <a:cs typeface="Arial" pitchFamily="34" charset="-120"/>
              </a:rPr>
              <a:t>Accounts</a:t>
            </a:r>
            <a:endParaRPr lang="en-US" sz="1900" dirty="0"/>
          </a:p>
        </p:txBody>
      </p:sp>
      <p:sp>
        <p:nvSpPr>
          <p:cNvPr id="30" name="Text 24"/>
          <p:cNvSpPr txBox="1"/>
          <p:nvPr/>
        </p:nvSpPr>
        <p:spPr>
          <a:xfrm>
            <a:off x="7178040" y="4709160"/>
            <a:ext cx="4114800" cy="777240"/>
          </a:xfrm>
          <a:prstGeom prst="rect">
            <a:avLst/>
          </a:prstGeom>
          <a:noFill/>
          <a:ln/>
        </p:spPr>
        <p:txBody>
          <a:bodyPr wrap="square" lIns="0" tIns="0" rIns="0" bIns="0" rtlCol="0" anchor="t"/>
          <a:lstStyle/>
          <a:p>
            <a:pPr marL="0" indent="0">
              <a:buNone/>
            </a:pPr>
            <a:r>
              <a:rPr lang="en-US" sz="1400" dirty="0">
                <a:solidFill>
                  <a:srgbClr val="B5B7BE"/>
                </a:solidFill>
                <a:latin typeface="Calibri" pitchFamily="34" charset="0"/>
                <a:ea typeface="Calibri" pitchFamily="34" charset="-122"/>
                <a:cs typeface="Calibri" pitchFamily="34" charset="-120"/>
              </a:rPr>
              <a:t>Log in or register as a student; admins get four more menus. Passwords are hidden while typing and stored hashed.</a:t>
            </a:r>
            <a:endParaRPr lang="en-US" sz="1400" dirty="0"/>
          </a:p>
        </p:txBody>
      </p:sp>
      <p:sp>
        <p:nvSpPr>
          <p:cNvPr id="31" name="Shape 25"/>
          <p:cNvSpPr/>
          <p:nvPr/>
        </p:nvSpPr>
        <p:spPr>
          <a:xfrm>
            <a:off x="7178040" y="5486400"/>
            <a:ext cx="952805" cy="256032"/>
          </a:xfrm>
          <a:prstGeom prst="roundRect">
            <a:avLst>
              <a:gd name="adj" fmla="val 21429"/>
            </a:avLst>
          </a:prstGeom>
          <a:solidFill>
            <a:srgbClr val="2A2410"/>
          </a:solidFill>
          <a:ln w="12700">
            <a:solidFill>
              <a:srgbClr val="2A2410"/>
            </a:solidFill>
            <a:prstDash val="solid"/>
          </a:ln>
        </p:spPr>
        <p:txBody>
          <a:bodyPr/>
          <a:lstStyle/>
          <a:p>
            <a:endParaRPr lang="en-US"/>
          </a:p>
        </p:txBody>
      </p:sp>
      <p:sp>
        <p:nvSpPr>
          <p:cNvPr id="32" name="Text 26"/>
          <p:cNvSpPr txBox="1"/>
          <p:nvPr/>
        </p:nvSpPr>
        <p:spPr>
          <a:xfrm>
            <a:off x="7178040" y="5486400"/>
            <a:ext cx="952805" cy="256032"/>
          </a:xfrm>
          <a:prstGeom prst="rect">
            <a:avLst/>
          </a:prstGeom>
          <a:noFill/>
          <a:ln/>
        </p:spPr>
        <p:txBody>
          <a:bodyPr wrap="square" lIns="0" tIns="0" rIns="0" bIns="0" rtlCol="0" anchor="ctr"/>
          <a:lstStyle/>
          <a:p>
            <a:pPr marL="0" indent="0" algn="ctr">
              <a:buNone/>
            </a:pPr>
            <a:r>
              <a:rPr lang="en-US" sz="950" b="1" dirty="0">
                <a:solidFill>
                  <a:srgbClr val="D9B100"/>
                </a:solidFill>
                <a:latin typeface="Consolas" pitchFamily="34" charset="0"/>
                <a:ea typeface="Consolas" pitchFamily="34" charset="-122"/>
                <a:cs typeface="Consolas" pitchFamily="34" charset="-120"/>
              </a:rPr>
              <a:t>FNV-1a hash</a:t>
            </a:r>
            <a:endParaRPr lang="en-US" sz="95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09</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FEATURES 12–15 · ADMIN TOOLS, AND SMALL THINGS THAT MATTER</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Built to be edited, and hard to break</a:t>
            </a:r>
            <a:endParaRPr lang="en-US" sz="3400" dirty="0"/>
          </a:p>
        </p:txBody>
      </p:sp>
      <p:sp>
        <p:nvSpPr>
          <p:cNvPr id="5" name="Text 3"/>
          <p:cNvSpPr txBox="1"/>
          <p:nvPr/>
        </p:nvSpPr>
        <p:spPr>
          <a:xfrm>
            <a:off x="548640" y="1783080"/>
            <a:ext cx="5486400" cy="274320"/>
          </a:xfrm>
          <a:prstGeom prst="rect">
            <a:avLst/>
          </a:prstGeom>
          <a:noFill/>
          <a:ln/>
        </p:spPr>
        <p:txBody>
          <a:bodyPr wrap="square" lIns="0" tIns="0" rIns="0" bIns="0" rtlCol="0" anchor="ctr"/>
          <a:lstStyle/>
          <a:p>
            <a:pPr marL="0" indent="0">
              <a:buNone/>
            </a:pPr>
            <a:r>
              <a:rPr lang="en-US" sz="1200" b="1" kern="0" spc="200" dirty="0">
                <a:solidFill>
                  <a:srgbClr val="8F7200"/>
                </a:solidFill>
                <a:latin typeface="Arial" pitchFamily="34" charset="0"/>
                <a:ea typeface="Arial" pitchFamily="34" charset="-122"/>
                <a:cs typeface="Arial" pitchFamily="34" charset="-120"/>
              </a:rPr>
              <a:t>ADMIN (MENUS 12–15)</a:t>
            </a:r>
            <a:endParaRPr lang="en-US" sz="1200" dirty="0"/>
          </a:p>
        </p:txBody>
      </p:sp>
      <p:sp>
        <p:nvSpPr>
          <p:cNvPr id="6" name="Shape 4"/>
          <p:cNvSpPr/>
          <p:nvPr/>
        </p:nvSpPr>
        <p:spPr>
          <a:xfrm>
            <a:off x="548640" y="2194560"/>
            <a:ext cx="5394960" cy="1097280"/>
          </a:xfrm>
          <a:prstGeom prst="roundRect">
            <a:avLst>
              <a:gd name="adj" fmla="val 8333"/>
            </a:avLst>
          </a:prstGeom>
          <a:solidFill>
            <a:srgbClr val="F3F4F6"/>
          </a:solidFill>
          <a:ln w="12700">
            <a:solidFill>
              <a:srgbClr val="F3F4F6"/>
            </a:solidFill>
            <a:prstDash val="solid"/>
          </a:ln>
        </p:spPr>
        <p:txBody>
          <a:bodyPr/>
          <a:lstStyle/>
          <a:p>
            <a:endParaRPr lang="en-US"/>
          </a:p>
        </p:txBody>
      </p:sp>
      <p:sp>
        <p:nvSpPr>
          <p:cNvPr id="7" name="Text 5"/>
          <p:cNvSpPr txBox="1"/>
          <p:nvPr/>
        </p:nvSpPr>
        <p:spPr>
          <a:xfrm>
            <a:off x="777240" y="2304288"/>
            <a:ext cx="4937760" cy="91440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Manage places</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Add, edit and delete. Deleting one also removes it from the graph, favorites, recent searches and the middle of the history stack.</a:t>
            </a:r>
            <a:endParaRPr lang="en-US" sz="1500" dirty="0"/>
          </a:p>
        </p:txBody>
      </p:sp>
      <p:sp>
        <p:nvSpPr>
          <p:cNvPr id="8" name="Shape 6"/>
          <p:cNvSpPr/>
          <p:nvPr/>
        </p:nvSpPr>
        <p:spPr>
          <a:xfrm>
            <a:off x="548640" y="3429000"/>
            <a:ext cx="5394960" cy="1097280"/>
          </a:xfrm>
          <a:prstGeom prst="roundRect">
            <a:avLst>
              <a:gd name="adj" fmla="val 8333"/>
            </a:avLst>
          </a:prstGeom>
          <a:solidFill>
            <a:srgbClr val="F3F4F6"/>
          </a:solidFill>
          <a:ln w="12700">
            <a:solidFill>
              <a:srgbClr val="F3F4F6"/>
            </a:solidFill>
            <a:prstDash val="solid"/>
          </a:ln>
        </p:spPr>
        <p:txBody>
          <a:bodyPr/>
          <a:lstStyle/>
          <a:p>
            <a:endParaRPr lang="en-US"/>
          </a:p>
        </p:txBody>
      </p:sp>
      <p:sp>
        <p:nvSpPr>
          <p:cNvPr id="9" name="Text 7"/>
          <p:cNvSpPr txBox="1"/>
          <p:nvPr/>
        </p:nvSpPr>
        <p:spPr>
          <a:xfrm>
            <a:off x="777240" y="3538728"/>
            <a:ext cx="4937760" cy="91440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Manage walkways</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Add or remove walkways with road names; the app warns if part of the campus becomes unreachable (DFS check).</a:t>
            </a:r>
            <a:endParaRPr lang="en-US" sz="1500" dirty="0"/>
          </a:p>
        </p:txBody>
      </p:sp>
      <p:sp>
        <p:nvSpPr>
          <p:cNvPr id="10" name="Shape 8"/>
          <p:cNvSpPr/>
          <p:nvPr/>
        </p:nvSpPr>
        <p:spPr>
          <a:xfrm>
            <a:off x="548640" y="4663440"/>
            <a:ext cx="5394960" cy="1097280"/>
          </a:xfrm>
          <a:prstGeom prst="roundRect">
            <a:avLst>
              <a:gd name="adj" fmla="val 8333"/>
            </a:avLst>
          </a:prstGeom>
          <a:solidFill>
            <a:srgbClr val="F3F4F6"/>
          </a:solidFill>
          <a:ln w="12700">
            <a:solidFill>
              <a:srgbClr val="F3F4F6"/>
            </a:solidFill>
            <a:prstDash val="solid"/>
          </a:ln>
        </p:spPr>
        <p:txBody>
          <a:bodyPr/>
          <a:lstStyle/>
          <a:p>
            <a:endParaRPr lang="en-US"/>
          </a:p>
        </p:txBody>
      </p:sp>
      <p:sp>
        <p:nvSpPr>
          <p:cNvPr id="11" name="Text 9"/>
          <p:cNvSpPr txBox="1"/>
          <p:nvPr/>
        </p:nvSpPr>
        <p:spPr>
          <a:xfrm>
            <a:off x="777240" y="4773168"/>
            <a:ext cx="4937760" cy="914400"/>
          </a:xfrm>
          <a:prstGeom prst="rect">
            <a:avLst/>
          </a:prstGeom>
          <a:noFill/>
          <a:ln/>
        </p:spPr>
        <p:txBody>
          <a:bodyPr wrap="square" lIns="0" tIns="0" rIns="0" bIns="0" rtlCol="0" anchor="t"/>
          <a:lstStyle/>
          <a:p>
            <a:pPr marL="0" indent="0">
              <a:buNone/>
            </a:pPr>
            <a:r>
              <a:rPr lang="en-US" sz="1500" b="1" dirty="0">
                <a:solidFill>
                  <a:srgbClr val="16171B"/>
                </a:solidFill>
                <a:latin typeface="Calibri" pitchFamily="34" charset="0"/>
                <a:ea typeface="Calibri" pitchFamily="34" charset="-122"/>
                <a:cs typeface="Calibri" pitchFamily="34" charset="-120"/>
              </a:rPr>
              <a:t>Users and activity log</a:t>
            </a:r>
            <a:endParaRPr lang="en-US" sz="1500" dirty="0"/>
          </a:p>
          <a:p>
            <a:pPr marL="0" indent="0">
              <a:buNone/>
            </a:pPr>
            <a:r>
              <a:rPr lang="en-US" sz="1250" dirty="0">
                <a:solidFill>
                  <a:srgbClr val="5F626B"/>
                </a:solidFill>
                <a:latin typeface="Calibri" pitchFamily="34" charset="0"/>
                <a:ea typeface="Calibri" pitchFamily="34" charset="-122"/>
                <a:cs typeface="Calibri" pitchFamily="34" charset="-120"/>
              </a:rPr>
              <a:t>See every account (never passwords) and the timestamped log of logins, searches, routes and edits.</a:t>
            </a:r>
            <a:endParaRPr lang="en-US" sz="1500" dirty="0"/>
          </a:p>
        </p:txBody>
      </p:sp>
      <p:sp>
        <p:nvSpPr>
          <p:cNvPr id="12" name="Text 10"/>
          <p:cNvSpPr txBox="1"/>
          <p:nvPr/>
        </p:nvSpPr>
        <p:spPr>
          <a:xfrm>
            <a:off x="6263640" y="1783080"/>
            <a:ext cx="5486400" cy="274320"/>
          </a:xfrm>
          <a:prstGeom prst="rect">
            <a:avLst/>
          </a:prstGeom>
          <a:noFill/>
          <a:ln/>
        </p:spPr>
        <p:txBody>
          <a:bodyPr wrap="square" lIns="0" tIns="0" rIns="0" bIns="0" rtlCol="0" anchor="ctr"/>
          <a:lstStyle/>
          <a:p>
            <a:pPr marL="0" indent="0">
              <a:buNone/>
            </a:pPr>
            <a:r>
              <a:rPr lang="en-US" sz="1200" b="1" kern="0" spc="200" dirty="0">
                <a:solidFill>
                  <a:srgbClr val="8F7200"/>
                </a:solidFill>
                <a:latin typeface="Arial" pitchFamily="34" charset="0"/>
                <a:ea typeface="Arial" pitchFamily="34" charset="-122"/>
                <a:cs typeface="Arial" pitchFamily="34" charset="-120"/>
              </a:rPr>
              <a:t>EVERYWHERE IN THE APP</a:t>
            </a:r>
            <a:endParaRPr lang="en-US" sz="1200" dirty="0"/>
          </a:p>
        </p:txBody>
      </p:sp>
      <p:sp>
        <p:nvSpPr>
          <p:cNvPr id="13" name="Shape 11"/>
          <p:cNvSpPr/>
          <p:nvPr/>
        </p:nvSpPr>
        <p:spPr>
          <a:xfrm>
            <a:off x="6263640" y="2194560"/>
            <a:ext cx="457200" cy="457200"/>
          </a:xfrm>
          <a:prstGeom prst="ellipse">
            <a:avLst/>
          </a:prstGeom>
          <a:solidFill>
            <a:srgbClr val="FBF4D2"/>
          </a:solidFill>
          <a:ln w="12700">
            <a:solidFill>
              <a:srgbClr val="FBF4D2"/>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6364224" y="2295144"/>
            <a:ext cx="256032" cy="256032"/>
          </a:xfrm>
          <a:prstGeom prst="rect">
            <a:avLst/>
          </a:prstGeom>
        </p:spPr>
      </p:pic>
      <p:sp>
        <p:nvSpPr>
          <p:cNvPr id="15" name="Text 12"/>
          <p:cNvSpPr txBox="1"/>
          <p:nvPr/>
        </p:nvSpPr>
        <p:spPr>
          <a:xfrm>
            <a:off x="6858000" y="2157984"/>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Type a place any way</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name, part of a name, map number or coordinates</a:t>
            </a:r>
            <a:endParaRPr lang="en-US" sz="1400" dirty="0"/>
          </a:p>
        </p:txBody>
      </p:sp>
      <p:sp>
        <p:nvSpPr>
          <p:cNvPr id="16" name="Shape 13"/>
          <p:cNvSpPr/>
          <p:nvPr/>
        </p:nvSpPr>
        <p:spPr>
          <a:xfrm>
            <a:off x="6263640" y="2807208"/>
            <a:ext cx="457200" cy="457200"/>
          </a:xfrm>
          <a:prstGeom prst="ellipse">
            <a:avLst/>
          </a:prstGeom>
          <a:solidFill>
            <a:srgbClr val="FBF4D2"/>
          </a:solidFill>
          <a:ln w="12700">
            <a:solidFill>
              <a:srgbClr val="FBF4D2"/>
            </a:solidFill>
            <a:prstDash val="solid"/>
          </a:ln>
        </p:spPr>
        <p:txBody>
          <a:bodyPr/>
          <a:lstStyle/>
          <a:p>
            <a:endParaRPr lang="en-US"/>
          </a:p>
        </p:txBody>
      </p:sp>
      <p:pic>
        <p:nvPicPr>
          <p:cNvPr id="17" name="Image 1" descr="preencoded.png"/>
          <p:cNvPicPr>
            <a:picLocks noChangeAspect="1"/>
          </p:cNvPicPr>
          <p:nvPr/>
        </p:nvPicPr>
        <p:blipFill>
          <a:blip r:embed="rId4"/>
          <a:stretch>
            <a:fillRect/>
          </a:stretch>
        </p:blipFill>
        <p:spPr>
          <a:xfrm>
            <a:off x="6364224" y="2907792"/>
            <a:ext cx="256032" cy="256032"/>
          </a:xfrm>
          <a:prstGeom prst="rect">
            <a:avLst/>
          </a:prstGeom>
        </p:spPr>
      </p:pic>
      <p:sp>
        <p:nvSpPr>
          <p:cNvPr id="18" name="Text 14"/>
          <p:cNvSpPr txBox="1"/>
          <p:nvPr/>
        </p:nvSpPr>
        <p:spPr>
          <a:xfrm>
            <a:off x="6858000" y="2770632"/>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Enter always goes back</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no menu ever traps you</a:t>
            </a:r>
            <a:endParaRPr lang="en-US" sz="1400" dirty="0"/>
          </a:p>
        </p:txBody>
      </p:sp>
      <p:sp>
        <p:nvSpPr>
          <p:cNvPr id="19" name="Shape 15"/>
          <p:cNvSpPr/>
          <p:nvPr/>
        </p:nvSpPr>
        <p:spPr>
          <a:xfrm>
            <a:off x="6263640" y="3419856"/>
            <a:ext cx="457200" cy="457200"/>
          </a:xfrm>
          <a:prstGeom prst="ellipse">
            <a:avLst/>
          </a:prstGeom>
          <a:solidFill>
            <a:srgbClr val="FBF4D2"/>
          </a:solidFill>
          <a:ln w="12700">
            <a:solidFill>
              <a:srgbClr val="FBF4D2"/>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6364224" y="3520440"/>
            <a:ext cx="256032" cy="256032"/>
          </a:xfrm>
          <a:prstGeom prst="rect">
            <a:avLst/>
          </a:prstGeom>
        </p:spPr>
      </p:pic>
      <p:sp>
        <p:nvSpPr>
          <p:cNvPr id="21" name="Text 16"/>
          <p:cNvSpPr txBox="1"/>
          <p:nvPr/>
        </p:nvSpPr>
        <p:spPr>
          <a:xfrm>
            <a:off x="6858000" y="3383280"/>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Never crashes on bad input</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letters where numbers go just ask again</a:t>
            </a:r>
            <a:endParaRPr lang="en-US" sz="1400" dirty="0"/>
          </a:p>
        </p:txBody>
      </p:sp>
      <p:sp>
        <p:nvSpPr>
          <p:cNvPr id="22" name="Shape 17"/>
          <p:cNvSpPr/>
          <p:nvPr/>
        </p:nvSpPr>
        <p:spPr>
          <a:xfrm>
            <a:off x="6263640" y="4032504"/>
            <a:ext cx="457200" cy="457200"/>
          </a:xfrm>
          <a:prstGeom prst="ellipse">
            <a:avLst/>
          </a:prstGeom>
          <a:solidFill>
            <a:srgbClr val="FBF4D2"/>
          </a:solidFill>
          <a:ln w="12700">
            <a:solidFill>
              <a:srgbClr val="FBF4D2"/>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6364224" y="4133088"/>
            <a:ext cx="256032" cy="256032"/>
          </a:xfrm>
          <a:prstGeom prst="rect">
            <a:avLst/>
          </a:prstGeom>
        </p:spPr>
      </p:pic>
      <p:sp>
        <p:nvSpPr>
          <p:cNvPr id="24" name="Text 18"/>
          <p:cNvSpPr txBox="1"/>
          <p:nvPr/>
        </p:nvSpPr>
        <p:spPr>
          <a:xfrm>
            <a:off x="6858000" y="3995928"/>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Coloured in KUET gold</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termcolor; plain text when piped or NO_COLOR is set</a:t>
            </a:r>
            <a:endParaRPr lang="en-US" sz="1400" dirty="0"/>
          </a:p>
        </p:txBody>
      </p:sp>
      <p:sp>
        <p:nvSpPr>
          <p:cNvPr id="25" name="Shape 19"/>
          <p:cNvSpPr/>
          <p:nvPr/>
        </p:nvSpPr>
        <p:spPr>
          <a:xfrm>
            <a:off x="6263640" y="4645152"/>
            <a:ext cx="457200" cy="457200"/>
          </a:xfrm>
          <a:prstGeom prst="ellipse">
            <a:avLst/>
          </a:prstGeom>
          <a:solidFill>
            <a:srgbClr val="FBF4D2"/>
          </a:solidFill>
          <a:ln w="12700">
            <a:solidFill>
              <a:srgbClr val="FBF4D2"/>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6364224" y="4745736"/>
            <a:ext cx="256032" cy="256032"/>
          </a:xfrm>
          <a:prstGeom prst="rect">
            <a:avLst/>
          </a:prstGeom>
        </p:spPr>
      </p:pic>
      <p:sp>
        <p:nvSpPr>
          <p:cNvPr id="27" name="Text 20"/>
          <p:cNvSpPr txBox="1"/>
          <p:nvPr/>
        </p:nvSpPr>
        <p:spPr>
          <a:xfrm>
            <a:off x="6858000" y="4608576"/>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Saves as it goes</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plain text files, readable in Notepad</a:t>
            </a:r>
            <a:endParaRPr lang="en-US" sz="1400" dirty="0"/>
          </a:p>
        </p:txBody>
      </p:sp>
      <p:sp>
        <p:nvSpPr>
          <p:cNvPr id="28" name="Shape 21"/>
          <p:cNvSpPr/>
          <p:nvPr/>
        </p:nvSpPr>
        <p:spPr>
          <a:xfrm>
            <a:off x="6263640" y="5257800"/>
            <a:ext cx="457200" cy="457200"/>
          </a:xfrm>
          <a:prstGeom prst="ellipse">
            <a:avLst/>
          </a:prstGeom>
          <a:solidFill>
            <a:srgbClr val="FBF4D2"/>
          </a:solidFill>
          <a:ln w="12700">
            <a:solidFill>
              <a:srgbClr val="FBF4D2"/>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6364224" y="5358384"/>
            <a:ext cx="256032" cy="256032"/>
          </a:xfrm>
          <a:prstGeom prst="rect">
            <a:avLst/>
          </a:prstGeom>
        </p:spPr>
      </p:pic>
      <p:sp>
        <p:nvSpPr>
          <p:cNvPr id="30" name="Text 22"/>
          <p:cNvSpPr txBox="1"/>
          <p:nvPr/>
        </p:nvSpPr>
        <p:spPr>
          <a:xfrm>
            <a:off x="6858000" y="5221224"/>
            <a:ext cx="4846320" cy="54864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One portable .exe</a:t>
            </a:r>
            <a:endParaRPr lang="en-US" sz="1400" dirty="0"/>
          </a:p>
          <a:p>
            <a:pPr marL="0" indent="0">
              <a:buNone/>
            </a:pPr>
            <a:r>
              <a:rPr lang="en-US" sz="1150" dirty="0">
                <a:solidFill>
                  <a:srgbClr val="5F626B"/>
                </a:solidFill>
                <a:latin typeface="Calibri" pitchFamily="34" charset="0"/>
                <a:ea typeface="Calibri" pitchFamily="34" charset="-122"/>
                <a:cs typeface="Calibri" pitchFamily="34" charset="-120"/>
              </a:rPr>
              <a:t>static build with the CholoKUET icon</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10</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D9B100"/>
                </a:solidFill>
                <a:latin typeface="Arial" pitchFamily="34" charset="0"/>
                <a:ea typeface="Arial" pitchFamily="34" charset="-122"/>
                <a:cs typeface="Arial" pitchFamily="34" charset="-120"/>
              </a:rPr>
              <a:t>THE ONLINE VERSION</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Open CholoKUET in any browser</a:t>
            </a:r>
            <a:endParaRPr lang="en-US" sz="3400" dirty="0"/>
          </a:p>
        </p:txBody>
      </p:sp>
      <p:sp>
        <p:nvSpPr>
          <p:cNvPr id="5" name="Text 3"/>
          <p:cNvSpPr txBox="1"/>
          <p:nvPr/>
        </p:nvSpPr>
        <p:spPr>
          <a:xfrm>
            <a:off x="548640" y="1554480"/>
            <a:ext cx="6400800" cy="365760"/>
          </a:xfrm>
          <a:prstGeom prst="rect">
            <a:avLst/>
          </a:prstGeom>
          <a:noFill/>
          <a:ln/>
        </p:spPr>
        <p:txBody>
          <a:bodyPr wrap="square" lIns="0" tIns="0" rIns="0" bIns="0" rtlCol="0" anchor="ctr"/>
          <a:lstStyle/>
          <a:p>
            <a:pPr marL="0" indent="0">
              <a:buNone/>
            </a:pPr>
            <a:r>
              <a:rPr lang="en-US" sz="1700" b="1" u="sng" dirty="0">
                <a:solidFill>
                  <a:srgbClr val="D9B100"/>
                </a:solidFill>
                <a:latin typeface="Consolas" pitchFamily="34" charset="0"/>
                <a:ea typeface="Consolas" pitchFamily="34" charset="-122"/>
                <a:cs typeface="Consolas" pitchFamily="34" charset="-120"/>
                <a:hlinkClick r:id="rId3">
                  <a:extLst>
                    <a:ext uri="{A12FA001-AC4F-418D-AE19-62706E023703}">
                      <ahyp:hlinkClr xmlns:ahyp="http://schemas.microsoft.com/office/drawing/2018/hyperlinkcolor" val="tx"/>
                    </a:ext>
                  </a:extLst>
                </a:hlinkClick>
              </a:rPr>
              <a:t>ettisafxrup.github.io/CholoKUET</a:t>
            </a:r>
            <a:endParaRPr lang="en-US" sz="1700" dirty="0"/>
          </a:p>
        </p:txBody>
      </p:sp>
      <p:pic>
        <p:nvPicPr>
          <p:cNvPr id="6" name="Image 0" descr="C:\Users\rup\AppData\Local\Temp\claude\d--Codes-CholoKUET\2a005a77-40ea-402f-8f1e-eba05e0da9d5\scratchpad\deck\img\web-hero.png"/>
          <p:cNvPicPr>
            <a:picLocks noChangeAspect="1"/>
          </p:cNvPicPr>
          <p:nvPr/>
        </p:nvPicPr>
        <p:blipFill>
          <a:blip r:embed="rId4"/>
          <a:stretch>
            <a:fillRect/>
          </a:stretch>
        </p:blipFill>
        <p:spPr>
          <a:xfrm>
            <a:off x="5074920" y="2148840"/>
            <a:ext cx="6583680" cy="4114800"/>
          </a:xfrm>
          <a:prstGeom prst="rect">
            <a:avLst/>
          </a:prstGeom>
        </p:spPr>
      </p:pic>
      <p:sp>
        <p:nvSpPr>
          <p:cNvPr id="7" name="Shape 4"/>
          <p:cNvSpPr/>
          <p:nvPr/>
        </p:nvSpPr>
        <p:spPr>
          <a:xfrm>
            <a:off x="5074920" y="2148840"/>
            <a:ext cx="6583680" cy="4114800"/>
          </a:xfrm>
          <a:prstGeom prst="rect">
            <a:avLst/>
          </a:prstGeom>
          <a:ln w="12700">
            <a:solidFill>
              <a:srgbClr val="2C2F38"/>
            </a:solidFill>
            <a:prstDash val="solid"/>
          </a:ln>
        </p:spPr>
        <p:txBody>
          <a:bodyPr/>
          <a:lstStyle/>
          <a:p>
            <a:endParaRPr lang="en-US"/>
          </a:p>
        </p:txBody>
      </p:sp>
      <p:sp>
        <p:nvSpPr>
          <p:cNvPr id="8" name="Shape 5"/>
          <p:cNvSpPr/>
          <p:nvPr/>
        </p:nvSpPr>
        <p:spPr>
          <a:xfrm>
            <a:off x="548640" y="2194560"/>
            <a:ext cx="512064" cy="512064"/>
          </a:xfrm>
          <a:prstGeom prst="ellipse">
            <a:avLst/>
          </a:prstGeom>
          <a:solidFill>
            <a:srgbClr val="2A2410"/>
          </a:solidFill>
          <a:ln w="12700">
            <a:solidFill>
              <a:srgbClr val="2A2410"/>
            </a:solidFill>
            <a:prstDash val="solid"/>
          </a:ln>
        </p:spPr>
        <p:txBody>
          <a:bodyPr/>
          <a:lstStyle/>
          <a:p>
            <a:endParaRPr lang="en-US"/>
          </a:p>
        </p:txBody>
      </p:sp>
      <p:pic>
        <p:nvPicPr>
          <p:cNvPr id="9" name="Image 1" descr="preencoded.png"/>
          <p:cNvPicPr>
            <a:picLocks noChangeAspect="1"/>
          </p:cNvPicPr>
          <p:nvPr/>
        </p:nvPicPr>
        <p:blipFill>
          <a:blip r:embed="rId5"/>
          <a:stretch>
            <a:fillRect/>
          </a:stretch>
        </p:blipFill>
        <p:spPr>
          <a:xfrm>
            <a:off x="661294" y="2307214"/>
            <a:ext cx="286756" cy="286756"/>
          </a:xfrm>
          <a:prstGeom prst="rect">
            <a:avLst/>
          </a:prstGeom>
        </p:spPr>
      </p:pic>
      <p:sp>
        <p:nvSpPr>
          <p:cNvPr id="10" name="Text 6"/>
          <p:cNvSpPr txBox="1"/>
          <p:nvPr/>
        </p:nvSpPr>
        <p:spPr>
          <a:xfrm>
            <a:off x="1234440" y="2176272"/>
            <a:ext cx="3657600" cy="685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Live route finder</a:t>
            </a:r>
            <a:endParaRPr lang="en-US" sz="1600" dirty="0"/>
          </a:p>
          <a:p>
            <a:pPr marL="0" indent="0">
              <a:buNone/>
            </a:pPr>
            <a:r>
              <a:rPr lang="en-US" sz="1250" dirty="0">
                <a:solidFill>
                  <a:srgbClr val="B5B7BE"/>
                </a:solidFill>
                <a:latin typeface="Calibri" pitchFamily="34" charset="0"/>
                <a:ea typeface="Calibri" pitchFamily="34" charset="-122"/>
                <a:cs typeface="Calibri" pitchFamily="34" charset="-120"/>
              </a:rPr>
              <a:t>BFS and DFS on the real campus graph</a:t>
            </a:r>
            <a:endParaRPr lang="en-US" sz="1600" dirty="0"/>
          </a:p>
        </p:txBody>
      </p:sp>
      <p:sp>
        <p:nvSpPr>
          <p:cNvPr id="11" name="Shape 7"/>
          <p:cNvSpPr/>
          <p:nvPr/>
        </p:nvSpPr>
        <p:spPr>
          <a:xfrm>
            <a:off x="548640" y="2999232"/>
            <a:ext cx="512064" cy="512064"/>
          </a:xfrm>
          <a:prstGeom prst="ellipse">
            <a:avLst/>
          </a:prstGeom>
          <a:solidFill>
            <a:srgbClr val="2A2410"/>
          </a:solidFill>
          <a:ln w="12700">
            <a:solidFill>
              <a:srgbClr val="2A2410"/>
            </a:solidFill>
            <a:prstDash val="solid"/>
          </a:ln>
        </p:spPr>
        <p:txBody>
          <a:bodyPr/>
          <a:lstStyle/>
          <a:p>
            <a:endParaRPr lang="en-US"/>
          </a:p>
        </p:txBody>
      </p:sp>
      <p:pic>
        <p:nvPicPr>
          <p:cNvPr id="12" name="Image 2" descr="preencoded.png"/>
          <p:cNvPicPr>
            <a:picLocks noChangeAspect="1"/>
          </p:cNvPicPr>
          <p:nvPr/>
        </p:nvPicPr>
        <p:blipFill>
          <a:blip r:embed="rId6"/>
          <a:stretch>
            <a:fillRect/>
          </a:stretch>
        </p:blipFill>
        <p:spPr>
          <a:xfrm>
            <a:off x="661294" y="3111886"/>
            <a:ext cx="286756" cy="286756"/>
          </a:xfrm>
          <a:prstGeom prst="rect">
            <a:avLst/>
          </a:prstGeom>
        </p:spPr>
      </p:pic>
      <p:sp>
        <p:nvSpPr>
          <p:cNvPr id="13" name="Text 8"/>
          <p:cNvSpPr txBox="1"/>
          <p:nvPr/>
        </p:nvSpPr>
        <p:spPr>
          <a:xfrm>
            <a:off x="1234440" y="2980944"/>
            <a:ext cx="3657600" cy="685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Data structure playground</a:t>
            </a:r>
            <a:endParaRPr lang="en-US" sz="1600" dirty="0"/>
          </a:p>
          <a:p>
            <a:pPr marL="0" indent="0">
              <a:buNone/>
            </a:pPr>
            <a:r>
              <a:rPr lang="en-US" sz="1250" dirty="0">
                <a:solidFill>
                  <a:srgbClr val="B5B7BE"/>
                </a:solidFill>
                <a:latin typeface="Calibri" pitchFamily="34" charset="0"/>
                <a:ea typeface="Calibri" pitchFamily="34" charset="-122"/>
                <a:cs typeface="Calibri" pitchFamily="34" charset="-120"/>
              </a:rPr>
              <a:t>push, pop, enqueue, wrap around</a:t>
            </a:r>
            <a:endParaRPr lang="en-US" sz="1600" dirty="0"/>
          </a:p>
        </p:txBody>
      </p:sp>
      <p:sp>
        <p:nvSpPr>
          <p:cNvPr id="14" name="Shape 9"/>
          <p:cNvSpPr/>
          <p:nvPr/>
        </p:nvSpPr>
        <p:spPr>
          <a:xfrm>
            <a:off x="548640" y="3803904"/>
            <a:ext cx="512064" cy="512064"/>
          </a:xfrm>
          <a:prstGeom prst="ellipse">
            <a:avLst/>
          </a:prstGeom>
          <a:solidFill>
            <a:srgbClr val="2A2410"/>
          </a:solidFill>
          <a:ln w="12700">
            <a:solidFill>
              <a:srgbClr val="2A2410"/>
            </a:solidFill>
            <a:prstDash val="solid"/>
          </a:ln>
        </p:spPr>
        <p:txBody>
          <a:bodyPr/>
          <a:lstStyle/>
          <a:p>
            <a:endParaRPr lang="en-US"/>
          </a:p>
        </p:txBody>
      </p:sp>
      <p:pic>
        <p:nvPicPr>
          <p:cNvPr id="15" name="Image 3" descr="preencoded.png"/>
          <p:cNvPicPr>
            <a:picLocks noChangeAspect="1"/>
          </p:cNvPicPr>
          <p:nvPr/>
        </p:nvPicPr>
        <p:blipFill>
          <a:blip r:embed="rId7"/>
          <a:stretch>
            <a:fillRect/>
          </a:stretch>
        </p:blipFill>
        <p:spPr>
          <a:xfrm>
            <a:off x="661294" y="3916558"/>
            <a:ext cx="286756" cy="286756"/>
          </a:xfrm>
          <a:prstGeom prst="rect">
            <a:avLst/>
          </a:prstGeom>
        </p:spPr>
      </p:pic>
      <p:sp>
        <p:nvSpPr>
          <p:cNvPr id="16" name="Text 10"/>
          <p:cNvSpPr txBox="1"/>
          <p:nvPr/>
        </p:nvSpPr>
        <p:spPr>
          <a:xfrm>
            <a:off x="1234440" y="3785616"/>
            <a:ext cx="3657600" cy="685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Sort race</a:t>
            </a:r>
            <a:endParaRPr lang="en-US" sz="1600" dirty="0"/>
          </a:p>
          <a:p>
            <a:pPr marL="0" indent="0">
              <a:buNone/>
            </a:pPr>
            <a:r>
              <a:rPr lang="en-US" sz="1250" dirty="0">
                <a:solidFill>
                  <a:srgbClr val="B5B7BE"/>
                </a:solidFill>
                <a:latin typeface="Calibri" pitchFamily="34" charset="0"/>
                <a:ea typeface="Calibri" pitchFamily="34" charset="-122"/>
                <a:cs typeface="Calibri" pitchFamily="34" charset="-120"/>
              </a:rPr>
              <a:t>bubble vs selection, with live counts</a:t>
            </a:r>
            <a:endParaRPr lang="en-US" sz="1600" dirty="0"/>
          </a:p>
        </p:txBody>
      </p:sp>
      <p:sp>
        <p:nvSpPr>
          <p:cNvPr id="17" name="Shape 11"/>
          <p:cNvSpPr/>
          <p:nvPr/>
        </p:nvSpPr>
        <p:spPr>
          <a:xfrm>
            <a:off x="548640" y="4608576"/>
            <a:ext cx="512064" cy="512064"/>
          </a:xfrm>
          <a:prstGeom prst="ellipse">
            <a:avLst/>
          </a:prstGeom>
          <a:solidFill>
            <a:srgbClr val="2A2410"/>
          </a:solidFill>
          <a:ln w="12700">
            <a:solidFill>
              <a:srgbClr val="2A2410"/>
            </a:solidFill>
            <a:prstDash val="solid"/>
          </a:ln>
        </p:spPr>
        <p:txBody>
          <a:bodyPr/>
          <a:lstStyle/>
          <a:p>
            <a:endParaRPr lang="en-US"/>
          </a:p>
        </p:txBody>
      </p:sp>
      <p:pic>
        <p:nvPicPr>
          <p:cNvPr id="18" name="Image 4" descr="preencoded.png"/>
          <p:cNvPicPr>
            <a:picLocks noChangeAspect="1"/>
          </p:cNvPicPr>
          <p:nvPr/>
        </p:nvPicPr>
        <p:blipFill>
          <a:blip r:embed="rId8"/>
          <a:stretch>
            <a:fillRect/>
          </a:stretch>
        </p:blipFill>
        <p:spPr>
          <a:xfrm>
            <a:off x="661294" y="4721230"/>
            <a:ext cx="286756" cy="286756"/>
          </a:xfrm>
          <a:prstGeom prst="rect">
            <a:avLst/>
          </a:prstGeom>
        </p:spPr>
      </p:pic>
      <p:sp>
        <p:nvSpPr>
          <p:cNvPr id="19" name="Text 12"/>
          <p:cNvSpPr txBox="1"/>
          <p:nvPr/>
        </p:nvSpPr>
        <p:spPr>
          <a:xfrm>
            <a:off x="1234440" y="4590288"/>
            <a:ext cx="3657600" cy="685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The full report</a:t>
            </a:r>
            <a:endParaRPr lang="en-US" sz="1600" dirty="0"/>
          </a:p>
          <a:p>
            <a:pPr marL="0" indent="0">
              <a:buNone/>
            </a:pPr>
            <a:r>
              <a:rPr lang="en-US" sz="1250" dirty="0">
                <a:solidFill>
                  <a:srgbClr val="B5B7BE"/>
                </a:solidFill>
                <a:latin typeface="Calibri" pitchFamily="34" charset="0"/>
                <a:ea typeface="Calibri" pitchFamily="34" charset="-122"/>
                <a:cs typeface="Calibri" pitchFamily="34" charset="-120"/>
              </a:rPr>
              <a:t>readable and printable online</a:t>
            </a:r>
            <a:endParaRPr lang="en-US" sz="1600" dirty="0"/>
          </a:p>
        </p:txBody>
      </p:sp>
      <p:sp>
        <p:nvSpPr>
          <p:cNvPr id="20" name="Shape 13"/>
          <p:cNvSpPr/>
          <p:nvPr/>
        </p:nvSpPr>
        <p:spPr>
          <a:xfrm>
            <a:off x="548640" y="5413248"/>
            <a:ext cx="512064" cy="512064"/>
          </a:xfrm>
          <a:prstGeom prst="ellipse">
            <a:avLst/>
          </a:prstGeom>
          <a:solidFill>
            <a:srgbClr val="2A2410"/>
          </a:solidFill>
          <a:ln w="12700">
            <a:solidFill>
              <a:srgbClr val="2A2410"/>
            </a:solidFill>
            <a:prstDash val="solid"/>
          </a:ln>
        </p:spPr>
        <p:txBody>
          <a:bodyPr/>
          <a:lstStyle/>
          <a:p>
            <a:endParaRPr lang="en-US"/>
          </a:p>
        </p:txBody>
      </p:sp>
      <p:pic>
        <p:nvPicPr>
          <p:cNvPr id="21" name="Image 5" descr="preencoded.png"/>
          <p:cNvPicPr>
            <a:picLocks noChangeAspect="1"/>
          </p:cNvPicPr>
          <p:nvPr/>
        </p:nvPicPr>
        <p:blipFill>
          <a:blip r:embed="rId9"/>
          <a:stretch>
            <a:fillRect/>
          </a:stretch>
        </p:blipFill>
        <p:spPr>
          <a:xfrm>
            <a:off x="661294" y="5525902"/>
            <a:ext cx="286756" cy="286756"/>
          </a:xfrm>
          <a:prstGeom prst="rect">
            <a:avLst/>
          </a:prstGeom>
        </p:spPr>
      </p:pic>
      <p:sp>
        <p:nvSpPr>
          <p:cNvPr id="22" name="Text 14"/>
          <p:cNvSpPr txBox="1"/>
          <p:nvPr/>
        </p:nvSpPr>
        <p:spPr>
          <a:xfrm>
            <a:off x="1234440" y="5394960"/>
            <a:ext cx="3657600" cy="6858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Nothing to install</a:t>
            </a:r>
            <a:endParaRPr lang="en-US" sz="1600" dirty="0"/>
          </a:p>
          <a:p>
            <a:pPr marL="0" indent="0">
              <a:buNone/>
            </a:pPr>
            <a:r>
              <a:rPr lang="en-US" sz="1250" dirty="0">
                <a:solidFill>
                  <a:srgbClr val="B5B7BE"/>
                </a:solidFill>
                <a:latin typeface="Calibri" pitchFamily="34" charset="0"/>
                <a:ea typeface="Calibri" pitchFamily="34" charset="-122"/>
                <a:cs typeface="Calibri" pitchFamily="34" charset="-120"/>
              </a:rPr>
              <a:t>hosted free on GitHub Pages</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11</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THE ONLINE VERSION · LIVE ROUTE FINDER</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The same BFS, running in the browser</a:t>
            </a:r>
            <a:endParaRPr lang="en-US" sz="3400" dirty="0"/>
          </a:p>
        </p:txBody>
      </p:sp>
      <p:pic>
        <p:nvPicPr>
          <p:cNvPr id="5" name="Image 0" descr="C:\Users\rup\AppData\Local\Temp\claude\d--Codes-CholoKUET\2a005a77-40ea-402f-8f1e-eba05e0da9d5\scratchpad\deck\img\web-live.png"/>
          <p:cNvPicPr>
            <a:picLocks noChangeAspect="1"/>
          </p:cNvPicPr>
          <p:nvPr/>
        </p:nvPicPr>
        <p:blipFill>
          <a:blip r:embed="rId3"/>
          <a:stretch>
            <a:fillRect/>
          </a:stretch>
        </p:blipFill>
        <p:spPr>
          <a:xfrm>
            <a:off x="548640" y="1691640"/>
            <a:ext cx="5943600" cy="4654296"/>
          </a:xfrm>
          <a:prstGeom prst="rect">
            <a:avLst/>
          </a:prstGeom>
        </p:spPr>
      </p:pic>
      <p:sp>
        <p:nvSpPr>
          <p:cNvPr id="6" name="Shape 3"/>
          <p:cNvSpPr/>
          <p:nvPr/>
        </p:nvSpPr>
        <p:spPr>
          <a:xfrm>
            <a:off x="548640" y="1691640"/>
            <a:ext cx="5943600" cy="4654296"/>
          </a:xfrm>
          <a:prstGeom prst="rect">
            <a:avLst/>
          </a:prstGeom>
          <a:ln w="12700">
            <a:solidFill>
              <a:srgbClr val="E3E4E8"/>
            </a:solidFill>
            <a:prstDash val="solid"/>
          </a:ln>
        </p:spPr>
        <p:txBody>
          <a:bodyPr/>
          <a:lstStyle/>
          <a:p>
            <a:endParaRPr lang="en-US"/>
          </a:p>
        </p:txBody>
      </p:sp>
      <p:sp>
        <p:nvSpPr>
          <p:cNvPr id="7" name="Shape 4"/>
          <p:cNvSpPr/>
          <p:nvPr/>
        </p:nvSpPr>
        <p:spPr>
          <a:xfrm>
            <a:off x="7178040" y="1810512"/>
            <a:ext cx="329184" cy="329184"/>
          </a:xfrm>
          <a:prstGeom prst="ellipse">
            <a:avLst/>
          </a:prstGeom>
          <a:solidFill>
            <a:srgbClr val="D9B100"/>
          </a:solidFill>
          <a:ln w="12700">
            <a:solidFill>
              <a:srgbClr val="D9B100"/>
            </a:solidFill>
            <a:prstDash val="solid"/>
          </a:ln>
        </p:spPr>
        <p:txBody>
          <a:bodyPr/>
          <a:lstStyle/>
          <a:p>
            <a:endParaRPr lang="en-US"/>
          </a:p>
        </p:txBody>
      </p:sp>
      <p:sp>
        <p:nvSpPr>
          <p:cNvPr id="8" name="Text 5"/>
          <p:cNvSpPr txBox="1"/>
          <p:nvPr/>
        </p:nvSpPr>
        <p:spPr>
          <a:xfrm>
            <a:off x="7178040" y="1810512"/>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1</a:t>
            </a:r>
            <a:endParaRPr lang="en-US" sz="1200" dirty="0"/>
          </a:p>
        </p:txBody>
      </p:sp>
      <p:sp>
        <p:nvSpPr>
          <p:cNvPr id="9" name="Text 6"/>
          <p:cNvSpPr txBox="1"/>
          <p:nvPr/>
        </p:nvSpPr>
        <p:spPr>
          <a:xfrm>
            <a:off x="7680960" y="1783080"/>
            <a:ext cx="3977640" cy="1051560"/>
          </a:xfrm>
          <a:prstGeom prst="rect">
            <a:avLst/>
          </a:prstGeom>
          <a:noFill/>
          <a:ln/>
        </p:spPr>
        <p:txBody>
          <a:bodyPr wrap="square" lIns="0" tIns="0" rIns="0" bIns="0" rtlCol="0" anchor="t"/>
          <a:lstStyle/>
          <a:p>
            <a:pPr marL="0" indent="0">
              <a:buNone/>
            </a:pPr>
            <a:r>
              <a:rPr lang="en-US" sz="1600" b="1" dirty="0">
                <a:solidFill>
                  <a:srgbClr val="16171B"/>
                </a:solidFill>
                <a:latin typeface="Calibri" pitchFamily="34" charset="0"/>
                <a:ea typeface="Calibri" pitchFamily="34" charset="-122"/>
                <a:cs typeface="Calibri" pitchFamily="34" charset="-120"/>
              </a:rPr>
              <a:t>Real data</a:t>
            </a:r>
            <a:endParaRPr lang="en-US" sz="1600" dirty="0"/>
          </a:p>
          <a:p>
            <a:pPr marL="0" indent="0">
              <a:buNone/>
            </a:pPr>
            <a:r>
              <a:rPr lang="en-US" sz="1300" dirty="0">
                <a:solidFill>
                  <a:srgbClr val="5F626B"/>
                </a:solidFill>
                <a:latin typeface="Calibri" pitchFamily="34" charset="0"/>
                <a:ea typeface="Calibri" pitchFamily="34" charset="-122"/>
                <a:cs typeface="Calibri" pitchFamily="34" charset="-120"/>
              </a:rPr>
              <a:t>The 44 places and 56 walkways from data/, drawn at their true positions.</a:t>
            </a:r>
            <a:endParaRPr lang="en-US" sz="1600" dirty="0"/>
          </a:p>
        </p:txBody>
      </p:sp>
      <p:sp>
        <p:nvSpPr>
          <p:cNvPr id="10" name="Shape 7"/>
          <p:cNvSpPr/>
          <p:nvPr/>
        </p:nvSpPr>
        <p:spPr>
          <a:xfrm>
            <a:off x="7178040" y="2980944"/>
            <a:ext cx="329184" cy="329184"/>
          </a:xfrm>
          <a:prstGeom prst="ellipse">
            <a:avLst/>
          </a:prstGeom>
          <a:solidFill>
            <a:srgbClr val="D9B100"/>
          </a:solidFill>
          <a:ln w="12700">
            <a:solidFill>
              <a:srgbClr val="D9B100"/>
            </a:solidFill>
            <a:prstDash val="solid"/>
          </a:ln>
        </p:spPr>
        <p:txBody>
          <a:bodyPr/>
          <a:lstStyle/>
          <a:p>
            <a:endParaRPr lang="en-US"/>
          </a:p>
        </p:txBody>
      </p:sp>
      <p:sp>
        <p:nvSpPr>
          <p:cNvPr id="11" name="Text 8"/>
          <p:cNvSpPr txBox="1"/>
          <p:nvPr/>
        </p:nvSpPr>
        <p:spPr>
          <a:xfrm>
            <a:off x="7178040" y="2980944"/>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2</a:t>
            </a:r>
            <a:endParaRPr lang="en-US" sz="1200" dirty="0"/>
          </a:p>
        </p:txBody>
      </p:sp>
      <p:sp>
        <p:nvSpPr>
          <p:cNvPr id="12" name="Text 9"/>
          <p:cNvSpPr txBox="1"/>
          <p:nvPr/>
        </p:nvSpPr>
        <p:spPr>
          <a:xfrm>
            <a:off x="7680960" y="2953512"/>
            <a:ext cx="3977640" cy="1051560"/>
          </a:xfrm>
          <a:prstGeom prst="rect">
            <a:avLst/>
          </a:prstGeom>
          <a:noFill/>
          <a:ln/>
        </p:spPr>
        <p:txBody>
          <a:bodyPr wrap="square" lIns="0" tIns="0" rIns="0" bIns="0" rtlCol="0" anchor="t"/>
          <a:lstStyle/>
          <a:p>
            <a:pPr marL="0" indent="0">
              <a:buNone/>
            </a:pPr>
            <a:r>
              <a:rPr lang="en-US" sz="1600" b="1" dirty="0">
                <a:solidFill>
                  <a:srgbClr val="16171B"/>
                </a:solidFill>
                <a:latin typeface="Calibri" pitchFamily="34" charset="0"/>
                <a:ea typeface="Calibri" pitchFamily="34" charset="-122"/>
                <a:cs typeface="Calibri" pitchFamily="34" charset="-120"/>
              </a:rPr>
              <a:t>Pick or click</a:t>
            </a:r>
            <a:endParaRPr lang="en-US" sz="1600" dirty="0"/>
          </a:p>
          <a:p>
            <a:pPr marL="0" indent="0">
              <a:buNone/>
            </a:pPr>
            <a:r>
              <a:rPr lang="en-US" sz="1300" dirty="0">
                <a:solidFill>
                  <a:srgbClr val="5F626B"/>
                </a:solidFill>
                <a:latin typeface="Calibri" pitchFamily="34" charset="0"/>
                <a:ea typeface="Calibri" pitchFamily="34" charset="-122"/>
                <a:cs typeface="Calibri" pitchFamily="34" charset="-120"/>
              </a:rPr>
              <a:t>Choose two places from the lists or click them on the map.</a:t>
            </a:r>
            <a:endParaRPr lang="en-US" sz="1600" dirty="0"/>
          </a:p>
        </p:txBody>
      </p:sp>
      <p:sp>
        <p:nvSpPr>
          <p:cNvPr id="13" name="Shape 10"/>
          <p:cNvSpPr/>
          <p:nvPr/>
        </p:nvSpPr>
        <p:spPr>
          <a:xfrm>
            <a:off x="7178040" y="4151376"/>
            <a:ext cx="329184" cy="329184"/>
          </a:xfrm>
          <a:prstGeom prst="ellipse">
            <a:avLst/>
          </a:prstGeom>
          <a:solidFill>
            <a:srgbClr val="D9B100"/>
          </a:solidFill>
          <a:ln w="12700">
            <a:solidFill>
              <a:srgbClr val="D9B100"/>
            </a:solidFill>
            <a:prstDash val="solid"/>
          </a:ln>
        </p:spPr>
        <p:txBody>
          <a:bodyPr/>
          <a:lstStyle/>
          <a:p>
            <a:endParaRPr lang="en-US"/>
          </a:p>
        </p:txBody>
      </p:sp>
      <p:sp>
        <p:nvSpPr>
          <p:cNvPr id="14" name="Text 11"/>
          <p:cNvSpPr txBox="1"/>
          <p:nvPr/>
        </p:nvSpPr>
        <p:spPr>
          <a:xfrm>
            <a:off x="7178040" y="4151376"/>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3</a:t>
            </a:r>
            <a:endParaRPr lang="en-US" sz="1200" dirty="0"/>
          </a:p>
        </p:txBody>
      </p:sp>
      <p:sp>
        <p:nvSpPr>
          <p:cNvPr id="15" name="Text 12"/>
          <p:cNvSpPr txBox="1"/>
          <p:nvPr/>
        </p:nvSpPr>
        <p:spPr>
          <a:xfrm>
            <a:off x="7680960" y="4123944"/>
            <a:ext cx="3977640" cy="1051560"/>
          </a:xfrm>
          <a:prstGeom prst="rect">
            <a:avLst/>
          </a:prstGeom>
          <a:noFill/>
          <a:ln/>
        </p:spPr>
        <p:txBody>
          <a:bodyPr wrap="square" lIns="0" tIns="0" rIns="0" bIns="0" rtlCol="0" anchor="t"/>
          <a:lstStyle/>
          <a:p>
            <a:pPr marL="0" indent="0">
              <a:buNone/>
            </a:pPr>
            <a:r>
              <a:rPr lang="en-US" sz="1600" b="1" dirty="0">
                <a:solidFill>
                  <a:srgbClr val="16171B"/>
                </a:solidFill>
                <a:latin typeface="Calibri" pitchFamily="34" charset="0"/>
                <a:ea typeface="Calibri" pitchFamily="34" charset="-122"/>
                <a:cs typeface="Calibri" pitchFamily="34" charset="-120"/>
              </a:rPr>
              <a:t>Watch it work</a:t>
            </a:r>
            <a:endParaRPr lang="en-US" sz="1600" dirty="0"/>
          </a:p>
          <a:p>
            <a:pPr marL="0" indent="0">
              <a:buNone/>
            </a:pPr>
            <a:r>
              <a:rPr lang="en-US" sz="1300" dirty="0">
                <a:solidFill>
                  <a:srgbClr val="5F626B"/>
                </a:solidFill>
                <a:latin typeface="Calibri" pitchFamily="34" charset="0"/>
                <a:ea typeface="Calibri" pitchFamily="34" charset="-122"/>
                <a:cs typeface="Calibri" pitchFamily="34" charset="-120"/>
              </a:rPr>
              <a:t>The queue (BFS) or stack (DFS) fills and empties step by step, with a trace.</a:t>
            </a:r>
            <a:endParaRPr lang="en-US" sz="1600" dirty="0"/>
          </a:p>
        </p:txBody>
      </p:sp>
      <p:sp>
        <p:nvSpPr>
          <p:cNvPr id="16" name="Shape 13"/>
          <p:cNvSpPr/>
          <p:nvPr/>
        </p:nvSpPr>
        <p:spPr>
          <a:xfrm>
            <a:off x="7178040" y="5321808"/>
            <a:ext cx="329184" cy="329184"/>
          </a:xfrm>
          <a:prstGeom prst="ellipse">
            <a:avLst/>
          </a:prstGeom>
          <a:solidFill>
            <a:srgbClr val="D9B100"/>
          </a:solidFill>
          <a:ln w="12700">
            <a:solidFill>
              <a:srgbClr val="D9B100"/>
            </a:solidFill>
            <a:prstDash val="solid"/>
          </a:ln>
        </p:spPr>
        <p:txBody>
          <a:bodyPr/>
          <a:lstStyle/>
          <a:p>
            <a:endParaRPr lang="en-US"/>
          </a:p>
        </p:txBody>
      </p:sp>
      <p:sp>
        <p:nvSpPr>
          <p:cNvPr id="17" name="Text 14"/>
          <p:cNvSpPr txBox="1"/>
          <p:nvPr/>
        </p:nvSpPr>
        <p:spPr>
          <a:xfrm>
            <a:off x="7178040" y="5321808"/>
            <a:ext cx="329184" cy="329184"/>
          </a:xfrm>
          <a:prstGeom prst="rect">
            <a:avLst/>
          </a:prstGeom>
          <a:noFill/>
          <a:ln/>
        </p:spPr>
        <p:txBody>
          <a:bodyPr wrap="square" lIns="0" tIns="0" rIns="0" bIns="0" rtlCol="0" anchor="ctr"/>
          <a:lstStyle/>
          <a:p>
            <a:pPr marL="0" indent="0" algn="ctr">
              <a:buNone/>
            </a:pPr>
            <a:r>
              <a:rPr lang="en-US" sz="1200" b="1" dirty="0">
                <a:solidFill>
                  <a:srgbClr val="16171B"/>
                </a:solidFill>
                <a:latin typeface="Arial" pitchFamily="34" charset="0"/>
                <a:ea typeface="Arial" pitchFamily="34" charset="-122"/>
                <a:cs typeface="Arial" pitchFamily="34" charset="-120"/>
              </a:rPr>
              <a:t>4</a:t>
            </a:r>
            <a:endParaRPr lang="en-US" sz="1200" dirty="0"/>
          </a:p>
        </p:txBody>
      </p:sp>
      <p:sp>
        <p:nvSpPr>
          <p:cNvPr id="18" name="Text 15"/>
          <p:cNvSpPr txBox="1"/>
          <p:nvPr/>
        </p:nvSpPr>
        <p:spPr>
          <a:xfrm>
            <a:off x="7680960" y="5294376"/>
            <a:ext cx="3977640" cy="1051560"/>
          </a:xfrm>
          <a:prstGeom prst="rect">
            <a:avLst/>
          </a:prstGeom>
          <a:noFill/>
          <a:ln/>
        </p:spPr>
        <p:txBody>
          <a:bodyPr wrap="square" lIns="0" tIns="0" rIns="0" bIns="0" rtlCol="0" anchor="t"/>
          <a:lstStyle/>
          <a:p>
            <a:pPr marL="0" indent="0">
              <a:buNone/>
            </a:pPr>
            <a:r>
              <a:rPr lang="en-US" sz="1600" b="1" dirty="0">
                <a:solidFill>
                  <a:srgbClr val="16171B"/>
                </a:solidFill>
                <a:latin typeface="Calibri" pitchFamily="34" charset="0"/>
                <a:ea typeface="Calibri" pitchFamily="34" charset="-122"/>
                <a:cs typeface="Calibri" pitchFamily="34" charset="-120"/>
              </a:rPr>
              <a:t>Same answer as the app</a:t>
            </a:r>
            <a:endParaRPr lang="en-US" sz="1600" dirty="0"/>
          </a:p>
          <a:p>
            <a:pPr marL="0" indent="0">
              <a:buNone/>
            </a:pPr>
            <a:r>
              <a:rPr lang="en-US" sz="1300" dirty="0">
                <a:solidFill>
                  <a:srgbClr val="5F626B"/>
                </a:solidFill>
                <a:latin typeface="Calibri" pitchFamily="34" charset="0"/>
                <a:ea typeface="Calibri" pitchFamily="34" charset="-122"/>
                <a:cs typeface="Calibri" pitchFamily="34" charset="-120"/>
              </a:rPr>
              <a:t>Library to Main Gate: 707 m, about 10 min, Library Lane → Hall Road → KUET Road.</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12</a:t>
            </a:r>
            <a:endParaRPr lang="en-US" sz="1000" dirty="0"/>
          </a:p>
        </p:txBody>
      </p:sp>
      <p:sp>
        <p:nvSpPr>
          <p:cNvPr id="3" name="Text 1"/>
          <p:cNvSpPr txBox="1"/>
          <p:nvPr/>
        </p:nvSpPr>
        <p:spPr>
          <a:xfrm>
            <a:off x="548640" y="1106424"/>
            <a:ext cx="9144000" cy="274320"/>
          </a:xfrm>
          <a:prstGeom prst="rect">
            <a:avLst/>
          </a:prstGeom>
          <a:noFill/>
          <a:ln/>
        </p:spPr>
        <p:txBody>
          <a:bodyPr wrap="square" lIns="0" tIns="0" rIns="0" bIns="0" rtlCol="0" anchor="ctr"/>
          <a:lstStyle/>
          <a:p>
            <a:pPr marL="0" indent="0">
              <a:buNone/>
            </a:pPr>
            <a:r>
              <a:rPr lang="en-US" sz="1100" b="1" kern="0" spc="300" dirty="0">
                <a:solidFill>
                  <a:srgbClr val="D9B100"/>
                </a:solidFill>
                <a:latin typeface="Arial" pitchFamily="34" charset="0"/>
                <a:ea typeface="Arial" pitchFamily="34" charset="-122"/>
                <a:cs typeface="Arial" pitchFamily="34" charset="-120"/>
              </a:rPr>
              <a:t>THE CAMPUS DATA</a:t>
            </a:r>
            <a:endParaRPr lang="en-US" sz="1100" dirty="0"/>
          </a:p>
        </p:txBody>
      </p:sp>
      <p:sp>
        <p:nvSpPr>
          <p:cNvPr id="4" name="Text 2"/>
          <p:cNvSpPr txBox="1"/>
          <p:nvPr/>
        </p:nvSpPr>
        <p:spPr>
          <a:xfrm>
            <a:off x="548640" y="1568196"/>
            <a:ext cx="4754880" cy="118872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Real coordinates, not guesses</a:t>
            </a:r>
            <a:endParaRPr lang="en-US" sz="3200" dirty="0"/>
          </a:p>
        </p:txBody>
      </p:sp>
      <p:sp>
        <p:nvSpPr>
          <p:cNvPr id="5" name="Text 3"/>
          <p:cNvSpPr txBox="1"/>
          <p:nvPr/>
        </p:nvSpPr>
        <p:spPr>
          <a:xfrm>
            <a:off x="533400" y="2752344"/>
            <a:ext cx="4480560" cy="1463040"/>
          </a:xfrm>
          <a:prstGeom prst="rect">
            <a:avLst/>
          </a:prstGeom>
          <a:noFill/>
          <a:ln/>
        </p:spPr>
        <p:txBody>
          <a:bodyPr wrap="square" lIns="0" tIns="0" rIns="0" bIns="0" rtlCol="0" anchor="t"/>
          <a:lstStyle/>
          <a:p>
            <a:pPr marL="0" indent="0">
              <a:buNone/>
            </a:pPr>
            <a:r>
              <a:rPr lang="en-US" sz="1500" dirty="0">
                <a:solidFill>
                  <a:srgbClr val="C9CAD0"/>
                </a:solidFill>
                <a:latin typeface="Calibri" pitchFamily="34" charset="0"/>
                <a:ea typeface="Calibri" pitchFamily="34" charset="-122"/>
                <a:cs typeface="Calibri" pitchFamily="34" charset="-120"/>
              </a:rPr>
              <a:t>38 places use surveyed OpenStreetMap coordinates. The other 6 (including Kodom Tola) were measured off the KUET master plan, fitted to OSM with least squares on 18 shared buildings.</a:t>
            </a:r>
            <a:endParaRPr lang="en-US" sz="1500" dirty="0"/>
          </a:p>
        </p:txBody>
      </p:sp>
      <p:sp>
        <p:nvSpPr>
          <p:cNvPr id="6" name="Text 4"/>
          <p:cNvSpPr txBox="1"/>
          <p:nvPr/>
        </p:nvSpPr>
        <p:spPr>
          <a:xfrm>
            <a:off x="533400" y="4631436"/>
            <a:ext cx="1463040" cy="640080"/>
          </a:xfrm>
          <a:prstGeom prst="rect">
            <a:avLst/>
          </a:prstGeom>
          <a:noFill/>
          <a:ln/>
        </p:spPr>
        <p:txBody>
          <a:bodyPr wrap="square" lIns="0" tIns="0" rIns="0" bIns="0" rtlCol="0" anchor="ctr"/>
          <a:lstStyle/>
          <a:p>
            <a:pPr marL="0" indent="0">
              <a:buNone/>
            </a:pPr>
            <a:r>
              <a:rPr lang="en-US" sz="3400" b="1" dirty="0">
                <a:solidFill>
                  <a:srgbClr val="D9B100"/>
                </a:solidFill>
                <a:latin typeface="Arial" pitchFamily="34" charset="0"/>
                <a:ea typeface="Arial" pitchFamily="34" charset="-122"/>
                <a:cs typeface="Arial" pitchFamily="34" charset="-120"/>
              </a:rPr>
              <a:t>44</a:t>
            </a:r>
            <a:endParaRPr lang="en-US" sz="3400" dirty="0"/>
          </a:p>
        </p:txBody>
      </p:sp>
      <p:sp>
        <p:nvSpPr>
          <p:cNvPr id="7" name="Text 5"/>
          <p:cNvSpPr txBox="1"/>
          <p:nvPr/>
        </p:nvSpPr>
        <p:spPr>
          <a:xfrm>
            <a:off x="640080" y="5285232"/>
            <a:ext cx="1463040" cy="274320"/>
          </a:xfrm>
          <a:prstGeom prst="rect">
            <a:avLst/>
          </a:prstGeom>
          <a:noFill/>
          <a:ln/>
        </p:spPr>
        <p:txBody>
          <a:bodyPr wrap="square" lIns="0" tIns="0" rIns="0" bIns="0" rtlCol="0" anchor="ctr"/>
          <a:lstStyle/>
          <a:p>
            <a:pPr marL="0" indent="0">
              <a:buNone/>
            </a:pPr>
            <a:r>
              <a:rPr lang="en-US" sz="1200" dirty="0">
                <a:solidFill>
                  <a:srgbClr val="A6A7AD"/>
                </a:solidFill>
                <a:latin typeface="Calibri" pitchFamily="34" charset="0"/>
                <a:ea typeface="Calibri" pitchFamily="34" charset="-122"/>
                <a:cs typeface="Calibri" pitchFamily="34" charset="-120"/>
              </a:rPr>
              <a:t>places</a:t>
            </a:r>
            <a:endParaRPr lang="en-US" sz="1200" dirty="0"/>
          </a:p>
        </p:txBody>
      </p:sp>
      <p:sp>
        <p:nvSpPr>
          <p:cNvPr id="8" name="Text 6"/>
          <p:cNvSpPr txBox="1"/>
          <p:nvPr/>
        </p:nvSpPr>
        <p:spPr>
          <a:xfrm>
            <a:off x="2057400" y="4631436"/>
            <a:ext cx="1463040" cy="640080"/>
          </a:xfrm>
          <a:prstGeom prst="rect">
            <a:avLst/>
          </a:prstGeom>
          <a:noFill/>
          <a:ln/>
        </p:spPr>
        <p:txBody>
          <a:bodyPr wrap="square" lIns="0" tIns="0" rIns="0" bIns="0" rtlCol="0" anchor="ctr"/>
          <a:lstStyle/>
          <a:p>
            <a:pPr marL="0" indent="0">
              <a:buNone/>
            </a:pPr>
            <a:r>
              <a:rPr lang="en-US" sz="3400" b="1" dirty="0">
                <a:solidFill>
                  <a:srgbClr val="D9B100"/>
                </a:solidFill>
                <a:latin typeface="Arial" pitchFamily="34" charset="0"/>
                <a:ea typeface="Arial" pitchFamily="34" charset="-122"/>
                <a:cs typeface="Arial" pitchFamily="34" charset="-120"/>
              </a:rPr>
              <a:t>56</a:t>
            </a:r>
            <a:endParaRPr lang="en-US" sz="3400" dirty="0"/>
          </a:p>
        </p:txBody>
      </p:sp>
      <p:sp>
        <p:nvSpPr>
          <p:cNvPr id="9" name="Text 7"/>
          <p:cNvSpPr txBox="1"/>
          <p:nvPr/>
        </p:nvSpPr>
        <p:spPr>
          <a:xfrm>
            <a:off x="2057400" y="5271516"/>
            <a:ext cx="1463040" cy="274320"/>
          </a:xfrm>
          <a:prstGeom prst="rect">
            <a:avLst/>
          </a:prstGeom>
          <a:noFill/>
          <a:ln/>
        </p:spPr>
        <p:txBody>
          <a:bodyPr wrap="square" lIns="0" tIns="0" rIns="0" bIns="0" rtlCol="0" anchor="ctr"/>
          <a:lstStyle/>
          <a:p>
            <a:pPr marL="0" indent="0">
              <a:buNone/>
            </a:pPr>
            <a:r>
              <a:rPr lang="en-US" sz="1200" dirty="0">
                <a:solidFill>
                  <a:srgbClr val="A6A7AD"/>
                </a:solidFill>
                <a:latin typeface="Calibri" pitchFamily="34" charset="0"/>
                <a:ea typeface="Calibri" pitchFamily="34" charset="-122"/>
                <a:cs typeface="Calibri" pitchFamily="34" charset="-120"/>
              </a:rPr>
              <a:t>walkways</a:t>
            </a:r>
            <a:endParaRPr lang="en-US" sz="1200" dirty="0"/>
          </a:p>
        </p:txBody>
      </p:sp>
      <p:sp>
        <p:nvSpPr>
          <p:cNvPr id="10" name="Text 8"/>
          <p:cNvSpPr txBox="1"/>
          <p:nvPr/>
        </p:nvSpPr>
        <p:spPr>
          <a:xfrm>
            <a:off x="3392424" y="4592574"/>
            <a:ext cx="1463040" cy="640080"/>
          </a:xfrm>
          <a:prstGeom prst="rect">
            <a:avLst/>
          </a:prstGeom>
          <a:noFill/>
          <a:ln/>
        </p:spPr>
        <p:txBody>
          <a:bodyPr wrap="square" lIns="0" tIns="0" rIns="0" bIns="0" rtlCol="0" anchor="ctr"/>
          <a:lstStyle/>
          <a:p>
            <a:pPr marL="0" indent="0">
              <a:buNone/>
            </a:pPr>
            <a:r>
              <a:rPr lang="en-US" sz="3400" b="1" dirty="0">
                <a:solidFill>
                  <a:srgbClr val="D9B100"/>
                </a:solidFill>
                <a:latin typeface="Arial" pitchFamily="34" charset="0"/>
                <a:ea typeface="Arial" pitchFamily="34" charset="-122"/>
                <a:cs typeface="Arial" pitchFamily="34" charset="-120"/>
              </a:rPr>
              <a:t>27 m</a:t>
            </a:r>
            <a:endParaRPr lang="en-US" sz="3400" dirty="0"/>
          </a:p>
        </p:txBody>
      </p:sp>
      <p:sp>
        <p:nvSpPr>
          <p:cNvPr id="11" name="Text 9"/>
          <p:cNvSpPr txBox="1"/>
          <p:nvPr/>
        </p:nvSpPr>
        <p:spPr>
          <a:xfrm>
            <a:off x="3474720" y="5285232"/>
            <a:ext cx="1463040" cy="274320"/>
          </a:xfrm>
          <a:prstGeom prst="rect">
            <a:avLst/>
          </a:prstGeom>
          <a:noFill/>
          <a:ln/>
        </p:spPr>
        <p:txBody>
          <a:bodyPr wrap="square" lIns="0" tIns="0" rIns="0" bIns="0" rtlCol="0" anchor="ctr"/>
          <a:lstStyle/>
          <a:p>
            <a:pPr marL="0" indent="0">
              <a:buNone/>
            </a:pPr>
            <a:r>
              <a:rPr lang="en-US" sz="1200" dirty="0">
                <a:solidFill>
                  <a:srgbClr val="A6A7AD"/>
                </a:solidFill>
                <a:latin typeface="Calibri" pitchFamily="34" charset="0"/>
                <a:ea typeface="Calibri" pitchFamily="34" charset="-122"/>
                <a:cs typeface="Calibri" pitchFamily="34" charset="-120"/>
              </a:rPr>
              <a:t>avg. fit error</a:t>
            </a:r>
            <a:endParaRPr lang="en-US" sz="1200" dirty="0"/>
          </a:p>
        </p:txBody>
      </p:sp>
      <p:pic>
        <p:nvPicPr>
          <p:cNvPr id="12" name="Image 0" descr="C:\Users\rup\AppData\Local\Temp\claude\d--Codes-CholoKUET\2a005a77-40ea-402f-8f1e-eba05e0da9d5\scratchpad\deck\img\campus-map.png"/>
          <p:cNvPicPr>
            <a:picLocks noChangeAspect="1"/>
          </p:cNvPicPr>
          <p:nvPr/>
        </p:nvPicPr>
        <p:blipFill>
          <a:blip r:embed="rId3"/>
          <a:srcRect/>
          <a:stretch/>
        </p:blipFill>
        <p:spPr>
          <a:xfrm>
            <a:off x="5394960" y="1106424"/>
            <a:ext cx="6263640" cy="45079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13</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HOW IT'S ORGANISED</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Three layers, each with one job</a:t>
            </a:r>
            <a:endParaRPr lang="en-US" sz="3400" dirty="0"/>
          </a:p>
        </p:txBody>
      </p:sp>
      <p:sp>
        <p:nvSpPr>
          <p:cNvPr id="5" name="Shape 3"/>
          <p:cNvSpPr/>
          <p:nvPr/>
        </p:nvSpPr>
        <p:spPr>
          <a:xfrm>
            <a:off x="548640" y="1783080"/>
            <a:ext cx="6766560" cy="914400"/>
          </a:xfrm>
          <a:prstGeom prst="roundRect">
            <a:avLst>
              <a:gd name="adj" fmla="val 10000"/>
            </a:avLst>
          </a:prstGeom>
          <a:solidFill>
            <a:srgbClr val="101114"/>
          </a:solidFill>
          <a:ln w="12700">
            <a:solidFill>
              <a:srgbClr val="101114"/>
            </a:solidFill>
            <a:prstDash val="solid"/>
          </a:ln>
        </p:spPr>
        <p:txBody>
          <a:bodyPr/>
          <a:lstStyle/>
          <a:p>
            <a:endParaRPr lang="en-US"/>
          </a:p>
        </p:txBody>
      </p:sp>
      <p:sp>
        <p:nvSpPr>
          <p:cNvPr id="6" name="Text 4"/>
          <p:cNvSpPr txBox="1"/>
          <p:nvPr/>
        </p:nvSpPr>
        <p:spPr>
          <a:xfrm>
            <a:off x="822960" y="1783080"/>
            <a:ext cx="1828800" cy="914400"/>
          </a:xfrm>
          <a:prstGeom prst="rect">
            <a:avLst/>
          </a:prstGeom>
          <a:noFill/>
          <a:ln/>
        </p:spPr>
        <p:txBody>
          <a:bodyPr wrap="square" lIns="0" tIns="0" rIns="0" bIns="0" rtlCol="0" anchor="ctr"/>
          <a:lstStyle/>
          <a:p>
            <a:pPr marL="0" indent="0">
              <a:buNone/>
            </a:pPr>
            <a:r>
              <a:rPr lang="en-US" sz="1700" b="1" dirty="0">
                <a:solidFill>
                  <a:srgbClr val="D9B100"/>
                </a:solidFill>
                <a:latin typeface="Arial" pitchFamily="34" charset="0"/>
                <a:ea typeface="Arial" pitchFamily="34" charset="-122"/>
                <a:cs typeface="Arial" pitchFamily="34" charset="-120"/>
              </a:rPr>
              <a:t>Navigator</a:t>
            </a:r>
            <a:endParaRPr lang="en-US" sz="1700" dirty="0"/>
          </a:p>
        </p:txBody>
      </p:sp>
      <p:sp>
        <p:nvSpPr>
          <p:cNvPr id="7" name="Text 5"/>
          <p:cNvSpPr txBox="1"/>
          <p:nvPr/>
        </p:nvSpPr>
        <p:spPr>
          <a:xfrm>
            <a:off x="2743200" y="1783080"/>
            <a:ext cx="4389120" cy="914400"/>
          </a:xfrm>
          <a:prstGeom prst="rect">
            <a:avLst/>
          </a:prstGeom>
          <a:noFill/>
          <a:ln/>
        </p:spPr>
        <p:txBody>
          <a:bodyPr wrap="square" lIns="0" tIns="0" rIns="0" bIns="0" rtlCol="0" anchor="ctr"/>
          <a:lstStyle/>
          <a:p>
            <a:pPr marL="0" indent="0">
              <a:buNone/>
            </a:pPr>
            <a:r>
              <a:rPr lang="en-US" sz="1350" dirty="0">
                <a:solidFill>
                  <a:srgbClr val="C9CAD0"/>
                </a:solidFill>
                <a:latin typeface="Calibri" pitchFamily="34" charset="0"/>
                <a:ea typeface="Calibri" pitchFamily="34" charset="-122"/>
                <a:cs typeface="Calibri" pitchFamily="34" charset="-120"/>
              </a:rPr>
              <a:t>Menus: login, trips, places, admin. Talks to the user only.</a:t>
            </a:r>
            <a:endParaRPr lang="en-US" sz="1350" dirty="0"/>
          </a:p>
        </p:txBody>
      </p:sp>
      <p:sp>
        <p:nvSpPr>
          <p:cNvPr id="8" name="Shape 6"/>
          <p:cNvSpPr/>
          <p:nvPr/>
        </p:nvSpPr>
        <p:spPr>
          <a:xfrm>
            <a:off x="548640" y="2862072"/>
            <a:ext cx="6766560" cy="914400"/>
          </a:xfrm>
          <a:prstGeom prst="roundRect">
            <a:avLst>
              <a:gd name="adj" fmla="val 10000"/>
            </a:avLst>
          </a:prstGeom>
          <a:solidFill>
            <a:srgbClr val="F3F4F6"/>
          </a:solidFill>
          <a:ln w="12700">
            <a:solidFill>
              <a:srgbClr val="F3F4F6"/>
            </a:solidFill>
            <a:prstDash val="solid"/>
          </a:ln>
        </p:spPr>
        <p:txBody>
          <a:bodyPr/>
          <a:lstStyle/>
          <a:p>
            <a:endParaRPr lang="en-US"/>
          </a:p>
        </p:txBody>
      </p:sp>
      <p:sp>
        <p:nvSpPr>
          <p:cNvPr id="9" name="Text 7"/>
          <p:cNvSpPr txBox="1"/>
          <p:nvPr/>
        </p:nvSpPr>
        <p:spPr>
          <a:xfrm>
            <a:off x="822960" y="2862072"/>
            <a:ext cx="1828800" cy="914400"/>
          </a:xfrm>
          <a:prstGeom prst="rect">
            <a:avLst/>
          </a:prstGeom>
          <a:noFill/>
          <a:ln/>
        </p:spPr>
        <p:txBody>
          <a:bodyPr wrap="square" lIns="0" tIns="0" rIns="0" bIns="0" rtlCol="0" anchor="ctr"/>
          <a:lstStyle/>
          <a:p>
            <a:pPr marL="0" indent="0">
              <a:buNone/>
            </a:pPr>
            <a:r>
              <a:rPr lang="en-US" sz="1700" b="1" dirty="0">
                <a:solidFill>
                  <a:srgbClr val="8F7200"/>
                </a:solidFill>
                <a:latin typeface="Arial" pitchFamily="34" charset="0"/>
                <a:ea typeface="Arial" pitchFamily="34" charset="-122"/>
                <a:cs typeface="Arial" pitchFamily="34" charset="-120"/>
              </a:rPr>
              <a:t>Campus</a:t>
            </a:r>
            <a:endParaRPr lang="en-US" sz="1700" dirty="0"/>
          </a:p>
        </p:txBody>
      </p:sp>
      <p:sp>
        <p:nvSpPr>
          <p:cNvPr id="10" name="Text 8"/>
          <p:cNvSpPr txBox="1"/>
          <p:nvPr/>
        </p:nvSpPr>
        <p:spPr>
          <a:xfrm>
            <a:off x="2743200" y="2862072"/>
            <a:ext cx="4389120" cy="914400"/>
          </a:xfrm>
          <a:prstGeom prst="rect">
            <a:avLst/>
          </a:prstGeom>
          <a:noFill/>
          <a:ln/>
        </p:spPr>
        <p:txBody>
          <a:bodyPr wrap="square" lIns="0" tIns="0" rIns="0" bIns="0" rtlCol="0" anchor="ctr"/>
          <a:lstStyle/>
          <a:p>
            <a:pPr marL="0" indent="0">
              <a:buNone/>
            </a:pPr>
            <a:r>
              <a:rPr lang="en-US" sz="1350" dirty="0">
                <a:solidFill>
                  <a:srgbClr val="5F626B"/>
                </a:solidFill>
                <a:latin typeface="Calibri" pitchFamily="34" charset="0"/>
                <a:ea typeface="Calibri" pitchFamily="34" charset="-122"/>
                <a:cs typeface="Calibri" pitchFamily="34" charset="-120"/>
              </a:rPr>
              <a:t>Places (array), categories and the walkway graph. The only code that touches files.</a:t>
            </a:r>
            <a:endParaRPr lang="en-US" sz="1350" dirty="0"/>
          </a:p>
        </p:txBody>
      </p:sp>
      <p:sp>
        <p:nvSpPr>
          <p:cNvPr id="11" name="Shape 9"/>
          <p:cNvSpPr/>
          <p:nvPr/>
        </p:nvSpPr>
        <p:spPr>
          <a:xfrm>
            <a:off x="548640" y="3941064"/>
            <a:ext cx="6766560" cy="914400"/>
          </a:xfrm>
          <a:prstGeom prst="roundRect">
            <a:avLst>
              <a:gd name="adj" fmla="val 10000"/>
            </a:avLst>
          </a:prstGeom>
          <a:solidFill>
            <a:srgbClr val="FBF4D2"/>
          </a:solidFill>
          <a:ln w="12700">
            <a:solidFill>
              <a:srgbClr val="FBF4D2"/>
            </a:solidFill>
            <a:prstDash val="solid"/>
          </a:ln>
        </p:spPr>
        <p:txBody>
          <a:bodyPr/>
          <a:lstStyle/>
          <a:p>
            <a:endParaRPr lang="en-US"/>
          </a:p>
        </p:txBody>
      </p:sp>
      <p:sp>
        <p:nvSpPr>
          <p:cNvPr id="12" name="Text 10"/>
          <p:cNvSpPr txBox="1"/>
          <p:nvPr/>
        </p:nvSpPr>
        <p:spPr>
          <a:xfrm>
            <a:off x="822960" y="3941064"/>
            <a:ext cx="1828800" cy="914400"/>
          </a:xfrm>
          <a:prstGeom prst="rect">
            <a:avLst/>
          </a:prstGeom>
          <a:noFill/>
          <a:ln/>
        </p:spPr>
        <p:txBody>
          <a:bodyPr wrap="square" lIns="0" tIns="0" rIns="0" bIns="0" rtlCol="0" anchor="ctr"/>
          <a:lstStyle/>
          <a:p>
            <a:pPr marL="0" indent="0">
              <a:buNone/>
            </a:pPr>
            <a:r>
              <a:rPr lang="en-US" sz="1700" b="1" dirty="0">
                <a:solidFill>
                  <a:srgbClr val="8F7200"/>
                </a:solidFill>
                <a:latin typeface="Arial" pitchFamily="34" charset="0"/>
                <a:ea typeface="Arial" pitchFamily="34" charset="-122"/>
                <a:cs typeface="Arial" pitchFamily="34" charset="-120"/>
              </a:rPr>
              <a:t>DSA core</a:t>
            </a:r>
            <a:endParaRPr lang="en-US" sz="1700" dirty="0"/>
          </a:p>
        </p:txBody>
      </p:sp>
      <p:sp>
        <p:nvSpPr>
          <p:cNvPr id="13" name="Text 11"/>
          <p:cNvSpPr txBox="1"/>
          <p:nvPr/>
        </p:nvSpPr>
        <p:spPr>
          <a:xfrm>
            <a:off x="2743200" y="3941064"/>
            <a:ext cx="4389120" cy="914400"/>
          </a:xfrm>
          <a:prstGeom prst="rect">
            <a:avLst/>
          </a:prstGeom>
          <a:noFill/>
          <a:ln/>
        </p:spPr>
        <p:txBody>
          <a:bodyPr wrap="square" lIns="0" tIns="0" rIns="0" bIns="0" rtlCol="0" anchor="ctr"/>
          <a:lstStyle/>
          <a:p>
            <a:pPr marL="0" indent="0">
              <a:buNone/>
            </a:pPr>
            <a:r>
              <a:rPr lang="en-US" sz="1350" dirty="0">
                <a:solidFill>
                  <a:srgbClr val="5F626B"/>
                </a:solidFill>
                <a:latin typeface="Calibri" pitchFamily="34" charset="0"/>
                <a:ea typeface="Calibri" pitchFamily="34" charset="-122"/>
                <a:cs typeface="Calibri" pitchFamily="34" charset="-120"/>
              </a:rPr>
              <a:t>Stack · Queue · Graph (BFS, DFS) · Tree · Search · Sort · Trip. No menus, no I/O.</a:t>
            </a:r>
            <a:endParaRPr lang="en-US" sz="1350" dirty="0"/>
          </a:p>
        </p:txBody>
      </p:sp>
      <p:sp>
        <p:nvSpPr>
          <p:cNvPr id="14" name="Shape 12"/>
          <p:cNvSpPr/>
          <p:nvPr/>
        </p:nvSpPr>
        <p:spPr>
          <a:xfrm>
            <a:off x="548640" y="5020056"/>
            <a:ext cx="6766560" cy="914400"/>
          </a:xfrm>
          <a:prstGeom prst="roundRect">
            <a:avLst>
              <a:gd name="adj" fmla="val 10000"/>
            </a:avLst>
          </a:prstGeom>
          <a:solidFill>
            <a:srgbClr val="FFFFFF"/>
          </a:solidFill>
          <a:ln w="12700">
            <a:solidFill>
              <a:srgbClr val="E3E4E8"/>
            </a:solidFill>
            <a:prstDash val="solid"/>
          </a:ln>
        </p:spPr>
        <p:txBody>
          <a:bodyPr/>
          <a:lstStyle/>
          <a:p>
            <a:endParaRPr lang="en-US"/>
          </a:p>
        </p:txBody>
      </p:sp>
      <p:sp>
        <p:nvSpPr>
          <p:cNvPr id="15" name="Text 13"/>
          <p:cNvSpPr txBox="1"/>
          <p:nvPr/>
        </p:nvSpPr>
        <p:spPr>
          <a:xfrm>
            <a:off x="822960" y="5020056"/>
            <a:ext cx="1828800" cy="914400"/>
          </a:xfrm>
          <a:prstGeom prst="rect">
            <a:avLst/>
          </a:prstGeom>
          <a:noFill/>
          <a:ln/>
        </p:spPr>
        <p:txBody>
          <a:bodyPr wrap="square" lIns="0" tIns="0" rIns="0" bIns="0" rtlCol="0" anchor="ctr"/>
          <a:lstStyle/>
          <a:p>
            <a:pPr marL="0" indent="0">
              <a:buNone/>
            </a:pPr>
            <a:r>
              <a:rPr lang="en-US" sz="1700" b="1" dirty="0">
                <a:solidFill>
                  <a:srgbClr val="5F626B"/>
                </a:solidFill>
                <a:latin typeface="Arial" pitchFamily="34" charset="0"/>
                <a:ea typeface="Arial" pitchFamily="34" charset="-122"/>
                <a:cs typeface="Arial" pitchFamily="34" charset="-120"/>
              </a:rPr>
              <a:t>data/*.txt</a:t>
            </a:r>
            <a:endParaRPr lang="en-US" sz="1700" dirty="0"/>
          </a:p>
        </p:txBody>
      </p:sp>
      <p:sp>
        <p:nvSpPr>
          <p:cNvPr id="16" name="Text 14"/>
          <p:cNvSpPr txBox="1"/>
          <p:nvPr/>
        </p:nvSpPr>
        <p:spPr>
          <a:xfrm>
            <a:off x="2743200" y="5020056"/>
            <a:ext cx="4389120" cy="914400"/>
          </a:xfrm>
          <a:prstGeom prst="rect">
            <a:avLst/>
          </a:prstGeom>
          <a:noFill/>
          <a:ln/>
        </p:spPr>
        <p:txBody>
          <a:bodyPr wrap="square" lIns="0" tIns="0" rIns="0" bIns="0" rtlCol="0" anchor="ctr"/>
          <a:lstStyle/>
          <a:p>
            <a:pPr marL="0" indent="0">
              <a:buNone/>
            </a:pPr>
            <a:r>
              <a:rPr lang="en-US" sz="1350" dirty="0">
                <a:solidFill>
                  <a:srgbClr val="5F626B"/>
                </a:solidFill>
                <a:latin typeface="Calibri" pitchFamily="34" charset="0"/>
                <a:ea typeface="Calibri" pitchFamily="34" charset="-122"/>
                <a:cs typeface="Calibri" pitchFamily="34" charset="-120"/>
              </a:rPr>
              <a:t>Plain text: locations, paths, categories, users, favorites. Plus logs/application.log.</a:t>
            </a:r>
            <a:endParaRPr lang="en-US" sz="1350" dirty="0"/>
          </a:p>
        </p:txBody>
      </p:sp>
      <p:sp>
        <p:nvSpPr>
          <p:cNvPr id="17" name="Text 15"/>
          <p:cNvSpPr txBox="1"/>
          <p:nvPr/>
        </p:nvSpPr>
        <p:spPr>
          <a:xfrm>
            <a:off x="7818120" y="1783080"/>
            <a:ext cx="3840480" cy="365760"/>
          </a:xfrm>
          <a:prstGeom prst="rect">
            <a:avLst/>
          </a:prstGeom>
          <a:noFill/>
          <a:ln/>
        </p:spPr>
        <p:txBody>
          <a:bodyPr wrap="square" lIns="0" tIns="0" rIns="0" bIns="0" rtlCol="0" anchor="ctr"/>
          <a:lstStyle/>
          <a:p>
            <a:pPr marL="0" indent="0">
              <a:buNone/>
            </a:pPr>
            <a:r>
              <a:rPr lang="en-US" sz="1800" b="1" dirty="0">
                <a:solidFill>
                  <a:srgbClr val="16171B"/>
                </a:solidFill>
                <a:latin typeface="Arial" pitchFamily="34" charset="0"/>
                <a:ea typeface="Arial" pitchFamily="34" charset="-122"/>
                <a:cs typeface="Arial" pitchFamily="34" charset="-120"/>
              </a:rPr>
              <a:t>Why it matters</a:t>
            </a:r>
            <a:endParaRPr lang="en-US" sz="1800" dirty="0"/>
          </a:p>
        </p:txBody>
      </p:sp>
      <p:sp>
        <p:nvSpPr>
          <p:cNvPr id="18" name="Text 16"/>
          <p:cNvSpPr txBox="1"/>
          <p:nvPr/>
        </p:nvSpPr>
        <p:spPr>
          <a:xfrm>
            <a:off x="7818120" y="2240280"/>
            <a:ext cx="3840480" cy="256032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5F626B"/>
                </a:solidFill>
                <a:latin typeface="Calibri" pitchFamily="34" charset="0"/>
                <a:ea typeface="Calibri" pitchFamily="34" charset="-122"/>
                <a:cs typeface="Calibri" pitchFamily="34" charset="-120"/>
              </a:rPr>
              <a:t>The stack can be opened and explained on its own (dsa/stack).</a:t>
            </a:r>
            <a:endParaRPr lang="en-US" sz="1400" dirty="0"/>
          </a:p>
          <a:p>
            <a:pPr marL="342900" indent="-342900">
              <a:spcAft>
                <a:spcPts val="1000"/>
              </a:spcAft>
              <a:buSzPct val="100000"/>
              <a:buChar char="•"/>
            </a:pPr>
            <a:r>
              <a:rPr lang="en-US" sz="1400" dirty="0">
                <a:solidFill>
                  <a:srgbClr val="5F626B"/>
                </a:solidFill>
                <a:latin typeface="Calibri" pitchFamily="34" charset="0"/>
                <a:ea typeface="Calibri" pitchFamily="34" charset="-122"/>
                <a:cs typeface="Calibri" pitchFamily="34" charset="-120"/>
              </a:rPr>
              <a:t>Each structure has its own test program.</a:t>
            </a:r>
            <a:endParaRPr lang="en-US" sz="1400" dirty="0"/>
          </a:p>
          <a:p>
            <a:pPr marL="342900" indent="-342900">
              <a:spcAft>
                <a:spcPts val="1000"/>
              </a:spcAft>
              <a:buSzPct val="100000"/>
              <a:buChar char="•"/>
            </a:pPr>
            <a:r>
              <a:rPr lang="en-US" sz="1400" dirty="0">
                <a:solidFill>
                  <a:srgbClr val="5F626B"/>
                </a:solidFill>
                <a:latin typeface="Calibri" pitchFamily="34" charset="0"/>
                <a:ea typeface="Calibri" pitchFamily="34" charset="-122"/>
                <a:cs typeface="Calibri" pitchFamily="34" charset="-120"/>
              </a:rPr>
              <a:t>The same core could sit under a graphical app, just as the online version reuses the data.</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14</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UNDER THE HOOD</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How one trip request moves through the code</a:t>
            </a:r>
            <a:endParaRPr lang="en-US" sz="3400" dirty="0"/>
          </a:p>
        </p:txBody>
      </p:sp>
      <p:pic>
        <p:nvPicPr>
          <p:cNvPr id="5" name="Image 0" descr="C:\Users\rup\AppData\Local\Temp\claude\d--Codes-CholoKUET\2a005a77-40ea-402f-8f1e-eba05e0da9d5\scratchpad\deck\img\trip-flow.png"/>
          <p:cNvPicPr>
            <a:picLocks noChangeAspect="1"/>
          </p:cNvPicPr>
          <p:nvPr/>
        </p:nvPicPr>
        <p:blipFill>
          <a:blip r:embed="rId3"/>
          <a:srcRect/>
          <a:stretch/>
        </p:blipFill>
        <p:spPr>
          <a:xfrm>
            <a:off x="548640" y="1737360"/>
            <a:ext cx="11064240" cy="473659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15</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WHERE EACH STRUCTURE LIVES</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Every structure does real work</a:t>
            </a:r>
            <a:endParaRPr lang="en-US" sz="3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4096512"/>
        </p:xfrm>
        <a:graphic>
          <a:graphicData uri="http://schemas.openxmlformats.org/drawingml/2006/table">
            <a:tbl>
              <a:tblPr/>
              <a:tblGrid>
                <a:gridCol w="210312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512064">
                <a:tc>
                  <a:txBody>
                    <a:bodyPr/>
                    <a:lstStyle/>
                    <a:p>
                      <a:pPr marL="0" indent="0">
                        <a:buNone/>
                      </a:pPr>
                      <a:r>
                        <a:rPr lang="en-US" sz="1200" b="1" dirty="0">
                          <a:solidFill>
                            <a:srgbClr val="FFFFFF"/>
                          </a:solidFill>
                          <a:latin typeface="Arial" pitchFamily="34" charset="0"/>
                          <a:ea typeface="Arial" pitchFamily="34" charset="-122"/>
                          <a:cs typeface="Arial" pitchFamily="34" charset="-120"/>
                        </a:rPr>
                        <a:t>Structure</a:t>
                      </a:r>
                      <a:endParaRPr lang="en-US" sz="1200" dirty="0">
                        <a:latin typeface="Arial" charset="0"/>
                        <a:ea typeface="Arial" charset="0"/>
                        <a:cs typeface="Arial"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10111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Built as</a:t>
                      </a:r>
                      <a:endParaRPr lang="en-US" sz="1200" dirty="0">
                        <a:latin typeface="Arial" charset="0"/>
                        <a:ea typeface="Arial" charset="0"/>
                        <a:cs typeface="Arial"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101114"/>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Used for</a:t>
                      </a:r>
                      <a:endParaRPr lang="en-US" sz="1200" dirty="0">
                        <a:latin typeface="Arial" charset="0"/>
                        <a:ea typeface="Arial" charset="0"/>
                        <a:cs typeface="Arial"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101114"/>
                    </a:solidFill>
                  </a:tcPr>
                </a:tc>
                <a:extLst>
                  <a:ext uri="{0D108BD9-81ED-4DB2-BD59-A6C34878D82A}">
                    <a16:rowId xmlns:a16="http://schemas.microsoft.com/office/drawing/2014/main" val="10000"/>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Stack</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Hand-written array, top = -1 when empty</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DFS, the Back button, reversing BFS routes</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extLst>
                  <a:ext uri="{0D108BD9-81ED-4DB2-BD59-A6C34878D82A}">
                    <a16:rowId xmlns:a16="http://schemas.microsoft.com/office/drawing/2014/main" val="10001"/>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Queue</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Hand-written circular array</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BFS for every route</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BF4D2"/>
                    </a:solidFill>
                  </a:tcPr>
                </a:tc>
                <a:extLst>
                  <a:ext uri="{0D108BD9-81ED-4DB2-BD59-A6C34878D82A}">
                    <a16:rowId xmlns:a16="http://schemas.microsoft.com/office/drawing/2014/main" val="10002"/>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Array</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200" dirty="0">
                          <a:solidFill>
                            <a:srgbClr val="16171B"/>
                          </a:solidFill>
                          <a:latin typeface="Consolas" pitchFamily="34" charset="0"/>
                          <a:ea typeface="Consolas" pitchFamily="34" charset="-122"/>
                          <a:cs typeface="Consolas" pitchFamily="34" charset="-120"/>
                        </a:rPr>
                        <a:t>std::vector&lt;Location&gt;</a:t>
                      </a:r>
                      <a:endParaRPr lang="en-US" sz="1200" dirty="0">
                        <a:latin typeface="Consolas" charset="0"/>
                        <a:ea typeface="Consolas" charset="0"/>
                        <a:cs typeface="Consolas"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The list of all 44 places</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Linked list</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200" dirty="0">
                          <a:solidFill>
                            <a:srgbClr val="16171B"/>
                          </a:solidFill>
                          <a:latin typeface="Consolas" pitchFamily="34" charset="0"/>
                          <a:ea typeface="Consolas" pitchFamily="34" charset="-122"/>
                          <a:cs typeface="Consolas" pitchFamily="34" charset="-120"/>
                        </a:rPr>
                        <a:t>std::list&lt;int&gt;</a:t>
                      </a:r>
                      <a:endParaRPr lang="en-US" sz="1200" dirty="0">
                        <a:latin typeface="Consolas" charset="0"/>
                        <a:ea typeface="Consolas" charset="0"/>
                        <a:cs typeface="Consolas"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Recent searches, favorites, BFS routes</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Tree</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200" dirty="0">
                          <a:solidFill>
                            <a:srgbClr val="16171B"/>
                          </a:solidFill>
                          <a:latin typeface="Consolas" pitchFamily="34" charset="0"/>
                          <a:ea typeface="Consolas" pitchFamily="34" charset="-122"/>
                          <a:cs typeface="Consolas" pitchFamily="34" charset="-120"/>
                        </a:rPr>
                        <a:t>General tree, children in a vector</a:t>
                      </a:r>
                      <a:endParaRPr lang="en-US" sz="1200" dirty="0">
                        <a:latin typeface="Consolas" charset="0"/>
                        <a:ea typeface="Consolas" charset="0"/>
                        <a:cs typeface="Consolas"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Browse by category</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Graph</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200" dirty="0">
                          <a:solidFill>
                            <a:srgbClr val="16171B"/>
                          </a:solidFill>
                          <a:latin typeface="Consolas" pitchFamily="34" charset="0"/>
                          <a:ea typeface="Consolas" pitchFamily="34" charset="-122"/>
                          <a:cs typeface="Consolas" pitchFamily="34" charset="-120"/>
                        </a:rPr>
                        <a:t>Adjacency list with meters and road names</a:t>
                      </a:r>
                      <a:endParaRPr lang="en-US" sz="1200" dirty="0">
                        <a:latin typeface="Consolas" charset="0"/>
                        <a:ea typeface="Consolas" charset="0"/>
                        <a:cs typeface="Consolas"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Walkways between places</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1350" b="1" dirty="0">
                          <a:solidFill>
                            <a:srgbClr val="16171B"/>
                          </a:solidFill>
                          <a:latin typeface="Calibri" pitchFamily="34" charset="0"/>
                          <a:ea typeface="Calibri" pitchFamily="34" charset="-122"/>
                          <a:cs typeface="Calibri" pitchFamily="34" charset="-120"/>
                        </a:rPr>
                        <a:t>Search, sort</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200" dirty="0">
                          <a:solidFill>
                            <a:srgbClr val="16171B"/>
                          </a:solidFill>
                          <a:latin typeface="Consolas" pitchFamily="34" charset="0"/>
                          <a:ea typeface="Consolas" pitchFamily="34" charset="-122"/>
                          <a:cs typeface="Consolas" pitchFamily="34" charset="-120"/>
                        </a:rPr>
                        <a:t>Our own code, counting steps</a:t>
                      </a:r>
                      <a:endParaRPr lang="en-US" sz="1200" dirty="0">
                        <a:latin typeface="Consolas" charset="0"/>
                        <a:ea typeface="Consolas" charset="0"/>
                        <a:cs typeface="Consolas"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tc>
                  <a:txBody>
                    <a:bodyPr/>
                    <a:lstStyle/>
                    <a:p>
                      <a:pPr marL="0" indent="0">
                        <a:buNone/>
                      </a:pPr>
                      <a:r>
                        <a:rPr lang="en-US" sz="1350" dirty="0">
                          <a:solidFill>
                            <a:srgbClr val="16171B"/>
                          </a:solidFill>
                          <a:latin typeface="Calibri" pitchFamily="34" charset="0"/>
                          <a:ea typeface="Calibri" pitchFamily="34" charset="-122"/>
                          <a:cs typeface="Calibri" pitchFamily="34" charset="-120"/>
                        </a:rPr>
                        <a:t>Finding and ordering places</a:t>
                      </a:r>
                      <a:endParaRPr lang="en-US" sz="1350" dirty="0">
                        <a:latin typeface="Calibri" charset="0"/>
                        <a:ea typeface="Calibri" charset="0"/>
                        <a:cs typeface="Calibri" charset="0"/>
                      </a:endParaRPr>
                    </a:p>
                  </a:txBody>
                  <a:tcPr marL="137160" marR="137160" marT="0" marB="0" anchor="ctr">
                    <a:lnL w="9525" cap="flat" cmpd="sng" algn="ctr">
                      <a:solidFill>
                        <a:srgbClr val="E3E4E8"/>
                      </a:solidFill>
                      <a:prstDash val="solid"/>
                      <a:round/>
                      <a:headEnd type="none" w="med" len="med"/>
                      <a:tailEnd type="none" w="med" len="med"/>
                    </a:lnL>
                    <a:lnR w="9525" cap="flat" cmpd="sng" algn="ctr">
                      <a:solidFill>
                        <a:srgbClr val="E3E4E8"/>
                      </a:solidFill>
                      <a:prstDash val="solid"/>
                      <a:round/>
                      <a:headEnd type="none" w="med" len="med"/>
                      <a:tailEnd type="none" w="med" len="med"/>
                    </a:lnR>
                    <a:lnT w="9525" cap="flat" cmpd="sng" algn="ctr">
                      <a:solidFill>
                        <a:srgbClr val="E3E4E8"/>
                      </a:solidFill>
                      <a:prstDash val="solid"/>
                      <a:round/>
                      <a:headEnd type="none" w="med" len="med"/>
                      <a:tailEnd type="none" w="med" len="med"/>
                    </a:lnT>
                    <a:lnB w="9525" cap="flat" cmpd="sng" algn="ctr">
                      <a:solidFill>
                        <a:srgbClr val="E3E4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548640" y="5989320"/>
            <a:ext cx="10972800" cy="320040"/>
          </a:xfrm>
          <a:prstGeom prst="rect">
            <a:avLst/>
          </a:prstGeom>
          <a:noFill/>
          <a:ln/>
        </p:spPr>
        <p:txBody>
          <a:bodyPr wrap="square" lIns="0" tIns="0" rIns="0" bIns="0" rtlCol="0" anchor="ctr"/>
          <a:lstStyle/>
          <a:p>
            <a:pPr marL="0" indent="0">
              <a:buNone/>
            </a:pPr>
            <a:r>
              <a:rPr lang="en-US" sz="1300" i="1" dirty="0">
                <a:solidFill>
                  <a:srgbClr val="5F626B"/>
                </a:solidFill>
                <a:latin typeface="Calibri" pitchFamily="34" charset="0"/>
                <a:ea typeface="Calibri" pitchFamily="34" charset="-122"/>
                <a:cs typeface="Calibri" pitchFamily="34" charset="-120"/>
              </a:rPr>
              <a:t>Highlighted rows are written from scratch. make check-manual proves std::stack, std::queue and std::sort are never used.</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16</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HAND-WRITTEN · DSA/STACK AND DSA/QUEUE</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Last in, first out. First in, first out, and it wraps</a:t>
            </a:r>
            <a:endParaRPr lang="en-US" sz="3400" dirty="0"/>
          </a:p>
        </p:txBody>
      </p:sp>
      <p:sp>
        <p:nvSpPr>
          <p:cNvPr id="5" name="Shape 3"/>
          <p:cNvSpPr/>
          <p:nvPr/>
        </p:nvSpPr>
        <p:spPr>
          <a:xfrm>
            <a:off x="548640" y="1783080"/>
            <a:ext cx="5394960" cy="2468880"/>
          </a:xfrm>
          <a:prstGeom prst="roundRect">
            <a:avLst>
              <a:gd name="adj" fmla="val 3704"/>
            </a:avLst>
          </a:prstGeom>
          <a:solidFill>
            <a:srgbClr val="07080A"/>
          </a:solidFill>
          <a:ln w="12700">
            <a:solidFill>
              <a:srgbClr val="2C2F38"/>
            </a:solidFill>
            <a:prstDash val="solid"/>
          </a:ln>
        </p:spPr>
        <p:txBody>
          <a:bodyPr/>
          <a:lstStyle/>
          <a:p>
            <a:endParaRPr lang="en-US"/>
          </a:p>
        </p:txBody>
      </p:sp>
      <p:sp>
        <p:nvSpPr>
          <p:cNvPr id="6" name="Shape 4"/>
          <p:cNvSpPr/>
          <p:nvPr/>
        </p:nvSpPr>
        <p:spPr>
          <a:xfrm>
            <a:off x="731520" y="1938528"/>
            <a:ext cx="109728" cy="109728"/>
          </a:xfrm>
          <a:prstGeom prst="ellipse">
            <a:avLst/>
          </a:prstGeom>
          <a:solidFill>
            <a:srgbClr val="FF5F57"/>
          </a:solidFill>
          <a:ln w="12700">
            <a:solidFill>
              <a:srgbClr val="FF5F57"/>
            </a:solidFill>
            <a:prstDash val="solid"/>
          </a:ln>
        </p:spPr>
        <p:txBody>
          <a:bodyPr/>
          <a:lstStyle/>
          <a:p>
            <a:endParaRPr lang="en-US"/>
          </a:p>
        </p:txBody>
      </p:sp>
      <p:sp>
        <p:nvSpPr>
          <p:cNvPr id="7" name="Shape 5"/>
          <p:cNvSpPr/>
          <p:nvPr/>
        </p:nvSpPr>
        <p:spPr>
          <a:xfrm>
            <a:off x="914400" y="1938528"/>
            <a:ext cx="109728" cy="109728"/>
          </a:xfrm>
          <a:prstGeom prst="ellipse">
            <a:avLst/>
          </a:prstGeom>
          <a:solidFill>
            <a:srgbClr val="FEBC2E"/>
          </a:solidFill>
          <a:ln w="12700">
            <a:solidFill>
              <a:srgbClr val="FEBC2E"/>
            </a:solidFill>
            <a:prstDash val="solid"/>
          </a:ln>
        </p:spPr>
        <p:txBody>
          <a:bodyPr/>
          <a:lstStyle/>
          <a:p>
            <a:endParaRPr lang="en-US"/>
          </a:p>
        </p:txBody>
      </p:sp>
      <p:sp>
        <p:nvSpPr>
          <p:cNvPr id="8" name="Shape 6"/>
          <p:cNvSpPr/>
          <p:nvPr/>
        </p:nvSpPr>
        <p:spPr>
          <a:xfrm>
            <a:off x="1097280" y="1938528"/>
            <a:ext cx="109728" cy="109728"/>
          </a:xfrm>
          <a:prstGeom prst="ellipse">
            <a:avLst/>
          </a:prstGeom>
          <a:solidFill>
            <a:srgbClr val="28C840"/>
          </a:solidFill>
          <a:ln w="12700">
            <a:solidFill>
              <a:srgbClr val="28C840"/>
            </a:solidFill>
            <a:prstDash val="solid"/>
          </a:ln>
        </p:spPr>
        <p:txBody>
          <a:bodyPr/>
          <a:lstStyle/>
          <a:p>
            <a:endParaRPr lang="en-US"/>
          </a:p>
        </p:txBody>
      </p:sp>
      <p:sp>
        <p:nvSpPr>
          <p:cNvPr id="9" name="Text 7"/>
          <p:cNvSpPr txBox="1"/>
          <p:nvPr/>
        </p:nvSpPr>
        <p:spPr>
          <a:xfrm>
            <a:off x="749808" y="2194560"/>
            <a:ext cx="4992624" cy="1920240"/>
          </a:xfrm>
          <a:prstGeom prst="rect">
            <a:avLst/>
          </a:prstGeom>
          <a:noFill/>
          <a:ln/>
        </p:spPr>
        <p:txBody>
          <a:bodyPr wrap="square" lIns="0" tIns="0" rIns="0" bIns="0" rtlCol="0" anchor="t"/>
          <a:lstStyle/>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bool </a:t>
            </a:r>
            <a:r>
              <a:rPr lang="en-US" sz="1200" dirty="0">
                <a:solidFill>
                  <a:srgbClr val="FFFFFF"/>
                </a:solidFill>
                <a:latin typeface="Consolas" pitchFamily="34" charset="0"/>
                <a:ea typeface="Consolas" pitchFamily="34" charset="-122"/>
                <a:cs typeface="Consolas" pitchFamily="34" charset="-120"/>
              </a:rPr>
              <a:t>Stack::push(</a:t>
            </a:r>
            <a:r>
              <a:rPr lang="en-US" sz="1200" dirty="0">
                <a:solidFill>
                  <a:srgbClr val="D9B100"/>
                </a:solidFill>
                <a:latin typeface="Consolas" pitchFamily="34" charset="0"/>
                <a:ea typeface="Consolas" pitchFamily="34" charset="-122"/>
                <a:cs typeface="Consolas" pitchFamily="34" charset="-120"/>
              </a:rPr>
              <a:t>int</a:t>
            </a:r>
            <a:r>
              <a:rPr lang="en-US" sz="1200" dirty="0">
                <a:solidFill>
                  <a:srgbClr val="FFFFFF"/>
                </a:solidFill>
                <a:latin typeface="Consolas" pitchFamily="34" charset="0"/>
                <a:ea typeface="Consolas" pitchFamily="34" charset="-122"/>
                <a:cs typeface="Consolas" pitchFamily="34" charset="-120"/>
              </a:rPr>
              <a:t> value)</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    if</a:t>
            </a:r>
            <a:r>
              <a:rPr lang="en-US" sz="1200" dirty="0">
                <a:solidFill>
                  <a:srgbClr val="FFFFFF"/>
                </a:solidFill>
                <a:latin typeface="Consolas" pitchFamily="34" charset="0"/>
                <a:ea typeface="Consolas" pitchFamily="34" charset="-122"/>
                <a:cs typeface="Consolas" pitchFamily="34" charset="-120"/>
              </a:rPr>
              <a:t> (isFull())</a:t>
            </a:r>
            <a:endParaRPr lang="en-US" sz="1200" dirty="0"/>
          </a:p>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        return </a:t>
            </a:r>
            <a:r>
              <a:rPr lang="en-US" sz="1200" dirty="0">
                <a:solidFill>
                  <a:srgbClr val="FFFFFF"/>
                </a:solidFill>
                <a:latin typeface="Consolas" pitchFamily="34" charset="0"/>
                <a:ea typeface="Consolas" pitchFamily="34" charset="-122"/>
                <a:cs typeface="Consolas" pitchFamily="34" charset="-120"/>
              </a:rPr>
              <a:t>false</a:t>
            </a:r>
            <a:r>
              <a:rPr lang="en-US" sz="1200" dirty="0">
                <a:solidFill>
                  <a:srgbClr val="7C7F89"/>
                </a:solidFill>
                <a:latin typeface="Consolas" pitchFamily="34" charset="0"/>
                <a:ea typeface="Consolas" pitchFamily="34" charset="-122"/>
                <a:cs typeface="Consolas" pitchFamily="34" charset="-120"/>
              </a:rPr>
              <a:t>;   // overflow</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    data[++top] = value;</a:t>
            </a:r>
            <a:endParaRPr lang="en-US" sz="1200" dirty="0"/>
          </a:p>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    return </a:t>
            </a:r>
            <a:r>
              <a:rPr lang="en-US" sz="1200" dirty="0">
                <a:solidFill>
                  <a:srgbClr val="FFFFFF"/>
                </a:solidFill>
                <a:latin typeface="Consolas" pitchFamily="34" charset="0"/>
                <a:ea typeface="Consolas" pitchFamily="34" charset="-122"/>
                <a:cs typeface="Consolas" pitchFamily="34" charset="-120"/>
              </a:rPr>
              <a:t>true;</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10" name="Shape 8"/>
          <p:cNvSpPr/>
          <p:nvPr/>
        </p:nvSpPr>
        <p:spPr>
          <a:xfrm>
            <a:off x="6263640" y="1783080"/>
            <a:ext cx="5394960" cy="2468880"/>
          </a:xfrm>
          <a:prstGeom prst="roundRect">
            <a:avLst>
              <a:gd name="adj" fmla="val 3704"/>
            </a:avLst>
          </a:prstGeom>
          <a:solidFill>
            <a:srgbClr val="07080A"/>
          </a:solidFill>
          <a:ln w="12700">
            <a:solidFill>
              <a:srgbClr val="2C2F38"/>
            </a:solidFill>
            <a:prstDash val="solid"/>
          </a:ln>
        </p:spPr>
        <p:txBody>
          <a:bodyPr/>
          <a:lstStyle/>
          <a:p>
            <a:endParaRPr lang="en-US"/>
          </a:p>
        </p:txBody>
      </p:sp>
      <p:sp>
        <p:nvSpPr>
          <p:cNvPr id="11" name="Shape 9"/>
          <p:cNvSpPr/>
          <p:nvPr/>
        </p:nvSpPr>
        <p:spPr>
          <a:xfrm>
            <a:off x="6446520" y="1938528"/>
            <a:ext cx="109728" cy="109728"/>
          </a:xfrm>
          <a:prstGeom prst="ellipse">
            <a:avLst/>
          </a:prstGeom>
          <a:solidFill>
            <a:srgbClr val="FF5F57"/>
          </a:solidFill>
          <a:ln w="12700">
            <a:solidFill>
              <a:srgbClr val="FF5F57"/>
            </a:solidFill>
            <a:prstDash val="solid"/>
          </a:ln>
        </p:spPr>
        <p:txBody>
          <a:bodyPr/>
          <a:lstStyle/>
          <a:p>
            <a:endParaRPr lang="en-US"/>
          </a:p>
        </p:txBody>
      </p:sp>
      <p:sp>
        <p:nvSpPr>
          <p:cNvPr id="12" name="Shape 10"/>
          <p:cNvSpPr/>
          <p:nvPr/>
        </p:nvSpPr>
        <p:spPr>
          <a:xfrm>
            <a:off x="6629400" y="1938528"/>
            <a:ext cx="109728" cy="109728"/>
          </a:xfrm>
          <a:prstGeom prst="ellipse">
            <a:avLst/>
          </a:prstGeom>
          <a:solidFill>
            <a:srgbClr val="FEBC2E"/>
          </a:solidFill>
          <a:ln w="12700">
            <a:solidFill>
              <a:srgbClr val="FEBC2E"/>
            </a:solidFill>
            <a:prstDash val="solid"/>
          </a:ln>
        </p:spPr>
        <p:txBody>
          <a:bodyPr/>
          <a:lstStyle/>
          <a:p>
            <a:endParaRPr lang="en-US"/>
          </a:p>
        </p:txBody>
      </p:sp>
      <p:sp>
        <p:nvSpPr>
          <p:cNvPr id="13" name="Shape 11"/>
          <p:cNvSpPr/>
          <p:nvPr/>
        </p:nvSpPr>
        <p:spPr>
          <a:xfrm>
            <a:off x="6812280" y="1938528"/>
            <a:ext cx="109728" cy="109728"/>
          </a:xfrm>
          <a:prstGeom prst="ellipse">
            <a:avLst/>
          </a:prstGeom>
          <a:solidFill>
            <a:srgbClr val="28C840"/>
          </a:solidFill>
          <a:ln w="12700">
            <a:solidFill>
              <a:srgbClr val="28C840"/>
            </a:solidFill>
            <a:prstDash val="solid"/>
          </a:ln>
        </p:spPr>
        <p:txBody>
          <a:bodyPr/>
          <a:lstStyle/>
          <a:p>
            <a:endParaRPr lang="en-US"/>
          </a:p>
        </p:txBody>
      </p:sp>
      <p:sp>
        <p:nvSpPr>
          <p:cNvPr id="14" name="Text 12"/>
          <p:cNvSpPr txBox="1"/>
          <p:nvPr/>
        </p:nvSpPr>
        <p:spPr>
          <a:xfrm>
            <a:off x="6464808" y="2194560"/>
            <a:ext cx="4992624" cy="1920240"/>
          </a:xfrm>
          <a:prstGeom prst="rect">
            <a:avLst/>
          </a:prstGeom>
          <a:noFill/>
          <a:ln/>
        </p:spPr>
        <p:txBody>
          <a:bodyPr wrap="square" lIns="0" tIns="0" rIns="0" bIns="0" rtlCol="0" anchor="t"/>
          <a:lstStyle/>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bool </a:t>
            </a:r>
            <a:r>
              <a:rPr lang="en-US" sz="1200" dirty="0">
                <a:solidFill>
                  <a:srgbClr val="FFFFFF"/>
                </a:solidFill>
                <a:latin typeface="Consolas" pitchFamily="34" charset="0"/>
                <a:ea typeface="Consolas" pitchFamily="34" charset="-122"/>
                <a:cs typeface="Consolas" pitchFamily="34" charset="-120"/>
              </a:rPr>
              <a:t>Queue::enqueue(</a:t>
            </a:r>
            <a:r>
              <a:rPr lang="en-US" sz="1200" dirty="0">
                <a:solidFill>
                  <a:srgbClr val="D9B100"/>
                </a:solidFill>
                <a:latin typeface="Consolas" pitchFamily="34" charset="0"/>
                <a:ea typeface="Consolas" pitchFamily="34" charset="-122"/>
                <a:cs typeface="Consolas" pitchFamily="34" charset="-120"/>
              </a:rPr>
              <a:t>int</a:t>
            </a:r>
            <a:r>
              <a:rPr lang="en-US" sz="1200" dirty="0">
                <a:solidFill>
                  <a:srgbClr val="FFFFFF"/>
                </a:solidFill>
                <a:latin typeface="Consolas" pitchFamily="34" charset="0"/>
                <a:ea typeface="Consolas" pitchFamily="34" charset="-122"/>
                <a:cs typeface="Consolas" pitchFamily="34" charset="-120"/>
              </a:rPr>
              <a:t> value)</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a:t>
            </a:r>
            <a:endParaRPr lang="en-US" sz="1200" dirty="0"/>
          </a:p>
          <a:p>
            <a:pPr marL="0" indent="0">
              <a:lnSpc>
                <a:spcPct val="105000"/>
              </a:lnSpc>
              <a:buNone/>
            </a:pPr>
            <a:r>
              <a:rPr lang="en-US" sz="1200" dirty="0">
                <a:solidFill>
                  <a:srgbClr val="D9B100"/>
                </a:solidFill>
                <a:latin typeface="Consolas" pitchFamily="34" charset="0"/>
                <a:ea typeface="Consolas" pitchFamily="34" charset="-122"/>
                <a:cs typeface="Consolas" pitchFamily="34" charset="-120"/>
              </a:rPr>
              <a:t>    if</a:t>
            </a:r>
            <a:r>
              <a:rPr lang="en-US" sz="1200" dirty="0">
                <a:solidFill>
                  <a:srgbClr val="FFFFFF"/>
                </a:solidFill>
                <a:latin typeface="Consolas" pitchFamily="34" charset="0"/>
                <a:ea typeface="Consolas" pitchFamily="34" charset="-122"/>
                <a:cs typeface="Consolas" pitchFamily="34" charset="-120"/>
              </a:rPr>
              <a:t> (isFull()) </a:t>
            </a:r>
            <a:r>
              <a:rPr lang="en-US" sz="1200" dirty="0">
                <a:solidFill>
                  <a:srgbClr val="D9B100"/>
                </a:solidFill>
                <a:latin typeface="Consolas" pitchFamily="34" charset="0"/>
                <a:ea typeface="Consolas" pitchFamily="34" charset="-122"/>
                <a:cs typeface="Consolas" pitchFamily="34" charset="-120"/>
              </a:rPr>
              <a:t>return </a:t>
            </a:r>
            <a:r>
              <a:rPr lang="en-US" sz="1200" dirty="0">
                <a:solidFill>
                  <a:srgbClr val="FFFFFF"/>
                </a:solidFill>
                <a:latin typeface="Consolas" pitchFamily="34" charset="0"/>
                <a:ea typeface="Consolas" pitchFamily="34" charset="-122"/>
                <a:cs typeface="Consolas" pitchFamily="34" charset="-120"/>
              </a:rPr>
              <a:t>false;</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    rear = (rear + 1) % CAPACITY;</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    data[rear] = value;</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    count++;  </a:t>
            </a:r>
            <a:r>
              <a:rPr lang="en-US" sz="1200" dirty="0">
                <a:solidFill>
                  <a:srgbClr val="7C7F89"/>
                </a:solidFill>
                <a:latin typeface="Consolas" pitchFamily="34" charset="0"/>
                <a:ea typeface="Consolas" pitchFamily="34" charset="-122"/>
                <a:cs typeface="Consolas" pitchFamily="34" charset="-120"/>
              </a:rPr>
              <a:t>// tells full from empty</a:t>
            </a:r>
            <a:endParaRPr lang="en-US" sz="1200" dirty="0"/>
          </a:p>
          <a:p>
            <a:pPr marL="0" indent="0">
              <a:lnSpc>
                <a:spcPct val="105000"/>
              </a:lnSpc>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sp>
        <p:nvSpPr>
          <p:cNvPr id="15" name="Shape 13"/>
          <p:cNvSpPr/>
          <p:nvPr/>
        </p:nvSpPr>
        <p:spPr>
          <a:xfrm>
            <a:off x="548640" y="5458968"/>
            <a:ext cx="2743200" cy="310896"/>
          </a:xfrm>
          <a:prstGeom prst="rect">
            <a:avLst/>
          </a:prstGeom>
          <a:solidFill>
            <a:srgbClr val="F3F4F6"/>
          </a:solidFill>
          <a:ln w="12700">
            <a:solidFill>
              <a:srgbClr val="E3E4E8"/>
            </a:solidFill>
            <a:prstDash val="solid"/>
          </a:ln>
        </p:spPr>
        <p:txBody>
          <a:bodyPr/>
          <a:lstStyle/>
          <a:p>
            <a:endParaRPr lang="en-US"/>
          </a:p>
        </p:txBody>
      </p:sp>
      <p:sp>
        <p:nvSpPr>
          <p:cNvPr id="16" name="Text 14"/>
          <p:cNvSpPr txBox="1"/>
          <p:nvPr/>
        </p:nvSpPr>
        <p:spPr>
          <a:xfrm>
            <a:off x="658368" y="5458968"/>
            <a:ext cx="2560320" cy="310896"/>
          </a:xfrm>
          <a:prstGeom prst="rect">
            <a:avLst/>
          </a:prstGeom>
          <a:noFill/>
          <a:ln/>
        </p:spPr>
        <p:txBody>
          <a:bodyPr wrap="square" lIns="0" tIns="0" rIns="0" bIns="0" rtlCol="0" anchor="ctr"/>
          <a:lstStyle/>
          <a:p>
            <a:pPr marL="0" indent="0">
              <a:buNone/>
            </a:pPr>
            <a:r>
              <a:rPr lang="en-US" sz="1150" dirty="0">
                <a:solidFill>
                  <a:srgbClr val="16171B"/>
                </a:solidFill>
                <a:latin typeface="Calibri" pitchFamily="34" charset="0"/>
                <a:ea typeface="Calibri" pitchFamily="34" charset="-122"/>
                <a:cs typeface="Calibri" pitchFamily="34" charset="-120"/>
              </a:rPr>
              <a:t>KUET Main Gate</a:t>
            </a:r>
            <a:endParaRPr lang="en-US" sz="1150" dirty="0"/>
          </a:p>
        </p:txBody>
      </p:sp>
      <p:sp>
        <p:nvSpPr>
          <p:cNvPr id="17" name="Shape 15"/>
          <p:cNvSpPr/>
          <p:nvPr/>
        </p:nvSpPr>
        <p:spPr>
          <a:xfrm>
            <a:off x="548640" y="5111496"/>
            <a:ext cx="2743200" cy="310896"/>
          </a:xfrm>
          <a:prstGeom prst="rect">
            <a:avLst/>
          </a:prstGeom>
          <a:solidFill>
            <a:srgbClr val="F3F4F6"/>
          </a:solidFill>
          <a:ln w="12700">
            <a:solidFill>
              <a:srgbClr val="E3E4E8"/>
            </a:solidFill>
            <a:prstDash val="solid"/>
          </a:ln>
        </p:spPr>
        <p:txBody>
          <a:bodyPr/>
          <a:lstStyle/>
          <a:p>
            <a:endParaRPr lang="en-US"/>
          </a:p>
        </p:txBody>
      </p:sp>
      <p:sp>
        <p:nvSpPr>
          <p:cNvPr id="18" name="Text 16"/>
          <p:cNvSpPr txBox="1"/>
          <p:nvPr/>
        </p:nvSpPr>
        <p:spPr>
          <a:xfrm>
            <a:off x="658368" y="5111496"/>
            <a:ext cx="2560320" cy="310896"/>
          </a:xfrm>
          <a:prstGeom prst="rect">
            <a:avLst/>
          </a:prstGeom>
          <a:noFill/>
          <a:ln/>
        </p:spPr>
        <p:txBody>
          <a:bodyPr wrap="square" lIns="0" tIns="0" rIns="0" bIns="0" rtlCol="0" anchor="ctr"/>
          <a:lstStyle/>
          <a:p>
            <a:pPr marL="0" indent="0">
              <a:buNone/>
            </a:pPr>
            <a:r>
              <a:rPr lang="en-US" sz="1150" dirty="0">
                <a:solidFill>
                  <a:srgbClr val="16171B"/>
                </a:solidFill>
                <a:latin typeface="Calibri" pitchFamily="34" charset="0"/>
                <a:ea typeface="Calibri" pitchFamily="34" charset="-122"/>
                <a:cs typeface="Calibri" pitchFamily="34" charset="-120"/>
              </a:rPr>
              <a:t>Administrative Building</a:t>
            </a:r>
            <a:endParaRPr lang="en-US" sz="1150" dirty="0"/>
          </a:p>
        </p:txBody>
      </p:sp>
      <p:sp>
        <p:nvSpPr>
          <p:cNvPr id="19" name="Shape 17"/>
          <p:cNvSpPr/>
          <p:nvPr/>
        </p:nvSpPr>
        <p:spPr>
          <a:xfrm>
            <a:off x="548640" y="4764024"/>
            <a:ext cx="2743200" cy="310896"/>
          </a:xfrm>
          <a:prstGeom prst="rect">
            <a:avLst/>
          </a:prstGeom>
          <a:solidFill>
            <a:srgbClr val="F3F4F6"/>
          </a:solidFill>
          <a:ln w="12700">
            <a:solidFill>
              <a:srgbClr val="E3E4E8"/>
            </a:solidFill>
            <a:prstDash val="solid"/>
          </a:ln>
        </p:spPr>
        <p:txBody>
          <a:bodyPr/>
          <a:lstStyle/>
          <a:p>
            <a:endParaRPr lang="en-US"/>
          </a:p>
        </p:txBody>
      </p:sp>
      <p:sp>
        <p:nvSpPr>
          <p:cNvPr id="20" name="Text 18"/>
          <p:cNvSpPr txBox="1"/>
          <p:nvPr/>
        </p:nvSpPr>
        <p:spPr>
          <a:xfrm>
            <a:off x="658368" y="4764024"/>
            <a:ext cx="2560320" cy="310896"/>
          </a:xfrm>
          <a:prstGeom prst="rect">
            <a:avLst/>
          </a:prstGeom>
          <a:noFill/>
          <a:ln/>
        </p:spPr>
        <p:txBody>
          <a:bodyPr wrap="square" lIns="0" tIns="0" rIns="0" bIns="0" rtlCol="0" anchor="ctr"/>
          <a:lstStyle/>
          <a:p>
            <a:pPr marL="0" indent="0">
              <a:buNone/>
            </a:pPr>
            <a:r>
              <a:rPr lang="en-US" sz="1150" dirty="0">
                <a:solidFill>
                  <a:srgbClr val="16171B"/>
                </a:solidFill>
                <a:latin typeface="Calibri" pitchFamily="34" charset="0"/>
                <a:ea typeface="Calibri" pitchFamily="34" charset="-122"/>
                <a:cs typeface="Calibri" pitchFamily="34" charset="-120"/>
              </a:rPr>
              <a:t>Mechanical Eng. Building</a:t>
            </a:r>
            <a:endParaRPr lang="en-US" sz="1150" dirty="0"/>
          </a:p>
        </p:txBody>
      </p:sp>
      <p:sp>
        <p:nvSpPr>
          <p:cNvPr id="21" name="Shape 19"/>
          <p:cNvSpPr/>
          <p:nvPr/>
        </p:nvSpPr>
        <p:spPr>
          <a:xfrm>
            <a:off x="548640" y="4416552"/>
            <a:ext cx="2743200" cy="310896"/>
          </a:xfrm>
          <a:prstGeom prst="rect">
            <a:avLst/>
          </a:prstGeom>
          <a:solidFill>
            <a:srgbClr val="D9B100"/>
          </a:solidFill>
          <a:ln w="12700">
            <a:solidFill>
              <a:srgbClr val="D9B100"/>
            </a:solidFill>
            <a:prstDash val="solid"/>
          </a:ln>
        </p:spPr>
        <p:txBody>
          <a:bodyPr/>
          <a:lstStyle/>
          <a:p>
            <a:endParaRPr lang="en-US"/>
          </a:p>
        </p:txBody>
      </p:sp>
      <p:sp>
        <p:nvSpPr>
          <p:cNvPr id="22" name="Text 20"/>
          <p:cNvSpPr txBox="1"/>
          <p:nvPr/>
        </p:nvSpPr>
        <p:spPr>
          <a:xfrm>
            <a:off x="658368" y="4416552"/>
            <a:ext cx="2560320" cy="310896"/>
          </a:xfrm>
          <a:prstGeom prst="rect">
            <a:avLst/>
          </a:prstGeom>
          <a:noFill/>
          <a:ln/>
        </p:spPr>
        <p:txBody>
          <a:bodyPr wrap="square" lIns="0" tIns="0" rIns="0" bIns="0" rtlCol="0" anchor="ctr"/>
          <a:lstStyle/>
          <a:p>
            <a:pPr marL="0" indent="0">
              <a:buNone/>
            </a:pPr>
            <a:r>
              <a:rPr lang="en-US" sz="1150" b="1" dirty="0">
                <a:solidFill>
                  <a:srgbClr val="16171B"/>
                </a:solidFill>
                <a:latin typeface="Calibri" pitchFamily="34" charset="0"/>
                <a:ea typeface="Calibri" pitchFamily="34" charset="-122"/>
                <a:cs typeface="Calibri" pitchFamily="34" charset="-120"/>
              </a:rPr>
              <a:t>Central Library</a:t>
            </a:r>
            <a:endParaRPr lang="en-US" sz="1150" dirty="0"/>
          </a:p>
        </p:txBody>
      </p:sp>
      <p:sp>
        <p:nvSpPr>
          <p:cNvPr id="23" name="Text 21"/>
          <p:cNvSpPr txBox="1"/>
          <p:nvPr/>
        </p:nvSpPr>
        <p:spPr>
          <a:xfrm>
            <a:off x="3383280" y="4416552"/>
            <a:ext cx="2560320" cy="310896"/>
          </a:xfrm>
          <a:prstGeom prst="rect">
            <a:avLst/>
          </a:prstGeom>
          <a:noFill/>
          <a:ln/>
        </p:spPr>
        <p:txBody>
          <a:bodyPr wrap="square" lIns="0" tIns="0" rIns="0" bIns="0" rtlCol="0" anchor="ctr"/>
          <a:lstStyle/>
          <a:p>
            <a:pPr marL="0" indent="0">
              <a:buNone/>
            </a:pPr>
            <a:r>
              <a:rPr lang="en-US" sz="1150" b="1" dirty="0">
                <a:solidFill>
                  <a:srgbClr val="8F7200"/>
                </a:solidFill>
                <a:latin typeface="Calibri" pitchFamily="34" charset="0"/>
                <a:ea typeface="Calibri" pitchFamily="34" charset="-122"/>
                <a:cs typeface="Calibri" pitchFamily="34" charset="-120"/>
              </a:rPr>
              <a:t>← top: Back pops Central Library</a:t>
            </a:r>
            <a:endParaRPr lang="en-US" sz="1150" dirty="0"/>
          </a:p>
        </p:txBody>
      </p:sp>
      <p:sp>
        <p:nvSpPr>
          <p:cNvPr id="24" name="Shape 22"/>
          <p:cNvSpPr/>
          <p:nvPr/>
        </p:nvSpPr>
        <p:spPr>
          <a:xfrm>
            <a:off x="6263640" y="4617720"/>
            <a:ext cx="640080" cy="502920"/>
          </a:xfrm>
          <a:prstGeom prst="rect">
            <a:avLst/>
          </a:prstGeom>
          <a:solidFill>
            <a:srgbClr val="D9B100"/>
          </a:solidFill>
          <a:ln w="12700">
            <a:solidFill>
              <a:srgbClr val="D9B100"/>
            </a:solidFill>
            <a:prstDash val="solid"/>
          </a:ln>
        </p:spPr>
        <p:txBody>
          <a:bodyPr/>
          <a:lstStyle/>
          <a:p>
            <a:endParaRPr lang="en-US"/>
          </a:p>
        </p:txBody>
      </p:sp>
      <p:sp>
        <p:nvSpPr>
          <p:cNvPr id="25" name="Text 23"/>
          <p:cNvSpPr txBox="1"/>
          <p:nvPr/>
        </p:nvSpPr>
        <p:spPr>
          <a:xfrm>
            <a:off x="6263640" y="4617720"/>
            <a:ext cx="640080" cy="502920"/>
          </a:xfrm>
          <a:prstGeom prst="rect">
            <a:avLst/>
          </a:prstGeom>
          <a:noFill/>
          <a:ln/>
        </p:spPr>
        <p:txBody>
          <a:bodyPr wrap="square" lIns="0" tIns="0" rIns="0" bIns="0" rtlCol="0" anchor="ctr"/>
          <a:lstStyle/>
          <a:p>
            <a:pPr marL="0" indent="0" algn="ctr">
              <a:buNone/>
            </a:pPr>
            <a:r>
              <a:rPr lang="en-US" sz="1200" b="1" dirty="0">
                <a:solidFill>
                  <a:srgbClr val="16171B"/>
                </a:solidFill>
                <a:latin typeface="Consolas" pitchFamily="34" charset="0"/>
                <a:ea typeface="Consolas" pitchFamily="34" charset="-122"/>
                <a:cs typeface="Consolas" pitchFamily="34" charset="-120"/>
              </a:rPr>
              <a:t>900</a:t>
            </a:r>
            <a:endParaRPr lang="en-US" sz="1200" dirty="0"/>
          </a:p>
        </p:txBody>
      </p:sp>
      <p:sp>
        <p:nvSpPr>
          <p:cNvPr id="26" name="Text 24"/>
          <p:cNvSpPr txBox="1"/>
          <p:nvPr/>
        </p:nvSpPr>
        <p:spPr>
          <a:xfrm>
            <a:off x="6263640"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0</a:t>
            </a:r>
            <a:endParaRPr lang="en-US" sz="900" dirty="0"/>
          </a:p>
        </p:txBody>
      </p:sp>
      <p:sp>
        <p:nvSpPr>
          <p:cNvPr id="27" name="Shape 25"/>
          <p:cNvSpPr/>
          <p:nvPr/>
        </p:nvSpPr>
        <p:spPr>
          <a:xfrm>
            <a:off x="6931152" y="4617720"/>
            <a:ext cx="640080" cy="502920"/>
          </a:xfrm>
          <a:prstGeom prst="rect">
            <a:avLst/>
          </a:prstGeom>
          <a:solidFill>
            <a:srgbClr val="D9B100"/>
          </a:solidFill>
          <a:ln w="12700">
            <a:solidFill>
              <a:srgbClr val="D9B100"/>
            </a:solidFill>
            <a:prstDash val="solid"/>
          </a:ln>
        </p:spPr>
        <p:txBody>
          <a:bodyPr/>
          <a:lstStyle/>
          <a:p>
            <a:endParaRPr lang="en-US"/>
          </a:p>
        </p:txBody>
      </p:sp>
      <p:sp>
        <p:nvSpPr>
          <p:cNvPr id="28" name="Text 26"/>
          <p:cNvSpPr txBox="1"/>
          <p:nvPr/>
        </p:nvSpPr>
        <p:spPr>
          <a:xfrm>
            <a:off x="6931152" y="4617720"/>
            <a:ext cx="640080" cy="502920"/>
          </a:xfrm>
          <a:prstGeom prst="rect">
            <a:avLst/>
          </a:prstGeom>
          <a:noFill/>
          <a:ln/>
        </p:spPr>
        <p:txBody>
          <a:bodyPr wrap="square" lIns="0" tIns="0" rIns="0" bIns="0" rtlCol="0" anchor="ctr"/>
          <a:lstStyle/>
          <a:p>
            <a:pPr marL="0" indent="0" algn="ctr">
              <a:buNone/>
            </a:pPr>
            <a:r>
              <a:rPr lang="en-US" sz="1200" b="1" dirty="0">
                <a:solidFill>
                  <a:srgbClr val="16171B"/>
                </a:solidFill>
                <a:latin typeface="Consolas" pitchFamily="34" charset="0"/>
                <a:ea typeface="Consolas" pitchFamily="34" charset="-122"/>
                <a:cs typeface="Consolas" pitchFamily="34" charset="-120"/>
              </a:rPr>
              <a:t>901</a:t>
            </a:r>
            <a:endParaRPr lang="en-US" sz="1200" dirty="0"/>
          </a:p>
        </p:txBody>
      </p:sp>
      <p:sp>
        <p:nvSpPr>
          <p:cNvPr id="29" name="Text 27"/>
          <p:cNvSpPr txBox="1"/>
          <p:nvPr/>
        </p:nvSpPr>
        <p:spPr>
          <a:xfrm>
            <a:off x="6931152"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1</a:t>
            </a:r>
            <a:endParaRPr lang="en-US" sz="900" dirty="0"/>
          </a:p>
        </p:txBody>
      </p:sp>
      <p:sp>
        <p:nvSpPr>
          <p:cNvPr id="30" name="Shape 28"/>
          <p:cNvSpPr/>
          <p:nvPr/>
        </p:nvSpPr>
        <p:spPr>
          <a:xfrm>
            <a:off x="7598664" y="4617720"/>
            <a:ext cx="640080" cy="502920"/>
          </a:xfrm>
          <a:prstGeom prst="rect">
            <a:avLst/>
          </a:prstGeom>
          <a:solidFill>
            <a:srgbClr val="FFFFFF"/>
          </a:solidFill>
          <a:ln w="12700">
            <a:solidFill>
              <a:srgbClr val="E3E4E8"/>
            </a:solidFill>
            <a:prstDash val="solid"/>
          </a:ln>
        </p:spPr>
        <p:txBody>
          <a:bodyPr/>
          <a:lstStyle/>
          <a:p>
            <a:endParaRPr lang="en-US"/>
          </a:p>
        </p:txBody>
      </p:sp>
      <p:sp>
        <p:nvSpPr>
          <p:cNvPr id="31" name="Text 29"/>
          <p:cNvSpPr txBox="1"/>
          <p:nvPr/>
        </p:nvSpPr>
        <p:spPr>
          <a:xfrm>
            <a:off x="7598664"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a:t>
            </a:r>
            <a:endParaRPr lang="en-US" sz="1200" dirty="0"/>
          </a:p>
        </p:txBody>
      </p:sp>
      <p:sp>
        <p:nvSpPr>
          <p:cNvPr id="32" name="Text 30"/>
          <p:cNvSpPr txBox="1"/>
          <p:nvPr/>
        </p:nvSpPr>
        <p:spPr>
          <a:xfrm>
            <a:off x="7598664"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2</a:t>
            </a:r>
            <a:endParaRPr lang="en-US" sz="900" dirty="0"/>
          </a:p>
        </p:txBody>
      </p:sp>
      <p:sp>
        <p:nvSpPr>
          <p:cNvPr id="33" name="Shape 31"/>
          <p:cNvSpPr/>
          <p:nvPr/>
        </p:nvSpPr>
        <p:spPr>
          <a:xfrm>
            <a:off x="8266176" y="4617720"/>
            <a:ext cx="640080" cy="502920"/>
          </a:xfrm>
          <a:prstGeom prst="rect">
            <a:avLst/>
          </a:prstGeom>
          <a:solidFill>
            <a:srgbClr val="FFFFFF"/>
          </a:solidFill>
          <a:ln w="12700">
            <a:solidFill>
              <a:srgbClr val="E3E4E8"/>
            </a:solidFill>
            <a:prstDash val="solid"/>
          </a:ln>
        </p:spPr>
        <p:txBody>
          <a:bodyPr/>
          <a:lstStyle/>
          <a:p>
            <a:endParaRPr lang="en-US"/>
          </a:p>
        </p:txBody>
      </p:sp>
      <p:sp>
        <p:nvSpPr>
          <p:cNvPr id="34" name="Text 32"/>
          <p:cNvSpPr txBox="1"/>
          <p:nvPr/>
        </p:nvSpPr>
        <p:spPr>
          <a:xfrm>
            <a:off x="8266176"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a:t>
            </a:r>
            <a:endParaRPr lang="en-US" sz="1200" dirty="0"/>
          </a:p>
        </p:txBody>
      </p:sp>
      <p:sp>
        <p:nvSpPr>
          <p:cNvPr id="35" name="Text 33"/>
          <p:cNvSpPr txBox="1"/>
          <p:nvPr/>
        </p:nvSpPr>
        <p:spPr>
          <a:xfrm>
            <a:off x="8266176"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3</a:t>
            </a:r>
            <a:endParaRPr lang="en-US" sz="900" dirty="0"/>
          </a:p>
        </p:txBody>
      </p:sp>
      <p:sp>
        <p:nvSpPr>
          <p:cNvPr id="36" name="Shape 34"/>
          <p:cNvSpPr/>
          <p:nvPr/>
        </p:nvSpPr>
        <p:spPr>
          <a:xfrm>
            <a:off x="8933688" y="4617720"/>
            <a:ext cx="640080" cy="502920"/>
          </a:xfrm>
          <a:prstGeom prst="rect">
            <a:avLst/>
          </a:prstGeom>
          <a:solidFill>
            <a:srgbClr val="F3F4F6"/>
          </a:solidFill>
          <a:ln w="12700">
            <a:solidFill>
              <a:srgbClr val="E3E4E8"/>
            </a:solidFill>
            <a:prstDash val="solid"/>
          </a:ln>
        </p:spPr>
        <p:txBody>
          <a:bodyPr/>
          <a:lstStyle/>
          <a:p>
            <a:endParaRPr lang="en-US"/>
          </a:p>
        </p:txBody>
      </p:sp>
      <p:sp>
        <p:nvSpPr>
          <p:cNvPr id="37" name="Text 35"/>
          <p:cNvSpPr txBox="1"/>
          <p:nvPr/>
        </p:nvSpPr>
        <p:spPr>
          <a:xfrm>
            <a:off x="8933688"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40</a:t>
            </a:r>
            <a:endParaRPr lang="en-US" sz="1200" dirty="0"/>
          </a:p>
        </p:txBody>
      </p:sp>
      <p:sp>
        <p:nvSpPr>
          <p:cNvPr id="38" name="Text 36"/>
          <p:cNvSpPr txBox="1"/>
          <p:nvPr/>
        </p:nvSpPr>
        <p:spPr>
          <a:xfrm>
            <a:off x="8933688"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4</a:t>
            </a:r>
            <a:endParaRPr lang="en-US" sz="900" dirty="0"/>
          </a:p>
        </p:txBody>
      </p:sp>
      <p:sp>
        <p:nvSpPr>
          <p:cNvPr id="39" name="Shape 37"/>
          <p:cNvSpPr/>
          <p:nvPr/>
        </p:nvSpPr>
        <p:spPr>
          <a:xfrm>
            <a:off x="9601200" y="4617720"/>
            <a:ext cx="640080" cy="502920"/>
          </a:xfrm>
          <a:prstGeom prst="rect">
            <a:avLst/>
          </a:prstGeom>
          <a:solidFill>
            <a:srgbClr val="F3F4F6"/>
          </a:solidFill>
          <a:ln w="12700">
            <a:solidFill>
              <a:srgbClr val="E3E4E8"/>
            </a:solidFill>
            <a:prstDash val="solid"/>
          </a:ln>
        </p:spPr>
        <p:txBody>
          <a:bodyPr/>
          <a:lstStyle/>
          <a:p>
            <a:endParaRPr lang="en-US"/>
          </a:p>
        </p:txBody>
      </p:sp>
      <p:sp>
        <p:nvSpPr>
          <p:cNvPr id="40" name="Text 38"/>
          <p:cNvSpPr txBox="1"/>
          <p:nvPr/>
        </p:nvSpPr>
        <p:spPr>
          <a:xfrm>
            <a:off x="9601200"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50</a:t>
            </a:r>
            <a:endParaRPr lang="en-US" sz="1200" dirty="0"/>
          </a:p>
        </p:txBody>
      </p:sp>
      <p:sp>
        <p:nvSpPr>
          <p:cNvPr id="41" name="Text 39"/>
          <p:cNvSpPr txBox="1"/>
          <p:nvPr/>
        </p:nvSpPr>
        <p:spPr>
          <a:xfrm>
            <a:off x="9601200"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5</a:t>
            </a:r>
            <a:endParaRPr lang="en-US" sz="900" dirty="0"/>
          </a:p>
        </p:txBody>
      </p:sp>
      <p:sp>
        <p:nvSpPr>
          <p:cNvPr id="42" name="Shape 40"/>
          <p:cNvSpPr/>
          <p:nvPr/>
        </p:nvSpPr>
        <p:spPr>
          <a:xfrm>
            <a:off x="10268712" y="4617720"/>
            <a:ext cx="640080" cy="502920"/>
          </a:xfrm>
          <a:prstGeom prst="rect">
            <a:avLst/>
          </a:prstGeom>
          <a:solidFill>
            <a:srgbClr val="F3F4F6"/>
          </a:solidFill>
          <a:ln w="12700">
            <a:solidFill>
              <a:srgbClr val="E3E4E8"/>
            </a:solidFill>
            <a:prstDash val="solid"/>
          </a:ln>
        </p:spPr>
        <p:txBody>
          <a:bodyPr/>
          <a:lstStyle/>
          <a:p>
            <a:endParaRPr lang="en-US"/>
          </a:p>
        </p:txBody>
      </p:sp>
      <p:sp>
        <p:nvSpPr>
          <p:cNvPr id="43" name="Text 41"/>
          <p:cNvSpPr txBox="1"/>
          <p:nvPr/>
        </p:nvSpPr>
        <p:spPr>
          <a:xfrm>
            <a:off x="10268712"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60</a:t>
            </a:r>
            <a:endParaRPr lang="en-US" sz="1200" dirty="0"/>
          </a:p>
        </p:txBody>
      </p:sp>
      <p:sp>
        <p:nvSpPr>
          <p:cNvPr id="44" name="Text 42"/>
          <p:cNvSpPr txBox="1"/>
          <p:nvPr/>
        </p:nvSpPr>
        <p:spPr>
          <a:xfrm>
            <a:off x="10268712"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6</a:t>
            </a:r>
            <a:endParaRPr lang="en-US" sz="900" dirty="0"/>
          </a:p>
        </p:txBody>
      </p:sp>
      <p:sp>
        <p:nvSpPr>
          <p:cNvPr id="45" name="Shape 43"/>
          <p:cNvSpPr/>
          <p:nvPr/>
        </p:nvSpPr>
        <p:spPr>
          <a:xfrm>
            <a:off x="10936224" y="4617720"/>
            <a:ext cx="640080" cy="502920"/>
          </a:xfrm>
          <a:prstGeom prst="rect">
            <a:avLst/>
          </a:prstGeom>
          <a:solidFill>
            <a:srgbClr val="F3F4F6"/>
          </a:solidFill>
          <a:ln w="12700">
            <a:solidFill>
              <a:srgbClr val="E3E4E8"/>
            </a:solidFill>
            <a:prstDash val="solid"/>
          </a:ln>
        </p:spPr>
        <p:txBody>
          <a:bodyPr/>
          <a:lstStyle/>
          <a:p>
            <a:endParaRPr lang="en-US"/>
          </a:p>
        </p:txBody>
      </p:sp>
      <p:sp>
        <p:nvSpPr>
          <p:cNvPr id="46" name="Text 44"/>
          <p:cNvSpPr txBox="1"/>
          <p:nvPr/>
        </p:nvSpPr>
        <p:spPr>
          <a:xfrm>
            <a:off x="10936224" y="4617720"/>
            <a:ext cx="640080" cy="502920"/>
          </a:xfrm>
          <a:prstGeom prst="rect">
            <a:avLst/>
          </a:prstGeom>
          <a:noFill/>
          <a:ln/>
        </p:spPr>
        <p:txBody>
          <a:bodyPr wrap="square" lIns="0" tIns="0" rIns="0" bIns="0" rtlCol="0" anchor="ctr"/>
          <a:lstStyle/>
          <a:p>
            <a:pPr marL="0" indent="0" algn="ctr">
              <a:buNone/>
            </a:pPr>
            <a:r>
              <a:rPr lang="en-US" sz="1200" dirty="0">
                <a:solidFill>
                  <a:srgbClr val="16171B"/>
                </a:solidFill>
                <a:latin typeface="Consolas" pitchFamily="34" charset="0"/>
                <a:ea typeface="Consolas" pitchFamily="34" charset="-122"/>
                <a:cs typeface="Consolas" pitchFamily="34" charset="-120"/>
              </a:rPr>
              <a:t>70</a:t>
            </a:r>
            <a:endParaRPr lang="en-US" sz="1200" dirty="0"/>
          </a:p>
        </p:txBody>
      </p:sp>
      <p:sp>
        <p:nvSpPr>
          <p:cNvPr id="47" name="Text 45"/>
          <p:cNvSpPr txBox="1"/>
          <p:nvPr/>
        </p:nvSpPr>
        <p:spPr>
          <a:xfrm>
            <a:off x="10936224" y="5138928"/>
            <a:ext cx="640080" cy="228600"/>
          </a:xfrm>
          <a:prstGeom prst="rect">
            <a:avLst/>
          </a:prstGeom>
          <a:noFill/>
          <a:ln/>
        </p:spPr>
        <p:txBody>
          <a:bodyPr wrap="square" lIns="0" tIns="0" rIns="0" bIns="0" rtlCol="0" anchor="ctr"/>
          <a:lstStyle/>
          <a:p>
            <a:pPr marL="0" indent="0" algn="ctr">
              <a:buNone/>
            </a:pPr>
            <a:r>
              <a:rPr lang="en-US" sz="900" dirty="0">
                <a:solidFill>
                  <a:srgbClr val="9A9CA6"/>
                </a:solidFill>
                <a:latin typeface="Consolas" pitchFamily="34" charset="0"/>
                <a:ea typeface="Consolas" pitchFamily="34" charset="-122"/>
                <a:cs typeface="Consolas" pitchFamily="34" charset="-120"/>
              </a:rPr>
              <a:t>7</a:t>
            </a:r>
            <a:endParaRPr lang="en-US" sz="900" dirty="0"/>
          </a:p>
        </p:txBody>
      </p:sp>
      <p:sp>
        <p:nvSpPr>
          <p:cNvPr id="48" name="Text 46"/>
          <p:cNvSpPr txBox="1"/>
          <p:nvPr/>
        </p:nvSpPr>
        <p:spPr>
          <a:xfrm>
            <a:off x="6263640" y="5440680"/>
            <a:ext cx="5394960" cy="274320"/>
          </a:xfrm>
          <a:prstGeom prst="rect">
            <a:avLst/>
          </a:prstGeom>
          <a:noFill/>
          <a:ln/>
        </p:spPr>
        <p:txBody>
          <a:bodyPr wrap="square" lIns="0" tIns="0" rIns="0" bIns="0" rtlCol="0" anchor="ctr"/>
          <a:lstStyle/>
          <a:p>
            <a:pPr marL="0" indent="0">
              <a:buNone/>
            </a:pPr>
            <a:r>
              <a:rPr lang="en-US" sz="1200" b="1" dirty="0">
                <a:solidFill>
                  <a:srgbClr val="8F7200"/>
                </a:solidFill>
                <a:latin typeface="Calibri" pitchFamily="34" charset="0"/>
                <a:ea typeface="Calibri" pitchFamily="34" charset="-122"/>
                <a:cs typeface="Calibri" pitchFamily="34" charset="-120"/>
              </a:rPr>
              <a:t>rear wrapped round to slots 0 and 1; front is at slot 4</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17</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GRAPH · BFS · DFS</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Queue for the search, stack for the answer</a:t>
            </a:r>
            <a:endParaRPr lang="en-US" sz="3400" dirty="0"/>
          </a:p>
        </p:txBody>
      </p:sp>
      <p:sp>
        <p:nvSpPr>
          <p:cNvPr id="5" name="Shape 3"/>
          <p:cNvSpPr/>
          <p:nvPr/>
        </p:nvSpPr>
        <p:spPr>
          <a:xfrm>
            <a:off x="548640" y="1783080"/>
            <a:ext cx="3520440" cy="1417320"/>
          </a:xfrm>
          <a:prstGeom prst="roundRect">
            <a:avLst>
              <a:gd name="adj" fmla="val 6452"/>
            </a:avLst>
          </a:prstGeom>
          <a:solidFill>
            <a:srgbClr val="F3F4F6"/>
          </a:solidFill>
          <a:ln w="12700">
            <a:solidFill>
              <a:srgbClr val="F3F4F6"/>
            </a:solidFill>
            <a:prstDash val="solid"/>
          </a:ln>
        </p:spPr>
        <p:txBody>
          <a:bodyPr/>
          <a:lstStyle/>
          <a:p>
            <a:endParaRPr lang="en-US"/>
          </a:p>
        </p:txBody>
      </p:sp>
      <p:sp>
        <p:nvSpPr>
          <p:cNvPr id="6" name="Text 4"/>
          <p:cNvSpPr txBox="1"/>
          <p:nvPr/>
        </p:nvSpPr>
        <p:spPr>
          <a:xfrm>
            <a:off x="777240" y="1901952"/>
            <a:ext cx="3108960" cy="1234440"/>
          </a:xfrm>
          <a:prstGeom prst="rect">
            <a:avLst/>
          </a:prstGeom>
          <a:noFill/>
          <a:ln/>
        </p:spPr>
        <p:txBody>
          <a:bodyPr wrap="square" lIns="0" tIns="0" rIns="0" bIns="0" rtlCol="0" anchor="t"/>
          <a:lstStyle/>
          <a:p>
            <a:pPr marL="0" indent="0">
              <a:buNone/>
            </a:pPr>
            <a:r>
              <a:rPr lang="en-US" sz="1500" b="1" dirty="0">
                <a:solidFill>
                  <a:srgbClr val="8F7200"/>
                </a:solidFill>
                <a:latin typeface="Calibri" pitchFamily="34" charset="0"/>
                <a:ea typeface="Calibri" pitchFamily="34" charset="-122"/>
                <a:cs typeface="Calibri" pitchFamily="34" charset="-120"/>
              </a:rPr>
              <a:t>1 · Explore</a:t>
            </a:r>
            <a:endParaRPr lang="en-US" sz="1500" dirty="0"/>
          </a:p>
          <a:p>
            <a:pPr marL="0" indent="0">
              <a:buNone/>
            </a:pPr>
            <a:r>
              <a:rPr lang="en-US" sz="1300" dirty="0">
                <a:solidFill>
                  <a:srgbClr val="5F626B"/>
                </a:solidFill>
                <a:latin typeface="Calibri" pitchFamily="34" charset="0"/>
                <a:ea typeface="Calibri" pitchFamily="34" charset="-122"/>
                <a:cs typeface="Calibri" pitchFamily="34" charset="-120"/>
              </a:rPr>
              <a:t>Dequeue a place, enqueue its unvisited neighbours, ring by ring (our Queue).</a:t>
            </a:r>
            <a:endParaRPr lang="en-US" sz="1500" dirty="0"/>
          </a:p>
        </p:txBody>
      </p:sp>
      <p:sp>
        <p:nvSpPr>
          <p:cNvPr id="7" name="Shape 5"/>
          <p:cNvSpPr/>
          <p:nvPr/>
        </p:nvSpPr>
        <p:spPr>
          <a:xfrm>
            <a:off x="4297680" y="1783080"/>
            <a:ext cx="3520440" cy="1417320"/>
          </a:xfrm>
          <a:prstGeom prst="roundRect">
            <a:avLst>
              <a:gd name="adj" fmla="val 6452"/>
            </a:avLst>
          </a:prstGeom>
          <a:solidFill>
            <a:srgbClr val="F3F4F6"/>
          </a:solidFill>
          <a:ln w="12700">
            <a:solidFill>
              <a:srgbClr val="F3F4F6"/>
            </a:solidFill>
            <a:prstDash val="solid"/>
          </a:ln>
        </p:spPr>
        <p:txBody>
          <a:bodyPr/>
          <a:lstStyle/>
          <a:p>
            <a:endParaRPr lang="en-US"/>
          </a:p>
        </p:txBody>
      </p:sp>
      <p:sp>
        <p:nvSpPr>
          <p:cNvPr id="8" name="Text 6"/>
          <p:cNvSpPr txBox="1"/>
          <p:nvPr/>
        </p:nvSpPr>
        <p:spPr>
          <a:xfrm>
            <a:off x="4526280" y="1901952"/>
            <a:ext cx="3108960" cy="1234440"/>
          </a:xfrm>
          <a:prstGeom prst="rect">
            <a:avLst/>
          </a:prstGeom>
          <a:noFill/>
          <a:ln/>
        </p:spPr>
        <p:txBody>
          <a:bodyPr wrap="square" lIns="0" tIns="0" rIns="0" bIns="0" rtlCol="0" anchor="t"/>
          <a:lstStyle/>
          <a:p>
            <a:pPr marL="0" indent="0">
              <a:buNone/>
            </a:pPr>
            <a:r>
              <a:rPr lang="en-US" sz="1500" b="1" dirty="0">
                <a:solidFill>
                  <a:srgbClr val="8F7200"/>
                </a:solidFill>
                <a:latin typeface="Calibri" pitchFamily="34" charset="0"/>
                <a:ea typeface="Calibri" pitchFamily="34" charset="-122"/>
                <a:cs typeface="Calibri" pitchFamily="34" charset="-120"/>
              </a:rPr>
              <a:t>2 · Remember</a:t>
            </a:r>
            <a:endParaRPr lang="en-US" sz="1500" dirty="0"/>
          </a:p>
          <a:p>
            <a:pPr marL="0" indent="0">
              <a:buNone/>
            </a:pPr>
            <a:r>
              <a:rPr lang="en-US" sz="1300" dirty="0">
                <a:solidFill>
                  <a:srgbClr val="5F626B"/>
                </a:solidFill>
                <a:latin typeface="Calibri" pitchFamily="34" charset="0"/>
                <a:ea typeface="Calibri" pitchFamily="34" charset="-122"/>
                <a:cs typeface="Calibri" pitchFamily="34" charset="-120"/>
              </a:rPr>
              <a:t>parent[next] = current. Mark visited when queued, so nothing is queued twice.</a:t>
            </a:r>
            <a:endParaRPr lang="en-US" sz="1500" dirty="0"/>
          </a:p>
        </p:txBody>
      </p:sp>
      <p:sp>
        <p:nvSpPr>
          <p:cNvPr id="9" name="Shape 7"/>
          <p:cNvSpPr/>
          <p:nvPr/>
        </p:nvSpPr>
        <p:spPr>
          <a:xfrm>
            <a:off x="8046720" y="1783080"/>
            <a:ext cx="3520440" cy="1417320"/>
          </a:xfrm>
          <a:prstGeom prst="roundRect">
            <a:avLst>
              <a:gd name="adj" fmla="val 6452"/>
            </a:avLst>
          </a:prstGeom>
          <a:solidFill>
            <a:srgbClr val="F3F4F6"/>
          </a:solidFill>
          <a:ln w="12700">
            <a:solidFill>
              <a:srgbClr val="F3F4F6"/>
            </a:solidFill>
            <a:prstDash val="solid"/>
          </a:ln>
        </p:spPr>
        <p:txBody>
          <a:bodyPr/>
          <a:lstStyle/>
          <a:p>
            <a:endParaRPr lang="en-US"/>
          </a:p>
        </p:txBody>
      </p:sp>
      <p:sp>
        <p:nvSpPr>
          <p:cNvPr id="10" name="Text 8"/>
          <p:cNvSpPr txBox="1"/>
          <p:nvPr/>
        </p:nvSpPr>
        <p:spPr>
          <a:xfrm>
            <a:off x="8275320" y="1901952"/>
            <a:ext cx="3108960" cy="1234440"/>
          </a:xfrm>
          <a:prstGeom prst="rect">
            <a:avLst/>
          </a:prstGeom>
          <a:noFill/>
          <a:ln/>
        </p:spPr>
        <p:txBody>
          <a:bodyPr wrap="square" lIns="0" tIns="0" rIns="0" bIns="0" rtlCol="0" anchor="t"/>
          <a:lstStyle/>
          <a:p>
            <a:pPr marL="0" indent="0">
              <a:buNone/>
            </a:pPr>
            <a:r>
              <a:rPr lang="en-US" sz="1500" b="1" dirty="0">
                <a:solidFill>
                  <a:srgbClr val="8F7200"/>
                </a:solidFill>
                <a:latin typeface="Calibri" pitchFamily="34" charset="0"/>
                <a:ea typeface="Calibri" pitchFamily="34" charset="-122"/>
                <a:cs typeface="Calibri" pitchFamily="34" charset="-120"/>
              </a:rPr>
              <a:t>3 · Rebuild</a:t>
            </a:r>
            <a:endParaRPr lang="en-US" sz="1500" dirty="0"/>
          </a:p>
          <a:p>
            <a:pPr marL="0" indent="0">
              <a:buNone/>
            </a:pPr>
            <a:r>
              <a:rPr lang="en-US" sz="1300" dirty="0">
                <a:solidFill>
                  <a:srgbClr val="5F626B"/>
                </a:solidFill>
                <a:latin typeface="Calibri" pitchFamily="34" charset="0"/>
                <a:ea typeface="Calibri" pitchFamily="34" charset="-122"/>
                <a:cs typeface="Calibri" pitchFamily="34" charset="-120"/>
              </a:rPr>
              <a:t>Walk parent[] back from the goal, push each stop, pop them in order (our Stack).</a:t>
            </a:r>
            <a:endParaRPr lang="en-US" sz="1500" dirty="0"/>
          </a:p>
        </p:txBody>
      </p:sp>
      <p:sp>
        <p:nvSpPr>
          <p:cNvPr id="11" name="Shape 9"/>
          <p:cNvSpPr/>
          <p:nvPr/>
        </p:nvSpPr>
        <p:spPr>
          <a:xfrm>
            <a:off x="548640" y="3429000"/>
            <a:ext cx="11064240" cy="1097280"/>
          </a:xfrm>
          <a:prstGeom prst="roundRect">
            <a:avLst>
              <a:gd name="adj" fmla="val 8333"/>
            </a:avLst>
          </a:prstGeom>
          <a:solidFill>
            <a:srgbClr val="07080A"/>
          </a:solidFill>
          <a:ln w="12700">
            <a:solidFill>
              <a:srgbClr val="2C2F38"/>
            </a:solidFill>
            <a:prstDash val="solid"/>
          </a:ln>
        </p:spPr>
        <p:txBody>
          <a:bodyPr/>
          <a:lstStyle/>
          <a:p>
            <a:endParaRPr lang="en-US"/>
          </a:p>
        </p:txBody>
      </p:sp>
      <p:sp>
        <p:nvSpPr>
          <p:cNvPr id="12" name="Shape 10"/>
          <p:cNvSpPr/>
          <p:nvPr/>
        </p:nvSpPr>
        <p:spPr>
          <a:xfrm>
            <a:off x="731520" y="3584448"/>
            <a:ext cx="109728" cy="109728"/>
          </a:xfrm>
          <a:prstGeom prst="ellipse">
            <a:avLst/>
          </a:prstGeom>
          <a:solidFill>
            <a:srgbClr val="FF5F57"/>
          </a:solidFill>
          <a:ln w="12700">
            <a:solidFill>
              <a:srgbClr val="FF5F57"/>
            </a:solidFill>
            <a:prstDash val="solid"/>
          </a:ln>
        </p:spPr>
        <p:txBody>
          <a:bodyPr/>
          <a:lstStyle/>
          <a:p>
            <a:endParaRPr lang="en-US"/>
          </a:p>
        </p:txBody>
      </p:sp>
      <p:sp>
        <p:nvSpPr>
          <p:cNvPr id="13" name="Shape 11"/>
          <p:cNvSpPr/>
          <p:nvPr/>
        </p:nvSpPr>
        <p:spPr>
          <a:xfrm>
            <a:off x="914400" y="3584448"/>
            <a:ext cx="109728" cy="109728"/>
          </a:xfrm>
          <a:prstGeom prst="ellipse">
            <a:avLst/>
          </a:prstGeom>
          <a:solidFill>
            <a:srgbClr val="FEBC2E"/>
          </a:solidFill>
          <a:ln w="12700">
            <a:solidFill>
              <a:srgbClr val="FEBC2E"/>
            </a:solidFill>
            <a:prstDash val="solid"/>
          </a:ln>
        </p:spPr>
        <p:txBody>
          <a:bodyPr/>
          <a:lstStyle/>
          <a:p>
            <a:endParaRPr lang="en-US"/>
          </a:p>
        </p:txBody>
      </p:sp>
      <p:sp>
        <p:nvSpPr>
          <p:cNvPr id="14" name="Shape 12"/>
          <p:cNvSpPr/>
          <p:nvPr/>
        </p:nvSpPr>
        <p:spPr>
          <a:xfrm>
            <a:off x="1097280" y="3584448"/>
            <a:ext cx="109728" cy="109728"/>
          </a:xfrm>
          <a:prstGeom prst="ellipse">
            <a:avLst/>
          </a:prstGeom>
          <a:solidFill>
            <a:srgbClr val="28C840"/>
          </a:solidFill>
          <a:ln w="12700">
            <a:solidFill>
              <a:srgbClr val="28C840"/>
            </a:solidFill>
            <a:prstDash val="solid"/>
          </a:ln>
        </p:spPr>
        <p:txBody>
          <a:bodyPr/>
          <a:lstStyle/>
          <a:p>
            <a:endParaRPr lang="en-US"/>
          </a:p>
        </p:txBody>
      </p:sp>
      <p:sp>
        <p:nvSpPr>
          <p:cNvPr id="15" name="Text 13"/>
          <p:cNvSpPr txBox="1"/>
          <p:nvPr/>
        </p:nvSpPr>
        <p:spPr>
          <a:xfrm>
            <a:off x="749808" y="3840480"/>
            <a:ext cx="10661904" cy="548640"/>
          </a:xfrm>
          <a:prstGeom prst="rect">
            <a:avLst/>
          </a:prstGeom>
          <a:noFill/>
          <a:ln/>
        </p:spPr>
        <p:txBody>
          <a:bodyPr wrap="square" lIns="0" tIns="0" rIns="0" bIns="0" rtlCol="0" anchor="t"/>
          <a:lstStyle/>
          <a:p>
            <a:pPr marL="0" indent="0">
              <a:lnSpc>
                <a:spcPct val="105000"/>
              </a:lnSpc>
              <a:buNone/>
            </a:pPr>
            <a:r>
              <a:rPr lang="en-US" sz="1050" dirty="0">
                <a:solidFill>
                  <a:srgbClr val="D7D8DC"/>
                </a:solidFill>
                <a:latin typeface="Consolas" pitchFamily="34" charset="0"/>
                <a:ea typeface="Consolas" pitchFamily="34" charset="-122"/>
                <a:cs typeface="Consolas" pitchFamily="34" charset="-120"/>
              </a:rPr>
              <a:t>  Library → Fazlul Haque Hall → Shaheed Smrity Hall → Rashid Hall → Cafeteria → Kodom Tola → KUET Dighi → Khan Jahan Ali Hall → </a:t>
            </a:r>
            <a:r>
              <a:rPr lang="en-US" sz="1050" b="1" dirty="0">
                <a:solidFill>
                  <a:srgbClr val="D9B100"/>
                </a:solidFill>
                <a:latin typeface="Consolas" pitchFamily="34" charset="0"/>
                <a:ea typeface="Consolas" pitchFamily="34" charset="-122"/>
                <a:cs typeface="Consolas" pitchFamily="34" charset="-120"/>
              </a:rPr>
              <a:t>Main Gate</a:t>
            </a:r>
            <a:endParaRPr lang="en-US" sz="1050" dirty="0"/>
          </a:p>
          <a:p>
            <a:pPr marL="0" indent="0">
              <a:lnSpc>
                <a:spcPct val="105000"/>
              </a:lnSpc>
              <a:buNone/>
            </a:pPr>
            <a:r>
              <a:rPr lang="en-US" sz="1050" dirty="0">
                <a:solidFill>
                  <a:srgbClr val="7C7F89"/>
                </a:solidFill>
                <a:latin typeface="Consolas" pitchFamily="34" charset="0"/>
                <a:ea typeface="Consolas" pitchFamily="34" charset="-122"/>
                <a:cs typeface="Consolas" pitchFamily="34" charset="-120"/>
              </a:rPr>
              <a:t>  9 stops · 707 m walking · 529 m straight line · O(V + E)</a:t>
            </a:r>
            <a:endParaRPr lang="en-US" sz="1050" dirty="0"/>
          </a:p>
        </p:txBody>
      </p:sp>
      <p:sp>
        <p:nvSpPr>
          <p:cNvPr id="16" name="Text 14"/>
          <p:cNvSpPr txBox="1"/>
          <p:nvPr/>
        </p:nvSpPr>
        <p:spPr>
          <a:xfrm>
            <a:off x="548640" y="4754880"/>
            <a:ext cx="11064240" cy="1097280"/>
          </a:xfrm>
          <a:prstGeom prst="rect">
            <a:avLst/>
          </a:prstGeom>
          <a:noFill/>
          <a:ln/>
        </p:spPr>
        <p:txBody>
          <a:bodyPr wrap="square" lIns="0" tIns="0" rIns="0" bIns="0" rtlCol="0" anchor="t"/>
          <a:lstStyle/>
          <a:p>
            <a:pPr marL="0" indent="0">
              <a:buNone/>
            </a:pPr>
            <a:r>
              <a:rPr lang="en-US" sz="1400" b="1" dirty="0">
                <a:solidFill>
                  <a:srgbClr val="16171B"/>
                </a:solidFill>
                <a:latin typeface="Calibri" pitchFamily="34" charset="0"/>
                <a:ea typeface="Calibri" pitchFamily="34" charset="-122"/>
                <a:cs typeface="Calibri" pitchFamily="34" charset="-120"/>
              </a:rPr>
              <a:t>DFS, iterative on our stack.</a:t>
            </a:r>
            <a:endParaRPr lang="en-US" sz="1400" dirty="0"/>
          </a:p>
          <a:p>
            <a:pPr marL="0" indent="0">
              <a:buNone/>
            </a:pPr>
            <a:r>
              <a:rPr lang="en-US" sz="1400" dirty="0">
                <a:solidFill>
                  <a:srgbClr val="5F626B"/>
                </a:solidFill>
                <a:latin typeface="Calibri" pitchFamily="34" charset="0"/>
                <a:ea typeface="Calibri" pitchFamily="34" charset="-122"/>
                <a:cs typeface="Calibri" pitchFamily="34" charset="-120"/>
              </a:rPr>
              <a:t>The top is the place being explored; we remember how far we got through its neighbours. Each place is pushed once, so the 200-slot stack can never overflow. The first textbook version could, and a test on a complete 200-vertex graph now guards it.</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D9B100"/>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16171B"/>
                </a:solidFill>
                <a:latin typeface="Calibri" pitchFamily="34" charset="0"/>
                <a:ea typeface="Calibri" pitchFamily="34" charset="-122"/>
                <a:cs typeface="Calibri" pitchFamily="34" charset="-120"/>
              </a:rPr>
              <a:t>CholoKUET · 18</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16171B"/>
                </a:solidFill>
                <a:latin typeface="Arial" pitchFamily="34" charset="0"/>
                <a:ea typeface="Arial" pitchFamily="34" charset="-122"/>
                <a:cs typeface="Arial" pitchFamily="34" charset="-120"/>
              </a:rPr>
              <a:t>SEARCHING AND SORTING, ON OUR 44 PLACES</a:t>
            </a:r>
            <a:endParaRPr lang="en-US" sz="1100" dirty="0"/>
          </a:p>
        </p:txBody>
      </p:sp>
      <p:sp>
        <p:nvSpPr>
          <p:cNvPr id="4" name="Text 2"/>
          <p:cNvSpPr txBox="1"/>
          <p:nvPr/>
        </p:nvSpPr>
        <p:spPr>
          <a:xfrm>
            <a:off x="548640" y="1737360"/>
            <a:ext cx="5303520" cy="1463040"/>
          </a:xfrm>
          <a:prstGeom prst="rect">
            <a:avLst/>
          </a:prstGeom>
          <a:noFill/>
          <a:ln/>
        </p:spPr>
        <p:txBody>
          <a:bodyPr wrap="square" lIns="0" tIns="0" rIns="0" bIns="0" rtlCol="0" anchor="ctr"/>
          <a:lstStyle/>
          <a:p>
            <a:pPr marL="0" indent="0">
              <a:buNone/>
            </a:pPr>
            <a:r>
              <a:rPr lang="en-US" sz="8000" b="1" dirty="0">
                <a:solidFill>
                  <a:srgbClr val="16171B"/>
                </a:solidFill>
                <a:latin typeface="Arial" pitchFamily="34" charset="0"/>
                <a:ea typeface="Arial" pitchFamily="34" charset="-122"/>
                <a:cs typeface="Arial" pitchFamily="34" charset="-120"/>
              </a:rPr>
              <a:t>44 → 6</a:t>
            </a:r>
            <a:endParaRPr lang="en-US" sz="8000" dirty="0"/>
          </a:p>
        </p:txBody>
      </p:sp>
      <p:sp>
        <p:nvSpPr>
          <p:cNvPr id="5" name="Text 3"/>
          <p:cNvSpPr txBox="1"/>
          <p:nvPr/>
        </p:nvSpPr>
        <p:spPr>
          <a:xfrm>
            <a:off x="548640" y="3291840"/>
            <a:ext cx="5029200" cy="914400"/>
          </a:xfrm>
          <a:prstGeom prst="rect">
            <a:avLst/>
          </a:prstGeom>
          <a:noFill/>
          <a:ln/>
        </p:spPr>
        <p:txBody>
          <a:bodyPr wrap="square" lIns="0" tIns="0" rIns="0" bIns="0" rtlCol="0" anchor="t"/>
          <a:lstStyle/>
          <a:p>
            <a:pPr marL="0" indent="0">
              <a:buNone/>
            </a:pPr>
            <a:r>
              <a:rPr lang="en-US" sz="1800" dirty="0">
                <a:solidFill>
                  <a:srgbClr val="16171B"/>
                </a:solidFill>
                <a:latin typeface="Calibri" pitchFamily="34" charset="0"/>
                <a:ea typeface="Calibri" pitchFamily="34" charset="-122"/>
                <a:cs typeface="Calibri" pitchFamily="34" charset="-120"/>
              </a:rPr>
              <a:t>comparisons to find "Central Library": linear search vs binary search on sorted data</a:t>
            </a:r>
            <a:endParaRPr lang="en-US" sz="1800" dirty="0"/>
          </a:p>
        </p:txBody>
      </p:sp>
      <p:sp>
        <p:nvSpPr>
          <p:cNvPr id="6" name="Text 4"/>
          <p:cNvSpPr txBox="1"/>
          <p:nvPr/>
        </p:nvSpPr>
        <p:spPr>
          <a:xfrm>
            <a:off x="6217920" y="1737360"/>
            <a:ext cx="5303520" cy="1463040"/>
          </a:xfrm>
          <a:prstGeom prst="rect">
            <a:avLst/>
          </a:prstGeom>
          <a:noFill/>
          <a:ln/>
        </p:spPr>
        <p:txBody>
          <a:bodyPr wrap="square" lIns="0" tIns="0" rIns="0" bIns="0" rtlCol="0" anchor="ctr"/>
          <a:lstStyle/>
          <a:p>
            <a:pPr marL="0" indent="0">
              <a:buNone/>
            </a:pPr>
            <a:r>
              <a:rPr lang="en-US" sz="8000" b="1" dirty="0">
                <a:solidFill>
                  <a:srgbClr val="16171B"/>
                </a:solidFill>
                <a:latin typeface="Arial" pitchFamily="34" charset="0"/>
                <a:ea typeface="Arial" pitchFamily="34" charset="-122"/>
                <a:cs typeface="Arial" pitchFamily="34" charset="-120"/>
              </a:rPr>
              <a:t>367 → 39</a:t>
            </a:r>
            <a:endParaRPr lang="en-US" sz="8000" dirty="0"/>
          </a:p>
        </p:txBody>
      </p:sp>
      <p:sp>
        <p:nvSpPr>
          <p:cNvPr id="7" name="Text 5"/>
          <p:cNvSpPr txBox="1"/>
          <p:nvPr/>
        </p:nvSpPr>
        <p:spPr>
          <a:xfrm>
            <a:off x="6217920" y="3291840"/>
            <a:ext cx="5029200" cy="914400"/>
          </a:xfrm>
          <a:prstGeom prst="rect">
            <a:avLst/>
          </a:prstGeom>
          <a:noFill/>
          <a:ln/>
        </p:spPr>
        <p:txBody>
          <a:bodyPr wrap="square" lIns="0" tIns="0" rIns="0" bIns="0" rtlCol="0" anchor="t"/>
          <a:lstStyle/>
          <a:p>
            <a:pPr marL="0" indent="0">
              <a:buNone/>
            </a:pPr>
            <a:r>
              <a:rPr lang="en-US" sz="1800" dirty="0">
                <a:solidFill>
                  <a:srgbClr val="16171B"/>
                </a:solidFill>
                <a:latin typeface="Calibri" pitchFamily="34" charset="0"/>
                <a:ea typeface="Calibri" pitchFamily="34" charset="-122"/>
                <a:cs typeface="Calibri" pitchFamily="34" charset="-120"/>
              </a:rPr>
              <a:t>swaps to sort by name: bubble sort vs selection sort (946 comparisons, exactly 44 × 43 / 2)</a:t>
            </a:r>
            <a:endParaRPr lang="en-US" sz="1800" dirty="0"/>
          </a:p>
        </p:txBody>
      </p:sp>
      <p:sp>
        <p:nvSpPr>
          <p:cNvPr id="8" name="Text 6"/>
          <p:cNvSpPr txBox="1"/>
          <p:nvPr/>
        </p:nvSpPr>
        <p:spPr>
          <a:xfrm>
            <a:off x="548640" y="5120640"/>
            <a:ext cx="10972800" cy="548640"/>
          </a:xfrm>
          <a:prstGeom prst="rect">
            <a:avLst/>
          </a:prstGeom>
          <a:noFill/>
          <a:ln/>
        </p:spPr>
        <p:txBody>
          <a:bodyPr wrap="square" lIns="0" tIns="0" rIns="0" bIns="0" rtlCol="0" anchor="ctr"/>
          <a:lstStyle/>
          <a:p>
            <a:pPr marL="0" indent="0">
              <a:buNone/>
            </a:pPr>
            <a:r>
              <a:rPr lang="en-US" sz="1500" dirty="0">
                <a:solidFill>
                  <a:srgbClr val="16171B"/>
                </a:solidFill>
                <a:latin typeface="Calibri" pitchFamily="34" charset="0"/>
                <a:ea typeface="Calibri" pitchFamily="34" charset="-122"/>
                <a:cs typeface="Calibri" pitchFamily="34" charset="-120"/>
              </a:rPr>
              <a:t>Binary search is O(log n) but needs sorted data. Bubble sort is stable and stops early; selection sort makes at most n − 1 swaps. Both are O(n²).</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19</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TESTING</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907 checks, 8 suites, all passing</a:t>
            </a:r>
            <a:endParaRPr lang="en-US" sz="3400" dirty="0"/>
          </a:p>
        </p:txBody>
      </p:sp>
      <p:graphicFrame>
        <p:nvGraphicFramePr>
          <p:cNvPr id="5" name="Chart 0"/>
          <p:cNvGraphicFramePr/>
          <p:nvPr/>
        </p:nvGraphicFramePr>
        <p:xfrm>
          <a:off x="548640" y="1645920"/>
          <a:ext cx="66751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589520" y="1828800"/>
            <a:ext cx="4069080" cy="3840480"/>
          </a:xfrm>
          <a:prstGeom prst="rect">
            <a:avLst/>
          </a:prstGeom>
          <a:noFill/>
          <a:ln/>
        </p:spPr>
        <p:txBody>
          <a:bodyPr wrap="square" lIns="0" tIns="0" rIns="0" bIns="0" rtlCol="0" anchor="t"/>
          <a:lstStyle/>
          <a:p>
            <a:pPr marL="0" indent="0">
              <a:buNone/>
            </a:pPr>
            <a:r>
              <a:rPr lang="en-US" sz="1600" b="1" dirty="0">
                <a:solidFill>
                  <a:srgbClr val="16171B"/>
                </a:solidFill>
                <a:latin typeface="Calibri" pitchFamily="34" charset="0"/>
                <a:ea typeface="Calibri" pitchFamily="34" charset="-122"/>
                <a:cs typeface="Calibri" pitchFamily="34" charset="-120"/>
              </a:rPr>
              <a:t>Edge cases on purpose</a:t>
            </a:r>
            <a:endParaRPr lang="en-US" sz="1400" dirty="0"/>
          </a:p>
          <a:p>
            <a:pPr marL="0" indent="0">
              <a:buNone/>
            </a:pPr>
            <a:r>
              <a:rPr lang="en-US" sz="1400" dirty="0">
                <a:solidFill>
                  <a:srgbClr val="5F626B"/>
                </a:solidFill>
                <a:latin typeface="Calibri" pitchFamily="34" charset="0"/>
                <a:ea typeface="Calibri" pitchFamily="34" charset="-122"/>
                <a:cs typeface="Calibri" pitchFamily="34" charset="-120"/>
              </a:rPr>
              <a:t>Overflow at 200, underflow, queue wraparound, unreachable goals, a complete 200-vertex graph, duplicates and stability.</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600" b="1" dirty="0">
                <a:solidFill>
                  <a:srgbClr val="16171B"/>
                </a:solidFill>
                <a:latin typeface="Calibri" pitchFamily="34" charset="0"/>
                <a:ea typeface="Calibri" pitchFamily="34" charset="-122"/>
                <a:cs typeface="Calibri" pitchFamily="34" charset="-120"/>
              </a:rPr>
              <a:t>The whole app, scripted</a:t>
            </a:r>
            <a:endParaRPr lang="en-US" sz="1400" dirty="0"/>
          </a:p>
          <a:p>
            <a:pPr marL="0" indent="0">
              <a:buNone/>
            </a:pPr>
            <a:r>
              <a:rPr lang="en-US" sz="1400" dirty="0">
                <a:solidFill>
                  <a:srgbClr val="5F626B"/>
                </a:solidFill>
                <a:latin typeface="Calibri" pitchFamily="34" charset="0"/>
                <a:ea typeface="Calibri" pitchFamily="34" charset="-122"/>
                <a:cs typeface="Calibri" pitchFamily="34" charset="-120"/>
              </a:rPr>
              <a:t>Every menu as a student and an admin: wrong passwords, letters where numbers go, adding and deleting places. It never crashed, and no password reached the log.</a:t>
            </a:r>
            <a:endParaRPr lang="en-US" sz="1400" dirty="0"/>
          </a:p>
        </p:txBody>
      </p:sp>
      <p:sp>
        <p:nvSpPr>
          <p:cNvPr id="7" name="Text 4"/>
          <p:cNvSpPr txBox="1"/>
          <p:nvPr/>
        </p:nvSpPr>
        <p:spPr>
          <a:xfrm>
            <a:off x="7589520" y="5715000"/>
            <a:ext cx="4023360" cy="365760"/>
          </a:xfrm>
          <a:prstGeom prst="rect">
            <a:avLst/>
          </a:prstGeom>
          <a:noFill/>
          <a:ln/>
        </p:spPr>
        <p:txBody>
          <a:bodyPr wrap="square" lIns="0" tIns="0" rIns="0" bIns="0" rtlCol="0" anchor="ctr"/>
          <a:lstStyle/>
          <a:p>
            <a:pPr marL="0" indent="0">
              <a:buNone/>
            </a:pPr>
            <a:r>
              <a:rPr lang="en-US" sz="1400" b="1" dirty="0">
                <a:solidFill>
                  <a:srgbClr val="4FAE6A"/>
                </a:solidFill>
                <a:latin typeface="Consolas" pitchFamily="34" charset="0"/>
                <a:ea typeface="Consolas" pitchFamily="34" charset="-122"/>
                <a:cs typeface="Consolas" pitchFamily="34" charset="-120"/>
              </a:rPr>
              <a:t>make test</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20</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D9B100"/>
                </a:solidFill>
                <a:latin typeface="Arial" pitchFamily="34" charset="0"/>
                <a:ea typeface="Arial" pitchFamily="34" charset="-122"/>
                <a:cs typeface="Arial" pitchFamily="34" charset="-120"/>
              </a:rPr>
              <a:t>LIVE DEMO</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FFFFFF"/>
                </a:solidFill>
                <a:latin typeface="Arial" pitchFamily="34" charset="0"/>
                <a:ea typeface="Arial" pitchFamily="34" charset="-122"/>
                <a:cs typeface="Arial" pitchFamily="34" charset="-120"/>
              </a:rPr>
              <a:t>What we'll show now</a:t>
            </a:r>
            <a:endParaRPr lang="en-US" sz="3400" dirty="0"/>
          </a:p>
        </p:txBody>
      </p:sp>
      <p:sp>
        <p:nvSpPr>
          <p:cNvPr id="5" name="Shape 3"/>
          <p:cNvSpPr/>
          <p:nvPr/>
        </p:nvSpPr>
        <p:spPr>
          <a:xfrm>
            <a:off x="548640" y="1783080"/>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6" name="Text 4"/>
          <p:cNvSpPr txBox="1"/>
          <p:nvPr/>
        </p:nvSpPr>
        <p:spPr>
          <a:xfrm>
            <a:off x="777240" y="1783080"/>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make run, log in as student1</a:t>
            </a:r>
            <a:endParaRPr lang="en-US" sz="1500" dirty="0"/>
          </a:p>
        </p:txBody>
      </p:sp>
      <p:sp>
        <p:nvSpPr>
          <p:cNvPr id="7" name="Shape 5"/>
          <p:cNvSpPr/>
          <p:nvPr/>
        </p:nvSpPr>
        <p:spPr>
          <a:xfrm>
            <a:off x="548640" y="2441448"/>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8" name="Text 6"/>
          <p:cNvSpPr txBox="1"/>
          <p:nvPr/>
        </p:nvSpPr>
        <p:spPr>
          <a:xfrm>
            <a:off x="777240" y="2441448"/>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1  Take me somewhere: lib → gate</a:t>
            </a:r>
            <a:endParaRPr lang="en-US" sz="1500" dirty="0"/>
          </a:p>
        </p:txBody>
      </p:sp>
      <p:sp>
        <p:nvSpPr>
          <p:cNvPr id="9" name="Shape 7"/>
          <p:cNvSpPr/>
          <p:nvPr/>
        </p:nvSpPr>
        <p:spPr>
          <a:xfrm>
            <a:off x="548640" y="3099816"/>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10" name="Text 8"/>
          <p:cNvSpPr txBox="1"/>
          <p:nvPr/>
        </p:nvSpPr>
        <p:spPr>
          <a:xfrm>
            <a:off x="777240" y="3099816"/>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   Show how BFS found this route</a:t>
            </a:r>
            <a:endParaRPr lang="en-US" sz="1500" dirty="0"/>
          </a:p>
        </p:txBody>
      </p:sp>
      <p:sp>
        <p:nvSpPr>
          <p:cNvPr id="11" name="Shape 9"/>
          <p:cNvSpPr/>
          <p:nvPr/>
        </p:nvSpPr>
        <p:spPr>
          <a:xfrm>
            <a:off x="548640" y="3758184"/>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12" name="Text 10"/>
          <p:cNvSpPr txBox="1"/>
          <p:nvPr/>
        </p:nvSpPr>
        <p:spPr>
          <a:xfrm>
            <a:off x="777240" y="3758184"/>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2  What's near me, from coordinates</a:t>
            </a:r>
            <a:endParaRPr lang="en-US" sz="1500" dirty="0"/>
          </a:p>
        </p:txBody>
      </p:sp>
      <p:sp>
        <p:nvSpPr>
          <p:cNvPr id="13" name="Shape 11"/>
          <p:cNvSpPr/>
          <p:nvPr/>
        </p:nvSpPr>
        <p:spPr>
          <a:xfrm>
            <a:off x="548640" y="4416552"/>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14" name="Text 12"/>
          <p:cNvSpPr txBox="1"/>
          <p:nvPr/>
        </p:nvSpPr>
        <p:spPr>
          <a:xfrm>
            <a:off x="777240" y="4416552"/>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8  Trip history: Back (stack)</a:t>
            </a:r>
            <a:endParaRPr lang="en-US" sz="1500" dirty="0"/>
          </a:p>
        </p:txBody>
      </p:sp>
      <p:sp>
        <p:nvSpPr>
          <p:cNvPr id="15" name="Shape 13"/>
          <p:cNvSpPr/>
          <p:nvPr/>
        </p:nvSpPr>
        <p:spPr>
          <a:xfrm>
            <a:off x="548640" y="5074920"/>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16" name="Text 14"/>
          <p:cNvSpPr txBox="1"/>
          <p:nvPr/>
        </p:nvSpPr>
        <p:spPr>
          <a:xfrm>
            <a:off x="777240" y="5074920"/>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3  Explore from Civil (DFS + stack)</a:t>
            </a:r>
            <a:endParaRPr lang="en-US" sz="1500" dirty="0"/>
          </a:p>
        </p:txBody>
      </p:sp>
      <p:sp>
        <p:nvSpPr>
          <p:cNvPr id="17" name="Shape 15"/>
          <p:cNvSpPr/>
          <p:nvPr/>
        </p:nvSpPr>
        <p:spPr>
          <a:xfrm>
            <a:off x="6126480" y="1783080"/>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18" name="Text 16"/>
          <p:cNvSpPr txBox="1"/>
          <p:nvPr/>
        </p:nvSpPr>
        <p:spPr>
          <a:xfrm>
            <a:off x="6355080" y="1783080"/>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5  Browse by category (tree)</a:t>
            </a:r>
            <a:endParaRPr lang="en-US" sz="1500" dirty="0"/>
          </a:p>
        </p:txBody>
      </p:sp>
      <p:sp>
        <p:nvSpPr>
          <p:cNvPr id="19" name="Shape 17"/>
          <p:cNvSpPr/>
          <p:nvPr/>
        </p:nvSpPr>
        <p:spPr>
          <a:xfrm>
            <a:off x="6126480" y="2441448"/>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20" name="Text 18"/>
          <p:cNvSpPr txBox="1"/>
          <p:nvPr/>
        </p:nvSpPr>
        <p:spPr>
          <a:xfrm>
            <a:off x="6355080" y="2441448"/>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4  Search "hall", 6  sort A–Z</a:t>
            </a:r>
            <a:endParaRPr lang="en-US" sz="1500" dirty="0"/>
          </a:p>
        </p:txBody>
      </p:sp>
      <p:sp>
        <p:nvSpPr>
          <p:cNvPr id="21" name="Shape 19"/>
          <p:cNvSpPr/>
          <p:nvPr/>
        </p:nvSpPr>
        <p:spPr>
          <a:xfrm>
            <a:off x="6126480" y="3099816"/>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22" name="Text 20"/>
          <p:cNvSpPr txBox="1"/>
          <p:nvPr/>
        </p:nvSpPr>
        <p:spPr>
          <a:xfrm>
            <a:off x="6355080" y="3099816"/>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Open Stack.cpp and Queue.cpp</a:t>
            </a:r>
            <a:endParaRPr lang="en-US" sz="1500" dirty="0"/>
          </a:p>
        </p:txBody>
      </p:sp>
      <p:sp>
        <p:nvSpPr>
          <p:cNvPr id="23" name="Shape 21"/>
          <p:cNvSpPr/>
          <p:nvPr/>
        </p:nvSpPr>
        <p:spPr>
          <a:xfrm>
            <a:off x="6126480" y="3758184"/>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24" name="Text 22"/>
          <p:cNvSpPr txBox="1"/>
          <p:nvPr/>
        </p:nvSpPr>
        <p:spPr>
          <a:xfrm>
            <a:off x="6355080" y="3758184"/>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online version: live BFS</a:t>
            </a:r>
            <a:endParaRPr lang="en-US" sz="1500" dirty="0"/>
          </a:p>
        </p:txBody>
      </p:sp>
      <p:sp>
        <p:nvSpPr>
          <p:cNvPr id="25" name="Shape 23"/>
          <p:cNvSpPr/>
          <p:nvPr/>
        </p:nvSpPr>
        <p:spPr>
          <a:xfrm>
            <a:off x="6126480" y="4416552"/>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26" name="Text 24"/>
          <p:cNvSpPr txBox="1"/>
          <p:nvPr/>
        </p:nvSpPr>
        <p:spPr>
          <a:xfrm>
            <a:off x="6355080" y="4416552"/>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The report online</a:t>
            </a:r>
            <a:endParaRPr lang="en-US" sz="1500" dirty="0"/>
          </a:p>
        </p:txBody>
      </p:sp>
      <p:sp>
        <p:nvSpPr>
          <p:cNvPr id="27" name="Shape 25"/>
          <p:cNvSpPr/>
          <p:nvPr/>
        </p:nvSpPr>
        <p:spPr>
          <a:xfrm>
            <a:off x="6126480" y="5074920"/>
            <a:ext cx="5394960" cy="548640"/>
          </a:xfrm>
          <a:prstGeom prst="roundRect">
            <a:avLst>
              <a:gd name="adj" fmla="val 13333"/>
            </a:avLst>
          </a:prstGeom>
          <a:solidFill>
            <a:srgbClr val="1B1D24"/>
          </a:solidFill>
          <a:ln w="12700">
            <a:solidFill>
              <a:srgbClr val="2C2F38"/>
            </a:solidFill>
            <a:prstDash val="solid"/>
          </a:ln>
        </p:spPr>
        <p:txBody>
          <a:bodyPr/>
          <a:lstStyle/>
          <a:p>
            <a:endParaRPr lang="en-US"/>
          </a:p>
        </p:txBody>
      </p:sp>
      <p:sp>
        <p:nvSpPr>
          <p:cNvPr id="28" name="Text 26"/>
          <p:cNvSpPr txBox="1"/>
          <p:nvPr/>
        </p:nvSpPr>
        <p:spPr>
          <a:xfrm>
            <a:off x="6355080" y="5074920"/>
            <a:ext cx="5029200" cy="548640"/>
          </a:xfrm>
          <a:prstGeom prst="rect">
            <a:avLst/>
          </a:prstGeom>
          <a:noFill/>
          <a:ln/>
        </p:spPr>
        <p:txBody>
          <a:bodyPr wrap="square" lIns="0" tIns="0" rIns="0" bIns="0" rtlCol="0" anchor="ctr"/>
          <a:lstStyle/>
          <a:p>
            <a:pPr marL="0" indent="0">
              <a:buNone/>
            </a:pPr>
            <a:r>
              <a:rPr lang="en-US" sz="1500" dirty="0">
                <a:solidFill>
                  <a:srgbClr val="FFFFFF"/>
                </a:solidFill>
                <a:latin typeface="Calibri" pitchFamily="34" charset="0"/>
                <a:ea typeface="Calibri" pitchFamily="34" charset="-122"/>
                <a:cs typeface="Calibri" pitchFamily="34" charset="-120"/>
              </a:rPr>
              <a:t>Questions</a:t>
            </a:r>
            <a:endParaRPr lang="en-US" sz="1500" dirty="0"/>
          </a:p>
        </p:txBody>
      </p:sp>
      <p:sp>
        <p:nvSpPr>
          <p:cNvPr id="29" name="Text 27"/>
          <p:cNvSpPr txBox="1"/>
          <p:nvPr/>
        </p:nvSpPr>
        <p:spPr>
          <a:xfrm>
            <a:off x="548640" y="5897880"/>
            <a:ext cx="10972800" cy="320040"/>
          </a:xfrm>
          <a:prstGeom prst="rect">
            <a:avLst/>
          </a:prstGeom>
          <a:noFill/>
          <a:ln/>
        </p:spPr>
        <p:txBody>
          <a:bodyPr wrap="square" lIns="0" tIns="0" rIns="0" bIns="0" rtlCol="0" anchor="ctr"/>
          <a:lstStyle/>
          <a:p>
            <a:pPr marL="0" indent="0">
              <a:buNone/>
            </a:pPr>
            <a:r>
              <a:rPr lang="en-US" sz="1200" dirty="0">
                <a:solidFill>
                  <a:srgbClr val="D9B100"/>
                </a:solidFill>
                <a:latin typeface="Consolas" pitchFamily="34" charset="0"/>
                <a:ea typeface="Consolas" pitchFamily="34" charset="-122"/>
                <a:cs typeface="Consolas" pitchFamily="34" charset="-120"/>
              </a:rPr>
              <a:t>Terminal: make run  ·  student1 / student123  ·  Browser: ettisafxrup.github.io/CholoKUET</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9A9CA6"/>
                </a:solidFill>
                <a:latin typeface="Calibri" pitchFamily="34" charset="0"/>
                <a:ea typeface="Calibri" pitchFamily="34" charset="-122"/>
                <a:cs typeface="Calibri" pitchFamily="34" charset="-120"/>
              </a:rPr>
              <a:t>CholoKUET · 21</a:t>
            </a:r>
            <a:endParaRPr lang="en-US" sz="1000" dirty="0"/>
          </a:p>
        </p:txBody>
      </p:sp>
      <p:sp>
        <p:nvSpPr>
          <p:cNvPr id="3" name="Text 1"/>
          <p:cNvSpPr txBox="1"/>
          <p:nvPr/>
        </p:nvSpPr>
        <p:spPr>
          <a:xfrm>
            <a:off x="548640" y="502920"/>
            <a:ext cx="9144000" cy="274320"/>
          </a:xfrm>
          <a:prstGeom prst="rect">
            <a:avLst/>
          </a:prstGeom>
          <a:noFill/>
          <a:ln/>
        </p:spPr>
        <p:txBody>
          <a:bodyPr wrap="square" lIns="0" tIns="0" rIns="0" bIns="0" rtlCol="0" anchor="ctr"/>
          <a:lstStyle/>
          <a:p>
            <a:pPr marL="0" indent="0">
              <a:buNone/>
            </a:pPr>
            <a:r>
              <a:rPr lang="en-US" sz="1100" b="1" kern="0" spc="300" dirty="0">
                <a:solidFill>
                  <a:srgbClr val="8F7200"/>
                </a:solidFill>
                <a:latin typeface="Arial" pitchFamily="34" charset="0"/>
                <a:ea typeface="Arial" pitchFamily="34" charset="-122"/>
                <a:cs typeface="Arial" pitchFamily="34" charset="-120"/>
              </a:rPr>
              <a:t>LIMITS AND NEXT STEPS</a:t>
            </a:r>
            <a:endParaRPr lang="en-US" sz="1100" dirty="0"/>
          </a:p>
        </p:txBody>
      </p:sp>
      <p:sp>
        <p:nvSpPr>
          <p:cNvPr id="4" name="Text 2"/>
          <p:cNvSpPr txBox="1"/>
          <p:nvPr/>
        </p:nvSpPr>
        <p:spPr>
          <a:xfrm>
            <a:off x="548640" y="804672"/>
            <a:ext cx="11094415" cy="685800"/>
          </a:xfrm>
          <a:prstGeom prst="rect">
            <a:avLst/>
          </a:prstGeom>
          <a:noFill/>
          <a:ln/>
        </p:spPr>
        <p:txBody>
          <a:bodyPr wrap="square" lIns="0" tIns="0" rIns="0" bIns="0" rtlCol="0" anchor="t"/>
          <a:lstStyle/>
          <a:p>
            <a:pPr marL="0" indent="0">
              <a:buNone/>
            </a:pPr>
            <a:r>
              <a:rPr lang="en-US" sz="3400" b="1" dirty="0">
                <a:solidFill>
                  <a:srgbClr val="16171B"/>
                </a:solidFill>
                <a:latin typeface="Arial" pitchFamily="34" charset="0"/>
                <a:ea typeface="Arial" pitchFamily="34" charset="-122"/>
                <a:cs typeface="Arial" pitchFamily="34" charset="-120"/>
              </a:rPr>
              <a:t>What it can't do yet, and what's next</a:t>
            </a:r>
            <a:endParaRPr lang="en-US" sz="3400" dirty="0"/>
          </a:p>
        </p:txBody>
      </p:sp>
      <p:sp>
        <p:nvSpPr>
          <p:cNvPr id="5" name="Shape 3"/>
          <p:cNvSpPr/>
          <p:nvPr/>
        </p:nvSpPr>
        <p:spPr>
          <a:xfrm>
            <a:off x="548640" y="1783080"/>
            <a:ext cx="5394960" cy="3429000"/>
          </a:xfrm>
          <a:prstGeom prst="roundRect">
            <a:avLst>
              <a:gd name="adj" fmla="val 3200"/>
            </a:avLst>
          </a:prstGeom>
          <a:solidFill>
            <a:srgbClr val="F3F4F6"/>
          </a:solidFill>
          <a:ln w="12700">
            <a:solidFill>
              <a:srgbClr val="F3F4F6"/>
            </a:solidFill>
            <a:prstDash val="solid"/>
          </a:ln>
        </p:spPr>
        <p:txBody>
          <a:bodyPr/>
          <a:lstStyle/>
          <a:p>
            <a:endParaRPr lang="en-US"/>
          </a:p>
        </p:txBody>
      </p:sp>
      <p:sp>
        <p:nvSpPr>
          <p:cNvPr id="6" name="Text 4"/>
          <p:cNvSpPr txBox="1"/>
          <p:nvPr/>
        </p:nvSpPr>
        <p:spPr>
          <a:xfrm>
            <a:off x="868680" y="2011680"/>
            <a:ext cx="4754880" cy="411480"/>
          </a:xfrm>
          <a:prstGeom prst="rect">
            <a:avLst/>
          </a:prstGeom>
          <a:noFill/>
          <a:ln/>
        </p:spPr>
        <p:txBody>
          <a:bodyPr wrap="square" lIns="0" tIns="0" rIns="0" bIns="0" rtlCol="0" anchor="ctr"/>
          <a:lstStyle/>
          <a:p>
            <a:pPr marL="0" indent="0">
              <a:buNone/>
            </a:pPr>
            <a:r>
              <a:rPr lang="en-US" sz="1900" b="1" dirty="0">
                <a:solidFill>
                  <a:srgbClr val="16171B"/>
                </a:solidFill>
                <a:latin typeface="Arial" pitchFamily="34" charset="0"/>
                <a:ea typeface="Arial" pitchFamily="34" charset="-122"/>
                <a:cs typeface="Arial" pitchFamily="34" charset="-120"/>
              </a:rPr>
              <a:t>Today</a:t>
            </a:r>
            <a:endParaRPr lang="en-US" sz="1900" dirty="0"/>
          </a:p>
        </p:txBody>
      </p:sp>
      <p:sp>
        <p:nvSpPr>
          <p:cNvPr id="7" name="Text 5"/>
          <p:cNvSpPr txBox="1"/>
          <p:nvPr/>
        </p:nvSpPr>
        <p:spPr>
          <a:xfrm>
            <a:off x="868680" y="2606040"/>
            <a:ext cx="4754880" cy="24688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5F626B"/>
                </a:solidFill>
                <a:latin typeface="Calibri" pitchFamily="34" charset="0"/>
                <a:ea typeface="Calibri" pitchFamily="34" charset="-122"/>
                <a:cs typeface="Calibri" pitchFamily="34" charset="-120"/>
              </a:rPr>
              <a:t>BFS gives the fewest stops, not the fewest meters</a:t>
            </a:r>
            <a:endParaRPr lang="en-US" sz="1600" dirty="0"/>
          </a:p>
          <a:p>
            <a:pPr marL="342900" indent="-342900">
              <a:spcAft>
                <a:spcPts val="900"/>
              </a:spcAft>
              <a:buSzPct val="100000"/>
              <a:buChar char="•"/>
            </a:pPr>
            <a:r>
              <a:rPr lang="en-US" sz="1600" dirty="0">
                <a:solidFill>
                  <a:srgbClr val="5F626B"/>
                </a:solidFill>
                <a:latin typeface="Calibri" pitchFamily="34" charset="0"/>
                <a:ea typeface="Calibri" pitchFamily="34" charset="-122"/>
                <a:cs typeface="Calibri" pitchFamily="34" charset="-120"/>
              </a:rPr>
              <a:t>Six positions are estimates, about 30 m</a:t>
            </a:r>
            <a:endParaRPr lang="en-US" sz="1600" dirty="0"/>
          </a:p>
          <a:p>
            <a:pPr marL="342900" indent="-342900">
              <a:spcAft>
                <a:spcPts val="900"/>
              </a:spcAft>
              <a:buSzPct val="100000"/>
              <a:buChar char="•"/>
            </a:pPr>
            <a:r>
              <a:rPr lang="en-US" sz="1600" dirty="0">
                <a:solidFill>
                  <a:srgbClr val="5F626B"/>
                </a:solidFill>
                <a:latin typeface="Calibri" pitchFamily="34" charset="0"/>
                <a:ea typeface="Calibri" pitchFamily="34" charset="-122"/>
                <a:cs typeface="Calibri" pitchFamily="34" charset="-120"/>
              </a:rPr>
              <a:t>Buildings only, no rooms or floors</a:t>
            </a:r>
            <a:endParaRPr lang="en-US" sz="1600" dirty="0"/>
          </a:p>
          <a:p>
            <a:pPr marL="342900" indent="-342900">
              <a:spcAft>
                <a:spcPts val="900"/>
              </a:spcAft>
              <a:buSzPct val="100000"/>
              <a:buChar char="•"/>
            </a:pPr>
            <a:r>
              <a:rPr lang="en-US" sz="1600" dirty="0">
                <a:solidFill>
                  <a:srgbClr val="5F626B"/>
                </a:solidFill>
                <a:latin typeface="Calibri" pitchFamily="34" charset="0"/>
                <a:ea typeface="Calibri" pitchFamily="34" charset="-122"/>
                <a:cs typeface="Calibri" pitchFamily="34" charset="-120"/>
              </a:rPr>
              <a:t>Typed coordinates, no live GPS</a:t>
            </a:r>
            <a:endParaRPr lang="en-US" sz="1600" dirty="0"/>
          </a:p>
          <a:p>
            <a:pPr marL="342900" indent="-342900">
              <a:spcAft>
                <a:spcPts val="900"/>
              </a:spcAft>
              <a:buSzPct val="100000"/>
              <a:buChar char="•"/>
            </a:pPr>
            <a:r>
              <a:rPr lang="en-US" sz="1600" dirty="0">
                <a:solidFill>
                  <a:srgbClr val="5F626B"/>
                </a:solidFill>
                <a:latin typeface="Calibri" pitchFamily="34" charset="0"/>
                <a:ea typeface="Calibri" pitchFamily="34" charset="-122"/>
                <a:cs typeface="Calibri" pitchFamily="34" charset="-120"/>
              </a:rPr>
              <a:t>Demo-grade login (FNV-1a hash)</a:t>
            </a:r>
            <a:endParaRPr lang="en-US" sz="1600" dirty="0"/>
          </a:p>
        </p:txBody>
      </p:sp>
      <p:sp>
        <p:nvSpPr>
          <p:cNvPr id="8" name="Shape 6"/>
          <p:cNvSpPr/>
          <p:nvPr/>
        </p:nvSpPr>
        <p:spPr>
          <a:xfrm>
            <a:off x="6217920" y="1783080"/>
            <a:ext cx="5394960" cy="3429000"/>
          </a:xfrm>
          <a:prstGeom prst="roundRect">
            <a:avLst>
              <a:gd name="adj" fmla="val 3200"/>
            </a:avLst>
          </a:prstGeom>
          <a:solidFill>
            <a:srgbClr val="101114"/>
          </a:solidFill>
          <a:ln w="12700">
            <a:solidFill>
              <a:srgbClr val="101114"/>
            </a:solidFill>
            <a:prstDash val="solid"/>
          </a:ln>
        </p:spPr>
        <p:txBody>
          <a:bodyPr/>
          <a:lstStyle/>
          <a:p>
            <a:endParaRPr lang="en-US"/>
          </a:p>
        </p:txBody>
      </p:sp>
      <p:sp>
        <p:nvSpPr>
          <p:cNvPr id="9" name="Text 7"/>
          <p:cNvSpPr txBox="1"/>
          <p:nvPr/>
        </p:nvSpPr>
        <p:spPr>
          <a:xfrm>
            <a:off x="6537960" y="2011680"/>
            <a:ext cx="4754880" cy="411480"/>
          </a:xfrm>
          <a:prstGeom prst="rect">
            <a:avLst/>
          </a:prstGeom>
          <a:noFill/>
          <a:ln/>
        </p:spPr>
        <p:txBody>
          <a:bodyPr wrap="square" lIns="0" tIns="0" rIns="0" bIns="0" rtlCol="0" anchor="ctr"/>
          <a:lstStyle/>
          <a:p>
            <a:pPr marL="0" indent="0">
              <a:buNone/>
            </a:pPr>
            <a:r>
              <a:rPr lang="en-US" sz="1900" b="1" dirty="0">
                <a:solidFill>
                  <a:srgbClr val="D9B100"/>
                </a:solidFill>
                <a:latin typeface="Arial" pitchFamily="34" charset="0"/>
                <a:ea typeface="Arial" pitchFamily="34" charset="-122"/>
                <a:cs typeface="Arial" pitchFamily="34" charset="-120"/>
              </a:rPr>
              <a:t>Next</a:t>
            </a:r>
            <a:endParaRPr lang="en-US" sz="1900" dirty="0"/>
          </a:p>
        </p:txBody>
      </p:sp>
      <p:sp>
        <p:nvSpPr>
          <p:cNvPr id="10" name="Text 8"/>
          <p:cNvSpPr txBox="1"/>
          <p:nvPr/>
        </p:nvSpPr>
        <p:spPr>
          <a:xfrm>
            <a:off x="6537960" y="2606040"/>
            <a:ext cx="4754880" cy="246888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C9CAD0"/>
                </a:solidFill>
                <a:latin typeface="Calibri" pitchFamily="34" charset="0"/>
                <a:ea typeface="Calibri" pitchFamily="34" charset="-122"/>
                <a:cs typeface="Calibri" pitchFamily="34" charset="-120"/>
              </a:rPr>
              <a:t>Dijkstra and A* next to BFS, for the shortest walk</a:t>
            </a:r>
            <a:endParaRPr lang="en-US" sz="1600" dirty="0"/>
          </a:p>
          <a:p>
            <a:pPr marL="342900" indent="-342900">
              <a:spcAft>
                <a:spcPts val="900"/>
              </a:spcAft>
              <a:buSzPct val="100000"/>
              <a:buChar char="•"/>
            </a:pPr>
            <a:r>
              <a:rPr lang="en-US" sz="1600" dirty="0">
                <a:solidFill>
                  <a:srgbClr val="C9CAD0"/>
                </a:solidFill>
                <a:latin typeface="Calibri" pitchFamily="34" charset="0"/>
                <a:ea typeface="Calibri" pitchFamily="34" charset="-122"/>
                <a:cs typeface="Calibri" pitchFamily="34" charset="-120"/>
              </a:rPr>
              <a:t>Accessible routes: ramps, no stairs</a:t>
            </a:r>
            <a:endParaRPr lang="en-US" sz="1600" dirty="0"/>
          </a:p>
          <a:p>
            <a:pPr marL="342900" indent="-342900">
              <a:spcAft>
                <a:spcPts val="900"/>
              </a:spcAft>
              <a:buSzPct val="100000"/>
              <a:buChar char="•"/>
            </a:pPr>
            <a:r>
              <a:rPr lang="en-US" sz="1600" dirty="0">
                <a:solidFill>
                  <a:srgbClr val="C9CAD0"/>
                </a:solidFill>
                <a:latin typeface="Calibri" pitchFamily="34" charset="0"/>
                <a:ea typeface="Calibri" pitchFamily="34" charset="-122"/>
                <a:cs typeface="Calibri" pitchFamily="34" charset="-120"/>
              </a:rPr>
              <a:t>Rooms and labs as a deeper tree level</a:t>
            </a:r>
            <a:endParaRPr lang="en-US" sz="1600" dirty="0"/>
          </a:p>
          <a:p>
            <a:pPr marL="342900" indent="-342900">
              <a:spcAft>
                <a:spcPts val="900"/>
              </a:spcAft>
              <a:buSzPct val="100000"/>
              <a:buChar char="•"/>
            </a:pPr>
            <a:r>
              <a:rPr lang="en-US" sz="1600" dirty="0">
                <a:solidFill>
                  <a:srgbClr val="C9CAD0"/>
                </a:solidFill>
                <a:latin typeface="Calibri" pitchFamily="34" charset="0"/>
                <a:ea typeface="Calibri" pitchFamily="34" charset="-122"/>
                <a:cs typeface="Calibri" pitchFamily="34" charset="-120"/>
              </a:rPr>
              <a:t>Phone GPS snapped to the nearest building</a:t>
            </a:r>
            <a:endParaRPr lang="en-US" sz="1600" dirty="0"/>
          </a:p>
          <a:p>
            <a:pPr marL="342900" indent="-342900">
              <a:spcAft>
                <a:spcPts val="900"/>
              </a:spcAft>
              <a:buSzPct val="100000"/>
              <a:buChar char="•"/>
            </a:pPr>
            <a:r>
              <a:rPr lang="en-US" sz="1600" dirty="0">
                <a:solidFill>
                  <a:srgbClr val="C9CAD0"/>
                </a:solidFill>
                <a:latin typeface="Calibri" pitchFamily="34" charset="0"/>
                <a:ea typeface="Calibri" pitchFamily="34" charset="-122"/>
                <a:cs typeface="Calibri" pitchFamily="34" charset="-120"/>
              </a:rPr>
              <a:t>A Bangla interface, and our missing buildings added to OSM</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1114"/>
        </a:solidFill>
        <a:effectLst/>
      </p:bgPr>
    </p:bg>
    <p:spTree>
      <p:nvGrpSpPr>
        <p:cNvPr id="1" name=""/>
        <p:cNvGrpSpPr/>
        <p:nvPr/>
      </p:nvGrpSpPr>
      <p:grpSpPr>
        <a:xfrm>
          <a:off x="0" y="0"/>
          <a:ext cx="0" cy="0"/>
          <a:chOff x="0" y="0"/>
          <a:chExt cx="0" cy="0"/>
        </a:xfrm>
      </p:grpSpPr>
      <p:sp>
        <p:nvSpPr>
          <p:cNvPr id="2" name="Text 0"/>
          <p:cNvSpPr txBox="1"/>
          <p:nvPr/>
        </p:nvSpPr>
        <p:spPr>
          <a:xfrm>
            <a:off x="548640" y="6446520"/>
            <a:ext cx="3657600" cy="274320"/>
          </a:xfrm>
          <a:prstGeom prst="rect">
            <a:avLst/>
          </a:prstGeom>
          <a:noFill/>
          <a:ln/>
        </p:spPr>
        <p:txBody>
          <a:bodyPr wrap="square" lIns="0" tIns="0" rIns="0" bIns="0" rtlCol="0" anchor="ctr"/>
          <a:lstStyle/>
          <a:p>
            <a:pPr marL="0" indent="0">
              <a:buNone/>
            </a:pPr>
            <a:r>
              <a:rPr lang="en-US" sz="1000" dirty="0">
                <a:solidFill>
                  <a:srgbClr val="8A8C95"/>
                </a:solidFill>
                <a:latin typeface="Calibri" pitchFamily="34" charset="0"/>
                <a:ea typeface="Calibri" pitchFamily="34" charset="-122"/>
                <a:cs typeface="Calibri" pitchFamily="34" charset="-120"/>
              </a:rPr>
              <a:t>CholoKUET · 22</a:t>
            </a:r>
            <a:endParaRPr lang="en-US" sz="1000" dirty="0"/>
          </a:p>
        </p:txBody>
      </p:sp>
      <p:pic>
        <p:nvPicPr>
          <p:cNvPr id="3" name="Image 0" descr="C:\Users\rup\AppData\Local\Temp\claude\d--Codes-CholoKUET\2a005a77-40ea-402f-8f1e-eba05e0da9d5\scratchpad\deck\img\logo.png"/>
          <p:cNvPicPr>
            <a:picLocks noChangeAspect="1"/>
          </p:cNvPicPr>
          <p:nvPr/>
        </p:nvPicPr>
        <p:blipFill>
          <a:blip r:embed="rId3"/>
          <a:srcRect/>
          <a:stretch/>
        </p:blipFill>
        <p:spPr>
          <a:xfrm>
            <a:off x="548640" y="640080"/>
            <a:ext cx="4206240" cy="1399032"/>
          </a:xfrm>
          <a:prstGeom prst="rect">
            <a:avLst/>
          </a:prstGeom>
        </p:spPr>
      </p:pic>
      <p:sp>
        <p:nvSpPr>
          <p:cNvPr id="4" name="Text 1"/>
          <p:cNvSpPr txBox="1"/>
          <p:nvPr/>
        </p:nvSpPr>
        <p:spPr>
          <a:xfrm>
            <a:off x="548640" y="2468880"/>
            <a:ext cx="10972800" cy="1005840"/>
          </a:xfrm>
          <a:prstGeom prst="rect">
            <a:avLst/>
          </a:prstGeom>
          <a:noFill/>
          <a:ln/>
        </p:spPr>
        <p:txBody>
          <a:bodyPr wrap="square" lIns="0" tIns="0" rIns="0" bIns="0" rtlCol="0" anchor="ctr"/>
          <a:lstStyle/>
          <a:p>
            <a:pPr marL="0" indent="0">
              <a:buNone/>
            </a:pPr>
            <a:r>
              <a:rPr lang="en-US" sz="5400" b="1" dirty="0">
                <a:solidFill>
                  <a:srgbClr val="FFFFFF"/>
                </a:solidFill>
                <a:latin typeface="Arial" pitchFamily="34" charset="0"/>
                <a:ea typeface="Arial" pitchFamily="34" charset="-122"/>
                <a:cs typeface="Arial" pitchFamily="34" charset="-120"/>
              </a:rPr>
              <a:t>Thank you. </a:t>
            </a:r>
            <a:r>
              <a:rPr lang="en-US" sz="5400" b="1" dirty="0">
                <a:solidFill>
                  <a:srgbClr val="D9B100"/>
                </a:solidFill>
                <a:latin typeface="Arial" pitchFamily="34" charset="0"/>
                <a:ea typeface="Arial" pitchFamily="34" charset="-122"/>
                <a:cs typeface="Arial" pitchFamily="34" charset="-120"/>
              </a:rPr>
              <a:t>Questions?</a:t>
            </a:r>
            <a:endParaRPr lang="en-US" sz="5400" dirty="0"/>
          </a:p>
        </p:txBody>
      </p:sp>
      <p:sp>
        <p:nvSpPr>
          <p:cNvPr id="5" name="Text 2"/>
          <p:cNvSpPr txBox="1"/>
          <p:nvPr/>
        </p:nvSpPr>
        <p:spPr>
          <a:xfrm>
            <a:off x="548640" y="3611880"/>
            <a:ext cx="8229600" cy="731520"/>
          </a:xfrm>
          <a:prstGeom prst="rect">
            <a:avLst/>
          </a:prstGeom>
          <a:noFill/>
          <a:ln/>
        </p:spPr>
        <p:txBody>
          <a:bodyPr wrap="square" lIns="0" tIns="0" rIns="0" bIns="0" rtlCol="0" anchor="ctr"/>
          <a:lstStyle/>
          <a:p>
            <a:pPr marL="0" indent="0">
              <a:buNone/>
            </a:pPr>
            <a:r>
              <a:rPr lang="en-US" sz="1600" dirty="0">
                <a:solidFill>
                  <a:srgbClr val="8A8C95"/>
                </a:solidFill>
                <a:latin typeface="Consolas" pitchFamily="34" charset="0"/>
                <a:ea typeface="Consolas" pitchFamily="34" charset="-122"/>
                <a:cs typeface="Consolas" pitchFamily="34" charset="-120"/>
              </a:rPr>
              <a:t>Online  </a:t>
            </a:r>
            <a:r>
              <a:rPr lang="en-US" sz="1600" u="sng" dirty="0">
                <a:solidFill>
                  <a:srgbClr val="D9B100"/>
                </a:solidFill>
                <a:latin typeface="Consolas" pitchFamily="34" charset="0"/>
                <a:ea typeface="Consolas" pitchFamily="34" charset="-122"/>
                <a:cs typeface="Consolas" pitchFamily="34" charset="-120"/>
                <a:hlinkClick r:id="rId4">
                  <a:extLst>
                    <a:ext uri="{A12FA001-AC4F-418D-AE19-62706E023703}">
                      <ahyp:hlinkClr xmlns:ahyp="http://schemas.microsoft.com/office/drawing/2018/hyperlinkcolor" val="tx"/>
                    </a:ext>
                  </a:extLst>
                </a:hlinkClick>
              </a:rPr>
              <a:t>ettisafxrup.github.io/CholoKUET</a:t>
            </a:r>
            <a:endParaRPr lang="en-US" sz="1600" dirty="0"/>
          </a:p>
          <a:p>
            <a:pPr marL="0" indent="0">
              <a:buNone/>
            </a:pPr>
            <a:r>
              <a:rPr lang="en-US" sz="1600" dirty="0">
                <a:solidFill>
                  <a:srgbClr val="8A8C95"/>
                </a:solidFill>
                <a:latin typeface="Consolas" pitchFamily="34" charset="0"/>
                <a:ea typeface="Consolas" pitchFamily="34" charset="-122"/>
                <a:cs typeface="Consolas" pitchFamily="34" charset="-120"/>
              </a:rPr>
              <a:t>Code    </a:t>
            </a:r>
            <a:r>
              <a:rPr lang="en-US" sz="1600" u="sng" dirty="0">
                <a:solidFill>
                  <a:srgbClr val="FFFFFF"/>
                </a:solidFill>
                <a:latin typeface="Consolas" pitchFamily="34" charset="0"/>
                <a:ea typeface="Consolas" pitchFamily="34" charset="-122"/>
                <a:cs typeface="Consolas" pitchFamily="34" charset="-120"/>
                <a:hlinkClick r:id="rId5">
                  <a:extLst>
                    <a:ext uri="{A12FA001-AC4F-418D-AE19-62706E023703}">
                      <ahyp:hlinkClr xmlns:ahyp="http://schemas.microsoft.com/office/drawing/2018/hyperlinkcolor" val="tx"/>
                    </a:ext>
                  </a:extLst>
                </a:hlinkClick>
              </a:rPr>
              <a:t>github.com/ettisafxrup/CholoKUET</a:t>
            </a:r>
            <a:endParaRPr lang="en-US" sz="1600" dirty="0"/>
          </a:p>
        </p:txBody>
      </p:sp>
      <p:pic>
        <p:nvPicPr>
          <p:cNvPr id="6" name="Image 1" descr="C:\Users\rup\AppData\Local\Temp\claude\d--Codes-CholoKUET\2a005a77-40ea-402f-8f1e-eba05e0da9d5\scratchpad\deck\img\ettisaf-rup.jpg"/>
          <p:cNvPicPr>
            <a:picLocks noChangeAspect="1"/>
          </p:cNvPicPr>
          <p:nvPr/>
        </p:nvPicPr>
        <p:blipFill>
          <a:blip r:embed="rId6"/>
          <a:srcRect/>
          <a:stretch/>
        </p:blipFill>
        <p:spPr>
          <a:xfrm>
            <a:off x="548640" y="4800600"/>
            <a:ext cx="777240" cy="932688"/>
          </a:xfrm>
          <a:prstGeom prst="rect">
            <a:avLst/>
          </a:prstGeom>
        </p:spPr>
      </p:pic>
      <p:sp>
        <p:nvSpPr>
          <p:cNvPr id="7" name="Shape 3"/>
          <p:cNvSpPr/>
          <p:nvPr/>
        </p:nvSpPr>
        <p:spPr>
          <a:xfrm>
            <a:off x="548640" y="4800600"/>
            <a:ext cx="777240" cy="932688"/>
          </a:xfrm>
          <a:prstGeom prst="rect">
            <a:avLst/>
          </a:prstGeom>
          <a:ln w="15875">
            <a:solidFill>
              <a:srgbClr val="D9B100"/>
            </a:solidFill>
            <a:prstDash val="solid"/>
          </a:ln>
        </p:spPr>
        <p:txBody>
          <a:bodyPr/>
          <a:lstStyle/>
          <a:p>
            <a:endParaRPr lang="en-US"/>
          </a:p>
        </p:txBody>
      </p:sp>
      <p:sp>
        <p:nvSpPr>
          <p:cNvPr id="8" name="Text 4"/>
          <p:cNvSpPr txBox="1"/>
          <p:nvPr/>
        </p:nvSpPr>
        <p:spPr>
          <a:xfrm>
            <a:off x="1463040" y="4892040"/>
            <a:ext cx="246888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Ettisaf Rup</a:t>
            </a:r>
            <a:endParaRPr lang="en-US" sz="1500" dirty="0"/>
          </a:p>
          <a:p>
            <a:pPr marL="0" indent="0">
              <a:buNone/>
            </a:pPr>
            <a:r>
              <a:rPr lang="en-US" sz="1200" dirty="0">
                <a:solidFill>
                  <a:srgbClr val="A6A7AD"/>
                </a:solidFill>
                <a:latin typeface="Calibri" pitchFamily="34" charset="0"/>
                <a:ea typeface="Calibri" pitchFamily="34" charset="-122"/>
                <a:cs typeface="Calibri" pitchFamily="34" charset="-120"/>
              </a:rPr>
              <a:t>CSE, KUET · Roll 2407109</a:t>
            </a:r>
            <a:endParaRPr lang="en-US" sz="1500" dirty="0"/>
          </a:p>
        </p:txBody>
      </p:sp>
      <p:pic>
        <p:nvPicPr>
          <p:cNvPr id="9" name="Image 2" descr="C:\Users\rup\AppData\Local\Temp\claude\d--Codes-CholoKUET\2a005a77-40ea-402f-8f1e-eba05e0da9d5\scratchpad\deck\img\afia-anjum-broti.jpg"/>
          <p:cNvPicPr>
            <a:picLocks noChangeAspect="1"/>
          </p:cNvPicPr>
          <p:nvPr/>
        </p:nvPicPr>
        <p:blipFill>
          <a:blip r:embed="rId7"/>
          <a:srcRect/>
          <a:stretch/>
        </p:blipFill>
        <p:spPr>
          <a:xfrm>
            <a:off x="4114800" y="4800600"/>
            <a:ext cx="777240" cy="932688"/>
          </a:xfrm>
          <a:prstGeom prst="rect">
            <a:avLst/>
          </a:prstGeom>
        </p:spPr>
      </p:pic>
      <p:sp>
        <p:nvSpPr>
          <p:cNvPr id="10" name="Shape 5"/>
          <p:cNvSpPr/>
          <p:nvPr/>
        </p:nvSpPr>
        <p:spPr>
          <a:xfrm>
            <a:off x="4114800" y="4800600"/>
            <a:ext cx="777240" cy="932688"/>
          </a:xfrm>
          <a:prstGeom prst="rect">
            <a:avLst/>
          </a:prstGeom>
          <a:ln w="15875">
            <a:solidFill>
              <a:srgbClr val="D9B100"/>
            </a:solidFill>
            <a:prstDash val="solid"/>
          </a:ln>
        </p:spPr>
        <p:txBody>
          <a:bodyPr/>
          <a:lstStyle/>
          <a:p>
            <a:endParaRPr lang="en-US"/>
          </a:p>
        </p:txBody>
      </p:sp>
      <p:sp>
        <p:nvSpPr>
          <p:cNvPr id="11" name="Text 6"/>
          <p:cNvSpPr txBox="1"/>
          <p:nvPr/>
        </p:nvSpPr>
        <p:spPr>
          <a:xfrm>
            <a:off x="5029200" y="4892040"/>
            <a:ext cx="2468880" cy="7315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Afia Anjum Broti</a:t>
            </a:r>
            <a:endParaRPr lang="en-US" sz="1500" dirty="0"/>
          </a:p>
          <a:p>
            <a:pPr marL="0" indent="0">
              <a:buNone/>
            </a:pPr>
            <a:r>
              <a:rPr lang="en-US" sz="1200" dirty="0">
                <a:solidFill>
                  <a:srgbClr val="A6A7AD"/>
                </a:solidFill>
                <a:latin typeface="Calibri" pitchFamily="34" charset="0"/>
                <a:ea typeface="Calibri" pitchFamily="34" charset="-122"/>
                <a:cs typeface="Calibri" pitchFamily="34" charset="-120"/>
              </a:rPr>
              <a:t>CSE, KUET · Roll 2407096</a:t>
            </a:r>
            <a:endParaRPr lang="en-US" sz="1500" dirty="0"/>
          </a:p>
        </p:txBody>
      </p:sp>
    </p:spTree>
  </p:cSld>
  <p:clrMapOvr>
    <a:masterClrMapping/>
  </p:clrMapOvr>
  <mc:AlternateContent xmlns:mc="http://schemas.openxmlformats.org/markup-compatibility/2006">
    <mc:Choice xmlns:p14="http://schemas.microsoft.com/office/powerpoint/2010/main" Requires="p14">
      <p:transition spd="slow">
        <p14:pan dir="u"/>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4279</Words>
  <Application>Microsoft Office PowerPoint</Application>
  <PresentationFormat>Widescreen</PresentationFormat>
  <Paragraphs>428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KUET CSE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CholoKUET</dc:title>
  <dc:subject>PptxGenJS Presentation</dc:subject>
  <dc:creator>Ettisaf Rup, Afia Anjum Broti</dc:creator>
  <cp:lastModifiedBy>Ettisaf Rup</cp:lastModifiedBy>
  <cp:revision>2</cp:revision>
  <dcterms:created xsi:type="dcterms:W3CDTF">2026-09-29T13:37:54Z</dcterms:created>
  <dcterms:modified xsi:type="dcterms:W3CDTF">2026-09-29T16:09:53Z</dcterms:modified>
</cp:coreProperties>
</file>