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notesSlide+xml" PartName="/ppt/notesSlides/notesSlide36.xml"/>
  <Override ContentType="application/vnd.openxmlformats-officedocument.presentationml.notesSlide+xml" PartName="/ppt/notesSlides/notesSlide37.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4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Lst>
  <p:sldSz cx="18288000" cy="10287000"/>
  <p:notesSz cx="6858000" cy="9144000"/>
  <p:embeddedFontLst>
    <p:embeddedFont>
      <p:font typeface="Arial Bold" charset="1" panose="020B0704020202020204"/>
      <p:regular r:id="rId46"/>
    </p:embeddedFont>
    <p:embeddedFont>
      <p:font typeface="Arial" charset="1" panose="020B0604020202020204"/>
      <p:regular r:id="rId47"/>
    </p:embeddedFont>
    <p:embeddedFont>
      <p:font typeface="Calibri (MS)" charset="1" panose="020F0502020204030204"/>
      <p:regular r:id="rId48"/>
    </p:embeddedFont>
    <p:embeddedFont>
      <p:font typeface="Calibri (MS) Bold" charset="1" panose="020F0702030404030204"/>
      <p:regular r:id="rId49"/>
    </p:embeddedFont>
    <p:embeddedFont>
      <p:font typeface="Calibri (MS) Italics" charset="1" panose="020F05020202040A0204"/>
      <p:regular r:id="rId51"/>
    </p:embeddedFont>
    <p:embeddedFont>
      <p:font typeface="Consolas Bold" charset="1" panose="020B0709020204030204"/>
      <p:regular r:id="rId54"/>
    </p:embeddedFont>
    <p:embeddedFont>
      <p:font typeface="Consolas" charset="1" panose="020B0609020204030204"/>
      <p:regular r:id="rId56"/>
    </p:embeddedFont>
    <p:embeddedFont>
      <p:font typeface="Gagalin" charset="1" panose="00000500000000000000"/>
      <p:regular r:id="rId58"/>
    </p:embeddedFont>
    <p:embeddedFont>
      <p:font typeface="Bebas Neue Cyrillic" charset="1" panose="02000506000000020004"/>
      <p:regular r:id="rId6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notesMasters/notesMaster1.xml" Type="http://schemas.openxmlformats.org/officeDocument/2006/relationships/notesMaster"/><Relationship Id="rId44" Target="theme/theme2.xml" Type="http://schemas.openxmlformats.org/officeDocument/2006/relationships/theme"/><Relationship Id="rId45" Target="notesSlides/notesSlide1.xml" Type="http://schemas.openxmlformats.org/officeDocument/2006/relationships/notesSlide"/><Relationship Id="rId46" Target="fonts/font46.fntdata" Type="http://schemas.openxmlformats.org/officeDocument/2006/relationships/font"/><Relationship Id="rId47" Target="fonts/font47.fntdata" Type="http://schemas.openxmlformats.org/officeDocument/2006/relationships/font"/><Relationship Id="rId48" Target="fonts/font48.fntdata" Type="http://schemas.openxmlformats.org/officeDocument/2006/relationships/font"/><Relationship Id="rId49" Target="fonts/font49.fntdata" Type="http://schemas.openxmlformats.org/officeDocument/2006/relationships/font"/><Relationship Id="rId5" Target="tableStyles.xml" Type="http://schemas.openxmlformats.org/officeDocument/2006/relationships/tableStyles"/><Relationship Id="rId50" Target="notesSlides/notesSlide2.xml" Type="http://schemas.openxmlformats.org/officeDocument/2006/relationships/notesSlide"/><Relationship Id="rId51" Target="fonts/font51.fntdata" Type="http://schemas.openxmlformats.org/officeDocument/2006/relationships/font"/><Relationship Id="rId52" Target="notesSlides/notesSlide3.xml" Type="http://schemas.openxmlformats.org/officeDocument/2006/relationships/notesSlide"/><Relationship Id="rId53" Target="notesSlides/notesSlide4.xml" Type="http://schemas.openxmlformats.org/officeDocument/2006/relationships/notesSlide"/><Relationship Id="rId54" Target="fonts/font54.fntdata" Type="http://schemas.openxmlformats.org/officeDocument/2006/relationships/font"/><Relationship Id="rId55" Target="notesSlides/notesSlide5.xml" Type="http://schemas.openxmlformats.org/officeDocument/2006/relationships/notesSlide"/><Relationship Id="rId56" Target="fonts/font56.fntdata" Type="http://schemas.openxmlformats.org/officeDocument/2006/relationships/font"/><Relationship Id="rId57" Target="notesSlides/notesSlide6.xml" Type="http://schemas.openxmlformats.org/officeDocument/2006/relationships/notesSlide"/><Relationship Id="rId58" Target="fonts/font58.fntdata" Type="http://schemas.openxmlformats.org/officeDocument/2006/relationships/font"/><Relationship Id="rId59" Target="notesSlides/notesSlide7.xml" Type="http://schemas.openxmlformats.org/officeDocument/2006/relationships/notesSlide"/><Relationship Id="rId6" Target="slides/slide1.xml" Type="http://schemas.openxmlformats.org/officeDocument/2006/relationships/slide"/><Relationship Id="rId60" Target="fonts/font60.fntdata" Type="http://schemas.openxmlformats.org/officeDocument/2006/relationships/font"/><Relationship Id="rId61" Target="notesSlides/notesSlide8.xml" Type="http://schemas.openxmlformats.org/officeDocument/2006/relationships/notesSlide"/><Relationship Id="rId62" Target="notesSlides/notesSlide9.xml" Type="http://schemas.openxmlformats.org/officeDocument/2006/relationships/notesSlide"/><Relationship Id="rId63" Target="notesSlides/notesSlide10.xml" Type="http://schemas.openxmlformats.org/officeDocument/2006/relationships/notesSlide"/><Relationship Id="rId64" Target="notesSlides/notesSlide11.xml" Type="http://schemas.openxmlformats.org/officeDocument/2006/relationships/notesSlide"/><Relationship Id="rId65" Target="notesSlides/notesSlide12.xml" Type="http://schemas.openxmlformats.org/officeDocument/2006/relationships/notesSlide"/><Relationship Id="rId66" Target="notesSlides/notesSlide13.xml" Type="http://schemas.openxmlformats.org/officeDocument/2006/relationships/notesSlide"/><Relationship Id="rId67" Target="notesSlides/notesSlide14.xml" Type="http://schemas.openxmlformats.org/officeDocument/2006/relationships/notesSlide"/><Relationship Id="rId68" Target="notesSlides/notesSlide15.xml" Type="http://schemas.openxmlformats.org/officeDocument/2006/relationships/notesSlide"/><Relationship Id="rId69" Target="notesSlides/notesSlide16.xml" Type="http://schemas.openxmlformats.org/officeDocument/2006/relationships/notesSlide"/><Relationship Id="rId7" Target="slides/slide2.xml" Type="http://schemas.openxmlformats.org/officeDocument/2006/relationships/slide"/><Relationship Id="rId70" Target="notesSlides/notesSlide17.xml" Type="http://schemas.openxmlformats.org/officeDocument/2006/relationships/notesSlide"/><Relationship Id="rId71" Target="notesSlides/notesSlide18.xml" Type="http://schemas.openxmlformats.org/officeDocument/2006/relationships/notesSlide"/><Relationship Id="rId72" Target="notesSlides/notesSlide19.xml" Type="http://schemas.openxmlformats.org/officeDocument/2006/relationships/notesSlide"/><Relationship Id="rId73" Target="notesSlides/notesSlide20.xml" Type="http://schemas.openxmlformats.org/officeDocument/2006/relationships/notesSlide"/><Relationship Id="rId74" Target="notesSlides/notesSlide21.xml" Type="http://schemas.openxmlformats.org/officeDocument/2006/relationships/notesSlide"/><Relationship Id="rId75" Target="notesSlides/notesSlide22.xml" Type="http://schemas.openxmlformats.org/officeDocument/2006/relationships/notesSlide"/><Relationship Id="rId76" Target="notesSlides/notesSlide23.xml" Type="http://schemas.openxmlformats.org/officeDocument/2006/relationships/notesSlide"/><Relationship Id="rId77" Target="notesSlides/notesSlide24.xml" Type="http://schemas.openxmlformats.org/officeDocument/2006/relationships/notesSlide"/><Relationship Id="rId78" Target="notesSlides/notesSlide25.xml" Type="http://schemas.openxmlformats.org/officeDocument/2006/relationships/notesSlide"/><Relationship Id="rId79" Target="notesSlides/notesSlide26.xml" Type="http://schemas.openxmlformats.org/officeDocument/2006/relationships/notesSlide"/><Relationship Id="rId8" Target="slides/slide3.xml" Type="http://schemas.openxmlformats.org/officeDocument/2006/relationships/slide"/><Relationship Id="rId80" Target="notesSlides/notesSlide27.xml" Type="http://schemas.openxmlformats.org/officeDocument/2006/relationships/notesSlide"/><Relationship Id="rId81" Target="notesSlides/notesSlide28.xml" Type="http://schemas.openxmlformats.org/officeDocument/2006/relationships/notesSlide"/><Relationship Id="rId82" Target="notesSlides/notesSlide29.xml" Type="http://schemas.openxmlformats.org/officeDocument/2006/relationships/notesSlide"/><Relationship Id="rId83" Target="notesSlides/notesSlide30.xml" Type="http://schemas.openxmlformats.org/officeDocument/2006/relationships/notesSlide"/><Relationship Id="rId84" Target="notesSlides/notesSlide31.xml" Type="http://schemas.openxmlformats.org/officeDocument/2006/relationships/notesSlide"/><Relationship Id="rId85" Target="notesSlides/notesSlide32.xml" Type="http://schemas.openxmlformats.org/officeDocument/2006/relationships/notesSlide"/><Relationship Id="rId86" Target="notesSlides/notesSlide33.xml" Type="http://schemas.openxmlformats.org/officeDocument/2006/relationships/notesSlide"/><Relationship Id="rId87" Target="notesSlides/notesSlide34.xml" Type="http://schemas.openxmlformats.org/officeDocument/2006/relationships/notesSlide"/><Relationship Id="rId88" Target="notesSlides/notesSlide35.xml" Type="http://schemas.openxmlformats.org/officeDocument/2006/relationships/notesSlide"/><Relationship Id="rId89" Target="notesSlides/notesSlide36.xml" Type="http://schemas.openxmlformats.org/officeDocument/2006/relationships/notesSlide"/><Relationship Id="rId9" Target="slides/slide4.xml" Type="http://schemas.openxmlformats.org/officeDocument/2006/relationships/slide"/><Relationship Id="rId90" Target="notesSlides/notesSlide37.xml" Type="http://schemas.openxmlformats.org/officeDocument/2006/relationships/note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Hello everyone. We are Ettisaf and Afia, and our project is CholoKUET, a campus navigator for KUET. "Cholo explore kore ashi" means "come on, let's go explore". It runs offline in the terminal, and there is also an online version you can open in any browser. Every feature you will see today runs on a data structure from this course, and the stack and queue are written by hand.</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Every new batch spends its first weeks asking the same three questions: where is a building, how do I walk there, and what's near me. KUET buildings go by short forms, and the obvious-looking route is often not the real one. We wanted a small program that answers all three.</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one line: say where you are and where you're going, and CholoKUET gives you the way. The campus has 44 places joined by 56 walkways on 15 roads, and 907 unit checks cover the code. You can use it two ways: the terminal app, which is one portable exe that works offline, and the online version on GitHub Pages, which runs the same campus data in the browser.</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Here is everything in one place. Eleven menus for students: take me somewhere, what's near me, explore the campus, search, browse by category, sort, where am I, trip history, recent searches, favorites and help. Four more for admins. And the online version. Under each feature is the data structure or algorithm it runs on. The next slides go through them one group at a time.</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main feature. You can type the start any way you like: part of a name, the number from the map, raw coordinates, or just press Enter to use where you are. BFS finds the route with the fewest stops, and then we turn it into directions: walkways on the same road merge into one step, and compass bearings decide left, right or straight. You also get every stop with running totals, and you can ask to see exactly how BFS found the route. Choosing I'm going pushes the trip onto the history stack.</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What's near me takes a place or exact coordinates, measures the Haversine distance to every place, bubble-sorts them and shows the nearest ten with a compass direction and walking time. Where am I sets your location, and coordinates snap to the closest building. Explore the campus runs DFS from any place, can show the stack at every step, checks that the campus is connected, and lists every road.</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Search is one box for names, categories and numbers. An exact name is found first with binary search on a sorted copy, then partial matches with linear search. Browse by category walks our general tree, KUET to category to place. Sort places sorts by name, category or distance, and prints the comparisons and swaps so you can compare bubble sort and selection sort.</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CholoKUET remembers your trail. Trip history is a stack: every place you go is pushed, and Back pops the top. Recent searches is a linked list of the last ten, newest first. Favorites are saved per user, so they're still there next time. And accounts: students and admins, hidden password typing, and hashed passwords.</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Admins can add, edit and delete places and walkways. The important part is consistency: deleting a place removes it from the array, the graph, favorites, recent searches and even the middle of the history stack, by popping onto a second stack and pushing back. After a change the app runs DFS and warns if part of the campus is cut off. Everywhere in the app, you can type a place any way, Enter always goes back, bad input never crashes it, everything is saved as it happens, and it ships as one portable exe.</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Before the live demo, here is one complete session, recorded step by step. A new student starts the program, makes an account, logs in and tries each menu in turn before exiting. The next fifteen slides follow this route, one stop each, and the pin at the top right shows where we are.</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one real session, recorded in order. In the project folder we type make run. It builds the program and starts it, and the welcome screen offers three choices: log in, create an account, or exit.</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new student picks option 2. The rules are shown first: 3 to 30 characters for the name, 4 or more for the password. The password shows as stars and is typed twice. Only its hash is saved, never the password itself.</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We log in with the account we just made. The menu greets us by name and, because it does not know where we are yet, suggests menu 7. The options are in three groups: Get around, Find, and You.</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1. We only type Main and Caf, and linear search completes them to KUET Main Gate and Cafeteria. BFS on our own queue finds the route: 411 metres, about 6 minutes. The four walkways are merged into two steps, one for each road, with the places you pass on the way.</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Under the directions is every stop, with the length of each leg and the running total. The app is honest about BFS: it gives the fewest stops, which is not always the shortest walk. Choosing I am going sets the Cafeteria as our location and pushes the trip onto the history stack.</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2. Pressing Enter uses where we are now, the Cafeteria. The app measures the distance to all 44 places, sorts them with bubble sort and shows the nearest ten. It also reports the work done: 946 comparisons and 473 swaps.</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Picking number 4 opens the page for KUET Post Office: its category, coordinates, how far it is from us and which walkways lead to it. Take me here runs the same BFS from where we stand: 90 metres, about 2 minutes.</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3 has three options. The first walks the campus depth first and can print the stack at every push, as on the right. The second is the connectivity check: DFS from the main gate reached 44 of 44 places, so every place can be reached from every other.</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third option prints the graph itself. Each road is a heading with its total length, and under it are the walkways that make it up. This is the adjacency list, grouped by road name.</a:t>
            </a:r>
          </a:p>
          <a:p>
            <a:r>
              <a:rPr lang="en-US"/>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4 is one box for everything. We type caf. It is not an exact name, so linear search checks all 44 places and finds the Cafeteria. An exact name would be found first by binary search on a sorted copy.</a:t>
            </a:r>
          </a:p>
          <a:p>
            <a:r>
              <a:rPr lang="en-US"/>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6 sorts the places four ways, and the menu says which algorithm does each one: bubble sort for A to Z and for distance, selection sort for Z to A and for category. After sorting it prints the comparisons and swaps.</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7 shows where the app thinks we are: KUET Post Office, with its coordinates. We can pick a place, type coordinates that snap to the closest building, or copy the coordinates to use in a map app.</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Menu 8 is our hand-written stack on screen. The top is where we are now, and under it are the Cafeteria and the main gate. Each Back pops the top: Post Office, then Cafeteria, then the gate, until the history is empty.</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 any place page, option 3 adds it to favorites. The list is saved for each user in favorites.txt, so the Post Office is still there under menu 10 the next time we log in.</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Logging out returns to the welcome screen, and 0 closes the program. Everything was saved as we went, so there is nothing to lose on the way out. That is the whole app, start to finish.</a:t>
            </a:r>
          </a:p>
          <a:p>
            <a:r>
              <a:rPr lang="en-US"/>
              <a:t>25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Anyone can also use CholoKUET online, with nothing to install, at ettisafxrup.github.io/CholoKUET. It is hosted on GitHub Pages. It has a live route finder on the real campus graph, a playground for our stack and circular queue, a race between bubble sort and selection sort, and the full project report.</a:t>
            </a:r>
          </a:p>
          <a:p>
            <a:r>
              <a:rPr lang="en-US"/>
              <a:t>26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live route finder. It uses the app's own data files. Pick two places, or click them, and you can watch BFS fill the queue ring by ring, or DFS work the stack. The gold line is the route. It follows the same rules as the C++ code, so it gives the same answer: 707 meters from the library to the main gate, on the same three roads.</a:t>
            </a:r>
          </a:p>
          <a:p>
            <a:r>
              <a:rPr lang="en-US"/>
              <a:t>27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We started from the KUET master plan, but a drawing has no coordinates. OpenStreetMap had surveyed positions for most KUET buildings, so we used those. For the six buildings OSM doesn't have, including Kodom Tola, we matched 18 buildings between the plan and OSM and fitted a transform. It's off by 27 meters on average, about one building. The map is drawn from the app's own data files, and the numbers are the IDs you type in the app.</a:t>
            </a:r>
          </a:p>
          <a:p>
            <a:r>
              <a:rPr lang="en-US"/>
              <a:t>28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menus never touch a file, and the data structures never print a menu. That's why you can open dsa/stack and see the stack on its own, why every structure has its own test, and why the same core could sit under a graphical app later.</a:t>
            </a:r>
          </a:p>
          <a:p>
            <a:r>
              <a:rPr lang="en-US"/>
              <a:t>29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one trip, end to end. The text you type goes to resolvePlace, which uses linear search or the nearest place by Haversine. BFS finds the route on our circular queue. rebuildRoute pushes the parent chain onto our stack and pops it into a linked list. planTrip merges walkways by road and works out the turns, and printTrip shows it. Then either I'm going pushes the trip onto the history stack, or you can watch the BFS trace.</a:t>
            </a:r>
          </a:p>
          <a:p>
            <a:r>
              <a:rPr lang="en-US"/>
              <a:t>30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two highlighted rows are written from scratch, as the lab asked. The other containers come from the STL, but every algorithm running on them is ours. make check-manual scans the code and confirms there's no std::stack, std::queue or std::sort anywhere.</a:t>
            </a:r>
          </a:p>
          <a:p>
            <a:r>
              <a:rPr lang="en-US"/>
              <a:t>31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stack is an array plus one index, top. Push moves top up and writes, pop reads and moves it down, and both refuse instead of writing outside the array. Pressing Back in Trip history pops the top. The queue wraps around with modulo, so freed slots are reused: here the new values 900 and 901 went into slots 0 and 1. With only front and rear, full and empty look the same, so we keep a count.</a:t>
            </a:r>
          </a:p>
          <a:p>
            <a:r>
              <a:rPr lang="en-US"/>
              <a:t>32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BFS explores outward one ring at a time using our queue. The key detail: we mark a place visited when we enqueue it, otherwise it can be queued twice. parent records how we reached each place, and to rebuild the route we push the parent chain onto our stack and pop it off. BFS minimises stops, not meters, so the app prints both distances. DFS is iterative on our stack and pushes each place once. Our first version didn't, and could overflow, which a test now guards against.</a:t>
            </a:r>
          </a:p>
          <a:p>
            <a:r>
              <a:rPr lang="en-US"/>
              <a:t>33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Every module has its own test program, run with make test: 907 checks in total, all passing. They target the edge cases on purpose. On top of that we drove the whole app with scripted input as a student and as an admin. It never crashed, and the log never contains a password.</a:t>
            </a:r>
          </a:p>
          <a:p>
            <a:r>
              <a:rPr lang="en-US"/>
              <a:t>35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Switch to the terminal now. Run make run and log in as student1. Menu 1: where are you, "lib"; where to, "gate". Read out the directions, then choose Show how BFS found this route, then I'm going. Menu 2 with coordinates 22.8992, 89.5016. Menu 8 and press Back. Menu 3, DFS from Civil with the stack shown. Menu 5 for the tree, menu 4 to search "hall", menu 6 to sort A to Z. Open dsa/stack/Stack.cpp and dsa/queue/Queue.cpp. Then switch to the browser and run the live route finder on the online version, and show the report page.</a:t>
            </a:r>
          </a:p>
          <a:p>
            <a:r>
              <a:rPr lang="en-US"/>
              <a:t>36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We'd rather say these ourselves. BFS ignores walkway length, six buildings are estimated, and the login is for a demo only. The first thing we'd add is Dijkstra alongside BFS, so the app can show both the fewest-stops and the fewest-meters route.</a:t>
            </a:r>
          </a:p>
          <a:p>
            <a:r>
              <a:rPr lang="en-US"/>
              <a:t>37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Thank you for listening. We're happy to take questions, and we can open any file live: the stack, the queue, BFS or DFS, or try any route on the online version.</a:t>
            </a:r>
          </a:p>
          <a:p>
            <a:r>
              <a:rPr lang="en-US"/>
              <a:t>38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jpeg" Type="http://schemas.openxmlformats.org/officeDocument/2006/relationships/image"/><Relationship Id="rId5" Target="../media/image3.jpeg" Type="http://schemas.openxmlformats.org/officeDocument/2006/relationships/image"/><Relationship Id="rId6" Target="../media/image4.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jpeg" Type="http://schemas.openxmlformats.org/officeDocument/2006/relationships/image"/><Relationship Id="rId4" Target="../media/image5.pn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2.jpe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16.png" Type="http://schemas.openxmlformats.org/officeDocument/2006/relationships/image"/><Relationship Id="rId12" Target="../media/image17.png" Type="http://schemas.openxmlformats.org/officeDocument/2006/relationships/image"/><Relationship Id="rId13" Target="../media/image18.png" Type="http://schemas.openxmlformats.org/officeDocument/2006/relationships/image"/><Relationship Id="rId14" Target="../media/image19.png" Type="http://schemas.openxmlformats.org/officeDocument/2006/relationships/image"/><Relationship Id="rId15" Target="../media/image20.png" Type="http://schemas.openxmlformats.org/officeDocument/2006/relationships/image"/><Relationship Id="rId2" Target="../notesSlides/notesSlide4.xml" Type="http://schemas.openxmlformats.org/officeDocument/2006/relationships/notesSlide"/><Relationship Id="rId3" Target="../media/image2.jpeg" Type="http://schemas.openxmlformats.org/officeDocument/2006/relationships/image"/><Relationship Id="rId4" Target="../media/image10.png" Type="http://schemas.openxmlformats.org/officeDocument/2006/relationships/image"/><Relationship Id="rId5" Target="../media/image11.png" Type="http://schemas.openxmlformats.org/officeDocument/2006/relationships/image"/><Relationship Id="rId6" Target="../media/image12.png" Type="http://schemas.openxmlformats.org/officeDocument/2006/relationships/image"/><Relationship Id="rId7" Target="../media/image13.png" Type="http://schemas.openxmlformats.org/officeDocument/2006/relationships/image"/><Relationship Id="rId8" Target="../media/image14.png" Type="http://schemas.openxmlformats.org/officeDocument/2006/relationships/image"/><Relationship Id="rId9" Target="../media/image1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2.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2.jpeg" Type="http://schemas.openxmlformats.org/officeDocument/2006/relationships/image"/><Relationship Id="rId4" Target="../media/image11.png" Type="http://schemas.openxmlformats.org/officeDocument/2006/relationships/image"/><Relationship Id="rId5" Target="../media/image5.png" Type="http://schemas.openxmlformats.org/officeDocument/2006/relationships/image"/><Relationship Id="rId6" Target="../media/image1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2.jpeg" Type="http://schemas.openxmlformats.org/officeDocument/2006/relationships/image"/><Relationship Id="rId4" Target="../media/image13.png" Type="http://schemas.openxmlformats.org/officeDocument/2006/relationships/image"/><Relationship Id="rId5" Target="../media/image14.png" Type="http://schemas.openxmlformats.org/officeDocument/2006/relationships/image"/><Relationship Id="rId6" Target="../media/image15.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2.jpeg" Type="http://schemas.openxmlformats.org/officeDocument/2006/relationships/image"/><Relationship Id="rId4" Target="../media/image21.png" Type="http://schemas.openxmlformats.org/officeDocument/2006/relationships/image"/><Relationship Id="rId5" Target="../media/image22.png" Type="http://schemas.openxmlformats.org/officeDocument/2006/relationships/image"/><Relationship Id="rId6" Target="../media/image23.png" Type="http://schemas.openxmlformats.org/officeDocument/2006/relationships/image"/><Relationship Id="rId7"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2.jpeg" Type="http://schemas.openxmlformats.org/officeDocument/2006/relationships/image"/><Relationship Id="rId4" Target="../media/image25.png" Type="http://schemas.openxmlformats.org/officeDocument/2006/relationships/image"/><Relationship Id="rId5" Target="../media/image16.png" Type="http://schemas.openxmlformats.org/officeDocument/2006/relationships/image"/><Relationship Id="rId6" Target="../media/image19.png" Type="http://schemas.openxmlformats.org/officeDocument/2006/relationships/image"/><Relationship Id="rId7" Target="../media/image26.png" Type="http://schemas.openxmlformats.org/officeDocument/2006/relationships/image"/><Relationship Id="rId8" Target="../media/image27.png" Type="http://schemas.openxmlformats.org/officeDocument/2006/relationships/image"/><Relationship Id="rId9" Target="../media/image2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30.jpeg" Type="http://schemas.openxmlformats.org/officeDocument/2006/relationships/image"/><Relationship Id="rId6" Target="../media/image3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32.jpeg" Type="http://schemas.openxmlformats.org/officeDocument/2006/relationships/image"/><Relationship Id="rId6" Target="../media/image33.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34.jpeg" Type="http://schemas.openxmlformats.org/officeDocument/2006/relationships/image"/><Relationship Id="rId6" Target="../media/image35.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36.jpeg" Type="http://schemas.openxmlformats.org/officeDocument/2006/relationships/image"/><Relationship Id="rId6" Target="../media/image37.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38.jpeg" Type="http://schemas.openxmlformats.org/officeDocument/2006/relationships/image"/><Relationship Id="rId6" Target="../media/image39.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0.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1.jpeg" Type="http://schemas.openxmlformats.org/officeDocument/2006/relationships/image"/><Relationship Id="rId6" Target="../media/image42.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3.jpeg" Type="http://schemas.openxmlformats.org/officeDocument/2006/relationships/image"/><Relationship Id="rId6" Target="../media/image44.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5.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6.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7.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8.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49.jpeg" Type="http://schemas.openxmlformats.org/officeDocument/2006/relationships/image"/><Relationship Id="rId6" Target="../media/image50.jpe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51.jpeg" Type="http://schemas.openxmlformats.org/officeDocument/2006/relationships/image"/><Relationship Id="rId6" Target="../media/image52.jpe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2.jpeg" Type="http://schemas.openxmlformats.org/officeDocument/2006/relationships/image"/><Relationship Id="rId4" Target="../media/image29.png" Type="http://schemas.openxmlformats.org/officeDocument/2006/relationships/image"/><Relationship Id="rId5" Target="../media/image53.jpe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2" Target="../notesSlides/notesSlide26.xml" Type="http://schemas.openxmlformats.org/officeDocument/2006/relationships/notesSlide"/><Relationship Id="rId3" Target="../media/image2.jpeg" Type="http://schemas.openxmlformats.org/officeDocument/2006/relationships/image"/><Relationship Id="rId4" Target="https://ettisafxrup.github.io/CholoKUET/" TargetMode="External" Type="http://schemas.openxmlformats.org/officeDocument/2006/relationships/hyperlink"/><Relationship Id="rId5" Target="../media/image54.png" Type="http://schemas.openxmlformats.org/officeDocument/2006/relationships/image"/><Relationship Id="rId6" Target="../media/image55.png" Type="http://schemas.openxmlformats.org/officeDocument/2006/relationships/image"/><Relationship Id="rId7" Target="../media/image56.png" Type="http://schemas.openxmlformats.org/officeDocument/2006/relationships/image"/><Relationship Id="rId8" Target="../media/image57.png" Type="http://schemas.openxmlformats.org/officeDocument/2006/relationships/image"/><Relationship Id="rId9" Target="../media/image58.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 Id="rId3" Target="../media/image2.jpeg" Type="http://schemas.openxmlformats.org/officeDocument/2006/relationships/image"/><Relationship Id="rId4" Target="../media/image59.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 Id="rId3" Target="../media/image2.jpeg" Type="http://schemas.openxmlformats.org/officeDocument/2006/relationships/image"/><Relationship Id="rId4" Target="../media/image60.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9.xml" Type="http://schemas.openxmlformats.org/officeDocument/2006/relationships/notesSlide"/><Relationship Id="rId3" Target="../media/image2.jpe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 Id="rId3" Target="../media/image2.jpeg" Type="http://schemas.openxmlformats.org/officeDocument/2006/relationships/image"/><Relationship Id="rId4" Target="../media/image61.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 Id="rId3" Target="../media/image2.jpe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2.xml" Type="http://schemas.openxmlformats.org/officeDocument/2006/relationships/notesSlide"/><Relationship Id="rId3" Target="../media/image2.jpe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3.xml" Type="http://schemas.openxmlformats.org/officeDocument/2006/relationships/notesSlide"/><Relationship Id="rId3" Target="../media/image2.jpe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 Id="rId3" Target="../media/image2.jpeg" Type="http://schemas.openxmlformats.org/officeDocument/2006/relationships/image"/><Relationship Id="rId4" Target="../media/image6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5.xml" Type="http://schemas.openxmlformats.org/officeDocument/2006/relationships/notesSlide"/><Relationship Id="rId3" Target="../media/image2.jpe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6.xml" Type="http://schemas.openxmlformats.org/officeDocument/2006/relationships/notesSlide"/><Relationship Id="rId3" Target="../media/image2.jpe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7.xml" Type="http://schemas.openxmlformats.org/officeDocument/2006/relationships/notesSlide"/><Relationship Id="rId3" Target="../media/image63.png" Type="http://schemas.openxmlformats.org/officeDocument/2006/relationships/image"/><Relationship Id="rId4" Target="../media/image2.jpeg" Type="http://schemas.openxmlformats.org/officeDocument/2006/relationships/image"/><Relationship Id="rId5" Target="https://ettisafxrup.github.io/CholoKUET/" TargetMode="External" Type="http://schemas.openxmlformats.org/officeDocument/2006/relationships/hyperlink"/><Relationship Id="rId6" Target="https://github.com/ettisafxrup/CholoKUET" TargetMode="External" Type="http://schemas.openxmlformats.org/officeDocument/2006/relationships/hyperlink"/><Relationship Id="rId7" Target="../media/image3.jpeg" Type="http://schemas.openxmlformats.org/officeDocument/2006/relationships/image"/><Relationship Id="rId8" Target="../media/image4.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1028700"/>
            <a:ext cx="1714500" cy="1714500"/>
            <a:chOff x="0" y="0"/>
            <a:chExt cx="2286000" cy="2286000"/>
          </a:xfrm>
        </p:grpSpPr>
        <p:sp>
          <p:nvSpPr>
            <p:cNvPr name="Freeform 3" id="3" descr="C:\Users\rup\AppData\Local\Temp\claude\d--Codes-CholoKUET\2a005a77-40ea-402f-8f1e-eba05e0da9d5\scratchpad\deck\img\logo-mark.png"/>
            <p:cNvSpPr/>
            <p:nvPr/>
          </p:nvSpPr>
          <p:spPr>
            <a:xfrm flipH="false" flipV="false" rot="0">
              <a:off x="0" y="0"/>
              <a:ext cx="2286000" cy="2286000"/>
            </a:xfrm>
            <a:custGeom>
              <a:avLst/>
              <a:gdLst/>
              <a:ahLst/>
              <a:cxnLst/>
              <a:rect r="r" b="b" t="t" l="l"/>
              <a:pathLst>
                <a:path h="2286000" w="2286000">
                  <a:moveTo>
                    <a:pt x="0" y="0"/>
                  </a:moveTo>
                  <a:lnTo>
                    <a:pt x="2286000" y="0"/>
                  </a:lnTo>
                  <a:lnTo>
                    <a:pt x="2286000" y="2286000"/>
                  </a:lnTo>
                  <a:lnTo>
                    <a:pt x="0" y="2286000"/>
                  </a:lnTo>
                  <a:lnTo>
                    <a:pt x="0" y="0"/>
                  </a:lnTo>
                  <a:close/>
                </a:path>
              </a:pathLst>
            </a:custGeom>
            <a:blipFill>
              <a:blip r:embed="rId3"/>
              <a:stretch>
                <a:fillRect l="0" t="0" r="0" b="0"/>
              </a:stretch>
            </a:blipFill>
          </p:spPr>
        </p:sp>
      </p:grpSp>
      <p:grpSp>
        <p:nvGrpSpPr>
          <p:cNvPr name="Group 4" id="4"/>
          <p:cNvGrpSpPr/>
          <p:nvPr/>
        </p:nvGrpSpPr>
        <p:grpSpPr>
          <a:xfrm rot="0">
            <a:off x="2880360" y="1097280"/>
            <a:ext cx="12344400" cy="411480"/>
            <a:chOff x="0" y="0"/>
            <a:chExt cx="16459200" cy="548640"/>
          </a:xfrm>
        </p:grpSpPr>
        <p:sp>
          <p:nvSpPr>
            <p:cNvPr name="Freeform 5" id="5"/>
            <p:cNvSpPr/>
            <p:nvPr/>
          </p:nvSpPr>
          <p:spPr>
            <a:xfrm flipH="false" flipV="false" rot="0">
              <a:off x="0" y="0"/>
              <a:ext cx="16459200" cy="548640"/>
            </a:xfrm>
            <a:custGeom>
              <a:avLst/>
              <a:gdLst/>
              <a:ahLst/>
              <a:cxnLst/>
              <a:rect r="r" b="b" t="t" l="l"/>
              <a:pathLst>
                <a:path h="548640" w="16459200">
                  <a:moveTo>
                    <a:pt x="0" y="0"/>
                  </a:moveTo>
                  <a:lnTo>
                    <a:pt x="16459200" y="0"/>
                  </a:lnTo>
                  <a:lnTo>
                    <a:pt x="16459200" y="548640"/>
                  </a:lnTo>
                  <a:lnTo>
                    <a:pt x="0" y="548640"/>
                  </a:lnTo>
                  <a:close/>
                </a:path>
              </a:pathLst>
            </a:custGeom>
            <a:blipFill>
              <a:blip r:embed="rId4">
                <a:alphaModFix amt="0"/>
              </a:blip>
              <a:stretch>
                <a:fillRect l="0" t="-534551" r="0" b="-534551"/>
              </a:stretch>
            </a:blipFill>
          </p:spPr>
        </p:sp>
        <p:sp>
          <p:nvSpPr>
            <p:cNvPr name="TextBox 6" id="6"/>
            <p:cNvSpPr txBox="true"/>
            <p:nvPr/>
          </p:nvSpPr>
          <p:spPr>
            <a:xfrm>
              <a:off x="0" y="-19050"/>
              <a:ext cx="16459200" cy="567690"/>
            </a:xfrm>
            <a:prstGeom prst="rect">
              <a:avLst/>
            </a:prstGeom>
          </p:spPr>
          <p:txBody>
            <a:bodyPr anchor="ctr" rtlCol="false" tIns="0" lIns="0" bIns="0" rIns="0"/>
            <a:lstStyle/>
            <a:p>
              <a:pPr algn="l">
                <a:lnSpc>
                  <a:spcPts val="2160"/>
                </a:lnSpc>
              </a:pPr>
              <a:r>
                <a:rPr lang="en-US" b="true" sz="1800" spc="450">
                  <a:solidFill>
                    <a:srgbClr val="D9B100"/>
                  </a:solidFill>
                  <a:latin typeface="Arial Bold"/>
                  <a:ea typeface="Arial Bold"/>
                  <a:cs typeface="Arial Bold"/>
                  <a:sym typeface="Arial Bold"/>
                </a:rPr>
                <a:t>DSA LABORATORY PROJECT · DEPARTMENT OF CSE, KUET</a:t>
              </a:r>
            </a:p>
          </p:txBody>
        </p:sp>
      </p:grpSp>
      <p:grpSp>
        <p:nvGrpSpPr>
          <p:cNvPr name="Group 7" id="7"/>
          <p:cNvGrpSpPr/>
          <p:nvPr/>
        </p:nvGrpSpPr>
        <p:grpSpPr>
          <a:xfrm rot="0">
            <a:off x="2880360" y="1508760"/>
            <a:ext cx="12344400" cy="1371600"/>
            <a:chOff x="0" y="0"/>
            <a:chExt cx="16459200" cy="1828800"/>
          </a:xfrm>
        </p:grpSpPr>
        <p:sp>
          <p:nvSpPr>
            <p:cNvPr name="Freeform 8" id="8"/>
            <p:cNvSpPr/>
            <p:nvPr/>
          </p:nvSpPr>
          <p:spPr>
            <a:xfrm flipH="false" flipV="false" rot="0">
              <a:off x="0" y="0"/>
              <a:ext cx="16459200" cy="1828800"/>
            </a:xfrm>
            <a:custGeom>
              <a:avLst/>
              <a:gdLst/>
              <a:ahLst/>
              <a:cxnLst/>
              <a:rect r="r" b="b" t="t" l="l"/>
              <a:pathLst>
                <a:path h="1828800" w="16459200">
                  <a:moveTo>
                    <a:pt x="0" y="0"/>
                  </a:moveTo>
                  <a:lnTo>
                    <a:pt x="16459200" y="0"/>
                  </a:lnTo>
                  <a:lnTo>
                    <a:pt x="16459200" y="1828800"/>
                  </a:lnTo>
                  <a:lnTo>
                    <a:pt x="0" y="1828800"/>
                  </a:lnTo>
                  <a:close/>
                </a:path>
              </a:pathLst>
            </a:custGeom>
            <a:blipFill>
              <a:blip r:embed="rId4">
                <a:alphaModFix amt="0"/>
              </a:blip>
              <a:stretch>
                <a:fillRect l="0" t="-125365" r="0" b="-125365"/>
              </a:stretch>
            </a:blipFill>
          </p:spPr>
        </p:sp>
        <p:sp>
          <p:nvSpPr>
            <p:cNvPr name="TextBox 9" id="9"/>
            <p:cNvSpPr txBox="true"/>
            <p:nvPr/>
          </p:nvSpPr>
          <p:spPr>
            <a:xfrm>
              <a:off x="0" y="-38100"/>
              <a:ext cx="16459200" cy="1866900"/>
            </a:xfrm>
            <a:prstGeom prst="rect">
              <a:avLst/>
            </a:prstGeom>
          </p:spPr>
          <p:txBody>
            <a:bodyPr anchor="ctr" rtlCol="false" tIns="0" lIns="0" bIns="0" rIns="0"/>
            <a:lstStyle/>
            <a:p>
              <a:pPr algn="l">
                <a:lnSpc>
                  <a:spcPts val="10800"/>
                </a:lnSpc>
              </a:pPr>
              <a:r>
                <a:rPr lang="en-US" sz="9000" b="true">
                  <a:solidFill>
                    <a:srgbClr val="FFFFFF"/>
                  </a:solidFill>
                  <a:latin typeface="Arial Bold"/>
                  <a:ea typeface="Arial Bold"/>
                  <a:cs typeface="Arial Bold"/>
                  <a:sym typeface="Arial Bold"/>
                </a:rPr>
                <a:t>Cholo</a:t>
              </a:r>
              <a:r>
                <a:rPr lang="en-US" sz="9000" b="true">
                  <a:solidFill>
                    <a:srgbClr val="D9B100"/>
                  </a:solidFill>
                  <a:latin typeface="Arial Bold"/>
                  <a:ea typeface="Arial Bold"/>
                  <a:cs typeface="Arial Bold"/>
                  <a:sym typeface="Arial Bold"/>
                </a:rPr>
                <a:t>KUET</a:t>
              </a:r>
            </a:p>
          </p:txBody>
        </p:sp>
      </p:grpSp>
      <p:grpSp>
        <p:nvGrpSpPr>
          <p:cNvPr name="Group 10" id="10"/>
          <p:cNvGrpSpPr/>
          <p:nvPr/>
        </p:nvGrpSpPr>
        <p:grpSpPr>
          <a:xfrm rot="0">
            <a:off x="2907792" y="2811780"/>
            <a:ext cx="12344400" cy="411480"/>
            <a:chOff x="0" y="0"/>
            <a:chExt cx="16459200" cy="548640"/>
          </a:xfrm>
        </p:grpSpPr>
        <p:sp>
          <p:nvSpPr>
            <p:cNvPr name="Freeform 11" id="11"/>
            <p:cNvSpPr/>
            <p:nvPr/>
          </p:nvSpPr>
          <p:spPr>
            <a:xfrm flipH="false" flipV="false" rot="0">
              <a:off x="0" y="0"/>
              <a:ext cx="16459200" cy="548640"/>
            </a:xfrm>
            <a:custGeom>
              <a:avLst/>
              <a:gdLst/>
              <a:ahLst/>
              <a:cxnLst/>
              <a:rect r="r" b="b" t="t" l="l"/>
              <a:pathLst>
                <a:path h="548640" w="16459200">
                  <a:moveTo>
                    <a:pt x="0" y="0"/>
                  </a:moveTo>
                  <a:lnTo>
                    <a:pt x="16459200" y="0"/>
                  </a:lnTo>
                  <a:lnTo>
                    <a:pt x="16459200" y="548640"/>
                  </a:lnTo>
                  <a:lnTo>
                    <a:pt x="0" y="548640"/>
                  </a:lnTo>
                  <a:close/>
                </a:path>
              </a:pathLst>
            </a:custGeom>
            <a:blipFill>
              <a:blip r:embed="rId4">
                <a:alphaModFix amt="0"/>
              </a:blip>
              <a:stretch>
                <a:fillRect l="0" t="-534551" r="0" b="-534551"/>
              </a:stretch>
            </a:blipFill>
          </p:spPr>
        </p:sp>
        <p:sp>
          <p:nvSpPr>
            <p:cNvPr name="TextBox 12" id="12"/>
            <p:cNvSpPr txBox="true"/>
            <p:nvPr/>
          </p:nvSpPr>
          <p:spPr>
            <a:xfrm>
              <a:off x="0" y="-19050"/>
              <a:ext cx="16459200" cy="567690"/>
            </a:xfrm>
            <a:prstGeom prst="rect">
              <a:avLst/>
            </a:prstGeom>
          </p:spPr>
          <p:txBody>
            <a:bodyPr anchor="ctr" rtlCol="false" tIns="0" lIns="0" bIns="0" rIns="0"/>
            <a:lstStyle/>
            <a:p>
              <a:pPr algn="l">
                <a:lnSpc>
                  <a:spcPts val="2340"/>
                </a:lnSpc>
              </a:pPr>
              <a:r>
                <a:rPr lang="en-US" sz="1950" spc="899">
                  <a:solidFill>
                    <a:srgbClr val="C9CAD0"/>
                  </a:solidFill>
                  <a:latin typeface="Arial"/>
                  <a:ea typeface="Arial"/>
                  <a:cs typeface="Arial"/>
                  <a:sym typeface="Arial"/>
                </a:rPr>
                <a:t>CHOLO EXPLORE KORE ASHI</a:t>
              </a:r>
            </a:p>
          </p:txBody>
        </p:sp>
      </p:grpSp>
      <p:grpSp>
        <p:nvGrpSpPr>
          <p:cNvPr name="Group 13" id="13"/>
          <p:cNvGrpSpPr/>
          <p:nvPr/>
        </p:nvGrpSpPr>
        <p:grpSpPr>
          <a:xfrm rot="0">
            <a:off x="822960" y="4114800"/>
            <a:ext cx="12861503" cy="1097280"/>
            <a:chOff x="0" y="0"/>
            <a:chExt cx="17148671" cy="1463040"/>
          </a:xfrm>
        </p:grpSpPr>
        <p:sp>
          <p:nvSpPr>
            <p:cNvPr name="Freeform 14" id="14"/>
            <p:cNvSpPr/>
            <p:nvPr/>
          </p:nvSpPr>
          <p:spPr>
            <a:xfrm flipH="false" flipV="false" rot="0">
              <a:off x="0" y="0"/>
              <a:ext cx="17148671" cy="1463040"/>
            </a:xfrm>
            <a:custGeom>
              <a:avLst/>
              <a:gdLst/>
              <a:ahLst/>
              <a:cxnLst/>
              <a:rect r="r" b="b" t="t" l="l"/>
              <a:pathLst>
                <a:path h="1463040" w="17148671">
                  <a:moveTo>
                    <a:pt x="0" y="0"/>
                  </a:moveTo>
                  <a:lnTo>
                    <a:pt x="17148671" y="0"/>
                  </a:lnTo>
                  <a:lnTo>
                    <a:pt x="17148671" y="1463040"/>
                  </a:lnTo>
                  <a:lnTo>
                    <a:pt x="0" y="1463040"/>
                  </a:lnTo>
                  <a:close/>
                </a:path>
              </a:pathLst>
            </a:custGeom>
            <a:blipFill>
              <a:blip r:embed="rId4">
                <a:alphaModFix amt="0"/>
              </a:blip>
              <a:stretch>
                <a:fillRect l="0" t="-149721" r="12552" b="-149721"/>
              </a:stretch>
            </a:blipFill>
          </p:spPr>
        </p:sp>
        <p:sp>
          <p:nvSpPr>
            <p:cNvPr name="TextBox 15" id="15"/>
            <p:cNvSpPr txBox="true"/>
            <p:nvPr/>
          </p:nvSpPr>
          <p:spPr>
            <a:xfrm>
              <a:off x="0" y="-57150"/>
              <a:ext cx="17148671" cy="1520190"/>
            </a:xfrm>
            <a:prstGeom prst="rect">
              <a:avLst/>
            </a:prstGeom>
          </p:spPr>
          <p:txBody>
            <a:bodyPr anchor="ctr" rtlCol="false" tIns="0" lIns="0" bIns="0" rIns="0"/>
            <a:lstStyle/>
            <a:p>
              <a:pPr algn="l">
                <a:lnSpc>
                  <a:spcPts val="3240"/>
                </a:lnSpc>
              </a:pPr>
              <a:r>
                <a:rPr lang="en-US" sz="2700">
                  <a:solidFill>
                    <a:srgbClr val="C9CAD0"/>
                  </a:solidFill>
                  <a:latin typeface="Calibri (MS)"/>
                  <a:ea typeface="Calibri (MS)"/>
                  <a:cs typeface="Calibri (MS)"/>
                  <a:sym typeface="Calibri (MS)"/>
                </a:rPr>
                <a:t>An offline KUET campus navigator built on hand-written stacks, queues, trees and graphs. Also online at ettisafxrup.github.io/CholoKUET</a:t>
              </a:r>
            </a:p>
          </p:txBody>
        </p:sp>
      </p:grpSp>
      <p:grpSp>
        <p:nvGrpSpPr>
          <p:cNvPr name="Group 16" id="16"/>
          <p:cNvGrpSpPr/>
          <p:nvPr/>
        </p:nvGrpSpPr>
        <p:grpSpPr>
          <a:xfrm rot="0">
            <a:off x="822960" y="5897880"/>
            <a:ext cx="1440180" cy="1728216"/>
            <a:chOff x="0" y="0"/>
            <a:chExt cx="1920240" cy="2304288"/>
          </a:xfrm>
        </p:grpSpPr>
        <p:sp>
          <p:nvSpPr>
            <p:cNvPr name="Freeform 17" id="17" descr="C:\Users\rup\AppData\Local\Temp\claude\d--Codes-CholoKUET\2a005a77-40ea-402f-8f1e-eba05e0da9d5\scratchpad\deck\img\ettisaf-rup.jpg"/>
            <p:cNvSpPr/>
            <p:nvPr/>
          </p:nvSpPr>
          <p:spPr>
            <a:xfrm flipH="false" flipV="false" rot="0">
              <a:off x="0" y="0"/>
              <a:ext cx="1920240" cy="2304288"/>
            </a:xfrm>
            <a:custGeom>
              <a:avLst/>
              <a:gdLst/>
              <a:ahLst/>
              <a:cxnLst/>
              <a:rect r="r" b="b" t="t" l="l"/>
              <a:pathLst>
                <a:path h="2304288" w="1920240">
                  <a:moveTo>
                    <a:pt x="0" y="0"/>
                  </a:moveTo>
                  <a:lnTo>
                    <a:pt x="1920240" y="0"/>
                  </a:lnTo>
                  <a:lnTo>
                    <a:pt x="1920240" y="2304288"/>
                  </a:lnTo>
                  <a:lnTo>
                    <a:pt x="0" y="2304288"/>
                  </a:lnTo>
                  <a:lnTo>
                    <a:pt x="0" y="0"/>
                  </a:lnTo>
                  <a:close/>
                </a:path>
              </a:pathLst>
            </a:custGeom>
            <a:blipFill>
              <a:blip r:embed="rId5"/>
              <a:stretch>
                <a:fillRect l="0" t="0" r="0" b="0"/>
              </a:stretch>
            </a:blipFill>
          </p:spPr>
        </p:sp>
      </p:grpSp>
      <p:grpSp>
        <p:nvGrpSpPr>
          <p:cNvPr name="Group 18" id="18"/>
          <p:cNvGrpSpPr/>
          <p:nvPr/>
        </p:nvGrpSpPr>
        <p:grpSpPr>
          <a:xfrm rot="0">
            <a:off x="808672" y="5883592"/>
            <a:ext cx="1468755" cy="1756791"/>
            <a:chOff x="0" y="0"/>
            <a:chExt cx="1958340" cy="2342388"/>
          </a:xfrm>
        </p:grpSpPr>
        <p:sp>
          <p:nvSpPr>
            <p:cNvPr name="Freeform 19" id="19"/>
            <p:cNvSpPr/>
            <p:nvPr/>
          </p:nvSpPr>
          <p:spPr>
            <a:xfrm flipH="false" flipV="false" rot="0">
              <a:off x="0" y="0"/>
              <a:ext cx="1958340" cy="2342388"/>
            </a:xfrm>
            <a:custGeom>
              <a:avLst/>
              <a:gdLst/>
              <a:ahLst/>
              <a:cxnLst/>
              <a:rect r="r" b="b" t="t" l="l"/>
              <a:pathLst>
                <a:path h="2342388" w="1958340">
                  <a:moveTo>
                    <a:pt x="0" y="0"/>
                  </a:moveTo>
                  <a:lnTo>
                    <a:pt x="1958340" y="0"/>
                  </a:lnTo>
                  <a:lnTo>
                    <a:pt x="1958340" y="2342388"/>
                  </a:lnTo>
                  <a:lnTo>
                    <a:pt x="0" y="2342388"/>
                  </a:lnTo>
                  <a:close/>
                </a:path>
              </a:pathLst>
            </a:custGeom>
            <a:blipFill>
              <a:blip r:embed="rId4">
                <a:alphaModFix amt="0"/>
              </a:blip>
              <a:stretch>
                <a:fillRect l="-103465" t="0" r="-103465" b="0"/>
              </a:stretch>
            </a:blipFill>
            <a:ln w="28575" cap="sq">
              <a:solidFill>
                <a:srgbClr val="D9B100"/>
              </a:solidFill>
              <a:prstDash val="solid"/>
              <a:miter/>
            </a:ln>
          </p:spPr>
        </p:sp>
      </p:grpSp>
      <p:grpSp>
        <p:nvGrpSpPr>
          <p:cNvPr name="Group 20" id="20"/>
          <p:cNvGrpSpPr/>
          <p:nvPr/>
        </p:nvGrpSpPr>
        <p:grpSpPr>
          <a:xfrm rot="0">
            <a:off x="2537460" y="6103620"/>
            <a:ext cx="3429000" cy="1371600"/>
            <a:chOff x="0" y="0"/>
            <a:chExt cx="4572000" cy="1828800"/>
          </a:xfrm>
        </p:grpSpPr>
        <p:sp>
          <p:nvSpPr>
            <p:cNvPr name="Freeform 21" id="21"/>
            <p:cNvSpPr/>
            <p:nvPr/>
          </p:nvSpPr>
          <p:spPr>
            <a:xfrm flipH="false" flipV="false" rot="0">
              <a:off x="0" y="0"/>
              <a:ext cx="4572000" cy="1828800"/>
            </a:xfrm>
            <a:custGeom>
              <a:avLst/>
              <a:gdLst/>
              <a:ahLst/>
              <a:cxnLst/>
              <a:rect r="r" b="b" t="t" l="l"/>
              <a:pathLst>
                <a:path h="1828800" w="4572000">
                  <a:moveTo>
                    <a:pt x="0" y="0"/>
                  </a:moveTo>
                  <a:lnTo>
                    <a:pt x="4572000" y="0"/>
                  </a:lnTo>
                  <a:lnTo>
                    <a:pt x="4572000" y="1828800"/>
                  </a:lnTo>
                  <a:lnTo>
                    <a:pt x="0" y="1828800"/>
                  </a:lnTo>
                  <a:close/>
                </a:path>
              </a:pathLst>
            </a:custGeom>
            <a:blipFill>
              <a:blip r:embed="rId4">
                <a:alphaModFix amt="0"/>
              </a:blip>
              <a:stretch>
                <a:fillRect l="-1321" t="0" r="-1321" b="0"/>
              </a:stretch>
            </a:blipFill>
          </p:spPr>
        </p:sp>
        <p:sp>
          <p:nvSpPr>
            <p:cNvPr name="TextBox 22" id="22"/>
            <p:cNvSpPr txBox="true"/>
            <p:nvPr/>
          </p:nvSpPr>
          <p:spPr>
            <a:xfrm>
              <a:off x="0" y="-47625"/>
              <a:ext cx="4572000" cy="1876425"/>
            </a:xfrm>
            <a:prstGeom prst="rect">
              <a:avLst/>
            </a:prstGeom>
          </p:spPr>
          <p:txBody>
            <a:bodyPr anchor="ctr" rtlCol="false" tIns="0" lIns="0" bIns="0" rIns="0"/>
            <a:lstStyle/>
            <a:p>
              <a:pPr algn="l">
                <a:lnSpc>
                  <a:spcPts val="3060"/>
                </a:lnSpc>
              </a:pPr>
              <a:r>
                <a:rPr lang="en-US" sz="2550" b="true">
                  <a:solidFill>
                    <a:srgbClr val="FFFFFF"/>
                  </a:solidFill>
                  <a:latin typeface="Calibri (MS) Bold"/>
                  <a:ea typeface="Calibri (MS) Bold"/>
                  <a:cs typeface="Calibri (MS) Bold"/>
                  <a:sym typeface="Calibri (MS) Bold"/>
                </a:rPr>
                <a:t>Ettisaf Rup</a:t>
              </a:r>
            </a:p>
            <a:p>
              <a:pPr algn="l">
                <a:lnSpc>
                  <a:spcPts val="2160"/>
                </a:lnSpc>
              </a:pPr>
              <a:r>
                <a:rPr lang="en-US" sz="1800">
                  <a:solidFill>
                    <a:srgbClr val="A6A7AD"/>
                  </a:solidFill>
                  <a:latin typeface="Calibri (MS)"/>
                  <a:ea typeface="Calibri (MS)"/>
                  <a:cs typeface="Calibri (MS)"/>
                  <a:sym typeface="Calibri (MS)"/>
                </a:rPr>
                <a:t>Undergraduate, CSE, KUET</a:t>
              </a:r>
            </a:p>
            <a:p>
              <a:pPr algn="l">
                <a:lnSpc>
                  <a:spcPts val="2160"/>
                </a:lnSpc>
              </a:pPr>
              <a:r>
                <a:rPr lang="en-US" sz="1800" b="true">
                  <a:solidFill>
                    <a:srgbClr val="D9B100"/>
                  </a:solidFill>
                  <a:latin typeface="Calibri (MS) Bold"/>
                  <a:ea typeface="Calibri (MS) Bold"/>
                  <a:cs typeface="Calibri (MS) Bold"/>
                  <a:sym typeface="Calibri (MS) Bold"/>
                </a:rPr>
                <a:t>Roll 2407109</a:t>
              </a:r>
            </a:p>
          </p:txBody>
        </p:sp>
      </p:grpSp>
      <p:grpSp>
        <p:nvGrpSpPr>
          <p:cNvPr name="Group 23" id="23"/>
          <p:cNvGrpSpPr/>
          <p:nvPr/>
        </p:nvGrpSpPr>
        <p:grpSpPr>
          <a:xfrm rot="0">
            <a:off x="6172200" y="5897880"/>
            <a:ext cx="1440180" cy="1728216"/>
            <a:chOff x="0" y="0"/>
            <a:chExt cx="1920240" cy="2304288"/>
          </a:xfrm>
        </p:grpSpPr>
        <p:sp>
          <p:nvSpPr>
            <p:cNvPr name="Freeform 24" id="24" descr="C:\Users\rup\AppData\Local\Temp\claude\d--Codes-CholoKUET\2a005a77-40ea-402f-8f1e-eba05e0da9d5\scratchpad\deck\img\afia-anjum-broti.jpg"/>
            <p:cNvSpPr/>
            <p:nvPr/>
          </p:nvSpPr>
          <p:spPr>
            <a:xfrm flipH="false" flipV="false" rot="0">
              <a:off x="0" y="0"/>
              <a:ext cx="1920240" cy="2304288"/>
            </a:xfrm>
            <a:custGeom>
              <a:avLst/>
              <a:gdLst/>
              <a:ahLst/>
              <a:cxnLst/>
              <a:rect r="r" b="b" t="t" l="l"/>
              <a:pathLst>
                <a:path h="2304288" w="1920240">
                  <a:moveTo>
                    <a:pt x="0" y="0"/>
                  </a:moveTo>
                  <a:lnTo>
                    <a:pt x="1920240" y="0"/>
                  </a:lnTo>
                  <a:lnTo>
                    <a:pt x="1920240" y="2304288"/>
                  </a:lnTo>
                  <a:lnTo>
                    <a:pt x="0" y="2304288"/>
                  </a:lnTo>
                  <a:lnTo>
                    <a:pt x="0" y="0"/>
                  </a:lnTo>
                  <a:close/>
                </a:path>
              </a:pathLst>
            </a:custGeom>
            <a:blipFill>
              <a:blip r:embed="rId6"/>
              <a:stretch>
                <a:fillRect l="0" t="0" r="0" b="0"/>
              </a:stretch>
            </a:blipFill>
          </p:spPr>
        </p:sp>
      </p:grpSp>
      <p:grpSp>
        <p:nvGrpSpPr>
          <p:cNvPr name="Group 25" id="25"/>
          <p:cNvGrpSpPr/>
          <p:nvPr/>
        </p:nvGrpSpPr>
        <p:grpSpPr>
          <a:xfrm rot="0">
            <a:off x="6157912" y="5883592"/>
            <a:ext cx="1468755" cy="1756791"/>
            <a:chOff x="0" y="0"/>
            <a:chExt cx="1958340" cy="2342388"/>
          </a:xfrm>
        </p:grpSpPr>
        <p:sp>
          <p:nvSpPr>
            <p:cNvPr name="Freeform 26" id="26"/>
            <p:cNvSpPr/>
            <p:nvPr/>
          </p:nvSpPr>
          <p:spPr>
            <a:xfrm flipH="false" flipV="false" rot="0">
              <a:off x="0" y="0"/>
              <a:ext cx="1958340" cy="2342388"/>
            </a:xfrm>
            <a:custGeom>
              <a:avLst/>
              <a:gdLst/>
              <a:ahLst/>
              <a:cxnLst/>
              <a:rect r="r" b="b" t="t" l="l"/>
              <a:pathLst>
                <a:path h="2342388" w="1958340">
                  <a:moveTo>
                    <a:pt x="0" y="0"/>
                  </a:moveTo>
                  <a:lnTo>
                    <a:pt x="1958340" y="0"/>
                  </a:lnTo>
                  <a:lnTo>
                    <a:pt x="1958340" y="2342388"/>
                  </a:lnTo>
                  <a:lnTo>
                    <a:pt x="0" y="2342388"/>
                  </a:lnTo>
                  <a:close/>
                </a:path>
              </a:pathLst>
            </a:custGeom>
            <a:blipFill>
              <a:blip r:embed="rId4">
                <a:alphaModFix amt="0"/>
              </a:blip>
              <a:stretch>
                <a:fillRect l="-103465" t="0" r="-103465" b="0"/>
              </a:stretch>
            </a:blipFill>
            <a:ln w="28575" cap="sq">
              <a:solidFill>
                <a:srgbClr val="D9B100"/>
              </a:solidFill>
              <a:prstDash val="solid"/>
              <a:miter/>
            </a:ln>
          </p:spPr>
        </p:sp>
      </p:grpSp>
      <p:grpSp>
        <p:nvGrpSpPr>
          <p:cNvPr name="Group 27" id="27"/>
          <p:cNvGrpSpPr/>
          <p:nvPr/>
        </p:nvGrpSpPr>
        <p:grpSpPr>
          <a:xfrm rot="0">
            <a:off x="7886700" y="6103620"/>
            <a:ext cx="3429000" cy="1371600"/>
            <a:chOff x="0" y="0"/>
            <a:chExt cx="4572000" cy="1828800"/>
          </a:xfrm>
        </p:grpSpPr>
        <p:sp>
          <p:nvSpPr>
            <p:cNvPr name="Freeform 28" id="28"/>
            <p:cNvSpPr/>
            <p:nvPr/>
          </p:nvSpPr>
          <p:spPr>
            <a:xfrm flipH="false" flipV="false" rot="0">
              <a:off x="0" y="0"/>
              <a:ext cx="4572000" cy="1828800"/>
            </a:xfrm>
            <a:custGeom>
              <a:avLst/>
              <a:gdLst/>
              <a:ahLst/>
              <a:cxnLst/>
              <a:rect r="r" b="b" t="t" l="l"/>
              <a:pathLst>
                <a:path h="1828800" w="4572000">
                  <a:moveTo>
                    <a:pt x="0" y="0"/>
                  </a:moveTo>
                  <a:lnTo>
                    <a:pt x="4572000" y="0"/>
                  </a:lnTo>
                  <a:lnTo>
                    <a:pt x="4572000" y="1828800"/>
                  </a:lnTo>
                  <a:lnTo>
                    <a:pt x="0" y="1828800"/>
                  </a:lnTo>
                  <a:close/>
                </a:path>
              </a:pathLst>
            </a:custGeom>
            <a:blipFill>
              <a:blip r:embed="rId4">
                <a:alphaModFix amt="0"/>
              </a:blip>
              <a:stretch>
                <a:fillRect l="-1321" t="0" r="-1321" b="0"/>
              </a:stretch>
            </a:blipFill>
          </p:spPr>
        </p:sp>
        <p:sp>
          <p:nvSpPr>
            <p:cNvPr name="TextBox 29" id="29"/>
            <p:cNvSpPr txBox="true"/>
            <p:nvPr/>
          </p:nvSpPr>
          <p:spPr>
            <a:xfrm>
              <a:off x="0" y="-47625"/>
              <a:ext cx="4572000" cy="1876425"/>
            </a:xfrm>
            <a:prstGeom prst="rect">
              <a:avLst/>
            </a:prstGeom>
          </p:spPr>
          <p:txBody>
            <a:bodyPr anchor="ctr" rtlCol="false" tIns="0" lIns="0" bIns="0" rIns="0"/>
            <a:lstStyle/>
            <a:p>
              <a:pPr algn="l">
                <a:lnSpc>
                  <a:spcPts val="3060"/>
                </a:lnSpc>
              </a:pPr>
              <a:r>
                <a:rPr lang="en-US" sz="2550" b="true">
                  <a:solidFill>
                    <a:srgbClr val="FFFFFF"/>
                  </a:solidFill>
                  <a:latin typeface="Calibri (MS) Bold"/>
                  <a:ea typeface="Calibri (MS) Bold"/>
                  <a:cs typeface="Calibri (MS) Bold"/>
                  <a:sym typeface="Calibri (MS) Bold"/>
                </a:rPr>
                <a:t>Afia Anjum Broti</a:t>
              </a:r>
            </a:p>
            <a:p>
              <a:pPr algn="l">
                <a:lnSpc>
                  <a:spcPts val="2160"/>
                </a:lnSpc>
              </a:pPr>
              <a:r>
                <a:rPr lang="en-US" sz="1800">
                  <a:solidFill>
                    <a:srgbClr val="A6A7AD"/>
                  </a:solidFill>
                  <a:latin typeface="Calibri (MS)"/>
                  <a:ea typeface="Calibri (MS)"/>
                  <a:cs typeface="Calibri (MS)"/>
                  <a:sym typeface="Calibri (MS)"/>
                </a:rPr>
                <a:t>Undergraduate, CSE, KUET</a:t>
              </a:r>
            </a:p>
            <a:p>
              <a:pPr algn="l">
                <a:lnSpc>
                  <a:spcPts val="2160"/>
                </a:lnSpc>
              </a:pPr>
              <a:r>
                <a:rPr lang="en-US" sz="1800" b="true">
                  <a:solidFill>
                    <a:srgbClr val="D9B100"/>
                  </a:solidFill>
                  <a:latin typeface="Calibri (MS) Bold"/>
                  <a:ea typeface="Calibri (MS) Bold"/>
                  <a:cs typeface="Calibri (MS) Bold"/>
                  <a:sym typeface="Calibri (MS) Bold"/>
                </a:rPr>
                <a:t>Roll 2407096</a:t>
              </a:r>
            </a:p>
          </p:txBody>
        </p:sp>
      </p:grpSp>
      <p:grpSp>
        <p:nvGrpSpPr>
          <p:cNvPr name="Group 30" id="30"/>
          <p:cNvGrpSpPr/>
          <p:nvPr/>
        </p:nvGrpSpPr>
        <p:grpSpPr>
          <a:xfrm rot="0">
            <a:off x="822960" y="8572500"/>
            <a:ext cx="16459200" cy="480060"/>
            <a:chOff x="0" y="0"/>
            <a:chExt cx="21945600" cy="640080"/>
          </a:xfrm>
        </p:grpSpPr>
        <p:sp>
          <p:nvSpPr>
            <p:cNvPr name="Freeform 31" id="31"/>
            <p:cNvSpPr/>
            <p:nvPr/>
          </p:nvSpPr>
          <p:spPr>
            <a:xfrm flipH="false" flipV="false" rot="0">
              <a:off x="0" y="0"/>
              <a:ext cx="21945600" cy="640080"/>
            </a:xfrm>
            <a:custGeom>
              <a:avLst/>
              <a:gdLst/>
              <a:ahLst/>
              <a:cxnLst/>
              <a:rect r="r" b="b" t="t" l="l"/>
              <a:pathLst>
                <a:path h="640080" w="21945600">
                  <a:moveTo>
                    <a:pt x="0" y="0"/>
                  </a:moveTo>
                  <a:lnTo>
                    <a:pt x="21945600" y="0"/>
                  </a:lnTo>
                  <a:lnTo>
                    <a:pt x="21945600" y="640080"/>
                  </a:lnTo>
                  <a:lnTo>
                    <a:pt x="0" y="640080"/>
                  </a:lnTo>
                  <a:close/>
                </a:path>
              </a:pathLst>
            </a:custGeom>
            <a:blipFill>
              <a:blip r:embed="rId4">
                <a:alphaModFix amt="0"/>
              </a:blip>
              <a:stretch>
                <a:fillRect l="0" t="-618058" r="0" b="-618058"/>
              </a:stretch>
            </a:blipFill>
          </p:spPr>
        </p:sp>
        <p:sp>
          <p:nvSpPr>
            <p:cNvPr name="TextBox 32" id="32"/>
            <p:cNvSpPr txBox="true"/>
            <p:nvPr/>
          </p:nvSpPr>
          <p:spPr>
            <a:xfrm>
              <a:off x="0" y="-47625"/>
              <a:ext cx="21945600" cy="687705"/>
            </a:xfrm>
            <a:prstGeom prst="rect">
              <a:avLst/>
            </a:prstGeom>
          </p:spPr>
          <p:txBody>
            <a:bodyPr anchor="ctr" rtlCol="false" tIns="0" lIns="0" bIns="0" rIns="0"/>
            <a:lstStyle/>
            <a:p>
              <a:pPr algn="l">
                <a:lnSpc>
                  <a:spcPts val="2340"/>
                </a:lnSpc>
              </a:pPr>
              <a:r>
                <a:rPr lang="en-US" sz="1950" b="true">
                  <a:solidFill>
                    <a:srgbClr val="FFFFFF"/>
                  </a:solidFill>
                  <a:latin typeface="Calibri (MS) Bold"/>
                  <a:ea typeface="Calibri (MS) Bold"/>
                  <a:cs typeface="Calibri (MS) Bold"/>
                  <a:sym typeface="Calibri (MS) Bold"/>
                </a:rPr>
                <a:t>Course: CSE 2106 | Data Structure and Algorithm </a:t>
              </a:r>
              <a:r>
                <a:rPr lang="en-US" sz="1950">
                  <a:solidFill>
                    <a:srgbClr val="A6A7AD"/>
                  </a:solidFill>
                  <a:latin typeface="Calibri (MS)"/>
                  <a:ea typeface="Calibri (MS)"/>
                  <a:cs typeface="Calibri (MS)"/>
                  <a:sym typeface="Calibri (MS)"/>
                </a:rPr>
                <a:t>Subah Nawar Ma’am ·  Lamisa Bintee Mizan Deya Ma’am </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PROBLEM</a:t>
              </a:r>
            </a:p>
          </p:txBody>
        </p:sp>
      </p:grpSp>
      <p:sp>
        <p:nvSpPr>
          <p:cNvPr name="TextBox 5" id="5"/>
          <p:cNvSpPr txBox="true"/>
          <p:nvPr/>
        </p:nvSpPr>
        <p:spPr>
          <a:xfrm rot="0">
            <a:off x="822960" y="1178433"/>
            <a:ext cx="9114092" cy="800100"/>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117 Acres | 40-Plus Buildings </a:t>
            </a:r>
          </a:p>
        </p:txBody>
      </p:sp>
      <p:grpSp>
        <p:nvGrpSpPr>
          <p:cNvPr name="Group 6" id="6"/>
          <p:cNvGrpSpPr/>
          <p:nvPr/>
        </p:nvGrpSpPr>
        <p:grpSpPr>
          <a:xfrm rot="0">
            <a:off x="813435" y="3213735"/>
            <a:ext cx="5299710" cy="4408170"/>
            <a:chOff x="0" y="0"/>
            <a:chExt cx="7066280" cy="5877560"/>
          </a:xfrm>
        </p:grpSpPr>
        <p:sp>
          <p:nvSpPr>
            <p:cNvPr name="Freeform 7" id="7"/>
            <p:cNvSpPr/>
            <p:nvPr/>
          </p:nvSpPr>
          <p:spPr>
            <a:xfrm flipH="false" flipV="false" rot="0">
              <a:off x="0" y="0"/>
              <a:ext cx="7066280" cy="5877433"/>
            </a:xfrm>
            <a:custGeom>
              <a:avLst/>
              <a:gdLst/>
              <a:ahLst/>
              <a:cxnLst/>
              <a:rect r="r" b="b" t="t" l="l"/>
              <a:pathLst>
                <a:path h="5877433" w="7066280">
                  <a:moveTo>
                    <a:pt x="0" y="220472"/>
                  </a:moveTo>
                  <a:cubicBezTo>
                    <a:pt x="0" y="98679"/>
                    <a:pt x="98679" y="0"/>
                    <a:pt x="220345" y="0"/>
                  </a:cubicBezTo>
                  <a:lnTo>
                    <a:pt x="6845808" y="0"/>
                  </a:lnTo>
                  <a:cubicBezTo>
                    <a:pt x="6967474" y="0"/>
                    <a:pt x="7066280" y="98679"/>
                    <a:pt x="7066280" y="220345"/>
                  </a:cubicBezTo>
                  <a:lnTo>
                    <a:pt x="7066280" y="5657088"/>
                  </a:lnTo>
                  <a:cubicBezTo>
                    <a:pt x="7066280" y="5778754"/>
                    <a:pt x="6967601" y="5877433"/>
                    <a:pt x="6845808" y="5877433"/>
                  </a:cubicBezTo>
                  <a:lnTo>
                    <a:pt x="220472" y="5877433"/>
                  </a:lnTo>
                  <a:cubicBezTo>
                    <a:pt x="98679" y="5877560"/>
                    <a:pt x="0" y="5778881"/>
                    <a:pt x="0" y="5657088"/>
                  </a:cubicBezTo>
                  <a:close/>
                </a:path>
              </a:pathLst>
            </a:custGeom>
            <a:solidFill>
              <a:srgbClr val="F3F4F6"/>
            </a:solidFill>
            <a:ln w="19050" cap="sq">
              <a:solidFill>
                <a:srgbClr val="F3F4F6"/>
              </a:solidFill>
              <a:prstDash val="solid"/>
              <a:miter/>
            </a:ln>
          </p:spPr>
        </p:sp>
      </p:grpSp>
      <p:grpSp>
        <p:nvGrpSpPr>
          <p:cNvPr name="Group 8" id="8"/>
          <p:cNvGrpSpPr/>
          <p:nvPr/>
        </p:nvGrpSpPr>
        <p:grpSpPr>
          <a:xfrm rot="0">
            <a:off x="1293495" y="3693795"/>
            <a:ext cx="1006602" cy="1006602"/>
            <a:chOff x="0" y="0"/>
            <a:chExt cx="1342136" cy="1342136"/>
          </a:xfrm>
        </p:grpSpPr>
        <p:sp>
          <p:nvSpPr>
            <p:cNvPr name="Freeform 9" id="9"/>
            <p:cNvSpPr/>
            <p:nvPr/>
          </p:nvSpPr>
          <p:spPr>
            <a:xfrm flipH="false" flipV="false" rot="0">
              <a:off x="0" y="0"/>
              <a:ext cx="1342136" cy="1342136"/>
            </a:xfrm>
            <a:custGeom>
              <a:avLst/>
              <a:gdLst/>
              <a:ahLst/>
              <a:cxnLst/>
              <a:rect r="r" b="b" t="t" l="l"/>
              <a:pathLst>
                <a:path h="1342136" w="1342136">
                  <a:moveTo>
                    <a:pt x="0" y="671068"/>
                  </a:moveTo>
                  <a:cubicBezTo>
                    <a:pt x="0" y="300482"/>
                    <a:pt x="300482" y="0"/>
                    <a:pt x="671068" y="0"/>
                  </a:cubicBezTo>
                  <a:cubicBezTo>
                    <a:pt x="1041654" y="0"/>
                    <a:pt x="1342136" y="300482"/>
                    <a:pt x="1342136" y="671068"/>
                  </a:cubicBezTo>
                  <a:cubicBezTo>
                    <a:pt x="1342136" y="1041654"/>
                    <a:pt x="1041654" y="1342136"/>
                    <a:pt x="671068" y="1342136"/>
                  </a:cubicBezTo>
                  <a:cubicBezTo>
                    <a:pt x="300482" y="1342136"/>
                    <a:pt x="0" y="1041654"/>
                    <a:pt x="0" y="671068"/>
                  </a:cubicBezTo>
                  <a:close/>
                </a:path>
              </a:pathLst>
            </a:custGeom>
            <a:solidFill>
              <a:srgbClr val="FBF4D2"/>
            </a:solidFill>
            <a:ln w="19050" cap="sq">
              <a:solidFill>
                <a:srgbClr val="FBF4D2"/>
              </a:solidFill>
              <a:prstDash val="solid"/>
              <a:miter/>
            </a:ln>
          </p:spPr>
        </p:sp>
      </p:grpSp>
      <p:grpSp>
        <p:nvGrpSpPr>
          <p:cNvPr name="Group 10" id="10"/>
          <p:cNvGrpSpPr/>
          <p:nvPr/>
        </p:nvGrpSpPr>
        <p:grpSpPr>
          <a:xfrm rot="0">
            <a:off x="1520285" y="3920585"/>
            <a:ext cx="553031" cy="553031"/>
            <a:chOff x="0" y="0"/>
            <a:chExt cx="737375" cy="737375"/>
          </a:xfrm>
        </p:grpSpPr>
        <p:sp>
          <p:nvSpPr>
            <p:cNvPr name="Freeform 11" id="11" descr="preencoded.png"/>
            <p:cNvSpPr/>
            <p:nvPr/>
          </p:nvSpPr>
          <p:spPr>
            <a:xfrm flipH="false" flipV="false" rot="0">
              <a:off x="0" y="0"/>
              <a:ext cx="737362" cy="737362"/>
            </a:xfrm>
            <a:custGeom>
              <a:avLst/>
              <a:gdLst/>
              <a:ahLst/>
              <a:cxnLst/>
              <a:rect r="r" b="b" t="t" l="l"/>
              <a:pathLst>
                <a:path h="737362" w="737362">
                  <a:moveTo>
                    <a:pt x="0" y="0"/>
                  </a:moveTo>
                  <a:lnTo>
                    <a:pt x="737362" y="0"/>
                  </a:lnTo>
                  <a:lnTo>
                    <a:pt x="737362" y="737362"/>
                  </a:lnTo>
                  <a:lnTo>
                    <a:pt x="0" y="737362"/>
                  </a:lnTo>
                  <a:lnTo>
                    <a:pt x="0" y="0"/>
                  </a:lnTo>
                  <a:close/>
                </a:path>
              </a:pathLst>
            </a:custGeom>
            <a:blipFill>
              <a:blip r:embed="rId4"/>
              <a:stretch>
                <a:fillRect l="0" t="0" r="-1" b="-1"/>
              </a:stretch>
            </a:blipFill>
          </p:spPr>
        </p:sp>
      </p:grpSp>
      <p:grpSp>
        <p:nvGrpSpPr>
          <p:cNvPr name="Group 12" id="12"/>
          <p:cNvGrpSpPr/>
          <p:nvPr/>
        </p:nvGrpSpPr>
        <p:grpSpPr>
          <a:xfrm rot="0">
            <a:off x="1303020" y="5006340"/>
            <a:ext cx="4389120" cy="617220"/>
            <a:chOff x="0" y="0"/>
            <a:chExt cx="5852160" cy="822960"/>
          </a:xfrm>
        </p:grpSpPr>
        <p:sp>
          <p:nvSpPr>
            <p:cNvPr name="Freeform 13" id="13"/>
            <p:cNvSpPr/>
            <p:nvPr/>
          </p:nvSpPr>
          <p:spPr>
            <a:xfrm flipH="false" flipV="false" rot="0">
              <a:off x="0" y="0"/>
              <a:ext cx="5852160" cy="822960"/>
            </a:xfrm>
            <a:custGeom>
              <a:avLst/>
              <a:gdLst/>
              <a:ahLst/>
              <a:cxnLst/>
              <a:rect r="r" b="b" t="t" l="l"/>
              <a:pathLst>
                <a:path h="822960" w="5852160">
                  <a:moveTo>
                    <a:pt x="0" y="0"/>
                  </a:moveTo>
                  <a:lnTo>
                    <a:pt x="5852160" y="0"/>
                  </a:lnTo>
                  <a:lnTo>
                    <a:pt x="5852160" y="822960"/>
                  </a:lnTo>
                  <a:lnTo>
                    <a:pt x="0" y="822960"/>
                  </a:lnTo>
                  <a:close/>
                </a:path>
              </a:pathLst>
            </a:custGeom>
            <a:blipFill>
              <a:blip r:embed="rId3">
                <a:alphaModFix amt="0"/>
              </a:blip>
              <a:stretch>
                <a:fillRect l="0" t="-88560" r="0" b="-88560"/>
              </a:stretch>
            </a:blipFill>
          </p:spPr>
        </p:sp>
        <p:sp>
          <p:nvSpPr>
            <p:cNvPr name="TextBox 14" id="14"/>
            <p:cNvSpPr txBox="true"/>
            <p:nvPr/>
          </p:nvSpPr>
          <p:spPr>
            <a:xfrm>
              <a:off x="0" y="-19050"/>
              <a:ext cx="5852160" cy="842010"/>
            </a:xfrm>
            <a:prstGeom prst="rect">
              <a:avLst/>
            </a:prstGeom>
          </p:spPr>
          <p:txBody>
            <a:bodyPr anchor="ctr" rtlCol="false" tIns="0" lIns="0" bIns="0" rIns="0"/>
            <a:lstStyle/>
            <a:p>
              <a:pPr algn="l">
                <a:lnSpc>
                  <a:spcPts val="3600"/>
                </a:lnSpc>
              </a:pPr>
              <a:r>
                <a:rPr lang="en-US" sz="3000" b="true">
                  <a:solidFill>
                    <a:srgbClr val="16171B"/>
                  </a:solidFill>
                  <a:latin typeface="Arial Bold"/>
                  <a:ea typeface="Arial Bold"/>
                  <a:cs typeface="Arial Bold"/>
                  <a:sym typeface="Arial Bold"/>
                </a:rPr>
                <a:t>Where is it?</a:t>
              </a:r>
            </a:p>
          </p:txBody>
        </p:sp>
      </p:grpSp>
      <p:sp>
        <p:nvSpPr>
          <p:cNvPr name="TextBox 15" id="15"/>
          <p:cNvSpPr txBox="true"/>
          <p:nvPr/>
        </p:nvSpPr>
        <p:spPr>
          <a:xfrm rot="0">
            <a:off x="1303020" y="5703570"/>
            <a:ext cx="4389120" cy="1703070"/>
          </a:xfrm>
          <a:prstGeom prst="rect">
            <a:avLst/>
          </a:prstGeom>
        </p:spPr>
        <p:txBody>
          <a:bodyPr anchor="t" rtlCol="false" tIns="0" lIns="0" bIns="0" rIns="0">
            <a:spAutoFit/>
          </a:bodyPr>
          <a:lstStyle/>
          <a:p>
            <a:pPr algn="l">
              <a:lnSpc>
                <a:spcPts val="2700"/>
              </a:lnSpc>
            </a:pPr>
            <a:r>
              <a:rPr lang="en-US" sz="2250">
                <a:solidFill>
                  <a:srgbClr val="5F626B"/>
                </a:solidFill>
                <a:latin typeface="Calibri (MS)"/>
                <a:ea typeface="Calibri (MS)"/>
                <a:cs typeface="Calibri (MS)"/>
                <a:sym typeface="Calibri (MS)"/>
              </a:rPr>
              <a:t>Buildings go by short forms: ACA, ME, Kodom Tola. New students and visitors can't tell which is which.</a:t>
            </a:r>
          </a:p>
        </p:txBody>
      </p:sp>
      <p:grpSp>
        <p:nvGrpSpPr>
          <p:cNvPr name="Group 16" id="16"/>
          <p:cNvGrpSpPr/>
          <p:nvPr/>
        </p:nvGrpSpPr>
        <p:grpSpPr>
          <a:xfrm rot="0">
            <a:off x="6436995" y="3213735"/>
            <a:ext cx="5299710" cy="4408170"/>
            <a:chOff x="0" y="0"/>
            <a:chExt cx="7066280" cy="5877560"/>
          </a:xfrm>
        </p:grpSpPr>
        <p:sp>
          <p:nvSpPr>
            <p:cNvPr name="Freeform 17" id="17"/>
            <p:cNvSpPr/>
            <p:nvPr/>
          </p:nvSpPr>
          <p:spPr>
            <a:xfrm flipH="false" flipV="false" rot="0">
              <a:off x="0" y="0"/>
              <a:ext cx="7066280" cy="5877433"/>
            </a:xfrm>
            <a:custGeom>
              <a:avLst/>
              <a:gdLst/>
              <a:ahLst/>
              <a:cxnLst/>
              <a:rect r="r" b="b" t="t" l="l"/>
              <a:pathLst>
                <a:path h="5877433" w="7066280">
                  <a:moveTo>
                    <a:pt x="0" y="220472"/>
                  </a:moveTo>
                  <a:cubicBezTo>
                    <a:pt x="0" y="98679"/>
                    <a:pt x="98679" y="0"/>
                    <a:pt x="220345" y="0"/>
                  </a:cubicBezTo>
                  <a:lnTo>
                    <a:pt x="6845808" y="0"/>
                  </a:lnTo>
                  <a:cubicBezTo>
                    <a:pt x="6967474" y="0"/>
                    <a:pt x="7066280" y="98679"/>
                    <a:pt x="7066280" y="220345"/>
                  </a:cubicBezTo>
                  <a:lnTo>
                    <a:pt x="7066280" y="5657088"/>
                  </a:lnTo>
                  <a:cubicBezTo>
                    <a:pt x="7066280" y="5778754"/>
                    <a:pt x="6967601" y="5877433"/>
                    <a:pt x="6845808" y="5877433"/>
                  </a:cubicBezTo>
                  <a:lnTo>
                    <a:pt x="220472" y="5877433"/>
                  </a:lnTo>
                  <a:cubicBezTo>
                    <a:pt x="98679" y="5877560"/>
                    <a:pt x="0" y="5778881"/>
                    <a:pt x="0" y="5657088"/>
                  </a:cubicBezTo>
                  <a:close/>
                </a:path>
              </a:pathLst>
            </a:custGeom>
            <a:solidFill>
              <a:srgbClr val="F3F4F6"/>
            </a:solidFill>
            <a:ln w="19050" cap="sq">
              <a:solidFill>
                <a:srgbClr val="F3F4F6"/>
              </a:solidFill>
              <a:prstDash val="solid"/>
              <a:miter/>
            </a:ln>
          </p:spPr>
        </p:sp>
      </p:grpSp>
      <p:grpSp>
        <p:nvGrpSpPr>
          <p:cNvPr name="Group 18" id="18"/>
          <p:cNvGrpSpPr/>
          <p:nvPr/>
        </p:nvGrpSpPr>
        <p:grpSpPr>
          <a:xfrm rot="0">
            <a:off x="6917055" y="3693795"/>
            <a:ext cx="1006602" cy="1006602"/>
            <a:chOff x="0" y="0"/>
            <a:chExt cx="1342136" cy="1342136"/>
          </a:xfrm>
        </p:grpSpPr>
        <p:sp>
          <p:nvSpPr>
            <p:cNvPr name="Freeform 19" id="19"/>
            <p:cNvSpPr/>
            <p:nvPr/>
          </p:nvSpPr>
          <p:spPr>
            <a:xfrm flipH="false" flipV="false" rot="0">
              <a:off x="0" y="0"/>
              <a:ext cx="1342136" cy="1342136"/>
            </a:xfrm>
            <a:custGeom>
              <a:avLst/>
              <a:gdLst/>
              <a:ahLst/>
              <a:cxnLst/>
              <a:rect r="r" b="b" t="t" l="l"/>
              <a:pathLst>
                <a:path h="1342136" w="1342136">
                  <a:moveTo>
                    <a:pt x="0" y="671068"/>
                  </a:moveTo>
                  <a:cubicBezTo>
                    <a:pt x="0" y="300482"/>
                    <a:pt x="300482" y="0"/>
                    <a:pt x="671068" y="0"/>
                  </a:cubicBezTo>
                  <a:cubicBezTo>
                    <a:pt x="1041654" y="0"/>
                    <a:pt x="1342136" y="300482"/>
                    <a:pt x="1342136" y="671068"/>
                  </a:cubicBezTo>
                  <a:cubicBezTo>
                    <a:pt x="1342136" y="1041654"/>
                    <a:pt x="1041654" y="1342136"/>
                    <a:pt x="671068" y="1342136"/>
                  </a:cubicBezTo>
                  <a:cubicBezTo>
                    <a:pt x="300482" y="1342136"/>
                    <a:pt x="0" y="1041654"/>
                    <a:pt x="0" y="671068"/>
                  </a:cubicBezTo>
                  <a:close/>
                </a:path>
              </a:pathLst>
            </a:custGeom>
            <a:solidFill>
              <a:srgbClr val="FBF4D2"/>
            </a:solidFill>
            <a:ln w="19050" cap="sq">
              <a:solidFill>
                <a:srgbClr val="FBF4D2"/>
              </a:solidFill>
              <a:prstDash val="solid"/>
              <a:miter/>
            </a:ln>
          </p:spPr>
        </p:sp>
      </p:grpSp>
      <p:grpSp>
        <p:nvGrpSpPr>
          <p:cNvPr name="Group 20" id="20"/>
          <p:cNvGrpSpPr/>
          <p:nvPr/>
        </p:nvGrpSpPr>
        <p:grpSpPr>
          <a:xfrm rot="0">
            <a:off x="7143845" y="3920585"/>
            <a:ext cx="553031" cy="553031"/>
            <a:chOff x="0" y="0"/>
            <a:chExt cx="737375" cy="737375"/>
          </a:xfrm>
        </p:grpSpPr>
        <p:sp>
          <p:nvSpPr>
            <p:cNvPr name="Freeform 21" id="21" descr="preencoded.png"/>
            <p:cNvSpPr/>
            <p:nvPr/>
          </p:nvSpPr>
          <p:spPr>
            <a:xfrm flipH="false" flipV="false" rot="0">
              <a:off x="0" y="0"/>
              <a:ext cx="737362" cy="737362"/>
            </a:xfrm>
            <a:custGeom>
              <a:avLst/>
              <a:gdLst/>
              <a:ahLst/>
              <a:cxnLst/>
              <a:rect r="r" b="b" t="t" l="l"/>
              <a:pathLst>
                <a:path h="737362" w="737362">
                  <a:moveTo>
                    <a:pt x="0" y="0"/>
                  </a:moveTo>
                  <a:lnTo>
                    <a:pt x="737362" y="0"/>
                  </a:lnTo>
                  <a:lnTo>
                    <a:pt x="737362" y="737362"/>
                  </a:lnTo>
                  <a:lnTo>
                    <a:pt x="0" y="737362"/>
                  </a:lnTo>
                  <a:lnTo>
                    <a:pt x="0" y="0"/>
                  </a:lnTo>
                  <a:close/>
                </a:path>
              </a:pathLst>
            </a:custGeom>
            <a:blipFill>
              <a:blip r:embed="rId5"/>
              <a:stretch>
                <a:fillRect l="0" t="0" r="-1" b="-1"/>
              </a:stretch>
            </a:blipFill>
          </p:spPr>
        </p:sp>
      </p:grpSp>
      <p:grpSp>
        <p:nvGrpSpPr>
          <p:cNvPr name="Group 22" id="22"/>
          <p:cNvGrpSpPr/>
          <p:nvPr/>
        </p:nvGrpSpPr>
        <p:grpSpPr>
          <a:xfrm rot="0">
            <a:off x="6926580" y="5006340"/>
            <a:ext cx="4389120" cy="617220"/>
            <a:chOff x="0" y="0"/>
            <a:chExt cx="5852160" cy="822960"/>
          </a:xfrm>
        </p:grpSpPr>
        <p:sp>
          <p:nvSpPr>
            <p:cNvPr name="Freeform 23" id="23"/>
            <p:cNvSpPr/>
            <p:nvPr/>
          </p:nvSpPr>
          <p:spPr>
            <a:xfrm flipH="false" flipV="false" rot="0">
              <a:off x="0" y="0"/>
              <a:ext cx="5852160" cy="822960"/>
            </a:xfrm>
            <a:custGeom>
              <a:avLst/>
              <a:gdLst/>
              <a:ahLst/>
              <a:cxnLst/>
              <a:rect r="r" b="b" t="t" l="l"/>
              <a:pathLst>
                <a:path h="822960" w="5852160">
                  <a:moveTo>
                    <a:pt x="0" y="0"/>
                  </a:moveTo>
                  <a:lnTo>
                    <a:pt x="5852160" y="0"/>
                  </a:lnTo>
                  <a:lnTo>
                    <a:pt x="5852160" y="822960"/>
                  </a:lnTo>
                  <a:lnTo>
                    <a:pt x="0" y="822960"/>
                  </a:lnTo>
                  <a:close/>
                </a:path>
              </a:pathLst>
            </a:custGeom>
            <a:blipFill>
              <a:blip r:embed="rId3">
                <a:alphaModFix amt="0"/>
              </a:blip>
              <a:stretch>
                <a:fillRect l="0" t="-88560" r="0" b="-88560"/>
              </a:stretch>
            </a:blipFill>
          </p:spPr>
        </p:sp>
        <p:sp>
          <p:nvSpPr>
            <p:cNvPr name="TextBox 24" id="24"/>
            <p:cNvSpPr txBox="true"/>
            <p:nvPr/>
          </p:nvSpPr>
          <p:spPr>
            <a:xfrm>
              <a:off x="0" y="-19050"/>
              <a:ext cx="5852160" cy="842010"/>
            </a:xfrm>
            <a:prstGeom prst="rect">
              <a:avLst/>
            </a:prstGeom>
          </p:spPr>
          <p:txBody>
            <a:bodyPr anchor="ctr" rtlCol="false" tIns="0" lIns="0" bIns="0" rIns="0"/>
            <a:lstStyle/>
            <a:p>
              <a:pPr algn="l">
                <a:lnSpc>
                  <a:spcPts val="3600"/>
                </a:lnSpc>
              </a:pPr>
              <a:r>
                <a:rPr lang="en-US" sz="3000" b="true">
                  <a:solidFill>
                    <a:srgbClr val="16171B"/>
                  </a:solidFill>
                  <a:latin typeface="Arial Bold"/>
                  <a:ea typeface="Arial Bold"/>
                  <a:cs typeface="Arial Bold"/>
                  <a:sym typeface="Arial Bold"/>
                </a:rPr>
                <a:t>How do I get there?</a:t>
              </a:r>
            </a:p>
          </p:txBody>
        </p:sp>
      </p:grpSp>
      <p:sp>
        <p:nvSpPr>
          <p:cNvPr name="TextBox 25" id="25"/>
          <p:cNvSpPr txBox="true"/>
          <p:nvPr/>
        </p:nvSpPr>
        <p:spPr>
          <a:xfrm rot="0">
            <a:off x="6926580" y="5703570"/>
            <a:ext cx="4389120" cy="1703070"/>
          </a:xfrm>
          <a:prstGeom prst="rect">
            <a:avLst/>
          </a:prstGeom>
        </p:spPr>
        <p:txBody>
          <a:bodyPr anchor="t" rtlCol="false" tIns="0" lIns="0" bIns="0" rIns="0">
            <a:spAutoFit/>
          </a:bodyPr>
          <a:lstStyle/>
          <a:p>
            <a:pPr algn="l">
              <a:lnSpc>
                <a:spcPts val="2700"/>
              </a:lnSpc>
            </a:pPr>
            <a:r>
              <a:rPr lang="en-US" sz="2250">
                <a:solidFill>
                  <a:srgbClr val="5F626B"/>
                </a:solidFill>
                <a:latin typeface="Calibri (MS)"/>
                <a:ea typeface="Calibri (MS)"/>
                <a:cs typeface="Calibri (MS)"/>
                <a:sym typeface="Calibri (MS)"/>
              </a:rPr>
              <a:t>The obvious-looking walk is often not the real one. From the gate to the library you go past the halls.</a:t>
            </a:r>
          </a:p>
        </p:txBody>
      </p:sp>
      <p:grpSp>
        <p:nvGrpSpPr>
          <p:cNvPr name="Group 26" id="26"/>
          <p:cNvGrpSpPr/>
          <p:nvPr/>
        </p:nvGrpSpPr>
        <p:grpSpPr>
          <a:xfrm rot="0">
            <a:off x="12060555" y="3213735"/>
            <a:ext cx="5299710" cy="4408170"/>
            <a:chOff x="0" y="0"/>
            <a:chExt cx="7066280" cy="5877560"/>
          </a:xfrm>
        </p:grpSpPr>
        <p:sp>
          <p:nvSpPr>
            <p:cNvPr name="Freeform 27" id="27"/>
            <p:cNvSpPr/>
            <p:nvPr/>
          </p:nvSpPr>
          <p:spPr>
            <a:xfrm flipH="false" flipV="false" rot="0">
              <a:off x="0" y="0"/>
              <a:ext cx="7066280" cy="5877433"/>
            </a:xfrm>
            <a:custGeom>
              <a:avLst/>
              <a:gdLst/>
              <a:ahLst/>
              <a:cxnLst/>
              <a:rect r="r" b="b" t="t" l="l"/>
              <a:pathLst>
                <a:path h="5877433" w="7066280">
                  <a:moveTo>
                    <a:pt x="0" y="220472"/>
                  </a:moveTo>
                  <a:cubicBezTo>
                    <a:pt x="0" y="98679"/>
                    <a:pt x="98679" y="0"/>
                    <a:pt x="220345" y="0"/>
                  </a:cubicBezTo>
                  <a:lnTo>
                    <a:pt x="6845808" y="0"/>
                  </a:lnTo>
                  <a:cubicBezTo>
                    <a:pt x="6967474" y="0"/>
                    <a:pt x="7066280" y="98679"/>
                    <a:pt x="7066280" y="220345"/>
                  </a:cubicBezTo>
                  <a:lnTo>
                    <a:pt x="7066280" y="5657088"/>
                  </a:lnTo>
                  <a:cubicBezTo>
                    <a:pt x="7066280" y="5778754"/>
                    <a:pt x="6967601" y="5877433"/>
                    <a:pt x="6845808" y="5877433"/>
                  </a:cubicBezTo>
                  <a:lnTo>
                    <a:pt x="220472" y="5877433"/>
                  </a:lnTo>
                  <a:cubicBezTo>
                    <a:pt x="98679" y="5877560"/>
                    <a:pt x="0" y="5778881"/>
                    <a:pt x="0" y="5657088"/>
                  </a:cubicBezTo>
                  <a:close/>
                </a:path>
              </a:pathLst>
            </a:custGeom>
            <a:solidFill>
              <a:srgbClr val="F3F4F6"/>
            </a:solidFill>
            <a:ln w="19050" cap="sq">
              <a:solidFill>
                <a:srgbClr val="F3F4F6"/>
              </a:solidFill>
              <a:prstDash val="solid"/>
              <a:miter/>
            </a:ln>
          </p:spPr>
        </p:sp>
      </p:grpSp>
      <p:grpSp>
        <p:nvGrpSpPr>
          <p:cNvPr name="Group 28" id="28"/>
          <p:cNvGrpSpPr/>
          <p:nvPr/>
        </p:nvGrpSpPr>
        <p:grpSpPr>
          <a:xfrm rot="0">
            <a:off x="12540615" y="3693795"/>
            <a:ext cx="1006602" cy="1006602"/>
            <a:chOff x="0" y="0"/>
            <a:chExt cx="1342136" cy="1342136"/>
          </a:xfrm>
        </p:grpSpPr>
        <p:sp>
          <p:nvSpPr>
            <p:cNvPr name="Freeform 29" id="29"/>
            <p:cNvSpPr/>
            <p:nvPr/>
          </p:nvSpPr>
          <p:spPr>
            <a:xfrm flipH="false" flipV="false" rot="0">
              <a:off x="0" y="0"/>
              <a:ext cx="1342136" cy="1342136"/>
            </a:xfrm>
            <a:custGeom>
              <a:avLst/>
              <a:gdLst/>
              <a:ahLst/>
              <a:cxnLst/>
              <a:rect r="r" b="b" t="t" l="l"/>
              <a:pathLst>
                <a:path h="1342136" w="1342136">
                  <a:moveTo>
                    <a:pt x="0" y="671068"/>
                  </a:moveTo>
                  <a:cubicBezTo>
                    <a:pt x="0" y="300482"/>
                    <a:pt x="300482" y="0"/>
                    <a:pt x="671068" y="0"/>
                  </a:cubicBezTo>
                  <a:cubicBezTo>
                    <a:pt x="1041654" y="0"/>
                    <a:pt x="1342136" y="300482"/>
                    <a:pt x="1342136" y="671068"/>
                  </a:cubicBezTo>
                  <a:cubicBezTo>
                    <a:pt x="1342136" y="1041654"/>
                    <a:pt x="1041654" y="1342136"/>
                    <a:pt x="671068" y="1342136"/>
                  </a:cubicBezTo>
                  <a:cubicBezTo>
                    <a:pt x="300482" y="1342136"/>
                    <a:pt x="0" y="1041654"/>
                    <a:pt x="0" y="671068"/>
                  </a:cubicBezTo>
                  <a:close/>
                </a:path>
              </a:pathLst>
            </a:custGeom>
            <a:solidFill>
              <a:srgbClr val="FBF4D2"/>
            </a:solidFill>
            <a:ln w="19050" cap="sq">
              <a:solidFill>
                <a:srgbClr val="FBF4D2"/>
              </a:solidFill>
              <a:prstDash val="solid"/>
              <a:miter/>
            </a:ln>
          </p:spPr>
        </p:sp>
      </p:grpSp>
      <p:grpSp>
        <p:nvGrpSpPr>
          <p:cNvPr name="Group 30" id="30"/>
          <p:cNvGrpSpPr/>
          <p:nvPr/>
        </p:nvGrpSpPr>
        <p:grpSpPr>
          <a:xfrm rot="0">
            <a:off x="12767405" y="3920585"/>
            <a:ext cx="553031" cy="553031"/>
            <a:chOff x="0" y="0"/>
            <a:chExt cx="737375" cy="737375"/>
          </a:xfrm>
        </p:grpSpPr>
        <p:sp>
          <p:nvSpPr>
            <p:cNvPr name="Freeform 31" id="31" descr="preencoded.png"/>
            <p:cNvSpPr/>
            <p:nvPr/>
          </p:nvSpPr>
          <p:spPr>
            <a:xfrm flipH="false" flipV="false" rot="0">
              <a:off x="0" y="0"/>
              <a:ext cx="737362" cy="737362"/>
            </a:xfrm>
            <a:custGeom>
              <a:avLst/>
              <a:gdLst/>
              <a:ahLst/>
              <a:cxnLst/>
              <a:rect r="r" b="b" t="t" l="l"/>
              <a:pathLst>
                <a:path h="737362" w="737362">
                  <a:moveTo>
                    <a:pt x="0" y="0"/>
                  </a:moveTo>
                  <a:lnTo>
                    <a:pt x="737362" y="0"/>
                  </a:lnTo>
                  <a:lnTo>
                    <a:pt x="737362" y="737362"/>
                  </a:lnTo>
                  <a:lnTo>
                    <a:pt x="0" y="737362"/>
                  </a:lnTo>
                  <a:lnTo>
                    <a:pt x="0" y="0"/>
                  </a:lnTo>
                  <a:close/>
                </a:path>
              </a:pathLst>
            </a:custGeom>
            <a:blipFill>
              <a:blip r:embed="rId6"/>
              <a:stretch>
                <a:fillRect l="0" t="0" r="-1" b="-1"/>
              </a:stretch>
            </a:blipFill>
          </p:spPr>
        </p:sp>
      </p:grpSp>
      <p:grpSp>
        <p:nvGrpSpPr>
          <p:cNvPr name="Group 32" id="32"/>
          <p:cNvGrpSpPr/>
          <p:nvPr/>
        </p:nvGrpSpPr>
        <p:grpSpPr>
          <a:xfrm rot="0">
            <a:off x="12550140" y="5006340"/>
            <a:ext cx="4389120" cy="617220"/>
            <a:chOff x="0" y="0"/>
            <a:chExt cx="5852160" cy="822960"/>
          </a:xfrm>
        </p:grpSpPr>
        <p:sp>
          <p:nvSpPr>
            <p:cNvPr name="Freeform 33" id="33"/>
            <p:cNvSpPr/>
            <p:nvPr/>
          </p:nvSpPr>
          <p:spPr>
            <a:xfrm flipH="false" flipV="false" rot="0">
              <a:off x="0" y="0"/>
              <a:ext cx="5852160" cy="822960"/>
            </a:xfrm>
            <a:custGeom>
              <a:avLst/>
              <a:gdLst/>
              <a:ahLst/>
              <a:cxnLst/>
              <a:rect r="r" b="b" t="t" l="l"/>
              <a:pathLst>
                <a:path h="822960" w="5852160">
                  <a:moveTo>
                    <a:pt x="0" y="0"/>
                  </a:moveTo>
                  <a:lnTo>
                    <a:pt x="5852160" y="0"/>
                  </a:lnTo>
                  <a:lnTo>
                    <a:pt x="5852160" y="822960"/>
                  </a:lnTo>
                  <a:lnTo>
                    <a:pt x="0" y="822960"/>
                  </a:lnTo>
                  <a:close/>
                </a:path>
              </a:pathLst>
            </a:custGeom>
            <a:blipFill>
              <a:blip r:embed="rId3">
                <a:alphaModFix amt="0"/>
              </a:blip>
              <a:stretch>
                <a:fillRect l="0" t="-88560" r="0" b="-88560"/>
              </a:stretch>
            </a:blipFill>
          </p:spPr>
        </p:sp>
        <p:sp>
          <p:nvSpPr>
            <p:cNvPr name="TextBox 34" id="34"/>
            <p:cNvSpPr txBox="true"/>
            <p:nvPr/>
          </p:nvSpPr>
          <p:spPr>
            <a:xfrm>
              <a:off x="0" y="-19050"/>
              <a:ext cx="5852160" cy="842010"/>
            </a:xfrm>
            <a:prstGeom prst="rect">
              <a:avLst/>
            </a:prstGeom>
          </p:spPr>
          <p:txBody>
            <a:bodyPr anchor="ctr" rtlCol="false" tIns="0" lIns="0" bIns="0" rIns="0"/>
            <a:lstStyle/>
            <a:p>
              <a:pPr algn="l">
                <a:lnSpc>
                  <a:spcPts val="3600"/>
                </a:lnSpc>
              </a:pPr>
              <a:r>
                <a:rPr lang="en-US" sz="3000" b="true">
                  <a:solidFill>
                    <a:srgbClr val="16171B"/>
                  </a:solidFill>
                  <a:latin typeface="Arial Bold"/>
                  <a:ea typeface="Arial Bold"/>
                  <a:cs typeface="Arial Bold"/>
                  <a:sym typeface="Arial Bold"/>
                </a:rPr>
                <a:t>What's near me?</a:t>
              </a:r>
            </a:p>
          </p:txBody>
        </p:sp>
      </p:grpSp>
      <p:sp>
        <p:nvSpPr>
          <p:cNvPr name="TextBox 35" id="35"/>
          <p:cNvSpPr txBox="true"/>
          <p:nvPr/>
        </p:nvSpPr>
        <p:spPr>
          <a:xfrm rot="0">
            <a:off x="12550140" y="5703570"/>
            <a:ext cx="4389120" cy="1703070"/>
          </a:xfrm>
          <a:prstGeom prst="rect">
            <a:avLst/>
          </a:prstGeom>
        </p:spPr>
        <p:txBody>
          <a:bodyPr anchor="t" rtlCol="false" tIns="0" lIns="0" bIns="0" rIns="0">
            <a:spAutoFit/>
          </a:bodyPr>
          <a:lstStyle/>
          <a:p>
            <a:pPr algn="l">
              <a:lnSpc>
                <a:spcPts val="2700"/>
              </a:lnSpc>
            </a:pPr>
            <a:r>
              <a:rPr lang="en-US" sz="2250">
                <a:solidFill>
                  <a:srgbClr val="5F626B"/>
                </a:solidFill>
                <a:latin typeface="Calibri (MS)"/>
                <a:ea typeface="Calibri (MS)"/>
                <a:cs typeface="Calibri (MS)"/>
                <a:sym typeface="Calibri (MS)"/>
              </a:rPr>
              <a:t>Standing somewhere on campus, nothing tells you which hall, bank or canteen is closest.</a:t>
            </a:r>
          </a:p>
        </p:txBody>
      </p:sp>
      <p:grpSp>
        <p:nvGrpSpPr>
          <p:cNvPr name="Group 36" id="36"/>
          <p:cNvGrpSpPr/>
          <p:nvPr/>
        </p:nvGrpSpPr>
        <p:grpSpPr>
          <a:xfrm rot="0">
            <a:off x="822960" y="8161020"/>
            <a:ext cx="16459200" cy="548640"/>
            <a:chOff x="0" y="0"/>
            <a:chExt cx="21945600" cy="731520"/>
          </a:xfrm>
        </p:grpSpPr>
        <p:sp>
          <p:nvSpPr>
            <p:cNvPr name="Freeform 37" id="37"/>
            <p:cNvSpPr/>
            <p:nvPr/>
          </p:nvSpPr>
          <p:spPr>
            <a:xfrm flipH="false" flipV="false" rot="0">
              <a:off x="0" y="0"/>
              <a:ext cx="21945600" cy="731520"/>
            </a:xfrm>
            <a:custGeom>
              <a:avLst/>
              <a:gdLst/>
              <a:ahLst/>
              <a:cxnLst/>
              <a:rect r="r" b="b" t="t" l="l"/>
              <a:pathLst>
                <a:path h="731520" w="21945600">
                  <a:moveTo>
                    <a:pt x="0" y="0"/>
                  </a:moveTo>
                  <a:lnTo>
                    <a:pt x="21945600" y="0"/>
                  </a:lnTo>
                  <a:lnTo>
                    <a:pt x="21945600" y="731520"/>
                  </a:lnTo>
                  <a:lnTo>
                    <a:pt x="0" y="731520"/>
                  </a:lnTo>
                  <a:close/>
                </a:path>
              </a:pathLst>
            </a:custGeom>
            <a:blipFill>
              <a:blip r:embed="rId3">
                <a:alphaModFix amt="0"/>
              </a:blip>
              <a:stretch>
                <a:fillRect l="0" t="-534551" r="0" b="-534551"/>
              </a:stretch>
            </a:blipFill>
          </p:spPr>
        </p:sp>
        <p:sp>
          <p:nvSpPr>
            <p:cNvPr name="TextBox 38" id="38"/>
            <p:cNvSpPr txBox="true"/>
            <p:nvPr/>
          </p:nvSpPr>
          <p:spPr>
            <a:xfrm>
              <a:off x="0" y="-38100"/>
              <a:ext cx="21945600" cy="769620"/>
            </a:xfrm>
            <a:prstGeom prst="rect">
              <a:avLst/>
            </a:prstGeom>
          </p:spPr>
          <p:txBody>
            <a:bodyPr anchor="ctr" rtlCol="false" tIns="0" lIns="0" bIns="0" rIns="0"/>
            <a:lstStyle/>
            <a:p>
              <a:pPr algn="l">
                <a:lnSpc>
                  <a:spcPts val="2879"/>
                </a:lnSpc>
              </a:pPr>
              <a:r>
                <a:rPr lang="en-US" sz="2400" i="true">
                  <a:solidFill>
                    <a:srgbClr val="16171B"/>
                  </a:solidFill>
                  <a:latin typeface="Calibri (MS) Italics"/>
                  <a:ea typeface="Calibri (MS) Italics"/>
                  <a:cs typeface="Calibri (MS) Italics"/>
                  <a:sym typeface="Calibri (MS) Italics"/>
                </a:rPr>
                <a:t>We wanted one small program that answers all three, using only what we learned in this course.</a:t>
              </a:r>
            </a:p>
          </p:txBody>
        </p:sp>
      </p:grpSp>
      <p:sp>
        <p:nvSpPr>
          <p:cNvPr name="TextBox 39" id="39"/>
          <p:cNvSpPr txBox="true"/>
          <p:nvPr/>
        </p:nvSpPr>
        <p:spPr>
          <a:xfrm rot="0">
            <a:off x="1028700" y="2020253"/>
            <a:ext cx="6562725" cy="733425"/>
          </a:xfrm>
          <a:prstGeom prst="rect">
            <a:avLst/>
          </a:prstGeom>
        </p:spPr>
        <p:txBody>
          <a:bodyPr anchor="t" rtlCol="false" tIns="0" lIns="0" bIns="0" rIns="0">
            <a:spAutoFit/>
          </a:bodyPr>
          <a:lstStyle/>
          <a:p>
            <a:pPr algn="ctr">
              <a:lnSpc>
                <a:spcPts val="5129"/>
              </a:lnSpc>
              <a:spcBef>
                <a:spcPct val="0"/>
              </a:spcBef>
            </a:pPr>
            <a:r>
              <a:rPr lang="en-US" sz="4274" i="true">
                <a:solidFill>
                  <a:srgbClr val="000000"/>
                </a:solidFill>
                <a:latin typeface="Calibri (MS) Italics"/>
                <a:ea typeface="Calibri (MS) Italics"/>
                <a:cs typeface="Calibri (MS) Italics"/>
                <a:sym typeface="Calibri (MS) Italics"/>
              </a:rPr>
              <a:t>nothing that tells you the way</a:t>
            </a:r>
          </a:p>
        </p:txBody>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CHOLOKUET AT A GLANCE</a:t>
              </a:r>
            </a:p>
          </p:txBody>
        </p:sp>
      </p:grpSp>
      <p:sp>
        <p:nvSpPr>
          <p:cNvPr name="TextBox 5" id="5"/>
          <p:cNvSpPr txBox="true"/>
          <p:nvPr/>
        </p:nvSpPr>
        <p:spPr>
          <a:xfrm rot="0">
            <a:off x="822960" y="1168908"/>
            <a:ext cx="14416897" cy="2034786"/>
          </a:xfrm>
          <a:prstGeom prst="rect">
            <a:avLst/>
          </a:prstGeom>
        </p:spPr>
        <p:txBody>
          <a:bodyPr anchor="t" rtlCol="false" tIns="0" lIns="0" bIns="0" rIns="0">
            <a:spAutoFit/>
          </a:bodyPr>
          <a:lstStyle/>
          <a:p>
            <a:pPr algn="l">
              <a:lnSpc>
                <a:spcPts val="7919"/>
              </a:lnSpc>
            </a:pPr>
            <a:r>
              <a:rPr lang="en-US" sz="6599" b="true">
                <a:solidFill>
                  <a:srgbClr val="FFFFFF"/>
                </a:solidFill>
                <a:latin typeface="Arial Bold"/>
                <a:ea typeface="Arial Bold"/>
                <a:cs typeface="Arial Bold"/>
                <a:sym typeface="Arial Bold"/>
              </a:rPr>
              <a:t>Say where you are and where to go. Get the way.</a:t>
            </a:r>
          </a:p>
        </p:txBody>
      </p:sp>
      <p:grpSp>
        <p:nvGrpSpPr>
          <p:cNvPr name="Group 6" id="6"/>
          <p:cNvGrpSpPr/>
          <p:nvPr/>
        </p:nvGrpSpPr>
        <p:grpSpPr>
          <a:xfrm rot="0">
            <a:off x="3995495" y="3612464"/>
            <a:ext cx="3977640" cy="1508760"/>
            <a:chOff x="0" y="0"/>
            <a:chExt cx="5303520" cy="2011680"/>
          </a:xfrm>
        </p:grpSpPr>
        <p:sp>
          <p:nvSpPr>
            <p:cNvPr name="Freeform 7" id="7"/>
            <p:cNvSpPr/>
            <p:nvPr/>
          </p:nvSpPr>
          <p:spPr>
            <a:xfrm flipH="false" flipV="false" rot="0">
              <a:off x="0" y="0"/>
              <a:ext cx="5303520" cy="2011680"/>
            </a:xfrm>
            <a:custGeom>
              <a:avLst/>
              <a:gdLst/>
              <a:ahLst/>
              <a:cxnLst/>
              <a:rect r="r" b="b" t="t" l="l"/>
              <a:pathLst>
                <a:path h="2011680" w="5303520">
                  <a:moveTo>
                    <a:pt x="0" y="0"/>
                  </a:moveTo>
                  <a:lnTo>
                    <a:pt x="5303520" y="0"/>
                  </a:lnTo>
                  <a:lnTo>
                    <a:pt x="5303520" y="2011680"/>
                  </a:lnTo>
                  <a:lnTo>
                    <a:pt x="0" y="2011680"/>
                  </a:lnTo>
                  <a:close/>
                </a:path>
              </a:pathLst>
            </a:custGeom>
            <a:blipFill>
              <a:blip r:embed="rId3">
                <a:alphaModFix amt="0"/>
              </a:blip>
              <a:stretch>
                <a:fillRect l="0" t="-1369" r="0" b="-1369"/>
              </a:stretch>
            </a:blipFill>
          </p:spPr>
        </p:sp>
        <p:sp>
          <p:nvSpPr>
            <p:cNvPr name="TextBox 8" id="8"/>
            <p:cNvSpPr txBox="true"/>
            <p:nvPr/>
          </p:nvSpPr>
          <p:spPr>
            <a:xfrm>
              <a:off x="0" y="-47625"/>
              <a:ext cx="5303520" cy="2059305"/>
            </a:xfrm>
            <a:prstGeom prst="rect">
              <a:avLst/>
            </a:prstGeom>
          </p:spPr>
          <p:txBody>
            <a:bodyPr anchor="ctr" rtlCol="false" tIns="0" lIns="0" bIns="0" rIns="0"/>
            <a:lstStyle/>
            <a:p>
              <a:pPr algn="l">
                <a:lnSpc>
                  <a:spcPts val="11519"/>
                </a:lnSpc>
              </a:pPr>
              <a:r>
                <a:rPr lang="en-US" sz="9600" b="true">
                  <a:solidFill>
                    <a:srgbClr val="D9B100"/>
                  </a:solidFill>
                  <a:latin typeface="Arial Bold"/>
                  <a:ea typeface="Arial Bold"/>
                  <a:cs typeface="Arial Bold"/>
                  <a:sym typeface="Arial Bold"/>
                </a:rPr>
                <a:t>44</a:t>
              </a:r>
            </a:p>
          </p:txBody>
        </p:sp>
      </p:grpSp>
      <p:grpSp>
        <p:nvGrpSpPr>
          <p:cNvPr name="Group 9" id="9"/>
          <p:cNvGrpSpPr/>
          <p:nvPr/>
        </p:nvGrpSpPr>
        <p:grpSpPr>
          <a:xfrm rot="0">
            <a:off x="3995495" y="5121224"/>
            <a:ext cx="3977640" cy="480060"/>
            <a:chOff x="0" y="0"/>
            <a:chExt cx="5303520" cy="640080"/>
          </a:xfrm>
        </p:grpSpPr>
        <p:sp>
          <p:nvSpPr>
            <p:cNvPr name="Freeform 10" id="10"/>
            <p:cNvSpPr/>
            <p:nvPr/>
          </p:nvSpPr>
          <p:spPr>
            <a:xfrm flipH="false" flipV="false" rot="0">
              <a:off x="0" y="0"/>
              <a:ext cx="5303520" cy="640080"/>
            </a:xfrm>
            <a:custGeom>
              <a:avLst/>
              <a:gdLst/>
              <a:ahLst/>
              <a:cxnLst/>
              <a:rect r="r" b="b" t="t" l="l"/>
              <a:pathLst>
                <a:path h="640080" w="5303520">
                  <a:moveTo>
                    <a:pt x="0" y="0"/>
                  </a:moveTo>
                  <a:lnTo>
                    <a:pt x="5303520" y="0"/>
                  </a:lnTo>
                  <a:lnTo>
                    <a:pt x="5303520" y="640080"/>
                  </a:lnTo>
                  <a:lnTo>
                    <a:pt x="0" y="640080"/>
                  </a:lnTo>
                  <a:close/>
                </a:path>
              </a:pathLst>
            </a:custGeom>
            <a:blipFill>
              <a:blip r:embed="rId3">
                <a:alphaModFix amt="0"/>
              </a:blip>
              <a:stretch>
                <a:fillRect l="0" t="-111447" r="0" b="-111447"/>
              </a:stretch>
            </a:blipFill>
          </p:spPr>
        </p:sp>
        <p:sp>
          <p:nvSpPr>
            <p:cNvPr name="TextBox 11" id="11"/>
            <p:cNvSpPr txBox="true"/>
            <p:nvPr/>
          </p:nvSpPr>
          <p:spPr>
            <a:xfrm>
              <a:off x="0" y="-57150"/>
              <a:ext cx="5303520" cy="697230"/>
            </a:xfrm>
            <a:prstGeom prst="rect">
              <a:avLst/>
            </a:prstGeom>
          </p:spPr>
          <p:txBody>
            <a:bodyPr anchor="ctr" rtlCol="false" tIns="0" lIns="0" bIns="0" rIns="0"/>
            <a:lstStyle/>
            <a:p>
              <a:pPr algn="l">
                <a:lnSpc>
                  <a:spcPts val="2700"/>
                </a:lnSpc>
              </a:pPr>
              <a:r>
                <a:rPr lang="en-US" sz="2250">
                  <a:solidFill>
                    <a:srgbClr val="C9CAD0"/>
                  </a:solidFill>
                  <a:latin typeface="Calibri (MS)"/>
                  <a:ea typeface="Calibri (MS)"/>
                  <a:cs typeface="Calibri (MS)"/>
                  <a:sym typeface="Calibri (MS)"/>
                </a:rPr>
                <a:t>places on campus</a:t>
              </a:r>
            </a:p>
          </p:txBody>
        </p:sp>
      </p:grpSp>
      <p:grpSp>
        <p:nvGrpSpPr>
          <p:cNvPr name="Group 12" id="12"/>
          <p:cNvGrpSpPr/>
          <p:nvPr/>
        </p:nvGrpSpPr>
        <p:grpSpPr>
          <a:xfrm rot="0">
            <a:off x="6852614" y="3612464"/>
            <a:ext cx="3977640" cy="1508760"/>
            <a:chOff x="0" y="0"/>
            <a:chExt cx="5303520" cy="2011680"/>
          </a:xfrm>
        </p:grpSpPr>
        <p:sp>
          <p:nvSpPr>
            <p:cNvPr name="Freeform 13" id="13"/>
            <p:cNvSpPr/>
            <p:nvPr/>
          </p:nvSpPr>
          <p:spPr>
            <a:xfrm flipH="false" flipV="false" rot="0">
              <a:off x="0" y="0"/>
              <a:ext cx="5303520" cy="2011680"/>
            </a:xfrm>
            <a:custGeom>
              <a:avLst/>
              <a:gdLst/>
              <a:ahLst/>
              <a:cxnLst/>
              <a:rect r="r" b="b" t="t" l="l"/>
              <a:pathLst>
                <a:path h="2011680" w="5303520">
                  <a:moveTo>
                    <a:pt x="0" y="0"/>
                  </a:moveTo>
                  <a:lnTo>
                    <a:pt x="5303520" y="0"/>
                  </a:lnTo>
                  <a:lnTo>
                    <a:pt x="5303520" y="2011680"/>
                  </a:lnTo>
                  <a:lnTo>
                    <a:pt x="0" y="2011680"/>
                  </a:lnTo>
                  <a:close/>
                </a:path>
              </a:pathLst>
            </a:custGeom>
            <a:blipFill>
              <a:blip r:embed="rId3">
                <a:alphaModFix amt="0"/>
              </a:blip>
              <a:stretch>
                <a:fillRect l="0" t="-1369" r="0" b="-1369"/>
              </a:stretch>
            </a:blipFill>
          </p:spPr>
        </p:sp>
        <p:sp>
          <p:nvSpPr>
            <p:cNvPr name="TextBox 14" id="14"/>
            <p:cNvSpPr txBox="true"/>
            <p:nvPr/>
          </p:nvSpPr>
          <p:spPr>
            <a:xfrm>
              <a:off x="0" y="-47625"/>
              <a:ext cx="5303520" cy="2059305"/>
            </a:xfrm>
            <a:prstGeom prst="rect">
              <a:avLst/>
            </a:prstGeom>
          </p:spPr>
          <p:txBody>
            <a:bodyPr anchor="ctr" rtlCol="false" tIns="0" lIns="0" bIns="0" rIns="0"/>
            <a:lstStyle/>
            <a:p>
              <a:pPr algn="l">
                <a:lnSpc>
                  <a:spcPts val="11519"/>
                </a:lnSpc>
              </a:pPr>
              <a:r>
                <a:rPr lang="en-US" sz="9600" b="true">
                  <a:solidFill>
                    <a:srgbClr val="D9B100"/>
                  </a:solidFill>
                  <a:latin typeface="Arial Bold"/>
                  <a:ea typeface="Arial Bold"/>
                  <a:cs typeface="Arial Bold"/>
                  <a:sym typeface="Arial Bold"/>
                </a:rPr>
                <a:t>56</a:t>
              </a:r>
            </a:p>
          </p:txBody>
        </p:sp>
      </p:grpSp>
      <p:grpSp>
        <p:nvGrpSpPr>
          <p:cNvPr name="Group 15" id="15"/>
          <p:cNvGrpSpPr/>
          <p:nvPr/>
        </p:nvGrpSpPr>
        <p:grpSpPr>
          <a:xfrm rot="0">
            <a:off x="6852614" y="5121224"/>
            <a:ext cx="3977640" cy="480060"/>
            <a:chOff x="0" y="0"/>
            <a:chExt cx="5303520" cy="640080"/>
          </a:xfrm>
        </p:grpSpPr>
        <p:sp>
          <p:nvSpPr>
            <p:cNvPr name="Freeform 16" id="16"/>
            <p:cNvSpPr/>
            <p:nvPr/>
          </p:nvSpPr>
          <p:spPr>
            <a:xfrm flipH="false" flipV="false" rot="0">
              <a:off x="0" y="0"/>
              <a:ext cx="5303520" cy="640080"/>
            </a:xfrm>
            <a:custGeom>
              <a:avLst/>
              <a:gdLst/>
              <a:ahLst/>
              <a:cxnLst/>
              <a:rect r="r" b="b" t="t" l="l"/>
              <a:pathLst>
                <a:path h="640080" w="5303520">
                  <a:moveTo>
                    <a:pt x="0" y="0"/>
                  </a:moveTo>
                  <a:lnTo>
                    <a:pt x="5303520" y="0"/>
                  </a:lnTo>
                  <a:lnTo>
                    <a:pt x="5303520" y="640080"/>
                  </a:lnTo>
                  <a:lnTo>
                    <a:pt x="0" y="640080"/>
                  </a:lnTo>
                  <a:close/>
                </a:path>
              </a:pathLst>
            </a:custGeom>
            <a:blipFill>
              <a:blip r:embed="rId3">
                <a:alphaModFix amt="0"/>
              </a:blip>
              <a:stretch>
                <a:fillRect l="0" t="-111447" r="0" b="-111447"/>
              </a:stretch>
            </a:blipFill>
          </p:spPr>
        </p:sp>
        <p:sp>
          <p:nvSpPr>
            <p:cNvPr name="TextBox 17" id="17"/>
            <p:cNvSpPr txBox="true"/>
            <p:nvPr/>
          </p:nvSpPr>
          <p:spPr>
            <a:xfrm>
              <a:off x="0" y="-57150"/>
              <a:ext cx="5303520" cy="697230"/>
            </a:xfrm>
            <a:prstGeom prst="rect">
              <a:avLst/>
            </a:prstGeom>
          </p:spPr>
          <p:txBody>
            <a:bodyPr anchor="ctr" rtlCol="false" tIns="0" lIns="0" bIns="0" rIns="0"/>
            <a:lstStyle/>
            <a:p>
              <a:pPr algn="l">
                <a:lnSpc>
                  <a:spcPts val="2700"/>
                </a:lnSpc>
              </a:pPr>
              <a:r>
                <a:rPr lang="en-US" sz="2250">
                  <a:solidFill>
                    <a:srgbClr val="C9CAD0"/>
                  </a:solidFill>
                  <a:latin typeface="Calibri (MS)"/>
                  <a:ea typeface="Calibri (MS)"/>
                  <a:cs typeface="Calibri (MS)"/>
                  <a:sym typeface="Calibri (MS)"/>
                </a:rPr>
                <a:t>walkways</a:t>
              </a:r>
            </a:p>
          </p:txBody>
        </p:sp>
      </p:grpSp>
      <p:grpSp>
        <p:nvGrpSpPr>
          <p:cNvPr name="Group 18" id="18"/>
          <p:cNvGrpSpPr/>
          <p:nvPr/>
        </p:nvGrpSpPr>
        <p:grpSpPr>
          <a:xfrm rot="0">
            <a:off x="9215120" y="3612464"/>
            <a:ext cx="3977640" cy="1508760"/>
            <a:chOff x="0" y="0"/>
            <a:chExt cx="5303520" cy="2011680"/>
          </a:xfrm>
        </p:grpSpPr>
        <p:sp>
          <p:nvSpPr>
            <p:cNvPr name="Freeform 19" id="19"/>
            <p:cNvSpPr/>
            <p:nvPr/>
          </p:nvSpPr>
          <p:spPr>
            <a:xfrm flipH="false" flipV="false" rot="0">
              <a:off x="0" y="0"/>
              <a:ext cx="5303520" cy="2011680"/>
            </a:xfrm>
            <a:custGeom>
              <a:avLst/>
              <a:gdLst/>
              <a:ahLst/>
              <a:cxnLst/>
              <a:rect r="r" b="b" t="t" l="l"/>
              <a:pathLst>
                <a:path h="2011680" w="5303520">
                  <a:moveTo>
                    <a:pt x="0" y="0"/>
                  </a:moveTo>
                  <a:lnTo>
                    <a:pt x="5303520" y="0"/>
                  </a:lnTo>
                  <a:lnTo>
                    <a:pt x="5303520" y="2011680"/>
                  </a:lnTo>
                  <a:lnTo>
                    <a:pt x="0" y="2011680"/>
                  </a:lnTo>
                  <a:close/>
                </a:path>
              </a:pathLst>
            </a:custGeom>
            <a:blipFill>
              <a:blip r:embed="rId3">
                <a:alphaModFix amt="0"/>
              </a:blip>
              <a:stretch>
                <a:fillRect l="0" t="-1369" r="0" b="-1369"/>
              </a:stretch>
            </a:blipFill>
          </p:spPr>
        </p:sp>
        <p:sp>
          <p:nvSpPr>
            <p:cNvPr name="TextBox 20" id="20"/>
            <p:cNvSpPr txBox="true"/>
            <p:nvPr/>
          </p:nvSpPr>
          <p:spPr>
            <a:xfrm>
              <a:off x="0" y="-47625"/>
              <a:ext cx="5303520" cy="2059305"/>
            </a:xfrm>
            <a:prstGeom prst="rect">
              <a:avLst/>
            </a:prstGeom>
          </p:spPr>
          <p:txBody>
            <a:bodyPr anchor="ctr" rtlCol="false" tIns="0" lIns="0" bIns="0" rIns="0"/>
            <a:lstStyle/>
            <a:p>
              <a:pPr algn="l">
                <a:lnSpc>
                  <a:spcPts val="11519"/>
                </a:lnSpc>
              </a:pPr>
              <a:r>
                <a:rPr lang="en-US" sz="9600" b="true">
                  <a:solidFill>
                    <a:srgbClr val="D9B100"/>
                  </a:solidFill>
                  <a:latin typeface="Arial Bold"/>
                  <a:ea typeface="Arial Bold"/>
                  <a:cs typeface="Arial Bold"/>
                  <a:sym typeface="Arial Bold"/>
                </a:rPr>
                <a:t>15</a:t>
              </a:r>
            </a:p>
          </p:txBody>
        </p:sp>
      </p:grpSp>
      <p:grpSp>
        <p:nvGrpSpPr>
          <p:cNvPr name="Group 21" id="21"/>
          <p:cNvGrpSpPr/>
          <p:nvPr/>
        </p:nvGrpSpPr>
        <p:grpSpPr>
          <a:xfrm rot="0">
            <a:off x="9215120" y="5121224"/>
            <a:ext cx="3977640" cy="480060"/>
            <a:chOff x="0" y="0"/>
            <a:chExt cx="5303520" cy="640080"/>
          </a:xfrm>
        </p:grpSpPr>
        <p:sp>
          <p:nvSpPr>
            <p:cNvPr name="Freeform 22" id="22"/>
            <p:cNvSpPr/>
            <p:nvPr/>
          </p:nvSpPr>
          <p:spPr>
            <a:xfrm flipH="false" flipV="false" rot="0">
              <a:off x="0" y="0"/>
              <a:ext cx="5303520" cy="640080"/>
            </a:xfrm>
            <a:custGeom>
              <a:avLst/>
              <a:gdLst/>
              <a:ahLst/>
              <a:cxnLst/>
              <a:rect r="r" b="b" t="t" l="l"/>
              <a:pathLst>
                <a:path h="640080" w="5303520">
                  <a:moveTo>
                    <a:pt x="0" y="0"/>
                  </a:moveTo>
                  <a:lnTo>
                    <a:pt x="5303520" y="0"/>
                  </a:lnTo>
                  <a:lnTo>
                    <a:pt x="5303520" y="640080"/>
                  </a:lnTo>
                  <a:lnTo>
                    <a:pt x="0" y="640080"/>
                  </a:lnTo>
                  <a:close/>
                </a:path>
              </a:pathLst>
            </a:custGeom>
            <a:blipFill>
              <a:blip r:embed="rId3">
                <a:alphaModFix amt="0"/>
              </a:blip>
              <a:stretch>
                <a:fillRect l="0" t="-111447" r="0" b="-111447"/>
              </a:stretch>
            </a:blipFill>
          </p:spPr>
        </p:sp>
        <p:sp>
          <p:nvSpPr>
            <p:cNvPr name="TextBox 23" id="23"/>
            <p:cNvSpPr txBox="true"/>
            <p:nvPr/>
          </p:nvSpPr>
          <p:spPr>
            <a:xfrm>
              <a:off x="0" y="-57150"/>
              <a:ext cx="5303520" cy="697230"/>
            </a:xfrm>
            <a:prstGeom prst="rect">
              <a:avLst/>
            </a:prstGeom>
          </p:spPr>
          <p:txBody>
            <a:bodyPr anchor="ctr" rtlCol="false" tIns="0" lIns="0" bIns="0" rIns="0"/>
            <a:lstStyle/>
            <a:p>
              <a:pPr algn="l">
                <a:lnSpc>
                  <a:spcPts val="2700"/>
                </a:lnSpc>
              </a:pPr>
              <a:r>
                <a:rPr lang="en-US" sz="2250">
                  <a:solidFill>
                    <a:srgbClr val="C9CAD0"/>
                  </a:solidFill>
                  <a:latin typeface="Calibri (MS)"/>
                  <a:ea typeface="Calibri (MS)"/>
                  <a:cs typeface="Calibri (MS)"/>
                  <a:sym typeface="Calibri (MS)"/>
                </a:rPr>
                <a:t>named roads</a:t>
              </a:r>
            </a:p>
          </p:txBody>
        </p:sp>
      </p:grpSp>
      <p:grpSp>
        <p:nvGrpSpPr>
          <p:cNvPr name="Group 24" id="24"/>
          <p:cNvGrpSpPr/>
          <p:nvPr/>
        </p:nvGrpSpPr>
        <p:grpSpPr>
          <a:xfrm rot="0">
            <a:off x="11646632" y="3612464"/>
            <a:ext cx="3977640" cy="1508760"/>
            <a:chOff x="0" y="0"/>
            <a:chExt cx="5303520" cy="2011680"/>
          </a:xfrm>
        </p:grpSpPr>
        <p:sp>
          <p:nvSpPr>
            <p:cNvPr name="Freeform 25" id="25"/>
            <p:cNvSpPr/>
            <p:nvPr/>
          </p:nvSpPr>
          <p:spPr>
            <a:xfrm flipH="false" flipV="false" rot="0">
              <a:off x="0" y="0"/>
              <a:ext cx="5303520" cy="2011680"/>
            </a:xfrm>
            <a:custGeom>
              <a:avLst/>
              <a:gdLst/>
              <a:ahLst/>
              <a:cxnLst/>
              <a:rect r="r" b="b" t="t" l="l"/>
              <a:pathLst>
                <a:path h="2011680" w="5303520">
                  <a:moveTo>
                    <a:pt x="0" y="0"/>
                  </a:moveTo>
                  <a:lnTo>
                    <a:pt x="5303520" y="0"/>
                  </a:lnTo>
                  <a:lnTo>
                    <a:pt x="5303520" y="2011680"/>
                  </a:lnTo>
                  <a:lnTo>
                    <a:pt x="0" y="2011680"/>
                  </a:lnTo>
                  <a:close/>
                </a:path>
              </a:pathLst>
            </a:custGeom>
            <a:blipFill>
              <a:blip r:embed="rId3">
                <a:alphaModFix amt="0"/>
              </a:blip>
              <a:stretch>
                <a:fillRect l="0" t="-1369" r="0" b="-1369"/>
              </a:stretch>
            </a:blipFill>
          </p:spPr>
        </p:sp>
        <p:sp>
          <p:nvSpPr>
            <p:cNvPr name="TextBox 26" id="26"/>
            <p:cNvSpPr txBox="true"/>
            <p:nvPr/>
          </p:nvSpPr>
          <p:spPr>
            <a:xfrm>
              <a:off x="0" y="-47625"/>
              <a:ext cx="5303520" cy="2059305"/>
            </a:xfrm>
            <a:prstGeom prst="rect">
              <a:avLst/>
            </a:prstGeom>
          </p:spPr>
          <p:txBody>
            <a:bodyPr anchor="ctr" rtlCol="false" tIns="0" lIns="0" bIns="0" rIns="0"/>
            <a:lstStyle/>
            <a:p>
              <a:pPr algn="l">
                <a:lnSpc>
                  <a:spcPts val="11519"/>
                </a:lnSpc>
              </a:pPr>
              <a:r>
                <a:rPr lang="en-US" sz="9600" b="true">
                  <a:solidFill>
                    <a:srgbClr val="D9B100"/>
                  </a:solidFill>
                  <a:latin typeface="Arial Bold"/>
                  <a:ea typeface="Arial Bold"/>
                  <a:cs typeface="Arial Bold"/>
                  <a:sym typeface="Arial Bold"/>
                </a:rPr>
                <a:t>907</a:t>
              </a:r>
            </a:p>
          </p:txBody>
        </p:sp>
      </p:grpSp>
      <p:grpSp>
        <p:nvGrpSpPr>
          <p:cNvPr name="Group 27" id="27"/>
          <p:cNvGrpSpPr/>
          <p:nvPr/>
        </p:nvGrpSpPr>
        <p:grpSpPr>
          <a:xfrm rot="0">
            <a:off x="11646632" y="5121224"/>
            <a:ext cx="3977640" cy="480060"/>
            <a:chOff x="0" y="0"/>
            <a:chExt cx="5303520" cy="640080"/>
          </a:xfrm>
        </p:grpSpPr>
        <p:sp>
          <p:nvSpPr>
            <p:cNvPr name="Freeform 28" id="28"/>
            <p:cNvSpPr/>
            <p:nvPr/>
          </p:nvSpPr>
          <p:spPr>
            <a:xfrm flipH="false" flipV="false" rot="0">
              <a:off x="0" y="0"/>
              <a:ext cx="5303520" cy="640080"/>
            </a:xfrm>
            <a:custGeom>
              <a:avLst/>
              <a:gdLst/>
              <a:ahLst/>
              <a:cxnLst/>
              <a:rect r="r" b="b" t="t" l="l"/>
              <a:pathLst>
                <a:path h="640080" w="5303520">
                  <a:moveTo>
                    <a:pt x="0" y="0"/>
                  </a:moveTo>
                  <a:lnTo>
                    <a:pt x="5303520" y="0"/>
                  </a:lnTo>
                  <a:lnTo>
                    <a:pt x="5303520" y="640080"/>
                  </a:lnTo>
                  <a:lnTo>
                    <a:pt x="0" y="640080"/>
                  </a:lnTo>
                  <a:close/>
                </a:path>
              </a:pathLst>
            </a:custGeom>
            <a:blipFill>
              <a:blip r:embed="rId3">
                <a:alphaModFix amt="0"/>
              </a:blip>
              <a:stretch>
                <a:fillRect l="0" t="-111447" r="0" b="-111447"/>
              </a:stretch>
            </a:blipFill>
          </p:spPr>
        </p:sp>
        <p:sp>
          <p:nvSpPr>
            <p:cNvPr name="TextBox 29" id="29"/>
            <p:cNvSpPr txBox="true"/>
            <p:nvPr/>
          </p:nvSpPr>
          <p:spPr>
            <a:xfrm>
              <a:off x="0" y="-57150"/>
              <a:ext cx="5303520" cy="697230"/>
            </a:xfrm>
            <a:prstGeom prst="rect">
              <a:avLst/>
            </a:prstGeom>
          </p:spPr>
          <p:txBody>
            <a:bodyPr anchor="ctr" rtlCol="false" tIns="0" lIns="0" bIns="0" rIns="0"/>
            <a:lstStyle/>
            <a:p>
              <a:pPr algn="l">
                <a:lnSpc>
                  <a:spcPts val="2700"/>
                </a:lnSpc>
              </a:pPr>
              <a:r>
                <a:rPr lang="en-US" sz="2250">
                  <a:solidFill>
                    <a:srgbClr val="C9CAD0"/>
                  </a:solidFill>
                  <a:latin typeface="Calibri (MS)"/>
                  <a:ea typeface="Calibri (MS)"/>
                  <a:cs typeface="Calibri (MS)"/>
                  <a:sym typeface="Calibri (MS)"/>
                </a:rPr>
                <a:t>unit checks passing</a:t>
              </a:r>
            </a:p>
          </p:txBody>
        </p:sp>
      </p:grpSp>
      <p:grpSp>
        <p:nvGrpSpPr>
          <p:cNvPr name="Group 30" id="30"/>
          <p:cNvGrpSpPr/>
          <p:nvPr/>
        </p:nvGrpSpPr>
        <p:grpSpPr>
          <a:xfrm rot="0">
            <a:off x="822960" y="6389440"/>
            <a:ext cx="8111490" cy="2693670"/>
            <a:chOff x="0" y="0"/>
            <a:chExt cx="10815320" cy="3591560"/>
          </a:xfrm>
        </p:grpSpPr>
        <p:sp>
          <p:nvSpPr>
            <p:cNvPr name="Freeform 31" id="31"/>
            <p:cNvSpPr/>
            <p:nvPr/>
          </p:nvSpPr>
          <p:spPr>
            <a:xfrm flipH="false" flipV="false" rot="0">
              <a:off x="0" y="0"/>
              <a:ext cx="10815320" cy="3591560"/>
            </a:xfrm>
            <a:custGeom>
              <a:avLst/>
              <a:gdLst/>
              <a:ahLst/>
              <a:cxnLst/>
              <a:rect r="r" b="b" t="t" l="l"/>
              <a:pathLst>
                <a:path h="3591560" w="10815320">
                  <a:moveTo>
                    <a:pt x="0" y="220980"/>
                  </a:moveTo>
                  <a:cubicBezTo>
                    <a:pt x="0" y="98933"/>
                    <a:pt x="98933" y="0"/>
                    <a:pt x="220980" y="0"/>
                  </a:cubicBezTo>
                  <a:lnTo>
                    <a:pt x="10594340" y="0"/>
                  </a:lnTo>
                  <a:cubicBezTo>
                    <a:pt x="10716387" y="0"/>
                    <a:pt x="10815320" y="98933"/>
                    <a:pt x="10815320" y="220980"/>
                  </a:cubicBezTo>
                  <a:lnTo>
                    <a:pt x="10815320" y="3370580"/>
                  </a:lnTo>
                  <a:cubicBezTo>
                    <a:pt x="10815320" y="3492627"/>
                    <a:pt x="10716387" y="3591560"/>
                    <a:pt x="10594340" y="3591560"/>
                  </a:cubicBezTo>
                  <a:lnTo>
                    <a:pt x="220980" y="3591560"/>
                  </a:lnTo>
                  <a:cubicBezTo>
                    <a:pt x="98933" y="3591560"/>
                    <a:pt x="0" y="3492627"/>
                    <a:pt x="0" y="3370580"/>
                  </a:cubicBezTo>
                  <a:close/>
                </a:path>
              </a:pathLst>
            </a:custGeom>
            <a:solidFill>
              <a:srgbClr val="1B1D24"/>
            </a:solidFill>
            <a:ln w="19050" cap="sq">
              <a:solidFill>
                <a:srgbClr val="2C2F38"/>
              </a:solidFill>
              <a:prstDash val="solid"/>
              <a:miter/>
            </a:ln>
          </p:spPr>
        </p:sp>
      </p:grpSp>
      <p:grpSp>
        <p:nvGrpSpPr>
          <p:cNvPr name="Group 32" id="32"/>
          <p:cNvGrpSpPr/>
          <p:nvPr/>
        </p:nvGrpSpPr>
        <p:grpSpPr>
          <a:xfrm rot="0">
            <a:off x="1234440" y="6800920"/>
            <a:ext cx="924306" cy="924306"/>
            <a:chOff x="0" y="0"/>
            <a:chExt cx="1232408" cy="1232408"/>
          </a:xfrm>
        </p:grpSpPr>
        <p:sp>
          <p:nvSpPr>
            <p:cNvPr name="Freeform 33" id="33"/>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34" id="34"/>
          <p:cNvGrpSpPr/>
          <p:nvPr/>
        </p:nvGrpSpPr>
        <p:grpSpPr>
          <a:xfrm rot="0">
            <a:off x="1443123" y="7009603"/>
            <a:ext cx="506940" cy="506940"/>
            <a:chOff x="0" y="0"/>
            <a:chExt cx="675919" cy="675919"/>
          </a:xfrm>
        </p:grpSpPr>
        <p:sp>
          <p:nvSpPr>
            <p:cNvPr name="Freeform 35" id="35"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4"/>
              <a:stretch>
                <a:fillRect l="0" t="0" r="-3" b="-3"/>
              </a:stretch>
            </a:blipFill>
          </p:spPr>
        </p:sp>
      </p:grpSp>
      <p:grpSp>
        <p:nvGrpSpPr>
          <p:cNvPr name="Group 36" id="36"/>
          <p:cNvGrpSpPr/>
          <p:nvPr/>
        </p:nvGrpSpPr>
        <p:grpSpPr>
          <a:xfrm rot="0">
            <a:off x="2409825" y="6810445"/>
            <a:ext cx="6172200" cy="617220"/>
            <a:chOff x="0" y="0"/>
            <a:chExt cx="8229600" cy="822960"/>
          </a:xfrm>
        </p:grpSpPr>
        <p:sp>
          <p:nvSpPr>
            <p:cNvPr name="Freeform 37" id="37"/>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38" id="38"/>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The terminal app</a:t>
              </a:r>
            </a:p>
          </p:txBody>
        </p:sp>
      </p:grpSp>
      <p:sp>
        <p:nvSpPr>
          <p:cNvPr name="TextBox 39" id="39"/>
          <p:cNvSpPr txBox="true"/>
          <p:nvPr/>
        </p:nvSpPr>
        <p:spPr>
          <a:xfrm rot="0">
            <a:off x="2409825" y="7448620"/>
            <a:ext cx="6172200" cy="141922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C++17, one portable CholoKUET.exe with its own icon. Works fully offline, with student and admin accounts.</a:t>
            </a:r>
          </a:p>
        </p:txBody>
      </p:sp>
      <p:grpSp>
        <p:nvGrpSpPr>
          <p:cNvPr name="Group 40" id="40"/>
          <p:cNvGrpSpPr/>
          <p:nvPr/>
        </p:nvGrpSpPr>
        <p:grpSpPr>
          <a:xfrm rot="0">
            <a:off x="9189720" y="6389440"/>
            <a:ext cx="8111490" cy="2693670"/>
            <a:chOff x="0" y="0"/>
            <a:chExt cx="10815320" cy="3591560"/>
          </a:xfrm>
        </p:grpSpPr>
        <p:sp>
          <p:nvSpPr>
            <p:cNvPr name="Freeform 41" id="41"/>
            <p:cNvSpPr/>
            <p:nvPr/>
          </p:nvSpPr>
          <p:spPr>
            <a:xfrm flipH="false" flipV="false" rot="0">
              <a:off x="0" y="0"/>
              <a:ext cx="10815320" cy="3591560"/>
            </a:xfrm>
            <a:custGeom>
              <a:avLst/>
              <a:gdLst/>
              <a:ahLst/>
              <a:cxnLst/>
              <a:rect r="r" b="b" t="t" l="l"/>
              <a:pathLst>
                <a:path h="3591560" w="10815320">
                  <a:moveTo>
                    <a:pt x="0" y="220980"/>
                  </a:moveTo>
                  <a:cubicBezTo>
                    <a:pt x="0" y="98933"/>
                    <a:pt x="98933" y="0"/>
                    <a:pt x="220980" y="0"/>
                  </a:cubicBezTo>
                  <a:lnTo>
                    <a:pt x="10594340" y="0"/>
                  </a:lnTo>
                  <a:cubicBezTo>
                    <a:pt x="10716387" y="0"/>
                    <a:pt x="10815320" y="98933"/>
                    <a:pt x="10815320" y="220980"/>
                  </a:cubicBezTo>
                  <a:lnTo>
                    <a:pt x="10815320" y="3370580"/>
                  </a:lnTo>
                  <a:cubicBezTo>
                    <a:pt x="10815320" y="3492627"/>
                    <a:pt x="10716387" y="3591560"/>
                    <a:pt x="10594340" y="3591560"/>
                  </a:cubicBezTo>
                  <a:lnTo>
                    <a:pt x="220980" y="3591560"/>
                  </a:lnTo>
                  <a:cubicBezTo>
                    <a:pt x="98933" y="3591560"/>
                    <a:pt x="0" y="3492627"/>
                    <a:pt x="0" y="3370580"/>
                  </a:cubicBezTo>
                  <a:close/>
                </a:path>
              </a:pathLst>
            </a:custGeom>
            <a:solidFill>
              <a:srgbClr val="1B1D24"/>
            </a:solidFill>
            <a:ln w="19050" cap="sq">
              <a:solidFill>
                <a:srgbClr val="2C2F38"/>
              </a:solidFill>
              <a:prstDash val="solid"/>
              <a:miter/>
            </a:ln>
          </p:spPr>
        </p:sp>
      </p:grpSp>
      <p:grpSp>
        <p:nvGrpSpPr>
          <p:cNvPr name="Group 42" id="42"/>
          <p:cNvGrpSpPr/>
          <p:nvPr/>
        </p:nvGrpSpPr>
        <p:grpSpPr>
          <a:xfrm rot="0">
            <a:off x="9601200" y="6800920"/>
            <a:ext cx="924306" cy="924306"/>
            <a:chOff x="0" y="0"/>
            <a:chExt cx="1232408" cy="1232408"/>
          </a:xfrm>
        </p:grpSpPr>
        <p:sp>
          <p:nvSpPr>
            <p:cNvPr name="Freeform 43" id="43"/>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44" id="44"/>
          <p:cNvGrpSpPr/>
          <p:nvPr/>
        </p:nvGrpSpPr>
        <p:grpSpPr>
          <a:xfrm rot="0">
            <a:off x="9809883" y="7009603"/>
            <a:ext cx="506940" cy="506940"/>
            <a:chOff x="0" y="0"/>
            <a:chExt cx="675919" cy="675919"/>
          </a:xfrm>
        </p:grpSpPr>
        <p:sp>
          <p:nvSpPr>
            <p:cNvPr name="Freeform 45" id="45"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5"/>
              <a:stretch>
                <a:fillRect l="0" t="0" r="-3" b="-3"/>
              </a:stretch>
            </a:blipFill>
          </p:spPr>
        </p:sp>
      </p:grpSp>
      <p:grpSp>
        <p:nvGrpSpPr>
          <p:cNvPr name="Group 46" id="46"/>
          <p:cNvGrpSpPr/>
          <p:nvPr/>
        </p:nvGrpSpPr>
        <p:grpSpPr>
          <a:xfrm rot="0">
            <a:off x="10776585" y="6810445"/>
            <a:ext cx="6172200" cy="617220"/>
            <a:chOff x="0" y="0"/>
            <a:chExt cx="8229600" cy="822960"/>
          </a:xfrm>
        </p:grpSpPr>
        <p:sp>
          <p:nvSpPr>
            <p:cNvPr name="Freeform 47" id="47"/>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48" id="48"/>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The online version</a:t>
              </a:r>
            </a:p>
          </p:txBody>
        </p:sp>
      </p:grpSp>
      <p:sp>
        <p:nvSpPr>
          <p:cNvPr name="TextBox 49" id="49"/>
          <p:cNvSpPr txBox="true"/>
          <p:nvPr/>
        </p:nvSpPr>
        <p:spPr>
          <a:xfrm rot="0">
            <a:off x="10776585" y="7448620"/>
            <a:ext cx="6172200" cy="141922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ettisafxrup.github.io/CholoKUET: the same campus data with BFS and DFS running live in the browser, plus the full report.</a:t>
            </a:r>
          </a:p>
        </p:txBody>
      </p:sp>
    </p:spTree>
  </p:cSld>
  <p:clrMapOvr>
    <a:masterClrMapping/>
  </p:clrMapOvr>
  <p:transition spd="fast">
    <p:fade/>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FEATURES</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Everything CholoKUET does</a:t>
            </a:r>
          </a:p>
        </p:txBody>
      </p:sp>
      <p:grpSp>
        <p:nvGrpSpPr>
          <p:cNvPr name="Group 6" id="6"/>
          <p:cNvGrpSpPr/>
          <p:nvPr/>
        </p:nvGrpSpPr>
        <p:grpSpPr>
          <a:xfrm rot="0">
            <a:off x="813435" y="2527935"/>
            <a:ext cx="4024122" cy="1911858"/>
            <a:chOff x="0" y="0"/>
            <a:chExt cx="5365496" cy="2549144"/>
          </a:xfrm>
        </p:grpSpPr>
        <p:sp>
          <p:nvSpPr>
            <p:cNvPr name="Freeform 7" id="7"/>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D9B100"/>
            </a:solidFill>
            <a:ln w="19050" cap="sq">
              <a:solidFill>
                <a:srgbClr val="F3F4F6"/>
              </a:solidFill>
              <a:prstDash val="solid"/>
              <a:miter/>
            </a:ln>
          </p:spPr>
        </p:sp>
      </p:grpSp>
      <p:grpSp>
        <p:nvGrpSpPr>
          <p:cNvPr name="Group 8" id="8"/>
          <p:cNvGrpSpPr/>
          <p:nvPr/>
        </p:nvGrpSpPr>
        <p:grpSpPr>
          <a:xfrm rot="0">
            <a:off x="1087755" y="2829687"/>
            <a:ext cx="704850" cy="704850"/>
            <a:chOff x="0" y="0"/>
            <a:chExt cx="939800" cy="939800"/>
          </a:xfrm>
        </p:grpSpPr>
        <p:sp>
          <p:nvSpPr>
            <p:cNvPr name="Freeform 9" id="9"/>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0" id="10"/>
          <p:cNvGrpSpPr/>
          <p:nvPr/>
        </p:nvGrpSpPr>
        <p:grpSpPr>
          <a:xfrm rot="0">
            <a:off x="1248156" y="2990088"/>
            <a:ext cx="384048" cy="384048"/>
            <a:chOff x="0" y="0"/>
            <a:chExt cx="512064" cy="512064"/>
          </a:xfrm>
        </p:grpSpPr>
        <p:sp>
          <p:nvSpPr>
            <p:cNvPr name="Freeform 11" id="11"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4"/>
              <a:stretch>
                <a:fillRect l="0" t="0" r="0" b="0"/>
              </a:stretch>
            </a:blipFill>
          </p:spPr>
        </p:sp>
      </p:grpSp>
      <p:grpSp>
        <p:nvGrpSpPr>
          <p:cNvPr name="Group 12" id="12"/>
          <p:cNvGrpSpPr/>
          <p:nvPr/>
        </p:nvGrpSpPr>
        <p:grpSpPr>
          <a:xfrm rot="0">
            <a:off x="1947672" y="2811780"/>
            <a:ext cx="2702052" cy="466344"/>
            <a:chOff x="0" y="0"/>
            <a:chExt cx="3602736" cy="621792"/>
          </a:xfrm>
        </p:grpSpPr>
        <p:sp>
          <p:nvSpPr>
            <p:cNvPr name="Freeform 13" id="13"/>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4" id="14"/>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Take me somewhere</a:t>
              </a:r>
            </a:p>
          </p:txBody>
        </p:sp>
      </p:grpSp>
      <p:sp>
        <p:nvSpPr>
          <p:cNvPr name="TextBox 15" id="15"/>
          <p:cNvSpPr txBox="true"/>
          <p:nvPr/>
        </p:nvSpPr>
        <p:spPr>
          <a:xfrm rot="0">
            <a:off x="1947672" y="3253740"/>
            <a:ext cx="2892552" cy="295275"/>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Turn-by-turn walking directions</a:t>
            </a:r>
          </a:p>
        </p:txBody>
      </p:sp>
      <p:grpSp>
        <p:nvGrpSpPr>
          <p:cNvPr name="Group 16" id="16"/>
          <p:cNvGrpSpPr/>
          <p:nvPr/>
        </p:nvGrpSpPr>
        <p:grpSpPr>
          <a:xfrm rot="0">
            <a:off x="1947672" y="3909060"/>
            <a:ext cx="2702052" cy="342900"/>
            <a:chOff x="0" y="0"/>
            <a:chExt cx="3602736" cy="457200"/>
          </a:xfrm>
        </p:grpSpPr>
        <p:sp>
          <p:nvSpPr>
            <p:cNvPr name="Freeform 17" id="17"/>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8" id="18"/>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BFS · Queue · Stack</a:t>
              </a:r>
            </a:p>
          </p:txBody>
        </p:sp>
      </p:grpSp>
      <p:grpSp>
        <p:nvGrpSpPr>
          <p:cNvPr name="Group 19" id="19"/>
          <p:cNvGrpSpPr/>
          <p:nvPr/>
        </p:nvGrpSpPr>
        <p:grpSpPr>
          <a:xfrm rot="0">
            <a:off x="4983099" y="2527935"/>
            <a:ext cx="4024122" cy="1911858"/>
            <a:chOff x="0" y="0"/>
            <a:chExt cx="5365496" cy="2549144"/>
          </a:xfrm>
        </p:grpSpPr>
        <p:sp>
          <p:nvSpPr>
            <p:cNvPr name="Freeform 20" id="20"/>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21" id="21"/>
          <p:cNvGrpSpPr/>
          <p:nvPr/>
        </p:nvGrpSpPr>
        <p:grpSpPr>
          <a:xfrm rot="0">
            <a:off x="5257419" y="2829687"/>
            <a:ext cx="704850" cy="704850"/>
            <a:chOff x="0" y="0"/>
            <a:chExt cx="939800" cy="939800"/>
          </a:xfrm>
        </p:grpSpPr>
        <p:sp>
          <p:nvSpPr>
            <p:cNvPr name="Freeform 22" id="22"/>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23" id="23"/>
          <p:cNvGrpSpPr/>
          <p:nvPr/>
        </p:nvGrpSpPr>
        <p:grpSpPr>
          <a:xfrm rot="0">
            <a:off x="5417820" y="2990088"/>
            <a:ext cx="384048" cy="384048"/>
            <a:chOff x="0" y="0"/>
            <a:chExt cx="512064" cy="512064"/>
          </a:xfrm>
        </p:grpSpPr>
        <p:sp>
          <p:nvSpPr>
            <p:cNvPr name="Freeform 24" id="24"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5"/>
              <a:stretch>
                <a:fillRect l="0" t="0" r="0" b="0"/>
              </a:stretch>
            </a:blipFill>
          </p:spPr>
        </p:sp>
      </p:grpSp>
      <p:grpSp>
        <p:nvGrpSpPr>
          <p:cNvPr name="Group 25" id="25"/>
          <p:cNvGrpSpPr/>
          <p:nvPr/>
        </p:nvGrpSpPr>
        <p:grpSpPr>
          <a:xfrm rot="0">
            <a:off x="6117336" y="2811780"/>
            <a:ext cx="2702052" cy="466344"/>
            <a:chOff x="0" y="0"/>
            <a:chExt cx="3602736" cy="621792"/>
          </a:xfrm>
        </p:grpSpPr>
        <p:sp>
          <p:nvSpPr>
            <p:cNvPr name="Freeform 26" id="26"/>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27" id="27"/>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What's near me</a:t>
              </a:r>
            </a:p>
          </p:txBody>
        </p:sp>
      </p:grpSp>
      <p:sp>
        <p:nvSpPr>
          <p:cNvPr name="TextBox 28" id="28"/>
          <p:cNvSpPr txBox="true"/>
          <p:nvPr/>
        </p:nvSpPr>
        <p:spPr>
          <a:xfrm rot="0">
            <a:off x="6117336" y="3253740"/>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10 closest places, distance and direction</a:t>
            </a:r>
          </a:p>
        </p:txBody>
      </p:sp>
      <p:grpSp>
        <p:nvGrpSpPr>
          <p:cNvPr name="Group 29" id="29"/>
          <p:cNvGrpSpPr/>
          <p:nvPr/>
        </p:nvGrpSpPr>
        <p:grpSpPr>
          <a:xfrm rot="0">
            <a:off x="6117336" y="3909060"/>
            <a:ext cx="2702052" cy="342900"/>
            <a:chOff x="0" y="0"/>
            <a:chExt cx="3602736" cy="457200"/>
          </a:xfrm>
        </p:grpSpPr>
        <p:sp>
          <p:nvSpPr>
            <p:cNvPr name="Freeform 30" id="30"/>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31" id="31"/>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Haversine · bubble sort</a:t>
              </a:r>
            </a:p>
          </p:txBody>
        </p:sp>
      </p:grpSp>
      <p:grpSp>
        <p:nvGrpSpPr>
          <p:cNvPr name="Group 32" id="32"/>
          <p:cNvGrpSpPr/>
          <p:nvPr/>
        </p:nvGrpSpPr>
        <p:grpSpPr>
          <a:xfrm rot="0">
            <a:off x="9152763" y="2527935"/>
            <a:ext cx="4024122" cy="1911858"/>
            <a:chOff x="0" y="0"/>
            <a:chExt cx="5365496" cy="2549144"/>
          </a:xfrm>
        </p:grpSpPr>
        <p:sp>
          <p:nvSpPr>
            <p:cNvPr name="Freeform 33" id="33"/>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34" id="34"/>
          <p:cNvGrpSpPr/>
          <p:nvPr/>
        </p:nvGrpSpPr>
        <p:grpSpPr>
          <a:xfrm rot="0">
            <a:off x="9427083" y="2829687"/>
            <a:ext cx="704850" cy="704850"/>
            <a:chOff x="0" y="0"/>
            <a:chExt cx="939800" cy="939800"/>
          </a:xfrm>
        </p:grpSpPr>
        <p:sp>
          <p:nvSpPr>
            <p:cNvPr name="Freeform 35" id="35"/>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36" id="36"/>
          <p:cNvGrpSpPr/>
          <p:nvPr/>
        </p:nvGrpSpPr>
        <p:grpSpPr>
          <a:xfrm rot="0">
            <a:off x="9587484" y="2990088"/>
            <a:ext cx="384048" cy="384048"/>
            <a:chOff x="0" y="0"/>
            <a:chExt cx="512064" cy="512064"/>
          </a:xfrm>
        </p:grpSpPr>
        <p:sp>
          <p:nvSpPr>
            <p:cNvPr name="Freeform 37" id="37"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6"/>
              <a:stretch>
                <a:fillRect l="0" t="0" r="0" b="0"/>
              </a:stretch>
            </a:blipFill>
          </p:spPr>
        </p:sp>
      </p:grpSp>
      <p:grpSp>
        <p:nvGrpSpPr>
          <p:cNvPr name="Group 38" id="38"/>
          <p:cNvGrpSpPr/>
          <p:nvPr/>
        </p:nvGrpSpPr>
        <p:grpSpPr>
          <a:xfrm rot="0">
            <a:off x="10287000" y="2811780"/>
            <a:ext cx="2702052" cy="466344"/>
            <a:chOff x="0" y="0"/>
            <a:chExt cx="3602736" cy="621792"/>
          </a:xfrm>
        </p:grpSpPr>
        <p:sp>
          <p:nvSpPr>
            <p:cNvPr name="Freeform 39" id="39"/>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40" id="40"/>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Explore the campus</a:t>
              </a:r>
            </a:p>
          </p:txBody>
        </p:sp>
      </p:grpSp>
      <p:sp>
        <p:nvSpPr>
          <p:cNvPr name="TextBox 41" id="41"/>
          <p:cNvSpPr txBox="true"/>
          <p:nvPr/>
        </p:nvSpPr>
        <p:spPr>
          <a:xfrm rot="0">
            <a:off x="10287000" y="3253740"/>
            <a:ext cx="2889885" cy="552450"/>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Walk it all, </a:t>
            </a:r>
          </a:p>
          <a:p>
            <a:pPr algn="l">
              <a:lnSpc>
                <a:spcPts val="2070"/>
              </a:lnSpc>
            </a:pPr>
            <a:r>
              <a:rPr lang="en-US" sz="1725">
                <a:solidFill>
                  <a:srgbClr val="5F626B"/>
                </a:solidFill>
                <a:latin typeface="Calibri (MS)"/>
                <a:ea typeface="Calibri (MS)"/>
                <a:cs typeface="Calibri (MS)"/>
                <a:sym typeface="Calibri (MS)"/>
              </a:rPr>
              <a:t>check it's connected</a:t>
            </a:r>
          </a:p>
        </p:txBody>
      </p:sp>
      <p:grpSp>
        <p:nvGrpSpPr>
          <p:cNvPr name="Group 42" id="42"/>
          <p:cNvGrpSpPr/>
          <p:nvPr/>
        </p:nvGrpSpPr>
        <p:grpSpPr>
          <a:xfrm rot="0">
            <a:off x="10287000" y="3909060"/>
            <a:ext cx="2702052" cy="342900"/>
            <a:chOff x="0" y="0"/>
            <a:chExt cx="3602736" cy="457200"/>
          </a:xfrm>
        </p:grpSpPr>
        <p:sp>
          <p:nvSpPr>
            <p:cNvPr name="Freeform 43" id="43"/>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44" id="44"/>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DFS · Stack</a:t>
              </a:r>
            </a:p>
          </p:txBody>
        </p:sp>
      </p:grpSp>
      <p:grpSp>
        <p:nvGrpSpPr>
          <p:cNvPr name="Group 45" id="45"/>
          <p:cNvGrpSpPr/>
          <p:nvPr/>
        </p:nvGrpSpPr>
        <p:grpSpPr>
          <a:xfrm rot="0">
            <a:off x="13322427" y="2527935"/>
            <a:ext cx="4024122" cy="1911858"/>
            <a:chOff x="0" y="0"/>
            <a:chExt cx="5365496" cy="2549144"/>
          </a:xfrm>
        </p:grpSpPr>
        <p:sp>
          <p:nvSpPr>
            <p:cNvPr name="Freeform 46" id="46"/>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47" id="47"/>
          <p:cNvGrpSpPr/>
          <p:nvPr/>
        </p:nvGrpSpPr>
        <p:grpSpPr>
          <a:xfrm rot="0">
            <a:off x="13596747" y="2829687"/>
            <a:ext cx="704850" cy="704850"/>
            <a:chOff x="0" y="0"/>
            <a:chExt cx="939800" cy="939800"/>
          </a:xfrm>
        </p:grpSpPr>
        <p:sp>
          <p:nvSpPr>
            <p:cNvPr name="Freeform 48" id="48"/>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49" id="49"/>
          <p:cNvGrpSpPr/>
          <p:nvPr/>
        </p:nvGrpSpPr>
        <p:grpSpPr>
          <a:xfrm rot="0">
            <a:off x="13757148" y="2990088"/>
            <a:ext cx="384048" cy="384048"/>
            <a:chOff x="0" y="0"/>
            <a:chExt cx="512064" cy="512064"/>
          </a:xfrm>
        </p:grpSpPr>
        <p:sp>
          <p:nvSpPr>
            <p:cNvPr name="Freeform 50" id="50"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7"/>
              <a:stretch>
                <a:fillRect l="0" t="0" r="0" b="0"/>
              </a:stretch>
            </a:blipFill>
          </p:spPr>
        </p:sp>
      </p:grpSp>
      <p:grpSp>
        <p:nvGrpSpPr>
          <p:cNvPr name="Group 51" id="51"/>
          <p:cNvGrpSpPr/>
          <p:nvPr/>
        </p:nvGrpSpPr>
        <p:grpSpPr>
          <a:xfrm rot="0">
            <a:off x="14456664" y="2811780"/>
            <a:ext cx="2702052" cy="466344"/>
            <a:chOff x="0" y="0"/>
            <a:chExt cx="3602736" cy="621792"/>
          </a:xfrm>
        </p:grpSpPr>
        <p:sp>
          <p:nvSpPr>
            <p:cNvPr name="Freeform 52" id="52"/>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53" id="53"/>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Search</a:t>
              </a:r>
            </a:p>
          </p:txBody>
        </p:sp>
      </p:grpSp>
      <p:sp>
        <p:nvSpPr>
          <p:cNvPr name="TextBox 54" id="54"/>
          <p:cNvSpPr txBox="true"/>
          <p:nvPr/>
        </p:nvSpPr>
        <p:spPr>
          <a:xfrm rot="0">
            <a:off x="14456664" y="3253740"/>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Name, category or number</a:t>
            </a:r>
          </a:p>
        </p:txBody>
      </p:sp>
      <p:grpSp>
        <p:nvGrpSpPr>
          <p:cNvPr name="Group 55" id="55"/>
          <p:cNvGrpSpPr/>
          <p:nvPr/>
        </p:nvGrpSpPr>
        <p:grpSpPr>
          <a:xfrm rot="0">
            <a:off x="14456664" y="3909060"/>
            <a:ext cx="2702052" cy="342900"/>
            <a:chOff x="0" y="0"/>
            <a:chExt cx="3602736" cy="457200"/>
          </a:xfrm>
        </p:grpSpPr>
        <p:sp>
          <p:nvSpPr>
            <p:cNvPr name="Freeform 56" id="56"/>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57" id="57"/>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Linear · binary search</a:t>
              </a:r>
            </a:p>
          </p:txBody>
        </p:sp>
      </p:grpSp>
      <p:grpSp>
        <p:nvGrpSpPr>
          <p:cNvPr name="Group 58" id="58"/>
          <p:cNvGrpSpPr/>
          <p:nvPr/>
        </p:nvGrpSpPr>
        <p:grpSpPr>
          <a:xfrm rot="0">
            <a:off x="813435" y="4612767"/>
            <a:ext cx="4024122" cy="1911858"/>
            <a:chOff x="0" y="0"/>
            <a:chExt cx="5365496" cy="2549144"/>
          </a:xfrm>
        </p:grpSpPr>
        <p:sp>
          <p:nvSpPr>
            <p:cNvPr name="Freeform 59" id="59"/>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60" id="60"/>
          <p:cNvGrpSpPr/>
          <p:nvPr/>
        </p:nvGrpSpPr>
        <p:grpSpPr>
          <a:xfrm rot="0">
            <a:off x="1087755" y="4914519"/>
            <a:ext cx="704850" cy="704850"/>
            <a:chOff x="0" y="0"/>
            <a:chExt cx="939800" cy="939800"/>
          </a:xfrm>
        </p:grpSpPr>
        <p:sp>
          <p:nvSpPr>
            <p:cNvPr name="Freeform 61" id="61"/>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62" id="62"/>
          <p:cNvGrpSpPr/>
          <p:nvPr/>
        </p:nvGrpSpPr>
        <p:grpSpPr>
          <a:xfrm rot="0">
            <a:off x="1248156" y="5074920"/>
            <a:ext cx="384048" cy="384048"/>
            <a:chOff x="0" y="0"/>
            <a:chExt cx="512064" cy="512064"/>
          </a:xfrm>
        </p:grpSpPr>
        <p:sp>
          <p:nvSpPr>
            <p:cNvPr name="Freeform 63" id="63"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8"/>
              <a:stretch>
                <a:fillRect l="0" t="0" r="0" b="0"/>
              </a:stretch>
            </a:blipFill>
          </p:spPr>
        </p:sp>
      </p:grpSp>
      <p:grpSp>
        <p:nvGrpSpPr>
          <p:cNvPr name="Group 64" id="64"/>
          <p:cNvGrpSpPr/>
          <p:nvPr/>
        </p:nvGrpSpPr>
        <p:grpSpPr>
          <a:xfrm rot="0">
            <a:off x="1947672" y="4896612"/>
            <a:ext cx="2702052" cy="466344"/>
            <a:chOff x="0" y="0"/>
            <a:chExt cx="3602736" cy="621792"/>
          </a:xfrm>
        </p:grpSpPr>
        <p:sp>
          <p:nvSpPr>
            <p:cNvPr name="Freeform 65" id="65"/>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66" id="66"/>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Browse by category</a:t>
              </a:r>
            </a:p>
          </p:txBody>
        </p:sp>
      </p:grpSp>
      <p:sp>
        <p:nvSpPr>
          <p:cNvPr name="TextBox 67" id="67"/>
          <p:cNvSpPr txBox="true"/>
          <p:nvPr/>
        </p:nvSpPr>
        <p:spPr>
          <a:xfrm rot="0">
            <a:off x="1947672" y="5338572"/>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KUET → category → place</a:t>
            </a:r>
          </a:p>
        </p:txBody>
      </p:sp>
      <p:grpSp>
        <p:nvGrpSpPr>
          <p:cNvPr name="Group 68" id="68"/>
          <p:cNvGrpSpPr/>
          <p:nvPr/>
        </p:nvGrpSpPr>
        <p:grpSpPr>
          <a:xfrm rot="0">
            <a:off x="1947672" y="5993892"/>
            <a:ext cx="2702052" cy="342900"/>
            <a:chOff x="0" y="0"/>
            <a:chExt cx="3602736" cy="457200"/>
          </a:xfrm>
        </p:grpSpPr>
        <p:sp>
          <p:nvSpPr>
            <p:cNvPr name="Freeform 69" id="69"/>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70" id="70"/>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General tree</a:t>
              </a:r>
            </a:p>
          </p:txBody>
        </p:sp>
      </p:grpSp>
      <p:grpSp>
        <p:nvGrpSpPr>
          <p:cNvPr name="Group 71" id="71"/>
          <p:cNvGrpSpPr/>
          <p:nvPr/>
        </p:nvGrpSpPr>
        <p:grpSpPr>
          <a:xfrm rot="0">
            <a:off x="4983099" y="4612767"/>
            <a:ext cx="4024122" cy="1911858"/>
            <a:chOff x="0" y="0"/>
            <a:chExt cx="5365496" cy="2549144"/>
          </a:xfrm>
        </p:grpSpPr>
        <p:sp>
          <p:nvSpPr>
            <p:cNvPr name="Freeform 72" id="72"/>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D9B100"/>
            </a:solidFill>
            <a:ln w="19050" cap="sq">
              <a:solidFill>
                <a:srgbClr val="F3F4F6"/>
              </a:solidFill>
              <a:prstDash val="solid"/>
              <a:miter/>
            </a:ln>
          </p:spPr>
        </p:sp>
      </p:grpSp>
      <p:grpSp>
        <p:nvGrpSpPr>
          <p:cNvPr name="Group 73" id="73"/>
          <p:cNvGrpSpPr/>
          <p:nvPr/>
        </p:nvGrpSpPr>
        <p:grpSpPr>
          <a:xfrm rot="0">
            <a:off x="5257419" y="4914519"/>
            <a:ext cx="704850" cy="704850"/>
            <a:chOff x="0" y="0"/>
            <a:chExt cx="939800" cy="939800"/>
          </a:xfrm>
        </p:grpSpPr>
        <p:sp>
          <p:nvSpPr>
            <p:cNvPr name="Freeform 74" id="74"/>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75" id="75"/>
          <p:cNvGrpSpPr/>
          <p:nvPr/>
        </p:nvGrpSpPr>
        <p:grpSpPr>
          <a:xfrm rot="0">
            <a:off x="5417820" y="5074920"/>
            <a:ext cx="384048" cy="384048"/>
            <a:chOff x="0" y="0"/>
            <a:chExt cx="512064" cy="512064"/>
          </a:xfrm>
        </p:grpSpPr>
        <p:sp>
          <p:nvSpPr>
            <p:cNvPr name="Freeform 76" id="76"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9"/>
              <a:stretch>
                <a:fillRect l="0" t="0" r="0" b="0"/>
              </a:stretch>
            </a:blipFill>
          </p:spPr>
        </p:sp>
      </p:grpSp>
      <p:grpSp>
        <p:nvGrpSpPr>
          <p:cNvPr name="Group 77" id="77"/>
          <p:cNvGrpSpPr/>
          <p:nvPr/>
        </p:nvGrpSpPr>
        <p:grpSpPr>
          <a:xfrm rot="0">
            <a:off x="6117336" y="4896612"/>
            <a:ext cx="2702052" cy="466344"/>
            <a:chOff x="0" y="0"/>
            <a:chExt cx="3602736" cy="621792"/>
          </a:xfrm>
        </p:grpSpPr>
        <p:sp>
          <p:nvSpPr>
            <p:cNvPr name="Freeform 78" id="78"/>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79" id="79"/>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Sort places</a:t>
              </a:r>
            </a:p>
          </p:txBody>
        </p:sp>
      </p:grpSp>
      <p:sp>
        <p:nvSpPr>
          <p:cNvPr name="TextBox 80" id="80"/>
          <p:cNvSpPr txBox="true"/>
          <p:nvPr/>
        </p:nvSpPr>
        <p:spPr>
          <a:xfrm rot="0">
            <a:off x="6117336" y="5338572"/>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A–Z, Z–A, category, distance</a:t>
            </a:r>
          </a:p>
        </p:txBody>
      </p:sp>
      <p:grpSp>
        <p:nvGrpSpPr>
          <p:cNvPr name="Group 81" id="81"/>
          <p:cNvGrpSpPr/>
          <p:nvPr/>
        </p:nvGrpSpPr>
        <p:grpSpPr>
          <a:xfrm rot="0">
            <a:off x="6117336" y="5993892"/>
            <a:ext cx="2702052" cy="342900"/>
            <a:chOff x="0" y="0"/>
            <a:chExt cx="3602736" cy="457200"/>
          </a:xfrm>
        </p:grpSpPr>
        <p:sp>
          <p:nvSpPr>
            <p:cNvPr name="Freeform 82" id="82"/>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83" id="83"/>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Bubble · selection</a:t>
              </a:r>
            </a:p>
          </p:txBody>
        </p:sp>
      </p:grpSp>
      <p:grpSp>
        <p:nvGrpSpPr>
          <p:cNvPr name="Group 84" id="84"/>
          <p:cNvGrpSpPr/>
          <p:nvPr/>
        </p:nvGrpSpPr>
        <p:grpSpPr>
          <a:xfrm rot="0">
            <a:off x="9152763" y="4612767"/>
            <a:ext cx="4024122" cy="1911858"/>
            <a:chOff x="0" y="0"/>
            <a:chExt cx="5365496" cy="2549144"/>
          </a:xfrm>
        </p:grpSpPr>
        <p:sp>
          <p:nvSpPr>
            <p:cNvPr name="Freeform 85" id="85"/>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86" id="86"/>
          <p:cNvGrpSpPr/>
          <p:nvPr/>
        </p:nvGrpSpPr>
        <p:grpSpPr>
          <a:xfrm rot="0">
            <a:off x="9427083" y="4914519"/>
            <a:ext cx="704850" cy="704850"/>
            <a:chOff x="0" y="0"/>
            <a:chExt cx="939800" cy="939800"/>
          </a:xfrm>
        </p:grpSpPr>
        <p:sp>
          <p:nvSpPr>
            <p:cNvPr name="Freeform 87" id="87"/>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88" id="88"/>
          <p:cNvGrpSpPr/>
          <p:nvPr/>
        </p:nvGrpSpPr>
        <p:grpSpPr>
          <a:xfrm rot="0">
            <a:off x="9587484" y="5074920"/>
            <a:ext cx="384048" cy="384048"/>
            <a:chOff x="0" y="0"/>
            <a:chExt cx="512064" cy="512064"/>
          </a:xfrm>
        </p:grpSpPr>
        <p:sp>
          <p:nvSpPr>
            <p:cNvPr name="Freeform 89" id="8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0"/>
              <a:stretch>
                <a:fillRect l="0" t="0" r="0" b="0"/>
              </a:stretch>
            </a:blipFill>
          </p:spPr>
        </p:sp>
      </p:grpSp>
      <p:grpSp>
        <p:nvGrpSpPr>
          <p:cNvPr name="Group 90" id="90"/>
          <p:cNvGrpSpPr/>
          <p:nvPr/>
        </p:nvGrpSpPr>
        <p:grpSpPr>
          <a:xfrm rot="0">
            <a:off x="10287000" y="4896612"/>
            <a:ext cx="2702052" cy="466344"/>
            <a:chOff x="0" y="0"/>
            <a:chExt cx="3602736" cy="621792"/>
          </a:xfrm>
        </p:grpSpPr>
        <p:sp>
          <p:nvSpPr>
            <p:cNvPr name="Freeform 91" id="91"/>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92" id="92"/>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Where am I?</a:t>
              </a:r>
            </a:p>
          </p:txBody>
        </p:sp>
      </p:grpSp>
      <p:sp>
        <p:nvSpPr>
          <p:cNvPr name="TextBox 93" id="93"/>
          <p:cNvSpPr txBox="true"/>
          <p:nvPr/>
        </p:nvSpPr>
        <p:spPr>
          <a:xfrm rot="0">
            <a:off x="10287000" y="5338572"/>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Set location by place or coordinates</a:t>
            </a:r>
          </a:p>
        </p:txBody>
      </p:sp>
      <p:grpSp>
        <p:nvGrpSpPr>
          <p:cNvPr name="Group 94" id="94"/>
          <p:cNvGrpSpPr/>
          <p:nvPr/>
        </p:nvGrpSpPr>
        <p:grpSpPr>
          <a:xfrm rot="0">
            <a:off x="10287000" y="5993892"/>
            <a:ext cx="2702052" cy="342900"/>
            <a:chOff x="0" y="0"/>
            <a:chExt cx="3602736" cy="457200"/>
          </a:xfrm>
        </p:grpSpPr>
        <p:sp>
          <p:nvSpPr>
            <p:cNvPr name="Freeform 95" id="95"/>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96" id="96"/>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Haversine</a:t>
              </a:r>
            </a:p>
          </p:txBody>
        </p:sp>
      </p:grpSp>
      <p:grpSp>
        <p:nvGrpSpPr>
          <p:cNvPr name="Group 97" id="97"/>
          <p:cNvGrpSpPr/>
          <p:nvPr/>
        </p:nvGrpSpPr>
        <p:grpSpPr>
          <a:xfrm rot="0">
            <a:off x="13322427" y="4612767"/>
            <a:ext cx="4024122" cy="1911858"/>
            <a:chOff x="0" y="0"/>
            <a:chExt cx="5365496" cy="2549144"/>
          </a:xfrm>
        </p:grpSpPr>
        <p:sp>
          <p:nvSpPr>
            <p:cNvPr name="Freeform 98" id="98"/>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D9B100"/>
            </a:solidFill>
            <a:ln w="19050" cap="sq">
              <a:solidFill>
                <a:srgbClr val="F3F4F6"/>
              </a:solidFill>
              <a:prstDash val="solid"/>
              <a:miter/>
            </a:ln>
          </p:spPr>
        </p:sp>
      </p:grpSp>
      <p:grpSp>
        <p:nvGrpSpPr>
          <p:cNvPr name="Group 99" id="99"/>
          <p:cNvGrpSpPr/>
          <p:nvPr/>
        </p:nvGrpSpPr>
        <p:grpSpPr>
          <a:xfrm rot="0">
            <a:off x="13596747" y="4914519"/>
            <a:ext cx="704850" cy="704850"/>
            <a:chOff x="0" y="0"/>
            <a:chExt cx="939800" cy="939800"/>
          </a:xfrm>
        </p:grpSpPr>
        <p:sp>
          <p:nvSpPr>
            <p:cNvPr name="Freeform 100" id="100"/>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01" id="101"/>
          <p:cNvGrpSpPr/>
          <p:nvPr/>
        </p:nvGrpSpPr>
        <p:grpSpPr>
          <a:xfrm rot="0">
            <a:off x="13757148" y="5074920"/>
            <a:ext cx="384048" cy="384048"/>
            <a:chOff x="0" y="0"/>
            <a:chExt cx="512064" cy="512064"/>
          </a:xfrm>
        </p:grpSpPr>
        <p:sp>
          <p:nvSpPr>
            <p:cNvPr name="Freeform 102" id="102"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1"/>
              <a:stretch>
                <a:fillRect l="0" t="0" r="0" b="0"/>
              </a:stretch>
            </a:blipFill>
          </p:spPr>
        </p:sp>
      </p:grpSp>
      <p:grpSp>
        <p:nvGrpSpPr>
          <p:cNvPr name="Group 103" id="103"/>
          <p:cNvGrpSpPr/>
          <p:nvPr/>
        </p:nvGrpSpPr>
        <p:grpSpPr>
          <a:xfrm rot="0">
            <a:off x="14456664" y="4896612"/>
            <a:ext cx="2702052" cy="466344"/>
            <a:chOff x="0" y="0"/>
            <a:chExt cx="3602736" cy="621792"/>
          </a:xfrm>
        </p:grpSpPr>
        <p:sp>
          <p:nvSpPr>
            <p:cNvPr name="Freeform 104" id="104"/>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05" id="105"/>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Trip history</a:t>
              </a:r>
            </a:p>
          </p:txBody>
        </p:sp>
      </p:grpSp>
      <p:sp>
        <p:nvSpPr>
          <p:cNvPr name="TextBox 106" id="106"/>
          <p:cNvSpPr txBox="true"/>
          <p:nvPr/>
        </p:nvSpPr>
        <p:spPr>
          <a:xfrm rot="0">
            <a:off x="14456664" y="5338572"/>
            <a:ext cx="2702052" cy="552450"/>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Everywhere you've been, </a:t>
            </a:r>
          </a:p>
          <a:p>
            <a:pPr algn="l">
              <a:lnSpc>
                <a:spcPts val="2070"/>
              </a:lnSpc>
            </a:pPr>
            <a:r>
              <a:rPr lang="en-US" sz="1725">
                <a:solidFill>
                  <a:srgbClr val="5F626B"/>
                </a:solidFill>
                <a:latin typeface="Calibri (MS)"/>
                <a:ea typeface="Calibri (MS)"/>
                <a:cs typeface="Calibri (MS)"/>
                <a:sym typeface="Calibri (MS)"/>
              </a:rPr>
              <a:t>with Back</a:t>
            </a:r>
          </a:p>
        </p:txBody>
      </p:sp>
      <p:grpSp>
        <p:nvGrpSpPr>
          <p:cNvPr name="Group 107" id="107"/>
          <p:cNvGrpSpPr/>
          <p:nvPr/>
        </p:nvGrpSpPr>
        <p:grpSpPr>
          <a:xfrm rot="0">
            <a:off x="14456664" y="5993892"/>
            <a:ext cx="2702052" cy="342900"/>
            <a:chOff x="0" y="0"/>
            <a:chExt cx="3602736" cy="457200"/>
          </a:xfrm>
        </p:grpSpPr>
        <p:sp>
          <p:nvSpPr>
            <p:cNvPr name="Freeform 108" id="108"/>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09" id="109"/>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Stack</a:t>
              </a:r>
            </a:p>
          </p:txBody>
        </p:sp>
      </p:grpSp>
      <p:grpSp>
        <p:nvGrpSpPr>
          <p:cNvPr name="Group 110" id="110"/>
          <p:cNvGrpSpPr/>
          <p:nvPr/>
        </p:nvGrpSpPr>
        <p:grpSpPr>
          <a:xfrm rot="0">
            <a:off x="813435" y="6697599"/>
            <a:ext cx="4024122" cy="1911858"/>
            <a:chOff x="0" y="0"/>
            <a:chExt cx="5365496" cy="2549144"/>
          </a:xfrm>
        </p:grpSpPr>
        <p:sp>
          <p:nvSpPr>
            <p:cNvPr name="Freeform 111" id="111"/>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112" id="112"/>
          <p:cNvGrpSpPr/>
          <p:nvPr/>
        </p:nvGrpSpPr>
        <p:grpSpPr>
          <a:xfrm rot="0">
            <a:off x="1087755" y="6999351"/>
            <a:ext cx="704850" cy="704850"/>
            <a:chOff x="0" y="0"/>
            <a:chExt cx="939800" cy="939800"/>
          </a:xfrm>
        </p:grpSpPr>
        <p:sp>
          <p:nvSpPr>
            <p:cNvPr name="Freeform 113" id="113"/>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14" id="114"/>
          <p:cNvGrpSpPr/>
          <p:nvPr/>
        </p:nvGrpSpPr>
        <p:grpSpPr>
          <a:xfrm rot="0">
            <a:off x="1248156" y="7159752"/>
            <a:ext cx="384048" cy="384048"/>
            <a:chOff x="0" y="0"/>
            <a:chExt cx="512064" cy="512064"/>
          </a:xfrm>
        </p:grpSpPr>
        <p:sp>
          <p:nvSpPr>
            <p:cNvPr name="Freeform 115" id="115"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2"/>
              <a:stretch>
                <a:fillRect l="0" t="0" r="0" b="0"/>
              </a:stretch>
            </a:blipFill>
          </p:spPr>
        </p:sp>
      </p:grpSp>
      <p:grpSp>
        <p:nvGrpSpPr>
          <p:cNvPr name="Group 116" id="116"/>
          <p:cNvGrpSpPr/>
          <p:nvPr/>
        </p:nvGrpSpPr>
        <p:grpSpPr>
          <a:xfrm rot="0">
            <a:off x="1947672" y="6981444"/>
            <a:ext cx="2702052" cy="466344"/>
            <a:chOff x="0" y="0"/>
            <a:chExt cx="3602736" cy="621792"/>
          </a:xfrm>
        </p:grpSpPr>
        <p:sp>
          <p:nvSpPr>
            <p:cNvPr name="Freeform 117" id="117"/>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18" id="118"/>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Recent searches</a:t>
              </a:r>
            </a:p>
          </p:txBody>
        </p:sp>
      </p:grpSp>
      <p:sp>
        <p:nvSpPr>
          <p:cNvPr name="TextBox 119" id="119"/>
          <p:cNvSpPr txBox="true"/>
          <p:nvPr/>
        </p:nvSpPr>
        <p:spPr>
          <a:xfrm rot="0">
            <a:off x="1947672" y="7423404"/>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The last 10, newest first</a:t>
            </a:r>
          </a:p>
        </p:txBody>
      </p:sp>
      <p:grpSp>
        <p:nvGrpSpPr>
          <p:cNvPr name="Group 120" id="120"/>
          <p:cNvGrpSpPr/>
          <p:nvPr/>
        </p:nvGrpSpPr>
        <p:grpSpPr>
          <a:xfrm rot="0">
            <a:off x="1947672" y="8078724"/>
            <a:ext cx="2702052" cy="342900"/>
            <a:chOff x="0" y="0"/>
            <a:chExt cx="3602736" cy="457200"/>
          </a:xfrm>
        </p:grpSpPr>
        <p:sp>
          <p:nvSpPr>
            <p:cNvPr name="Freeform 121" id="121"/>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22" id="122"/>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Linked list</a:t>
              </a:r>
            </a:p>
          </p:txBody>
        </p:sp>
      </p:grpSp>
      <p:grpSp>
        <p:nvGrpSpPr>
          <p:cNvPr name="Group 123" id="123"/>
          <p:cNvGrpSpPr/>
          <p:nvPr/>
        </p:nvGrpSpPr>
        <p:grpSpPr>
          <a:xfrm rot="0">
            <a:off x="4983099" y="6697599"/>
            <a:ext cx="4024122" cy="1911858"/>
            <a:chOff x="0" y="0"/>
            <a:chExt cx="5365496" cy="2549144"/>
          </a:xfrm>
        </p:grpSpPr>
        <p:sp>
          <p:nvSpPr>
            <p:cNvPr name="Freeform 124" id="124"/>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125" id="125"/>
          <p:cNvGrpSpPr/>
          <p:nvPr/>
        </p:nvGrpSpPr>
        <p:grpSpPr>
          <a:xfrm rot="0">
            <a:off x="5257419" y="6999351"/>
            <a:ext cx="704850" cy="704850"/>
            <a:chOff x="0" y="0"/>
            <a:chExt cx="939800" cy="939800"/>
          </a:xfrm>
        </p:grpSpPr>
        <p:sp>
          <p:nvSpPr>
            <p:cNvPr name="Freeform 126" id="126"/>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27" id="127"/>
          <p:cNvGrpSpPr/>
          <p:nvPr/>
        </p:nvGrpSpPr>
        <p:grpSpPr>
          <a:xfrm rot="0">
            <a:off x="5417820" y="7159752"/>
            <a:ext cx="384048" cy="384048"/>
            <a:chOff x="0" y="0"/>
            <a:chExt cx="512064" cy="512064"/>
          </a:xfrm>
        </p:grpSpPr>
        <p:sp>
          <p:nvSpPr>
            <p:cNvPr name="Freeform 128" id="128"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3"/>
              <a:stretch>
                <a:fillRect l="0" t="0" r="0" b="0"/>
              </a:stretch>
            </a:blipFill>
          </p:spPr>
        </p:sp>
      </p:grpSp>
      <p:grpSp>
        <p:nvGrpSpPr>
          <p:cNvPr name="Group 129" id="129"/>
          <p:cNvGrpSpPr/>
          <p:nvPr/>
        </p:nvGrpSpPr>
        <p:grpSpPr>
          <a:xfrm rot="0">
            <a:off x="6117336" y="6981444"/>
            <a:ext cx="2702052" cy="466344"/>
            <a:chOff x="0" y="0"/>
            <a:chExt cx="3602736" cy="621792"/>
          </a:xfrm>
        </p:grpSpPr>
        <p:sp>
          <p:nvSpPr>
            <p:cNvPr name="Freeform 130" id="130"/>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31" id="131"/>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Favorites</a:t>
              </a:r>
            </a:p>
          </p:txBody>
        </p:sp>
      </p:grpSp>
      <p:sp>
        <p:nvSpPr>
          <p:cNvPr name="TextBox 132" id="132"/>
          <p:cNvSpPr txBox="true"/>
          <p:nvPr/>
        </p:nvSpPr>
        <p:spPr>
          <a:xfrm rot="0">
            <a:off x="6117336" y="7423404"/>
            <a:ext cx="2702052" cy="552450"/>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Starred places, </a:t>
            </a:r>
          </a:p>
          <a:p>
            <a:pPr algn="l">
              <a:lnSpc>
                <a:spcPts val="2070"/>
              </a:lnSpc>
            </a:pPr>
            <a:r>
              <a:rPr lang="en-US" sz="1725">
                <a:solidFill>
                  <a:srgbClr val="5F626B"/>
                </a:solidFill>
                <a:latin typeface="Calibri (MS)"/>
                <a:ea typeface="Calibri (MS)"/>
                <a:cs typeface="Calibri (MS)"/>
                <a:sym typeface="Calibri (MS)"/>
              </a:rPr>
              <a:t>saved by the user, per user.</a:t>
            </a:r>
          </a:p>
        </p:txBody>
      </p:sp>
      <p:grpSp>
        <p:nvGrpSpPr>
          <p:cNvPr name="Group 133" id="133"/>
          <p:cNvGrpSpPr/>
          <p:nvPr/>
        </p:nvGrpSpPr>
        <p:grpSpPr>
          <a:xfrm rot="0">
            <a:off x="6117336" y="8078724"/>
            <a:ext cx="2702052" cy="342900"/>
            <a:chOff x="0" y="0"/>
            <a:chExt cx="3602736" cy="457200"/>
          </a:xfrm>
        </p:grpSpPr>
        <p:sp>
          <p:nvSpPr>
            <p:cNvPr name="Freeform 134" id="134"/>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35" id="135"/>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Linked list</a:t>
              </a:r>
            </a:p>
          </p:txBody>
        </p:sp>
      </p:grpSp>
      <p:grpSp>
        <p:nvGrpSpPr>
          <p:cNvPr name="Group 136" id="136"/>
          <p:cNvGrpSpPr/>
          <p:nvPr/>
        </p:nvGrpSpPr>
        <p:grpSpPr>
          <a:xfrm rot="0">
            <a:off x="9152763" y="6697599"/>
            <a:ext cx="4024122" cy="1911858"/>
            <a:chOff x="0" y="0"/>
            <a:chExt cx="5365496" cy="2549144"/>
          </a:xfrm>
        </p:grpSpPr>
        <p:sp>
          <p:nvSpPr>
            <p:cNvPr name="Freeform 137" id="137"/>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D9B100"/>
            </a:solidFill>
            <a:ln w="19050" cap="sq">
              <a:solidFill>
                <a:srgbClr val="F3F4F6"/>
              </a:solidFill>
              <a:prstDash val="solid"/>
              <a:miter/>
            </a:ln>
          </p:spPr>
        </p:sp>
      </p:grpSp>
      <p:grpSp>
        <p:nvGrpSpPr>
          <p:cNvPr name="Group 138" id="138"/>
          <p:cNvGrpSpPr/>
          <p:nvPr/>
        </p:nvGrpSpPr>
        <p:grpSpPr>
          <a:xfrm rot="0">
            <a:off x="9427083" y="6999351"/>
            <a:ext cx="704850" cy="704850"/>
            <a:chOff x="0" y="0"/>
            <a:chExt cx="939800" cy="939800"/>
          </a:xfrm>
        </p:grpSpPr>
        <p:sp>
          <p:nvSpPr>
            <p:cNvPr name="Freeform 139" id="139"/>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40" id="140"/>
          <p:cNvGrpSpPr/>
          <p:nvPr/>
        </p:nvGrpSpPr>
        <p:grpSpPr>
          <a:xfrm rot="0">
            <a:off x="9587484" y="7159752"/>
            <a:ext cx="384048" cy="384048"/>
            <a:chOff x="0" y="0"/>
            <a:chExt cx="512064" cy="512064"/>
          </a:xfrm>
        </p:grpSpPr>
        <p:sp>
          <p:nvSpPr>
            <p:cNvPr name="Freeform 141" id="141"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4"/>
              <a:stretch>
                <a:fillRect l="0" t="0" r="0" b="0"/>
              </a:stretch>
            </a:blipFill>
          </p:spPr>
        </p:sp>
      </p:grpSp>
      <p:grpSp>
        <p:nvGrpSpPr>
          <p:cNvPr name="Group 142" id="142"/>
          <p:cNvGrpSpPr/>
          <p:nvPr/>
        </p:nvGrpSpPr>
        <p:grpSpPr>
          <a:xfrm rot="0">
            <a:off x="10287000" y="6981444"/>
            <a:ext cx="2702052" cy="466344"/>
            <a:chOff x="0" y="0"/>
            <a:chExt cx="3602736" cy="621792"/>
          </a:xfrm>
        </p:grpSpPr>
        <p:sp>
          <p:nvSpPr>
            <p:cNvPr name="Freeform 143" id="143"/>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44" id="144"/>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Admin tools</a:t>
              </a:r>
            </a:p>
          </p:txBody>
        </p:sp>
      </p:grpSp>
      <p:sp>
        <p:nvSpPr>
          <p:cNvPr name="TextBox 145" id="145"/>
          <p:cNvSpPr txBox="true"/>
          <p:nvPr/>
        </p:nvSpPr>
        <p:spPr>
          <a:xfrm rot="0">
            <a:off x="10287000" y="7423404"/>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Edit places, walkways, users, log</a:t>
            </a:r>
          </a:p>
        </p:txBody>
      </p:sp>
      <p:grpSp>
        <p:nvGrpSpPr>
          <p:cNvPr name="Group 146" id="146"/>
          <p:cNvGrpSpPr/>
          <p:nvPr/>
        </p:nvGrpSpPr>
        <p:grpSpPr>
          <a:xfrm rot="0">
            <a:off x="10287000" y="8078724"/>
            <a:ext cx="2702052" cy="342900"/>
            <a:chOff x="0" y="0"/>
            <a:chExt cx="3602736" cy="457200"/>
          </a:xfrm>
        </p:grpSpPr>
        <p:sp>
          <p:nvSpPr>
            <p:cNvPr name="Freeform 147" id="147"/>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48" id="148"/>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Array · Graph · Tree</a:t>
              </a:r>
            </a:p>
          </p:txBody>
        </p:sp>
      </p:grpSp>
      <p:grpSp>
        <p:nvGrpSpPr>
          <p:cNvPr name="Group 149" id="149"/>
          <p:cNvGrpSpPr/>
          <p:nvPr/>
        </p:nvGrpSpPr>
        <p:grpSpPr>
          <a:xfrm rot="0">
            <a:off x="13322427" y="6697599"/>
            <a:ext cx="4024122" cy="1911858"/>
            <a:chOff x="0" y="0"/>
            <a:chExt cx="5365496" cy="2549144"/>
          </a:xfrm>
        </p:grpSpPr>
        <p:sp>
          <p:nvSpPr>
            <p:cNvPr name="Freeform 150" id="150"/>
            <p:cNvSpPr/>
            <p:nvPr/>
          </p:nvSpPr>
          <p:spPr>
            <a:xfrm flipH="false" flipV="false" rot="0">
              <a:off x="0" y="0"/>
              <a:ext cx="5365496" cy="2549144"/>
            </a:xfrm>
            <a:custGeom>
              <a:avLst/>
              <a:gdLst/>
              <a:ahLst/>
              <a:cxnLst/>
              <a:rect r="r" b="b" t="t" l="l"/>
              <a:pathLst>
                <a:path h="2549144" w="5365496">
                  <a:moveTo>
                    <a:pt x="0" y="184658"/>
                  </a:moveTo>
                  <a:cubicBezTo>
                    <a:pt x="0" y="82677"/>
                    <a:pt x="82677" y="0"/>
                    <a:pt x="184658" y="0"/>
                  </a:cubicBezTo>
                  <a:lnTo>
                    <a:pt x="5180838" y="0"/>
                  </a:lnTo>
                  <a:cubicBezTo>
                    <a:pt x="5282819" y="0"/>
                    <a:pt x="5365496" y="82677"/>
                    <a:pt x="5365496" y="184658"/>
                  </a:cubicBezTo>
                  <a:lnTo>
                    <a:pt x="5365496" y="2364486"/>
                  </a:lnTo>
                  <a:cubicBezTo>
                    <a:pt x="5365496" y="2466467"/>
                    <a:pt x="5282819" y="2549144"/>
                    <a:pt x="5180838" y="2549144"/>
                  </a:cubicBezTo>
                  <a:lnTo>
                    <a:pt x="184658" y="2549144"/>
                  </a:lnTo>
                  <a:cubicBezTo>
                    <a:pt x="82677" y="2549144"/>
                    <a:pt x="0" y="2466467"/>
                    <a:pt x="0" y="2364486"/>
                  </a:cubicBezTo>
                  <a:close/>
                </a:path>
              </a:pathLst>
            </a:custGeom>
            <a:solidFill>
              <a:srgbClr val="F3F4F6"/>
            </a:solidFill>
            <a:ln w="19050" cap="sq">
              <a:solidFill>
                <a:srgbClr val="F3F4F6"/>
              </a:solidFill>
              <a:prstDash val="solid"/>
              <a:miter/>
            </a:ln>
          </p:spPr>
        </p:sp>
      </p:grpSp>
      <p:grpSp>
        <p:nvGrpSpPr>
          <p:cNvPr name="Group 151" id="151"/>
          <p:cNvGrpSpPr/>
          <p:nvPr/>
        </p:nvGrpSpPr>
        <p:grpSpPr>
          <a:xfrm rot="0">
            <a:off x="13596747" y="6999351"/>
            <a:ext cx="704850" cy="704850"/>
            <a:chOff x="0" y="0"/>
            <a:chExt cx="939800" cy="939800"/>
          </a:xfrm>
        </p:grpSpPr>
        <p:sp>
          <p:nvSpPr>
            <p:cNvPr name="Freeform 152" id="152"/>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153" id="153"/>
          <p:cNvGrpSpPr/>
          <p:nvPr/>
        </p:nvGrpSpPr>
        <p:grpSpPr>
          <a:xfrm rot="0">
            <a:off x="13757148" y="7159752"/>
            <a:ext cx="384048" cy="384048"/>
            <a:chOff x="0" y="0"/>
            <a:chExt cx="512064" cy="512064"/>
          </a:xfrm>
        </p:grpSpPr>
        <p:sp>
          <p:nvSpPr>
            <p:cNvPr name="Freeform 154" id="154"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15"/>
              <a:stretch>
                <a:fillRect l="0" t="0" r="0" b="0"/>
              </a:stretch>
            </a:blipFill>
          </p:spPr>
        </p:sp>
      </p:grpSp>
      <p:grpSp>
        <p:nvGrpSpPr>
          <p:cNvPr name="Group 155" id="155"/>
          <p:cNvGrpSpPr/>
          <p:nvPr/>
        </p:nvGrpSpPr>
        <p:grpSpPr>
          <a:xfrm rot="0">
            <a:off x="14456664" y="6981444"/>
            <a:ext cx="2702052" cy="466344"/>
            <a:chOff x="0" y="0"/>
            <a:chExt cx="3602736" cy="621792"/>
          </a:xfrm>
        </p:grpSpPr>
        <p:sp>
          <p:nvSpPr>
            <p:cNvPr name="Freeform 156" id="156"/>
            <p:cNvSpPr/>
            <p:nvPr/>
          </p:nvSpPr>
          <p:spPr>
            <a:xfrm flipH="false" flipV="false" rot="0">
              <a:off x="0" y="0"/>
              <a:ext cx="3602736" cy="621792"/>
            </a:xfrm>
            <a:custGeom>
              <a:avLst/>
              <a:gdLst/>
              <a:ahLst/>
              <a:cxnLst/>
              <a:rect r="r" b="b" t="t" l="l"/>
              <a:pathLst>
                <a:path h="621792" w="3602736">
                  <a:moveTo>
                    <a:pt x="0" y="0"/>
                  </a:moveTo>
                  <a:lnTo>
                    <a:pt x="3602736" y="0"/>
                  </a:lnTo>
                  <a:lnTo>
                    <a:pt x="3602736" y="621792"/>
                  </a:lnTo>
                  <a:lnTo>
                    <a:pt x="0" y="621792"/>
                  </a:lnTo>
                  <a:close/>
                </a:path>
              </a:pathLst>
            </a:custGeom>
            <a:blipFill>
              <a:blip r:embed="rId3">
                <a:alphaModFix amt="0"/>
              </a:blip>
              <a:stretch>
                <a:fillRect l="0" t="-62898" r="0" b="-62898"/>
              </a:stretch>
            </a:blipFill>
          </p:spPr>
        </p:sp>
        <p:sp>
          <p:nvSpPr>
            <p:cNvPr name="TextBox 157" id="157"/>
            <p:cNvSpPr txBox="true"/>
            <p:nvPr/>
          </p:nvSpPr>
          <p:spPr>
            <a:xfrm>
              <a:off x="0" y="-9525"/>
              <a:ext cx="3602736" cy="631317"/>
            </a:xfrm>
            <a:prstGeom prst="rect">
              <a:avLst/>
            </a:prstGeom>
          </p:spPr>
          <p:txBody>
            <a:bodyPr anchor="ctr" rtlCol="false" tIns="0" lIns="0" bIns="0" rIns="0"/>
            <a:lstStyle/>
            <a:p>
              <a:pPr algn="l">
                <a:lnSpc>
                  <a:spcPts val="2520"/>
                </a:lnSpc>
              </a:pPr>
              <a:r>
                <a:rPr lang="en-US" sz="2100" b="true">
                  <a:solidFill>
                    <a:srgbClr val="16171B"/>
                  </a:solidFill>
                  <a:latin typeface="Arial Bold"/>
                  <a:ea typeface="Arial Bold"/>
                  <a:cs typeface="Arial Bold"/>
                  <a:sym typeface="Arial Bold"/>
                </a:rPr>
                <a:t>Online version</a:t>
              </a:r>
            </a:p>
          </p:txBody>
        </p:sp>
      </p:grpSp>
      <p:sp>
        <p:nvSpPr>
          <p:cNvPr name="TextBox 158" id="158"/>
          <p:cNvSpPr txBox="true"/>
          <p:nvPr/>
        </p:nvSpPr>
        <p:spPr>
          <a:xfrm rot="0">
            <a:off x="14456664" y="7423404"/>
            <a:ext cx="2702052" cy="614172"/>
          </a:xfrm>
          <a:prstGeom prst="rect">
            <a:avLst/>
          </a:prstGeom>
        </p:spPr>
        <p:txBody>
          <a:bodyPr anchor="t" rtlCol="false" tIns="0" lIns="0" bIns="0" rIns="0">
            <a:spAutoFit/>
          </a:bodyPr>
          <a:lstStyle/>
          <a:p>
            <a:pPr algn="l">
              <a:lnSpc>
                <a:spcPts val="2070"/>
              </a:lnSpc>
            </a:pPr>
            <a:r>
              <a:rPr lang="en-US" sz="1725">
                <a:solidFill>
                  <a:srgbClr val="5F626B"/>
                </a:solidFill>
                <a:latin typeface="Calibri (MS)"/>
                <a:ea typeface="Calibri (MS)"/>
                <a:cs typeface="Calibri (MS)"/>
                <a:sym typeface="Calibri (MS)"/>
              </a:rPr>
              <a:t>Live BFS/DFS demo in the browser</a:t>
            </a:r>
          </a:p>
        </p:txBody>
      </p:sp>
      <p:grpSp>
        <p:nvGrpSpPr>
          <p:cNvPr name="Group 159" id="159"/>
          <p:cNvGrpSpPr/>
          <p:nvPr/>
        </p:nvGrpSpPr>
        <p:grpSpPr>
          <a:xfrm rot="0">
            <a:off x="14456664" y="8078724"/>
            <a:ext cx="2702052" cy="342900"/>
            <a:chOff x="0" y="0"/>
            <a:chExt cx="3602736" cy="457200"/>
          </a:xfrm>
        </p:grpSpPr>
        <p:sp>
          <p:nvSpPr>
            <p:cNvPr name="Freeform 160" id="160"/>
            <p:cNvSpPr/>
            <p:nvPr/>
          </p:nvSpPr>
          <p:spPr>
            <a:xfrm flipH="false" flipV="false" rot="0">
              <a:off x="0" y="0"/>
              <a:ext cx="3602736" cy="457200"/>
            </a:xfrm>
            <a:custGeom>
              <a:avLst/>
              <a:gdLst/>
              <a:ahLst/>
              <a:cxnLst/>
              <a:rect r="r" b="b" t="t" l="l"/>
              <a:pathLst>
                <a:path h="457200" w="3602736">
                  <a:moveTo>
                    <a:pt x="0" y="0"/>
                  </a:moveTo>
                  <a:lnTo>
                    <a:pt x="3602736" y="0"/>
                  </a:lnTo>
                  <a:lnTo>
                    <a:pt x="3602736" y="457200"/>
                  </a:lnTo>
                  <a:lnTo>
                    <a:pt x="0" y="457200"/>
                  </a:lnTo>
                  <a:close/>
                </a:path>
              </a:pathLst>
            </a:custGeom>
            <a:blipFill>
              <a:blip r:embed="rId3">
                <a:alphaModFix amt="0"/>
              </a:blip>
              <a:stretch>
                <a:fillRect l="0" t="-103542" r="0" b="-103542"/>
              </a:stretch>
            </a:blipFill>
          </p:spPr>
        </p:sp>
        <p:sp>
          <p:nvSpPr>
            <p:cNvPr name="TextBox 161" id="161"/>
            <p:cNvSpPr txBox="true"/>
            <p:nvPr/>
          </p:nvSpPr>
          <p:spPr>
            <a:xfrm>
              <a:off x="0" y="-38100"/>
              <a:ext cx="3602736" cy="495300"/>
            </a:xfrm>
            <a:prstGeom prst="rect">
              <a:avLst/>
            </a:prstGeom>
          </p:spPr>
          <p:txBody>
            <a:bodyPr anchor="ctr" rtlCol="false" tIns="0" lIns="0" bIns="0" rIns="0"/>
            <a:lstStyle/>
            <a:p>
              <a:pPr algn="l">
                <a:lnSpc>
                  <a:spcPts val="1709"/>
                </a:lnSpc>
              </a:pPr>
              <a:r>
                <a:rPr lang="en-US" sz="1425" b="true">
                  <a:solidFill>
                    <a:srgbClr val="8F7200"/>
                  </a:solidFill>
                  <a:latin typeface="Consolas Bold"/>
                  <a:ea typeface="Consolas Bold"/>
                  <a:cs typeface="Consolas Bold"/>
                  <a:sym typeface="Consolas Bold"/>
                </a:rPr>
                <a:t>GitHub Pages</a:t>
              </a:r>
            </a:p>
          </p:txBody>
        </p:sp>
      </p:grpSp>
    </p:spTree>
  </p:cSld>
  <p:clrMapOvr>
    <a:masterClrMapping/>
  </p:clrMapOvr>
  <p:transition spd="fast">
    <p:fade/>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FEATURE 1 · TAKE ME SOMEWHERE</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Directions a person can actually follow</a:t>
            </a:r>
          </a:p>
        </p:txBody>
      </p:sp>
      <p:grpSp>
        <p:nvGrpSpPr>
          <p:cNvPr name="Group 6" id="6"/>
          <p:cNvGrpSpPr/>
          <p:nvPr/>
        </p:nvGrpSpPr>
        <p:grpSpPr>
          <a:xfrm rot="0">
            <a:off x="1360123" y="2822552"/>
            <a:ext cx="6595872" cy="6041675"/>
            <a:chOff x="0" y="0"/>
            <a:chExt cx="8794496" cy="8055567"/>
          </a:xfrm>
        </p:grpSpPr>
        <p:sp>
          <p:nvSpPr>
            <p:cNvPr name="Freeform 7" id="7"/>
            <p:cNvSpPr/>
            <p:nvPr/>
          </p:nvSpPr>
          <p:spPr>
            <a:xfrm flipH="false" flipV="false" rot="0">
              <a:off x="0" y="0"/>
              <a:ext cx="8794496" cy="8055566"/>
            </a:xfrm>
            <a:custGeom>
              <a:avLst/>
              <a:gdLst/>
              <a:ahLst/>
              <a:cxnLst/>
              <a:rect r="r" b="b" t="t" l="l"/>
              <a:pathLst>
                <a:path h="8055566" w="8794496">
                  <a:moveTo>
                    <a:pt x="0" y="583539"/>
                  </a:moveTo>
                  <a:cubicBezTo>
                    <a:pt x="0" y="261268"/>
                    <a:pt x="135515" y="0"/>
                    <a:pt x="302670" y="0"/>
                  </a:cubicBezTo>
                  <a:lnTo>
                    <a:pt x="8491826" y="0"/>
                  </a:lnTo>
                  <a:cubicBezTo>
                    <a:pt x="8658982" y="0"/>
                    <a:pt x="8794496" y="261268"/>
                    <a:pt x="8794496" y="583539"/>
                  </a:cubicBezTo>
                  <a:lnTo>
                    <a:pt x="8794496" y="7472028"/>
                  </a:lnTo>
                  <a:cubicBezTo>
                    <a:pt x="8794496" y="7794299"/>
                    <a:pt x="8658982" y="8055566"/>
                    <a:pt x="8491826" y="8055566"/>
                  </a:cubicBezTo>
                  <a:lnTo>
                    <a:pt x="302670" y="8055566"/>
                  </a:lnTo>
                  <a:cubicBezTo>
                    <a:pt x="135515" y="8055567"/>
                    <a:pt x="0" y="7794299"/>
                    <a:pt x="0" y="7472028"/>
                  </a:cubicBezTo>
                  <a:close/>
                </a:path>
              </a:pathLst>
            </a:custGeom>
            <a:solidFill>
              <a:srgbClr val="915755"/>
            </a:solidFill>
            <a:ln w="19050" cap="sq">
              <a:solidFill>
                <a:srgbClr val="F3F4F6"/>
              </a:solidFill>
              <a:prstDash val="solid"/>
              <a:miter/>
            </a:ln>
          </p:spPr>
        </p:sp>
      </p:grpSp>
      <p:grpSp>
        <p:nvGrpSpPr>
          <p:cNvPr name="Group 8" id="8"/>
          <p:cNvGrpSpPr/>
          <p:nvPr/>
        </p:nvGrpSpPr>
        <p:grpSpPr>
          <a:xfrm rot="0">
            <a:off x="1826102" y="3468624"/>
            <a:ext cx="644738" cy="644738"/>
            <a:chOff x="0" y="0"/>
            <a:chExt cx="683768" cy="683768"/>
          </a:xfrm>
        </p:grpSpPr>
        <p:sp>
          <p:nvSpPr>
            <p:cNvPr name="Freeform 9" id="9"/>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10" id="10"/>
          <p:cNvGrpSpPr/>
          <p:nvPr/>
        </p:nvGrpSpPr>
        <p:grpSpPr>
          <a:xfrm rot="0">
            <a:off x="1838077" y="3480599"/>
            <a:ext cx="629703" cy="629703"/>
            <a:chOff x="0" y="0"/>
            <a:chExt cx="658368" cy="658368"/>
          </a:xfrm>
        </p:grpSpPr>
        <p:sp>
          <p:nvSpPr>
            <p:cNvPr name="Freeform 11" id="11"/>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12" id="12"/>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a:t>
              </a:r>
            </a:p>
          </p:txBody>
        </p:sp>
      </p:grpSp>
      <p:sp>
        <p:nvSpPr>
          <p:cNvPr name="TextBox 13" id="13"/>
          <p:cNvSpPr txBox="true"/>
          <p:nvPr/>
        </p:nvSpPr>
        <p:spPr>
          <a:xfrm rot="0">
            <a:off x="2786504" y="3433379"/>
            <a:ext cx="4931250" cy="651004"/>
          </a:xfrm>
          <a:prstGeom prst="rect">
            <a:avLst/>
          </a:prstGeom>
        </p:spPr>
        <p:txBody>
          <a:bodyPr anchor="t" rtlCol="false" tIns="0" lIns="0" bIns="0" rIns="0">
            <a:spAutoFit/>
          </a:bodyPr>
          <a:lstStyle/>
          <a:p>
            <a:pPr algn="l">
              <a:lnSpc>
                <a:spcPts val="4526"/>
              </a:lnSpc>
            </a:pPr>
            <a:r>
              <a:rPr lang="en-US" b="true" sz="3771">
                <a:solidFill>
                  <a:srgbClr val="FFFFFF"/>
                </a:solidFill>
                <a:latin typeface="Calibri (MS) Bold"/>
                <a:ea typeface="Calibri (MS) Bold"/>
                <a:cs typeface="Calibri (MS) Bold"/>
                <a:sym typeface="Calibri (MS) Bold"/>
              </a:rPr>
              <a:t>Type the start any way</a:t>
            </a:r>
          </a:p>
        </p:txBody>
      </p:sp>
      <p:grpSp>
        <p:nvGrpSpPr>
          <p:cNvPr name="Group 14" id="14"/>
          <p:cNvGrpSpPr/>
          <p:nvPr/>
        </p:nvGrpSpPr>
        <p:grpSpPr>
          <a:xfrm rot="0">
            <a:off x="1838077" y="4412041"/>
            <a:ext cx="644738" cy="644738"/>
            <a:chOff x="0" y="0"/>
            <a:chExt cx="683768" cy="683768"/>
          </a:xfrm>
        </p:grpSpPr>
        <p:sp>
          <p:nvSpPr>
            <p:cNvPr name="Freeform 15" id="15"/>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16" id="16"/>
          <p:cNvGrpSpPr/>
          <p:nvPr/>
        </p:nvGrpSpPr>
        <p:grpSpPr>
          <a:xfrm rot="0">
            <a:off x="1850053" y="4424016"/>
            <a:ext cx="620788" cy="620788"/>
            <a:chOff x="0" y="0"/>
            <a:chExt cx="658368" cy="658368"/>
          </a:xfrm>
        </p:grpSpPr>
        <p:sp>
          <p:nvSpPr>
            <p:cNvPr name="Freeform 17" id="17"/>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18" id="18"/>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2</a:t>
              </a:r>
            </a:p>
          </p:txBody>
        </p:sp>
      </p:grpSp>
      <p:sp>
        <p:nvSpPr>
          <p:cNvPr name="TextBox 19" id="19"/>
          <p:cNvSpPr txBox="true"/>
          <p:nvPr/>
        </p:nvSpPr>
        <p:spPr>
          <a:xfrm rot="0">
            <a:off x="2798479" y="4405776"/>
            <a:ext cx="8966940" cy="651004"/>
          </a:xfrm>
          <a:prstGeom prst="rect">
            <a:avLst/>
          </a:prstGeom>
        </p:spPr>
        <p:txBody>
          <a:bodyPr anchor="t" rtlCol="false" tIns="0" lIns="0" bIns="0" rIns="0">
            <a:spAutoFit/>
          </a:bodyPr>
          <a:lstStyle/>
          <a:p>
            <a:pPr algn="l">
              <a:lnSpc>
                <a:spcPts val="4526"/>
              </a:lnSpc>
            </a:pPr>
            <a:r>
              <a:rPr lang="en-US" b="true" sz="3771">
                <a:solidFill>
                  <a:srgbClr val="FFFFFF"/>
                </a:solidFill>
                <a:latin typeface="Calibri (MS) Bold"/>
                <a:ea typeface="Calibri (MS) Bold"/>
                <a:cs typeface="Calibri (MS) Bold"/>
                <a:sym typeface="Calibri (MS) Bold"/>
              </a:rPr>
              <a:t>Directions by road</a:t>
            </a:r>
          </a:p>
        </p:txBody>
      </p:sp>
      <p:grpSp>
        <p:nvGrpSpPr>
          <p:cNvPr name="Group 20" id="20"/>
          <p:cNvGrpSpPr/>
          <p:nvPr/>
        </p:nvGrpSpPr>
        <p:grpSpPr>
          <a:xfrm rot="0">
            <a:off x="1850053" y="5352054"/>
            <a:ext cx="644738" cy="644738"/>
            <a:chOff x="0" y="0"/>
            <a:chExt cx="683768" cy="683768"/>
          </a:xfrm>
        </p:grpSpPr>
        <p:sp>
          <p:nvSpPr>
            <p:cNvPr name="Freeform 21" id="21"/>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22" id="22"/>
          <p:cNvGrpSpPr/>
          <p:nvPr/>
        </p:nvGrpSpPr>
        <p:grpSpPr>
          <a:xfrm rot="0">
            <a:off x="1862028" y="5364029"/>
            <a:ext cx="620788" cy="620788"/>
            <a:chOff x="0" y="0"/>
            <a:chExt cx="658368" cy="658368"/>
          </a:xfrm>
        </p:grpSpPr>
        <p:sp>
          <p:nvSpPr>
            <p:cNvPr name="Freeform 23" id="23"/>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24" id="24"/>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3</a:t>
              </a:r>
            </a:p>
          </p:txBody>
        </p:sp>
      </p:grpSp>
      <p:sp>
        <p:nvSpPr>
          <p:cNvPr name="TextBox 25" id="25"/>
          <p:cNvSpPr txBox="true"/>
          <p:nvPr/>
        </p:nvSpPr>
        <p:spPr>
          <a:xfrm rot="0">
            <a:off x="2810454" y="5287829"/>
            <a:ext cx="8966940" cy="651004"/>
          </a:xfrm>
          <a:prstGeom prst="rect">
            <a:avLst/>
          </a:prstGeom>
        </p:spPr>
        <p:txBody>
          <a:bodyPr anchor="t" rtlCol="false" tIns="0" lIns="0" bIns="0" rIns="0">
            <a:spAutoFit/>
          </a:bodyPr>
          <a:lstStyle/>
          <a:p>
            <a:pPr algn="l">
              <a:lnSpc>
                <a:spcPts val="4526"/>
              </a:lnSpc>
            </a:pPr>
            <a:r>
              <a:rPr lang="en-US" b="true" sz="3771">
                <a:solidFill>
                  <a:srgbClr val="FFFFFF"/>
                </a:solidFill>
                <a:latin typeface="Calibri (MS) Bold"/>
                <a:ea typeface="Calibri (MS) Bold"/>
                <a:cs typeface="Calibri (MS) Bold"/>
                <a:sym typeface="Calibri (MS) Bold"/>
              </a:rPr>
              <a:t>Every stop, with totals</a:t>
            </a:r>
          </a:p>
        </p:txBody>
      </p:sp>
      <p:grpSp>
        <p:nvGrpSpPr>
          <p:cNvPr name="Group 26" id="26"/>
          <p:cNvGrpSpPr/>
          <p:nvPr/>
        </p:nvGrpSpPr>
        <p:grpSpPr>
          <a:xfrm rot="0">
            <a:off x="1862028" y="6320643"/>
            <a:ext cx="644738" cy="644738"/>
            <a:chOff x="0" y="0"/>
            <a:chExt cx="683768" cy="683768"/>
          </a:xfrm>
        </p:grpSpPr>
        <p:sp>
          <p:nvSpPr>
            <p:cNvPr name="Freeform 27" id="27"/>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28" id="28"/>
          <p:cNvGrpSpPr/>
          <p:nvPr/>
        </p:nvGrpSpPr>
        <p:grpSpPr>
          <a:xfrm rot="0">
            <a:off x="1874003" y="6332618"/>
            <a:ext cx="620788" cy="620788"/>
            <a:chOff x="0" y="0"/>
            <a:chExt cx="658368" cy="658368"/>
          </a:xfrm>
        </p:grpSpPr>
        <p:sp>
          <p:nvSpPr>
            <p:cNvPr name="Freeform 29" id="29"/>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30" id="30"/>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4</a:t>
              </a:r>
            </a:p>
          </p:txBody>
        </p:sp>
      </p:grpSp>
      <p:sp>
        <p:nvSpPr>
          <p:cNvPr name="TextBox 31" id="31"/>
          <p:cNvSpPr txBox="true"/>
          <p:nvPr/>
        </p:nvSpPr>
        <p:spPr>
          <a:xfrm rot="0">
            <a:off x="2822429" y="6314377"/>
            <a:ext cx="8966940" cy="651004"/>
          </a:xfrm>
          <a:prstGeom prst="rect">
            <a:avLst/>
          </a:prstGeom>
        </p:spPr>
        <p:txBody>
          <a:bodyPr anchor="t" rtlCol="false" tIns="0" lIns="0" bIns="0" rIns="0">
            <a:spAutoFit/>
          </a:bodyPr>
          <a:lstStyle/>
          <a:p>
            <a:pPr algn="l">
              <a:lnSpc>
                <a:spcPts val="4526"/>
              </a:lnSpc>
            </a:pPr>
            <a:r>
              <a:rPr lang="en-US" b="true" sz="3771">
                <a:solidFill>
                  <a:srgbClr val="FFFFFF"/>
                </a:solidFill>
                <a:latin typeface="Calibri (MS) Bold"/>
                <a:ea typeface="Calibri (MS) Bold"/>
                <a:cs typeface="Calibri (MS) Bold"/>
                <a:sym typeface="Calibri (MS) Bold"/>
              </a:rPr>
              <a:t>See the algorithm</a:t>
            </a:r>
          </a:p>
        </p:txBody>
      </p:sp>
      <p:grpSp>
        <p:nvGrpSpPr>
          <p:cNvPr name="Group 32" id="32"/>
          <p:cNvGrpSpPr/>
          <p:nvPr/>
        </p:nvGrpSpPr>
        <p:grpSpPr>
          <a:xfrm rot="0">
            <a:off x="1874003" y="7260656"/>
            <a:ext cx="644738" cy="644738"/>
            <a:chOff x="0" y="0"/>
            <a:chExt cx="683768" cy="683768"/>
          </a:xfrm>
        </p:grpSpPr>
        <p:sp>
          <p:nvSpPr>
            <p:cNvPr name="Freeform 33" id="33"/>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34" id="34"/>
          <p:cNvGrpSpPr/>
          <p:nvPr/>
        </p:nvGrpSpPr>
        <p:grpSpPr>
          <a:xfrm rot="0">
            <a:off x="1885978" y="7272631"/>
            <a:ext cx="620788" cy="620788"/>
            <a:chOff x="0" y="0"/>
            <a:chExt cx="658368" cy="658368"/>
          </a:xfrm>
        </p:grpSpPr>
        <p:sp>
          <p:nvSpPr>
            <p:cNvPr name="Freeform 35" id="35"/>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36" id="36"/>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5</a:t>
              </a:r>
            </a:p>
          </p:txBody>
        </p:sp>
      </p:grpSp>
      <p:sp>
        <p:nvSpPr>
          <p:cNvPr name="TextBox 37" id="37"/>
          <p:cNvSpPr txBox="true"/>
          <p:nvPr/>
        </p:nvSpPr>
        <p:spPr>
          <a:xfrm rot="0">
            <a:off x="2834404" y="7254390"/>
            <a:ext cx="8966940" cy="651004"/>
          </a:xfrm>
          <a:prstGeom prst="rect">
            <a:avLst/>
          </a:prstGeom>
        </p:spPr>
        <p:txBody>
          <a:bodyPr anchor="t" rtlCol="false" tIns="0" lIns="0" bIns="0" rIns="0">
            <a:spAutoFit/>
          </a:bodyPr>
          <a:lstStyle/>
          <a:p>
            <a:pPr algn="l">
              <a:lnSpc>
                <a:spcPts val="4526"/>
              </a:lnSpc>
            </a:pPr>
            <a:r>
              <a:rPr lang="en-US" b="true" sz="3771">
                <a:solidFill>
                  <a:srgbClr val="FFFFFF"/>
                </a:solidFill>
                <a:latin typeface="Calibri (MS) Bold"/>
                <a:ea typeface="Calibri (MS) Bold"/>
                <a:cs typeface="Calibri (MS) Bold"/>
                <a:sym typeface="Calibri (MS) Bold"/>
              </a:rPr>
              <a:t>Okay, now we’re </a:t>
            </a:r>
            <a:r>
              <a:rPr lang="en-US" b="true" sz="3771">
                <a:solidFill>
                  <a:srgbClr val="FFFFFF"/>
                </a:solidFill>
                <a:latin typeface="Calibri (MS) Bold"/>
                <a:ea typeface="Calibri (MS) Bold"/>
                <a:cs typeface="Calibri (MS) Bold"/>
                <a:sym typeface="Calibri (MS) Bold"/>
              </a:rPr>
              <a:t>going!</a:t>
            </a:r>
          </a:p>
        </p:txBody>
      </p:sp>
      <p:grpSp>
        <p:nvGrpSpPr>
          <p:cNvPr name="Group 38" id="38"/>
          <p:cNvGrpSpPr/>
          <p:nvPr/>
        </p:nvGrpSpPr>
        <p:grpSpPr>
          <a:xfrm rot="0">
            <a:off x="9248775" y="2527935"/>
            <a:ext cx="8248650" cy="6808470"/>
            <a:chOff x="0" y="0"/>
            <a:chExt cx="10998200" cy="9077960"/>
          </a:xfrm>
        </p:grpSpPr>
        <p:sp>
          <p:nvSpPr>
            <p:cNvPr name="Freeform 39" id="39"/>
            <p:cNvSpPr/>
            <p:nvPr/>
          </p:nvSpPr>
          <p:spPr>
            <a:xfrm flipH="false" flipV="false" rot="0">
              <a:off x="0" y="0"/>
              <a:ext cx="10998200" cy="9077960"/>
            </a:xfrm>
            <a:custGeom>
              <a:avLst/>
              <a:gdLst/>
              <a:ahLst/>
              <a:cxnLst/>
              <a:rect r="r" b="b" t="t" l="l"/>
              <a:pathLst>
                <a:path h="9077960" w="10998200">
                  <a:moveTo>
                    <a:pt x="0" y="183388"/>
                  </a:moveTo>
                  <a:cubicBezTo>
                    <a:pt x="0" y="82042"/>
                    <a:pt x="82042" y="0"/>
                    <a:pt x="183388" y="0"/>
                  </a:cubicBezTo>
                  <a:lnTo>
                    <a:pt x="10814812" y="0"/>
                  </a:lnTo>
                  <a:cubicBezTo>
                    <a:pt x="10916158" y="0"/>
                    <a:pt x="10998200" y="82042"/>
                    <a:pt x="10998200" y="183388"/>
                  </a:cubicBezTo>
                  <a:lnTo>
                    <a:pt x="10998200" y="8894572"/>
                  </a:lnTo>
                  <a:cubicBezTo>
                    <a:pt x="10998200" y="8995790"/>
                    <a:pt x="10916158" y="9077960"/>
                    <a:pt x="10814812" y="9077960"/>
                  </a:cubicBezTo>
                  <a:lnTo>
                    <a:pt x="183388" y="9077960"/>
                  </a:lnTo>
                  <a:cubicBezTo>
                    <a:pt x="82042" y="9077960"/>
                    <a:pt x="0" y="8995918"/>
                    <a:pt x="0" y="8894572"/>
                  </a:cubicBezTo>
                  <a:close/>
                </a:path>
              </a:pathLst>
            </a:custGeom>
            <a:solidFill>
              <a:srgbClr val="07080A"/>
            </a:solidFill>
            <a:ln w="19050" cap="sq">
              <a:solidFill>
                <a:srgbClr val="2C2F38"/>
              </a:solidFill>
              <a:prstDash val="solid"/>
              <a:miter/>
            </a:ln>
          </p:spPr>
        </p:sp>
      </p:grpSp>
      <p:grpSp>
        <p:nvGrpSpPr>
          <p:cNvPr name="Group 40" id="40"/>
          <p:cNvGrpSpPr/>
          <p:nvPr/>
        </p:nvGrpSpPr>
        <p:grpSpPr>
          <a:xfrm rot="0">
            <a:off x="9523095" y="2761107"/>
            <a:ext cx="183642" cy="183642"/>
            <a:chOff x="0" y="0"/>
            <a:chExt cx="244856" cy="244856"/>
          </a:xfrm>
        </p:grpSpPr>
        <p:sp>
          <p:nvSpPr>
            <p:cNvPr name="Freeform 41" id="41"/>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42" id="42"/>
          <p:cNvGrpSpPr/>
          <p:nvPr/>
        </p:nvGrpSpPr>
        <p:grpSpPr>
          <a:xfrm rot="0">
            <a:off x="9797415" y="2761107"/>
            <a:ext cx="183642" cy="183642"/>
            <a:chOff x="0" y="0"/>
            <a:chExt cx="244856" cy="244856"/>
          </a:xfrm>
        </p:grpSpPr>
        <p:sp>
          <p:nvSpPr>
            <p:cNvPr name="Freeform 43" id="43"/>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44" id="44"/>
          <p:cNvGrpSpPr/>
          <p:nvPr/>
        </p:nvGrpSpPr>
        <p:grpSpPr>
          <a:xfrm rot="0">
            <a:off x="10071735" y="2761107"/>
            <a:ext cx="183642" cy="183642"/>
            <a:chOff x="0" y="0"/>
            <a:chExt cx="244856" cy="244856"/>
          </a:xfrm>
        </p:grpSpPr>
        <p:sp>
          <p:nvSpPr>
            <p:cNvPr name="Freeform 45" id="45"/>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46" id="46"/>
          <p:cNvSpPr txBox="true"/>
          <p:nvPr/>
        </p:nvSpPr>
        <p:spPr>
          <a:xfrm rot="0">
            <a:off x="9560052" y="3097530"/>
            <a:ext cx="7626096" cy="6023610"/>
          </a:xfrm>
          <a:prstGeom prst="rect">
            <a:avLst/>
          </a:prstGeom>
        </p:spPr>
        <p:txBody>
          <a:bodyPr anchor="t" rtlCol="false" tIns="0" lIns="0" bIns="0" rIns="0">
            <a:spAutoFit/>
          </a:bodyPr>
          <a:lstStyle/>
          <a:p>
            <a:pPr algn="l">
              <a:lnSpc>
                <a:spcPts val="2362"/>
              </a:lnSpc>
            </a:pPr>
            <a:r>
              <a:rPr lang="en-US" sz="1875" b="true">
                <a:solidFill>
                  <a:srgbClr val="D9B100"/>
                </a:solidFill>
                <a:latin typeface="Consolas Bold"/>
                <a:ea typeface="Consolas Bold"/>
                <a:cs typeface="Consolas Bold"/>
                <a:sym typeface="Consolas Bold"/>
              </a:rPr>
              <a:t>  Central Library  →  KUET Main Gate</a:t>
            </a:r>
          </a:p>
          <a:p>
            <a:pPr algn="l">
              <a:lnSpc>
                <a:spcPts val="2362"/>
              </a:lnSpc>
            </a:pPr>
            <a:r>
              <a:rPr lang="en-US" sz="1875" b="true">
                <a:solidFill>
                  <a:srgbClr val="FFFFFF"/>
                </a:solidFill>
                <a:latin typeface="Consolas Bold"/>
                <a:ea typeface="Consolas Bold"/>
                <a:cs typeface="Consolas Bold"/>
                <a:sym typeface="Consolas Bold"/>
              </a:rPr>
              <a:t>  707 m</a:t>
            </a:r>
            <a:r>
              <a:rPr lang="en-US" sz="1875">
                <a:solidFill>
                  <a:srgbClr val="7C7F89"/>
                </a:solidFill>
                <a:latin typeface="Consolas"/>
                <a:ea typeface="Consolas"/>
                <a:cs typeface="Consolas"/>
                <a:sym typeface="Consolas"/>
              </a:rPr>
              <a:t> walk · </a:t>
            </a:r>
            <a:r>
              <a:rPr lang="en-US" sz="1875" b="true">
                <a:solidFill>
                  <a:srgbClr val="FFFFFF"/>
                </a:solidFill>
                <a:latin typeface="Consolas Bold"/>
                <a:ea typeface="Consolas Bold"/>
                <a:cs typeface="Consolas Bold"/>
                <a:sym typeface="Consolas Bold"/>
              </a:rPr>
              <a:t>about 10 min</a:t>
            </a:r>
            <a:r>
              <a:rPr lang="en-US" sz="1875">
                <a:solidFill>
                  <a:srgbClr val="7C7F89"/>
                </a:solidFill>
                <a:latin typeface="Consolas"/>
                <a:ea typeface="Consolas"/>
                <a:cs typeface="Consolas"/>
                <a:sym typeface="Consolas"/>
              </a:rPr>
              <a:t> · 9 places · 3 roads</a:t>
            </a:r>
          </a:p>
          <a:p>
            <a:pPr algn="l">
              <a:lnSpc>
                <a:spcPts val="2362"/>
              </a:lnSpc>
            </a:pPr>
            <a:r>
              <a:rPr lang="en-US" sz="1875">
                <a:solidFill>
                  <a:srgbClr val="D7D8DC"/>
                </a:solidFill>
                <a:latin typeface="Consolas"/>
                <a:ea typeface="Consolas"/>
                <a:cs typeface="Consolas"/>
                <a:sym typeface="Consolas"/>
              </a:rPr>
              <a:t> </a:t>
            </a:r>
          </a:p>
          <a:p>
            <a:pPr algn="l">
              <a:lnSpc>
                <a:spcPts val="2362"/>
              </a:lnSpc>
            </a:pPr>
            <a:r>
              <a:rPr lang="en-US" sz="1875">
                <a:solidFill>
                  <a:srgbClr val="7C7F89"/>
                </a:solidFill>
                <a:latin typeface="Consolas"/>
                <a:ea typeface="Consolas"/>
                <a:cs typeface="Consolas"/>
                <a:sym typeface="Consolas"/>
              </a:rPr>
              <a:t>  DIRECTIONS</a:t>
            </a:r>
          </a:p>
          <a:p>
            <a:pPr algn="l">
              <a:lnSpc>
                <a:spcPts val="2362"/>
              </a:lnSpc>
            </a:pPr>
            <a:r>
              <a:rPr lang="en-US" sz="1875">
                <a:solidFill>
                  <a:srgbClr val="5FBE78"/>
                </a:solidFill>
                <a:latin typeface="Consolas"/>
                <a:ea typeface="Consolas"/>
                <a:cs typeface="Consolas"/>
                <a:sym typeface="Consolas"/>
              </a:rPr>
              <a:t>   ●</a:t>
            </a:r>
            <a:r>
              <a:rPr lang="en-US" sz="1875">
                <a:solidFill>
                  <a:srgbClr val="D7D8DC"/>
                </a:solidFill>
                <a:latin typeface="Consolas"/>
                <a:ea typeface="Consolas"/>
                <a:cs typeface="Consolas"/>
                <a:sym typeface="Consolas"/>
              </a:rPr>
              <a:t>  Start at </a:t>
            </a:r>
            <a:r>
              <a:rPr lang="en-US" sz="1875" b="true">
                <a:solidFill>
                  <a:srgbClr val="FFFFFF"/>
                </a:solidFill>
                <a:latin typeface="Consolas Bold"/>
                <a:ea typeface="Consolas Bold"/>
                <a:cs typeface="Consolas Bold"/>
                <a:sym typeface="Consolas Bold"/>
              </a:rPr>
              <a:t>Central Library</a:t>
            </a:r>
          </a:p>
          <a:p>
            <a:pPr algn="l">
              <a:lnSpc>
                <a:spcPts val="2362"/>
              </a:lnSpc>
            </a:pPr>
            <a:r>
              <a:rPr lang="en-US" sz="1875">
                <a:solidFill>
                  <a:srgbClr val="D9B100"/>
                </a:solidFill>
                <a:latin typeface="Consolas"/>
                <a:ea typeface="Consolas"/>
                <a:cs typeface="Consolas"/>
                <a:sym typeface="Consolas"/>
              </a:rPr>
              <a:t>   1</a:t>
            </a:r>
            <a:r>
              <a:rPr lang="en-US" sz="1875">
                <a:solidFill>
                  <a:srgbClr val="D7D8DC"/>
                </a:solidFill>
                <a:latin typeface="Consolas"/>
                <a:ea typeface="Consolas"/>
                <a:cs typeface="Consolas"/>
                <a:sym typeface="Consolas"/>
              </a:rPr>
              <a:t>  Head south on </a:t>
            </a:r>
            <a:r>
              <a:rPr lang="en-US" sz="1875">
                <a:solidFill>
                  <a:srgbClr val="D9B100"/>
                </a:solidFill>
                <a:latin typeface="Consolas"/>
                <a:ea typeface="Consolas"/>
                <a:cs typeface="Consolas"/>
                <a:sym typeface="Consolas"/>
              </a:rPr>
              <a:t>Library Lane</a:t>
            </a:r>
            <a:r>
              <a:rPr lang="en-US" sz="1875">
                <a:solidFill>
                  <a:srgbClr val="7C7F89"/>
                </a:solidFill>
                <a:latin typeface="Consolas"/>
                <a:ea typeface="Consolas"/>
                <a:cs typeface="Consolas"/>
                <a:sym typeface="Consolas"/>
              </a:rPr>
              <a:t>  ·  89 m</a:t>
            </a:r>
          </a:p>
          <a:p>
            <a:pPr algn="l">
              <a:lnSpc>
                <a:spcPts val="2362"/>
              </a:lnSpc>
            </a:pPr>
            <a:r>
              <a:rPr lang="en-US" sz="1875">
                <a:solidFill>
                  <a:srgbClr val="7C7F89"/>
                </a:solidFill>
                <a:latin typeface="Consolas"/>
                <a:ea typeface="Consolas"/>
                <a:cs typeface="Consolas"/>
                <a:sym typeface="Consolas"/>
              </a:rPr>
              <a:t>   │  until you reach Fazlul Haque Hall</a:t>
            </a:r>
          </a:p>
          <a:p>
            <a:pPr algn="l">
              <a:lnSpc>
                <a:spcPts val="2362"/>
              </a:lnSpc>
            </a:pPr>
            <a:r>
              <a:rPr lang="en-US" sz="1875">
                <a:solidFill>
                  <a:srgbClr val="D9B100"/>
                </a:solidFill>
                <a:latin typeface="Consolas"/>
                <a:ea typeface="Consolas"/>
                <a:cs typeface="Consolas"/>
                <a:sym typeface="Consolas"/>
              </a:rPr>
              <a:t>   2</a:t>
            </a:r>
            <a:r>
              <a:rPr lang="en-US" sz="1875">
                <a:solidFill>
                  <a:srgbClr val="D7D8DC"/>
                </a:solidFill>
                <a:latin typeface="Consolas"/>
                <a:ea typeface="Consolas"/>
                <a:cs typeface="Consolas"/>
                <a:sym typeface="Consolas"/>
              </a:rPr>
              <a:t>  Turn left, heading east on </a:t>
            </a:r>
            <a:r>
              <a:rPr lang="en-US" sz="1875">
                <a:solidFill>
                  <a:srgbClr val="D9B100"/>
                </a:solidFill>
                <a:latin typeface="Consolas"/>
                <a:ea typeface="Consolas"/>
                <a:cs typeface="Consolas"/>
                <a:sym typeface="Consolas"/>
              </a:rPr>
              <a:t>Hall Road</a:t>
            </a:r>
            <a:r>
              <a:rPr lang="en-US" sz="1875">
                <a:solidFill>
                  <a:srgbClr val="7C7F89"/>
                </a:solidFill>
                <a:latin typeface="Consolas"/>
                <a:ea typeface="Consolas"/>
                <a:cs typeface="Consolas"/>
                <a:sym typeface="Consolas"/>
              </a:rPr>
              <a:t>  ·  258 m</a:t>
            </a:r>
          </a:p>
          <a:p>
            <a:pPr algn="l">
              <a:lnSpc>
                <a:spcPts val="2362"/>
              </a:lnSpc>
            </a:pPr>
            <a:r>
              <a:rPr lang="en-US" sz="1875">
                <a:solidFill>
                  <a:srgbClr val="7C7F89"/>
                </a:solidFill>
                <a:latin typeface="Consolas"/>
                <a:ea typeface="Consolas"/>
                <a:cs typeface="Consolas"/>
                <a:sym typeface="Consolas"/>
              </a:rPr>
              <a:t>   │  past Shaheed Smrity Hall, Rashid Hall</a:t>
            </a:r>
          </a:p>
          <a:p>
            <a:pPr algn="l">
              <a:lnSpc>
                <a:spcPts val="2362"/>
              </a:lnSpc>
            </a:pPr>
            <a:r>
              <a:rPr lang="en-US" sz="1875">
                <a:solidFill>
                  <a:srgbClr val="7C7F89"/>
                </a:solidFill>
                <a:latin typeface="Consolas"/>
                <a:ea typeface="Consolas"/>
                <a:cs typeface="Consolas"/>
                <a:sym typeface="Consolas"/>
              </a:rPr>
              <a:t>   │  and Cafeteria, until you reach Kodom Tola</a:t>
            </a:r>
          </a:p>
          <a:p>
            <a:pPr algn="l">
              <a:lnSpc>
                <a:spcPts val="2362"/>
              </a:lnSpc>
            </a:pPr>
            <a:r>
              <a:rPr lang="en-US" sz="1875">
                <a:solidFill>
                  <a:srgbClr val="D9B100"/>
                </a:solidFill>
                <a:latin typeface="Consolas"/>
                <a:ea typeface="Consolas"/>
                <a:cs typeface="Consolas"/>
                <a:sym typeface="Consolas"/>
              </a:rPr>
              <a:t>   3</a:t>
            </a:r>
            <a:r>
              <a:rPr lang="en-US" sz="1875">
                <a:solidFill>
                  <a:srgbClr val="D7D8DC"/>
                </a:solidFill>
                <a:latin typeface="Consolas"/>
                <a:ea typeface="Consolas"/>
                <a:cs typeface="Consolas"/>
                <a:sym typeface="Consolas"/>
              </a:rPr>
              <a:t>  Turn left, heading east on </a:t>
            </a:r>
            <a:r>
              <a:rPr lang="en-US" sz="1875">
                <a:solidFill>
                  <a:srgbClr val="D9B100"/>
                </a:solidFill>
                <a:latin typeface="Consolas"/>
                <a:ea typeface="Consolas"/>
                <a:cs typeface="Consolas"/>
                <a:sym typeface="Consolas"/>
              </a:rPr>
              <a:t>KUET Road</a:t>
            </a:r>
            <a:r>
              <a:rPr lang="en-US" sz="1875">
                <a:solidFill>
                  <a:srgbClr val="7C7F89"/>
                </a:solidFill>
                <a:latin typeface="Consolas"/>
                <a:ea typeface="Consolas"/>
                <a:cs typeface="Consolas"/>
                <a:sym typeface="Consolas"/>
              </a:rPr>
              <a:t>  ·  360 m</a:t>
            </a:r>
          </a:p>
          <a:p>
            <a:pPr algn="l">
              <a:lnSpc>
                <a:spcPts val="2362"/>
              </a:lnSpc>
            </a:pPr>
            <a:r>
              <a:rPr lang="en-US" sz="1875">
                <a:solidFill>
                  <a:srgbClr val="7C7F89"/>
                </a:solidFill>
                <a:latin typeface="Consolas"/>
                <a:ea typeface="Consolas"/>
                <a:cs typeface="Consolas"/>
                <a:sym typeface="Consolas"/>
              </a:rPr>
              <a:t>   │  past KUET Dighi and Khan Jahan Ali Hall</a:t>
            </a:r>
          </a:p>
          <a:p>
            <a:pPr algn="l">
              <a:lnSpc>
                <a:spcPts val="2362"/>
              </a:lnSpc>
            </a:pPr>
            <a:r>
              <a:rPr lang="en-US" sz="1875">
                <a:solidFill>
                  <a:srgbClr val="5FBE78"/>
                </a:solidFill>
                <a:latin typeface="Consolas"/>
                <a:ea typeface="Consolas"/>
                <a:cs typeface="Consolas"/>
                <a:sym typeface="Consolas"/>
              </a:rPr>
              <a:t>   ●</a:t>
            </a:r>
            <a:r>
              <a:rPr lang="en-US" sz="1875">
                <a:solidFill>
                  <a:srgbClr val="D7D8DC"/>
                </a:solidFill>
                <a:latin typeface="Consolas"/>
                <a:ea typeface="Consolas"/>
                <a:cs typeface="Consolas"/>
                <a:sym typeface="Consolas"/>
              </a:rPr>
              <a:t>  Arrive at </a:t>
            </a:r>
            <a:r>
              <a:rPr lang="en-US" sz="1875" b="true">
                <a:solidFill>
                  <a:srgbClr val="FFFFFF"/>
                </a:solidFill>
                <a:latin typeface="Consolas Bold"/>
                <a:ea typeface="Consolas Bold"/>
                <a:cs typeface="Consolas Bold"/>
                <a:sym typeface="Consolas Bold"/>
              </a:rPr>
              <a:t>KUET Main Gate</a:t>
            </a:r>
          </a:p>
          <a:p>
            <a:pPr algn="l">
              <a:lnSpc>
                <a:spcPts val="2362"/>
              </a:lnSpc>
            </a:pPr>
            <a:r>
              <a:rPr lang="en-US" sz="1875">
                <a:solidFill>
                  <a:srgbClr val="D7D8DC"/>
                </a:solidFill>
                <a:latin typeface="Consolas"/>
                <a:ea typeface="Consolas"/>
                <a:cs typeface="Consolas"/>
                <a:sym typeface="Consolas"/>
              </a:rPr>
              <a:t> </a:t>
            </a:r>
          </a:p>
          <a:p>
            <a:pPr algn="l">
              <a:lnSpc>
                <a:spcPts val="2362"/>
              </a:lnSpc>
            </a:pPr>
            <a:r>
              <a:rPr lang="en-US" sz="1875">
                <a:solidFill>
                  <a:srgbClr val="7C7F89"/>
                </a:solidFill>
                <a:latin typeface="Consolas"/>
                <a:ea typeface="Consolas"/>
                <a:cs typeface="Consolas"/>
                <a:sym typeface="Consolas"/>
              </a:rPr>
              <a:t>  ROADS  </a:t>
            </a:r>
            <a:r>
              <a:rPr lang="en-US" sz="1875">
                <a:solidFill>
                  <a:srgbClr val="D7D8DC"/>
                </a:solidFill>
                <a:latin typeface="Consolas"/>
                <a:ea typeface="Consolas"/>
                <a:cs typeface="Consolas"/>
                <a:sym typeface="Consolas"/>
              </a:rPr>
              <a:t>Library Lane  →  Hall Road  →  KUET Road</a:t>
            </a:r>
          </a:p>
        </p:txBody>
      </p:sp>
    </p:spTree>
  </p:cSld>
  <p:clrMapOvr>
    <a:masterClrMapping/>
  </p:clrMapOvr>
  <p:transition spd="fast">
    <p:fade/>
  </p:transition>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FEATURES 2, 3, 7 · GETTING AROUND</a:t>
              </a:r>
            </a:p>
          </p:txBody>
        </p:sp>
      </p:grpSp>
      <p:sp>
        <p:nvSpPr>
          <p:cNvPr name="TextBox 5" id="5"/>
          <p:cNvSpPr txBox="true"/>
          <p:nvPr/>
        </p:nvSpPr>
        <p:spPr>
          <a:xfrm rot="0">
            <a:off x="822960" y="1207008"/>
            <a:ext cx="17924058" cy="830980"/>
          </a:xfrm>
          <a:prstGeom prst="rect">
            <a:avLst/>
          </a:prstGeom>
        </p:spPr>
        <p:txBody>
          <a:bodyPr anchor="t" rtlCol="false" tIns="0" lIns="0" bIns="0" rIns="0">
            <a:spAutoFit/>
          </a:bodyPr>
          <a:lstStyle/>
          <a:p>
            <a:pPr algn="l">
              <a:lnSpc>
                <a:spcPts val="6591"/>
              </a:lnSpc>
            </a:pPr>
            <a:r>
              <a:rPr lang="en-US" sz="5493">
                <a:solidFill>
                  <a:srgbClr val="16171B"/>
                </a:solidFill>
                <a:latin typeface="Gagalin"/>
                <a:ea typeface="Gagalin"/>
                <a:cs typeface="Gagalin"/>
                <a:sym typeface="Gagalin"/>
              </a:rPr>
              <a:t>Know what's around you, and see the whole campus</a:t>
            </a:r>
          </a:p>
        </p:txBody>
      </p:sp>
      <p:grpSp>
        <p:nvGrpSpPr>
          <p:cNvPr name="Group 6" id="6"/>
          <p:cNvGrpSpPr/>
          <p:nvPr/>
        </p:nvGrpSpPr>
        <p:grpSpPr>
          <a:xfrm rot="0">
            <a:off x="813435" y="2665095"/>
            <a:ext cx="5299710" cy="6328410"/>
            <a:chOff x="0" y="0"/>
            <a:chExt cx="7066280" cy="8437880"/>
          </a:xfrm>
        </p:grpSpPr>
        <p:sp>
          <p:nvSpPr>
            <p:cNvPr name="Freeform 7" id="7"/>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8" id="8"/>
          <p:cNvGrpSpPr/>
          <p:nvPr/>
        </p:nvGrpSpPr>
        <p:grpSpPr>
          <a:xfrm rot="0">
            <a:off x="1224915" y="3076575"/>
            <a:ext cx="924306" cy="924306"/>
            <a:chOff x="0" y="0"/>
            <a:chExt cx="1232408" cy="1232408"/>
          </a:xfrm>
        </p:grpSpPr>
        <p:sp>
          <p:nvSpPr>
            <p:cNvPr name="Freeform 9" id="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10" id="10"/>
          <p:cNvGrpSpPr/>
          <p:nvPr/>
        </p:nvGrpSpPr>
        <p:grpSpPr>
          <a:xfrm rot="0">
            <a:off x="1433598" y="3285258"/>
            <a:ext cx="506940" cy="506940"/>
            <a:chOff x="0" y="0"/>
            <a:chExt cx="675919" cy="675919"/>
          </a:xfrm>
        </p:grpSpPr>
        <p:sp>
          <p:nvSpPr>
            <p:cNvPr name="Freeform 11" id="1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4"/>
              <a:stretch>
                <a:fillRect l="0" t="0" r="-3" b="-3"/>
              </a:stretch>
            </a:blipFill>
          </p:spPr>
        </p:sp>
      </p:grpSp>
      <p:grpSp>
        <p:nvGrpSpPr>
          <p:cNvPr name="Group 12" id="12"/>
          <p:cNvGrpSpPr/>
          <p:nvPr/>
        </p:nvGrpSpPr>
        <p:grpSpPr>
          <a:xfrm rot="0">
            <a:off x="2331720" y="3195828"/>
            <a:ext cx="3566160" cy="685800"/>
            <a:chOff x="0" y="0"/>
            <a:chExt cx="4754880" cy="914400"/>
          </a:xfrm>
        </p:grpSpPr>
        <p:sp>
          <p:nvSpPr>
            <p:cNvPr name="Freeform 13" id="13"/>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14" id="14"/>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What's near me</a:t>
              </a:r>
            </a:p>
          </p:txBody>
        </p:sp>
      </p:grpSp>
      <p:sp>
        <p:nvSpPr>
          <p:cNvPr name="TextBox 15" id="15"/>
          <p:cNvSpPr txBox="true"/>
          <p:nvPr/>
        </p:nvSpPr>
        <p:spPr>
          <a:xfrm rot="0">
            <a:off x="1234440" y="4110990"/>
            <a:ext cx="4526280" cy="3709321"/>
          </a:xfrm>
          <a:prstGeom prst="rect">
            <a:avLst/>
          </a:prstGeom>
        </p:spPr>
        <p:txBody>
          <a:bodyPr anchor="t" rtlCol="false" tIns="0" lIns="0" bIns="0" rIns="0">
            <a:spAutoFit/>
          </a:bodyPr>
          <a:lstStyle/>
          <a:p>
            <a:pPr algn="just" marL="366474" indent="-183237" lvl="1">
              <a:lnSpc>
                <a:spcPts val="4272"/>
              </a:lnSpc>
              <a:buFont typeface="Arial"/>
              <a:buChar char="•"/>
            </a:pPr>
            <a:r>
              <a:rPr lang="en-US" sz="2025">
                <a:solidFill>
                  <a:srgbClr val="5F626B"/>
                </a:solidFill>
                <a:latin typeface="Calibri (MS)"/>
                <a:ea typeface="Calibri (MS)"/>
                <a:cs typeface="Calibri (MS)"/>
                <a:sym typeface="Calibri (MS)"/>
              </a:rPr>
              <a:t>From a place or exact coordinates like 22.8992, 89.5016</a:t>
            </a:r>
          </a:p>
          <a:p>
            <a:pPr algn="l" marL="366474" indent="-183237" lvl="1">
              <a:lnSpc>
                <a:spcPts val="4272"/>
              </a:lnSpc>
              <a:buFont typeface="Arial"/>
              <a:buChar char="•"/>
            </a:pPr>
            <a:r>
              <a:rPr lang="en-US" sz="2025">
                <a:solidFill>
                  <a:srgbClr val="5F626B"/>
                </a:solidFill>
                <a:latin typeface="Calibri (MS)"/>
                <a:ea typeface="Calibri (MS)"/>
                <a:cs typeface="Calibri (MS)"/>
                <a:sym typeface="Calibri (MS)"/>
              </a:rPr>
              <a:t>Haversine distance to all 44 places</a:t>
            </a:r>
          </a:p>
          <a:p>
            <a:pPr algn="l" marL="366474" indent="-183237" lvl="1">
              <a:lnSpc>
                <a:spcPts val="4272"/>
              </a:lnSpc>
              <a:buFont typeface="Arial"/>
              <a:buChar char="•"/>
            </a:pPr>
            <a:r>
              <a:rPr lang="en-US" sz="2025">
                <a:solidFill>
                  <a:srgbClr val="5F626B"/>
                </a:solidFill>
                <a:latin typeface="Calibri (MS)"/>
                <a:ea typeface="Calibri (MS)"/>
                <a:cs typeface="Calibri (MS)"/>
                <a:sym typeface="Calibri (MS)"/>
              </a:rPr>
              <a:t>Bubble-sorted, nearest 10 shown with compass direction and walking time</a:t>
            </a:r>
          </a:p>
          <a:p>
            <a:pPr algn="l" marL="366474" indent="-183237" lvl="1">
              <a:lnSpc>
                <a:spcPts val="4272"/>
              </a:lnSpc>
              <a:buFont typeface="Arial"/>
              <a:buChar char="•"/>
            </a:pPr>
            <a:r>
              <a:rPr lang="en-US" sz="2025">
                <a:solidFill>
                  <a:srgbClr val="5F626B"/>
                </a:solidFill>
                <a:latin typeface="Calibri (MS)"/>
                <a:ea typeface="Calibri (MS)"/>
                <a:cs typeface="Calibri (MS)"/>
                <a:sym typeface="Calibri (MS)"/>
              </a:rPr>
              <a:t>Shows the comparison and swap counts</a:t>
            </a:r>
          </a:p>
        </p:txBody>
      </p:sp>
      <p:grpSp>
        <p:nvGrpSpPr>
          <p:cNvPr name="Group 16" id="16"/>
          <p:cNvGrpSpPr/>
          <p:nvPr/>
        </p:nvGrpSpPr>
        <p:grpSpPr>
          <a:xfrm rot="0">
            <a:off x="1224915" y="8220075"/>
            <a:ext cx="1223315" cy="403098"/>
            <a:chOff x="0" y="0"/>
            <a:chExt cx="1631086" cy="537464"/>
          </a:xfrm>
        </p:grpSpPr>
        <p:sp>
          <p:nvSpPr>
            <p:cNvPr name="Freeform 17" id="17"/>
            <p:cNvSpPr/>
            <p:nvPr/>
          </p:nvSpPr>
          <p:spPr>
            <a:xfrm flipH="false" flipV="false" rot="0">
              <a:off x="0" y="0"/>
              <a:ext cx="1631061" cy="537464"/>
            </a:xfrm>
            <a:custGeom>
              <a:avLst/>
              <a:gdLst/>
              <a:ahLst/>
              <a:cxnLst/>
              <a:rect r="r" b="b" t="t" l="l"/>
              <a:pathLst>
                <a:path h="537464" w="1631061">
                  <a:moveTo>
                    <a:pt x="0" y="115189"/>
                  </a:moveTo>
                  <a:cubicBezTo>
                    <a:pt x="0" y="51562"/>
                    <a:pt x="51562" y="0"/>
                    <a:pt x="115189" y="0"/>
                  </a:cubicBezTo>
                  <a:lnTo>
                    <a:pt x="1515872" y="0"/>
                  </a:lnTo>
                  <a:cubicBezTo>
                    <a:pt x="1579499" y="0"/>
                    <a:pt x="1631061" y="51562"/>
                    <a:pt x="1631061" y="115189"/>
                  </a:cubicBezTo>
                  <a:lnTo>
                    <a:pt x="1631061" y="422275"/>
                  </a:lnTo>
                  <a:cubicBezTo>
                    <a:pt x="1631061" y="485902"/>
                    <a:pt x="1579499" y="537464"/>
                    <a:pt x="1515872"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18" id="18"/>
          <p:cNvGrpSpPr/>
          <p:nvPr/>
        </p:nvGrpSpPr>
        <p:grpSpPr>
          <a:xfrm rot="0">
            <a:off x="1234440" y="8229600"/>
            <a:ext cx="1204265" cy="384048"/>
            <a:chOff x="0" y="0"/>
            <a:chExt cx="1605686" cy="512064"/>
          </a:xfrm>
        </p:grpSpPr>
        <p:sp>
          <p:nvSpPr>
            <p:cNvPr name="Freeform 19" id="19"/>
            <p:cNvSpPr/>
            <p:nvPr/>
          </p:nvSpPr>
          <p:spPr>
            <a:xfrm flipH="false" flipV="false" rot="0">
              <a:off x="0" y="0"/>
              <a:ext cx="1605686" cy="512064"/>
            </a:xfrm>
            <a:custGeom>
              <a:avLst/>
              <a:gdLst/>
              <a:ahLst/>
              <a:cxnLst/>
              <a:rect r="r" b="b" t="t" l="l"/>
              <a:pathLst>
                <a:path h="512064" w="1605686">
                  <a:moveTo>
                    <a:pt x="0" y="0"/>
                  </a:moveTo>
                  <a:lnTo>
                    <a:pt x="1605686" y="0"/>
                  </a:lnTo>
                  <a:lnTo>
                    <a:pt x="1605686" y="512064"/>
                  </a:lnTo>
                  <a:lnTo>
                    <a:pt x="0" y="512064"/>
                  </a:lnTo>
                  <a:close/>
                </a:path>
              </a:pathLst>
            </a:custGeom>
            <a:blipFill>
              <a:blip r:embed="rId3">
                <a:alphaModFix amt="0"/>
              </a:blip>
              <a:stretch>
                <a:fillRect l="0" t="-11099" r="0" b="-11099"/>
              </a:stretch>
            </a:blipFill>
          </p:spPr>
        </p:sp>
        <p:sp>
          <p:nvSpPr>
            <p:cNvPr name="TextBox 20" id="20"/>
            <p:cNvSpPr txBox="true"/>
            <p:nvPr/>
          </p:nvSpPr>
          <p:spPr>
            <a:xfrm>
              <a:off x="0" y="-38100"/>
              <a:ext cx="160568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Haversine</a:t>
              </a:r>
            </a:p>
          </p:txBody>
        </p:sp>
      </p:grpSp>
      <p:grpSp>
        <p:nvGrpSpPr>
          <p:cNvPr name="Group 21" id="21"/>
          <p:cNvGrpSpPr/>
          <p:nvPr/>
        </p:nvGrpSpPr>
        <p:grpSpPr>
          <a:xfrm rot="0">
            <a:off x="2538908" y="8220075"/>
            <a:ext cx="1448257" cy="403098"/>
            <a:chOff x="0" y="0"/>
            <a:chExt cx="1931010" cy="537464"/>
          </a:xfrm>
        </p:grpSpPr>
        <p:sp>
          <p:nvSpPr>
            <p:cNvPr name="Freeform 22" id="22"/>
            <p:cNvSpPr/>
            <p:nvPr/>
          </p:nvSpPr>
          <p:spPr>
            <a:xfrm flipH="false" flipV="false" rot="0">
              <a:off x="0" y="0"/>
              <a:ext cx="1931035" cy="537464"/>
            </a:xfrm>
            <a:custGeom>
              <a:avLst/>
              <a:gdLst/>
              <a:ahLst/>
              <a:cxnLst/>
              <a:rect r="r" b="b" t="t" l="l"/>
              <a:pathLst>
                <a:path h="537464" w="1931035">
                  <a:moveTo>
                    <a:pt x="0" y="115189"/>
                  </a:moveTo>
                  <a:cubicBezTo>
                    <a:pt x="0" y="51562"/>
                    <a:pt x="51562" y="0"/>
                    <a:pt x="115189" y="0"/>
                  </a:cubicBezTo>
                  <a:lnTo>
                    <a:pt x="1815846" y="0"/>
                  </a:lnTo>
                  <a:cubicBezTo>
                    <a:pt x="1879473" y="0"/>
                    <a:pt x="1931035" y="51562"/>
                    <a:pt x="1931035" y="115189"/>
                  </a:cubicBezTo>
                  <a:lnTo>
                    <a:pt x="1931035" y="422275"/>
                  </a:lnTo>
                  <a:cubicBezTo>
                    <a:pt x="1931035" y="485902"/>
                    <a:pt x="1879473" y="537464"/>
                    <a:pt x="1815846"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23" id="23"/>
          <p:cNvGrpSpPr/>
          <p:nvPr/>
        </p:nvGrpSpPr>
        <p:grpSpPr>
          <a:xfrm rot="0">
            <a:off x="2548433" y="8229600"/>
            <a:ext cx="1429207" cy="384048"/>
            <a:chOff x="0" y="0"/>
            <a:chExt cx="1905610" cy="512064"/>
          </a:xfrm>
        </p:grpSpPr>
        <p:sp>
          <p:nvSpPr>
            <p:cNvPr name="Freeform 24" id="24"/>
            <p:cNvSpPr/>
            <p:nvPr/>
          </p:nvSpPr>
          <p:spPr>
            <a:xfrm flipH="false" flipV="false" rot="0">
              <a:off x="0" y="0"/>
              <a:ext cx="1905610" cy="512064"/>
            </a:xfrm>
            <a:custGeom>
              <a:avLst/>
              <a:gdLst/>
              <a:ahLst/>
              <a:cxnLst/>
              <a:rect r="r" b="b" t="t" l="l"/>
              <a:pathLst>
                <a:path h="512064" w="1905610">
                  <a:moveTo>
                    <a:pt x="0" y="0"/>
                  </a:moveTo>
                  <a:lnTo>
                    <a:pt x="1905610" y="0"/>
                  </a:lnTo>
                  <a:lnTo>
                    <a:pt x="1905610" y="512064"/>
                  </a:lnTo>
                  <a:lnTo>
                    <a:pt x="0" y="512064"/>
                  </a:lnTo>
                  <a:close/>
                </a:path>
              </a:pathLst>
            </a:custGeom>
            <a:blipFill>
              <a:blip r:embed="rId3">
                <a:alphaModFix amt="0"/>
              </a:blip>
              <a:stretch>
                <a:fillRect l="0" t="-22512" r="0" b="-22512"/>
              </a:stretch>
            </a:blipFill>
          </p:spPr>
        </p:sp>
        <p:sp>
          <p:nvSpPr>
            <p:cNvPr name="TextBox 25" id="25"/>
            <p:cNvSpPr txBox="true"/>
            <p:nvPr/>
          </p:nvSpPr>
          <p:spPr>
            <a:xfrm>
              <a:off x="0" y="-38100"/>
              <a:ext cx="1905610"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Bubble sort</a:t>
              </a:r>
            </a:p>
          </p:txBody>
        </p:sp>
      </p:grpSp>
      <p:grpSp>
        <p:nvGrpSpPr>
          <p:cNvPr name="Group 26" id="26"/>
          <p:cNvGrpSpPr/>
          <p:nvPr/>
        </p:nvGrpSpPr>
        <p:grpSpPr>
          <a:xfrm rot="0">
            <a:off x="6436995" y="2665095"/>
            <a:ext cx="5299710" cy="6328410"/>
            <a:chOff x="0" y="0"/>
            <a:chExt cx="7066280" cy="8437880"/>
          </a:xfrm>
        </p:grpSpPr>
        <p:sp>
          <p:nvSpPr>
            <p:cNvPr name="Freeform 27" id="27"/>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28" id="28"/>
          <p:cNvGrpSpPr/>
          <p:nvPr/>
        </p:nvGrpSpPr>
        <p:grpSpPr>
          <a:xfrm rot="0">
            <a:off x="6848475" y="3076575"/>
            <a:ext cx="924306" cy="924306"/>
            <a:chOff x="0" y="0"/>
            <a:chExt cx="1232408" cy="1232408"/>
          </a:xfrm>
        </p:grpSpPr>
        <p:sp>
          <p:nvSpPr>
            <p:cNvPr name="Freeform 29" id="2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30" id="30"/>
          <p:cNvGrpSpPr/>
          <p:nvPr/>
        </p:nvGrpSpPr>
        <p:grpSpPr>
          <a:xfrm rot="0">
            <a:off x="7057158" y="3285258"/>
            <a:ext cx="506940" cy="506940"/>
            <a:chOff x="0" y="0"/>
            <a:chExt cx="675919" cy="675919"/>
          </a:xfrm>
        </p:grpSpPr>
        <p:sp>
          <p:nvSpPr>
            <p:cNvPr name="Freeform 31" id="3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5"/>
              <a:stretch>
                <a:fillRect l="0" t="0" r="-3" b="-3"/>
              </a:stretch>
            </a:blipFill>
          </p:spPr>
        </p:sp>
      </p:grpSp>
      <p:grpSp>
        <p:nvGrpSpPr>
          <p:cNvPr name="Group 32" id="32"/>
          <p:cNvGrpSpPr/>
          <p:nvPr/>
        </p:nvGrpSpPr>
        <p:grpSpPr>
          <a:xfrm rot="0">
            <a:off x="7955280" y="3195828"/>
            <a:ext cx="3566160" cy="685800"/>
            <a:chOff x="0" y="0"/>
            <a:chExt cx="4754880" cy="914400"/>
          </a:xfrm>
        </p:grpSpPr>
        <p:sp>
          <p:nvSpPr>
            <p:cNvPr name="Freeform 33" id="33"/>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34" id="34"/>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Where am I?</a:t>
              </a:r>
            </a:p>
          </p:txBody>
        </p:sp>
      </p:grpSp>
      <p:sp>
        <p:nvSpPr>
          <p:cNvPr name="TextBox 35" id="35"/>
          <p:cNvSpPr txBox="true"/>
          <p:nvPr/>
        </p:nvSpPr>
        <p:spPr>
          <a:xfrm rot="0">
            <a:off x="6858000" y="4034790"/>
            <a:ext cx="4526280" cy="3142298"/>
          </a:xfrm>
          <a:prstGeom prst="rect">
            <a:avLst/>
          </a:prstGeom>
        </p:spPr>
        <p:txBody>
          <a:bodyPr anchor="t" rtlCol="false" tIns="0" lIns="0" bIns="0" rIns="0">
            <a:spAutoFit/>
          </a:bodyPr>
          <a:lstStyle/>
          <a:p>
            <a:pPr algn="l" marL="366474" indent="-183237" lvl="1">
              <a:lnSpc>
                <a:spcPts val="5062"/>
              </a:lnSpc>
              <a:buFont typeface="Arial"/>
              <a:buChar char="•"/>
            </a:pPr>
            <a:r>
              <a:rPr lang="en-US" sz="2025">
                <a:solidFill>
                  <a:srgbClr val="5F626B"/>
                </a:solidFill>
                <a:latin typeface="Calibri (MS)"/>
                <a:ea typeface="Calibri (MS)"/>
                <a:cs typeface="Calibri (MS)"/>
                <a:sym typeface="Calibri (MS)"/>
              </a:rPr>
              <a:t>Pick a place, or type coordinates</a:t>
            </a:r>
          </a:p>
          <a:p>
            <a:pPr algn="l" marL="366474" indent="-183237" lvl="1">
              <a:lnSpc>
                <a:spcPts val="5062"/>
              </a:lnSpc>
              <a:buFont typeface="Arial"/>
              <a:buChar char="•"/>
            </a:pPr>
            <a:r>
              <a:rPr lang="en-US" sz="2025">
                <a:solidFill>
                  <a:srgbClr val="5F626B"/>
                </a:solidFill>
                <a:latin typeface="Calibri (MS)"/>
                <a:ea typeface="Calibri (MS)"/>
                <a:cs typeface="Calibri (MS)"/>
                <a:sym typeface="Calibri (MS)"/>
              </a:rPr>
              <a:t>Coordinates snap to the closest building (warns if over 2 km away)</a:t>
            </a:r>
          </a:p>
          <a:p>
            <a:pPr algn="l" marL="366474" indent="-183237" lvl="1">
              <a:lnSpc>
                <a:spcPts val="5062"/>
              </a:lnSpc>
              <a:buFont typeface="Arial"/>
              <a:buChar char="•"/>
            </a:pPr>
            <a:r>
              <a:rPr lang="en-US" sz="2025">
                <a:solidFill>
                  <a:srgbClr val="5F626B"/>
                </a:solidFill>
                <a:latin typeface="Calibri (MS)"/>
                <a:ea typeface="Calibri (MS)"/>
                <a:cs typeface="Calibri (MS)"/>
                <a:sym typeface="Calibri (MS)"/>
              </a:rPr>
              <a:t>Copy your coordinates to the clipboard for any map app</a:t>
            </a:r>
          </a:p>
        </p:txBody>
      </p:sp>
      <p:grpSp>
        <p:nvGrpSpPr>
          <p:cNvPr name="Group 36" id="36"/>
          <p:cNvGrpSpPr/>
          <p:nvPr/>
        </p:nvGrpSpPr>
        <p:grpSpPr>
          <a:xfrm rot="0">
            <a:off x="6848475" y="8220075"/>
            <a:ext cx="1448257" cy="403098"/>
            <a:chOff x="0" y="0"/>
            <a:chExt cx="1931010" cy="537464"/>
          </a:xfrm>
        </p:grpSpPr>
        <p:sp>
          <p:nvSpPr>
            <p:cNvPr name="Freeform 37" id="37"/>
            <p:cNvSpPr/>
            <p:nvPr/>
          </p:nvSpPr>
          <p:spPr>
            <a:xfrm flipH="false" flipV="false" rot="0">
              <a:off x="0" y="0"/>
              <a:ext cx="1931035" cy="537464"/>
            </a:xfrm>
            <a:custGeom>
              <a:avLst/>
              <a:gdLst/>
              <a:ahLst/>
              <a:cxnLst/>
              <a:rect r="r" b="b" t="t" l="l"/>
              <a:pathLst>
                <a:path h="537464" w="1931035">
                  <a:moveTo>
                    <a:pt x="0" y="115189"/>
                  </a:moveTo>
                  <a:cubicBezTo>
                    <a:pt x="0" y="51562"/>
                    <a:pt x="51562" y="0"/>
                    <a:pt x="115189" y="0"/>
                  </a:cubicBezTo>
                  <a:lnTo>
                    <a:pt x="1815846" y="0"/>
                  </a:lnTo>
                  <a:cubicBezTo>
                    <a:pt x="1879473" y="0"/>
                    <a:pt x="1931035" y="51562"/>
                    <a:pt x="1931035" y="115189"/>
                  </a:cubicBezTo>
                  <a:lnTo>
                    <a:pt x="1931035" y="422275"/>
                  </a:lnTo>
                  <a:cubicBezTo>
                    <a:pt x="1931035" y="485902"/>
                    <a:pt x="1879473" y="537464"/>
                    <a:pt x="1815846"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38" id="38"/>
          <p:cNvGrpSpPr/>
          <p:nvPr/>
        </p:nvGrpSpPr>
        <p:grpSpPr>
          <a:xfrm rot="0">
            <a:off x="6858000" y="8229600"/>
            <a:ext cx="1429207" cy="384048"/>
            <a:chOff x="0" y="0"/>
            <a:chExt cx="1905610" cy="512064"/>
          </a:xfrm>
        </p:grpSpPr>
        <p:sp>
          <p:nvSpPr>
            <p:cNvPr name="Freeform 39" id="39"/>
            <p:cNvSpPr/>
            <p:nvPr/>
          </p:nvSpPr>
          <p:spPr>
            <a:xfrm flipH="false" flipV="false" rot="0">
              <a:off x="0" y="0"/>
              <a:ext cx="1905610" cy="512064"/>
            </a:xfrm>
            <a:custGeom>
              <a:avLst/>
              <a:gdLst/>
              <a:ahLst/>
              <a:cxnLst/>
              <a:rect r="r" b="b" t="t" l="l"/>
              <a:pathLst>
                <a:path h="512064" w="1905610">
                  <a:moveTo>
                    <a:pt x="0" y="0"/>
                  </a:moveTo>
                  <a:lnTo>
                    <a:pt x="1905610" y="0"/>
                  </a:lnTo>
                  <a:lnTo>
                    <a:pt x="1905610" y="512064"/>
                  </a:lnTo>
                  <a:lnTo>
                    <a:pt x="0" y="512064"/>
                  </a:lnTo>
                  <a:close/>
                </a:path>
              </a:pathLst>
            </a:custGeom>
            <a:blipFill>
              <a:blip r:embed="rId3">
                <a:alphaModFix amt="0"/>
              </a:blip>
              <a:stretch>
                <a:fillRect l="0" t="-22512" r="0" b="-22512"/>
              </a:stretch>
            </a:blipFill>
          </p:spPr>
        </p:sp>
        <p:sp>
          <p:nvSpPr>
            <p:cNvPr name="TextBox 40" id="40"/>
            <p:cNvSpPr txBox="true"/>
            <p:nvPr/>
          </p:nvSpPr>
          <p:spPr>
            <a:xfrm>
              <a:off x="0" y="-38100"/>
              <a:ext cx="1905610"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Linear scan</a:t>
              </a:r>
            </a:p>
          </p:txBody>
        </p:sp>
      </p:grpSp>
      <p:grpSp>
        <p:nvGrpSpPr>
          <p:cNvPr name="Group 41" id="41"/>
          <p:cNvGrpSpPr/>
          <p:nvPr/>
        </p:nvGrpSpPr>
        <p:grpSpPr>
          <a:xfrm rot="0">
            <a:off x="8387410" y="8220075"/>
            <a:ext cx="1223315" cy="403098"/>
            <a:chOff x="0" y="0"/>
            <a:chExt cx="1631086" cy="537464"/>
          </a:xfrm>
        </p:grpSpPr>
        <p:sp>
          <p:nvSpPr>
            <p:cNvPr name="Freeform 42" id="42"/>
            <p:cNvSpPr/>
            <p:nvPr/>
          </p:nvSpPr>
          <p:spPr>
            <a:xfrm flipH="false" flipV="false" rot="0">
              <a:off x="0" y="0"/>
              <a:ext cx="1631061" cy="537464"/>
            </a:xfrm>
            <a:custGeom>
              <a:avLst/>
              <a:gdLst/>
              <a:ahLst/>
              <a:cxnLst/>
              <a:rect r="r" b="b" t="t" l="l"/>
              <a:pathLst>
                <a:path h="537464" w="1631061">
                  <a:moveTo>
                    <a:pt x="0" y="115189"/>
                  </a:moveTo>
                  <a:cubicBezTo>
                    <a:pt x="0" y="51562"/>
                    <a:pt x="51562" y="0"/>
                    <a:pt x="115189" y="0"/>
                  </a:cubicBezTo>
                  <a:lnTo>
                    <a:pt x="1515872" y="0"/>
                  </a:lnTo>
                  <a:cubicBezTo>
                    <a:pt x="1579499" y="0"/>
                    <a:pt x="1631061" y="51562"/>
                    <a:pt x="1631061" y="115189"/>
                  </a:cubicBezTo>
                  <a:lnTo>
                    <a:pt x="1631061" y="422275"/>
                  </a:lnTo>
                  <a:cubicBezTo>
                    <a:pt x="1631061" y="485902"/>
                    <a:pt x="1579499" y="537464"/>
                    <a:pt x="1515872"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43" id="43"/>
          <p:cNvGrpSpPr/>
          <p:nvPr/>
        </p:nvGrpSpPr>
        <p:grpSpPr>
          <a:xfrm rot="0">
            <a:off x="8396935" y="8229600"/>
            <a:ext cx="1204265" cy="384048"/>
            <a:chOff x="0" y="0"/>
            <a:chExt cx="1605686" cy="512064"/>
          </a:xfrm>
        </p:grpSpPr>
        <p:sp>
          <p:nvSpPr>
            <p:cNvPr name="Freeform 44" id="44"/>
            <p:cNvSpPr/>
            <p:nvPr/>
          </p:nvSpPr>
          <p:spPr>
            <a:xfrm flipH="false" flipV="false" rot="0">
              <a:off x="0" y="0"/>
              <a:ext cx="1605686" cy="512064"/>
            </a:xfrm>
            <a:custGeom>
              <a:avLst/>
              <a:gdLst/>
              <a:ahLst/>
              <a:cxnLst/>
              <a:rect r="r" b="b" t="t" l="l"/>
              <a:pathLst>
                <a:path h="512064" w="1605686">
                  <a:moveTo>
                    <a:pt x="0" y="0"/>
                  </a:moveTo>
                  <a:lnTo>
                    <a:pt x="1605686" y="0"/>
                  </a:lnTo>
                  <a:lnTo>
                    <a:pt x="1605686" y="512064"/>
                  </a:lnTo>
                  <a:lnTo>
                    <a:pt x="0" y="512064"/>
                  </a:lnTo>
                  <a:close/>
                </a:path>
              </a:pathLst>
            </a:custGeom>
            <a:blipFill>
              <a:blip r:embed="rId3">
                <a:alphaModFix amt="0"/>
              </a:blip>
              <a:stretch>
                <a:fillRect l="0" t="-11099" r="0" b="-11099"/>
              </a:stretch>
            </a:blipFill>
          </p:spPr>
        </p:sp>
        <p:sp>
          <p:nvSpPr>
            <p:cNvPr name="TextBox 45" id="45"/>
            <p:cNvSpPr txBox="true"/>
            <p:nvPr/>
          </p:nvSpPr>
          <p:spPr>
            <a:xfrm>
              <a:off x="0" y="-38100"/>
              <a:ext cx="160568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Haversine</a:t>
              </a:r>
            </a:p>
          </p:txBody>
        </p:sp>
      </p:grpSp>
      <p:grpSp>
        <p:nvGrpSpPr>
          <p:cNvPr name="Group 46" id="46"/>
          <p:cNvGrpSpPr/>
          <p:nvPr/>
        </p:nvGrpSpPr>
        <p:grpSpPr>
          <a:xfrm rot="0">
            <a:off x="12060555" y="2665095"/>
            <a:ext cx="5299710" cy="6328410"/>
            <a:chOff x="0" y="0"/>
            <a:chExt cx="7066280" cy="8437880"/>
          </a:xfrm>
        </p:grpSpPr>
        <p:sp>
          <p:nvSpPr>
            <p:cNvPr name="Freeform 47" id="47"/>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48" id="48"/>
          <p:cNvGrpSpPr/>
          <p:nvPr/>
        </p:nvGrpSpPr>
        <p:grpSpPr>
          <a:xfrm rot="0">
            <a:off x="12472035" y="3076575"/>
            <a:ext cx="924306" cy="924306"/>
            <a:chOff x="0" y="0"/>
            <a:chExt cx="1232408" cy="1232408"/>
          </a:xfrm>
        </p:grpSpPr>
        <p:sp>
          <p:nvSpPr>
            <p:cNvPr name="Freeform 49" id="4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50" id="50"/>
          <p:cNvGrpSpPr/>
          <p:nvPr/>
        </p:nvGrpSpPr>
        <p:grpSpPr>
          <a:xfrm rot="0">
            <a:off x="12680718" y="3285258"/>
            <a:ext cx="506940" cy="506940"/>
            <a:chOff x="0" y="0"/>
            <a:chExt cx="675919" cy="675919"/>
          </a:xfrm>
        </p:grpSpPr>
        <p:sp>
          <p:nvSpPr>
            <p:cNvPr name="Freeform 51" id="5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6"/>
              <a:stretch>
                <a:fillRect l="0" t="0" r="-3" b="-3"/>
              </a:stretch>
            </a:blipFill>
          </p:spPr>
        </p:sp>
      </p:grpSp>
      <p:grpSp>
        <p:nvGrpSpPr>
          <p:cNvPr name="Group 52" id="52"/>
          <p:cNvGrpSpPr/>
          <p:nvPr/>
        </p:nvGrpSpPr>
        <p:grpSpPr>
          <a:xfrm rot="0">
            <a:off x="13578840" y="3195828"/>
            <a:ext cx="3566160" cy="685800"/>
            <a:chOff x="0" y="0"/>
            <a:chExt cx="4754880" cy="914400"/>
          </a:xfrm>
        </p:grpSpPr>
        <p:sp>
          <p:nvSpPr>
            <p:cNvPr name="Freeform 53" id="53"/>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54" id="54"/>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Explore the campus</a:t>
              </a:r>
            </a:p>
          </p:txBody>
        </p:sp>
      </p:grpSp>
      <p:sp>
        <p:nvSpPr>
          <p:cNvPr name="TextBox 55" id="55"/>
          <p:cNvSpPr txBox="true"/>
          <p:nvPr/>
        </p:nvSpPr>
        <p:spPr>
          <a:xfrm rot="0">
            <a:off x="12481560" y="4110990"/>
            <a:ext cx="4526280" cy="3230499"/>
          </a:xfrm>
          <a:prstGeom prst="rect">
            <a:avLst/>
          </a:prstGeom>
        </p:spPr>
        <p:txBody>
          <a:bodyPr anchor="t" rtlCol="false" tIns="0" lIns="0" bIns="0" rIns="0">
            <a:spAutoFit/>
          </a:bodyPr>
          <a:lstStyle/>
          <a:p>
            <a:pPr algn="l" marL="366474" indent="-183237" lvl="1">
              <a:lnSpc>
                <a:spcPts val="4293"/>
              </a:lnSpc>
              <a:buFont typeface="Arial"/>
              <a:buChar char="•"/>
            </a:pPr>
            <a:r>
              <a:rPr lang="en-US" sz="2025">
                <a:solidFill>
                  <a:srgbClr val="5F626B"/>
                </a:solidFill>
                <a:latin typeface="Calibri (MS)"/>
                <a:ea typeface="Calibri (MS)"/>
                <a:cs typeface="Calibri (MS)"/>
                <a:sym typeface="Calibri (MS)"/>
              </a:rPr>
              <a:t>DFS from any place, optionally showing the stack at every step</a:t>
            </a:r>
          </a:p>
          <a:p>
            <a:pPr algn="l" marL="366474" indent="-183237" lvl="1">
              <a:lnSpc>
                <a:spcPts val="4293"/>
              </a:lnSpc>
              <a:buFont typeface="Arial"/>
              <a:buChar char="•"/>
            </a:pPr>
            <a:r>
              <a:rPr lang="en-US" sz="2025">
                <a:solidFill>
                  <a:srgbClr val="5F626B"/>
                </a:solidFill>
                <a:latin typeface="Calibri (MS)"/>
                <a:ea typeface="Calibri (MS)"/>
                <a:cs typeface="Calibri (MS)"/>
                <a:sym typeface="Calibri (MS)"/>
              </a:rPr>
              <a:t>Connectivity check: can every place be reached?</a:t>
            </a:r>
          </a:p>
          <a:p>
            <a:pPr algn="l" marL="366474" indent="-183237" lvl="1">
              <a:lnSpc>
                <a:spcPts val="4293"/>
              </a:lnSpc>
              <a:buFont typeface="Arial"/>
              <a:buChar char="•"/>
            </a:pPr>
            <a:r>
              <a:rPr lang="en-US" sz="2025">
                <a:solidFill>
                  <a:srgbClr val="5F626B"/>
                </a:solidFill>
                <a:latin typeface="Calibri (MS)"/>
                <a:ea typeface="Calibri (MS)"/>
                <a:cs typeface="Calibri (MS)"/>
                <a:sym typeface="Calibri (MS)"/>
              </a:rPr>
              <a:t>Every road with its walkways and total length</a:t>
            </a:r>
          </a:p>
        </p:txBody>
      </p:sp>
      <p:grpSp>
        <p:nvGrpSpPr>
          <p:cNvPr name="Group 56" id="56"/>
          <p:cNvGrpSpPr/>
          <p:nvPr/>
        </p:nvGrpSpPr>
        <p:grpSpPr>
          <a:xfrm rot="0">
            <a:off x="12472035" y="8220075"/>
            <a:ext cx="548488" cy="403098"/>
            <a:chOff x="0" y="0"/>
            <a:chExt cx="731317" cy="537464"/>
          </a:xfrm>
        </p:grpSpPr>
        <p:sp>
          <p:nvSpPr>
            <p:cNvPr name="Freeform 57" id="57"/>
            <p:cNvSpPr/>
            <p:nvPr/>
          </p:nvSpPr>
          <p:spPr>
            <a:xfrm flipH="false" flipV="false" rot="0">
              <a:off x="0" y="0"/>
              <a:ext cx="731393" cy="537464"/>
            </a:xfrm>
            <a:custGeom>
              <a:avLst/>
              <a:gdLst/>
              <a:ahLst/>
              <a:cxnLst/>
              <a:rect r="r" b="b" t="t" l="l"/>
              <a:pathLst>
                <a:path h="537464" w="731393">
                  <a:moveTo>
                    <a:pt x="0" y="115189"/>
                  </a:moveTo>
                  <a:cubicBezTo>
                    <a:pt x="0" y="51562"/>
                    <a:pt x="51562" y="0"/>
                    <a:pt x="115189" y="0"/>
                  </a:cubicBezTo>
                  <a:lnTo>
                    <a:pt x="616204" y="0"/>
                  </a:lnTo>
                  <a:cubicBezTo>
                    <a:pt x="679831" y="0"/>
                    <a:pt x="731393" y="51562"/>
                    <a:pt x="731393" y="115189"/>
                  </a:cubicBezTo>
                  <a:lnTo>
                    <a:pt x="731393" y="422275"/>
                  </a:lnTo>
                  <a:cubicBezTo>
                    <a:pt x="731393" y="485902"/>
                    <a:pt x="679831" y="537464"/>
                    <a:pt x="616204"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58" id="58"/>
          <p:cNvGrpSpPr/>
          <p:nvPr/>
        </p:nvGrpSpPr>
        <p:grpSpPr>
          <a:xfrm rot="0">
            <a:off x="12481560" y="8229600"/>
            <a:ext cx="529438" cy="384048"/>
            <a:chOff x="0" y="0"/>
            <a:chExt cx="705917" cy="512064"/>
          </a:xfrm>
        </p:grpSpPr>
        <p:sp>
          <p:nvSpPr>
            <p:cNvPr name="Freeform 59" id="59"/>
            <p:cNvSpPr/>
            <p:nvPr/>
          </p:nvSpPr>
          <p:spPr>
            <a:xfrm flipH="false" flipV="false" rot="0">
              <a:off x="0" y="0"/>
              <a:ext cx="705916" cy="512064"/>
            </a:xfrm>
            <a:custGeom>
              <a:avLst/>
              <a:gdLst/>
              <a:ahLst/>
              <a:cxnLst/>
              <a:rect r="r" b="b" t="t" l="l"/>
              <a:pathLst>
                <a:path h="512064" w="705916">
                  <a:moveTo>
                    <a:pt x="0" y="0"/>
                  </a:moveTo>
                  <a:lnTo>
                    <a:pt x="705916" y="0"/>
                  </a:lnTo>
                  <a:lnTo>
                    <a:pt x="705916" y="512064"/>
                  </a:lnTo>
                  <a:lnTo>
                    <a:pt x="0" y="512064"/>
                  </a:lnTo>
                  <a:close/>
                </a:path>
              </a:pathLst>
            </a:custGeom>
            <a:blipFill>
              <a:blip r:embed="rId3">
                <a:alphaModFix amt="0"/>
              </a:blip>
              <a:stretch>
                <a:fillRect l="-43069" t="0" r="-43070" b="0"/>
              </a:stretch>
            </a:blipFill>
          </p:spPr>
        </p:sp>
        <p:sp>
          <p:nvSpPr>
            <p:cNvPr name="TextBox 60" id="60"/>
            <p:cNvSpPr txBox="true"/>
            <p:nvPr/>
          </p:nvSpPr>
          <p:spPr>
            <a:xfrm>
              <a:off x="0" y="-38100"/>
              <a:ext cx="70591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DFS</a:t>
              </a:r>
            </a:p>
          </p:txBody>
        </p:sp>
      </p:grpSp>
      <p:grpSp>
        <p:nvGrpSpPr>
          <p:cNvPr name="Group 61" id="61"/>
          <p:cNvGrpSpPr/>
          <p:nvPr/>
        </p:nvGrpSpPr>
        <p:grpSpPr>
          <a:xfrm rot="0">
            <a:off x="13111201" y="8220075"/>
            <a:ext cx="773430" cy="403098"/>
            <a:chOff x="0" y="0"/>
            <a:chExt cx="1031240" cy="537464"/>
          </a:xfrm>
        </p:grpSpPr>
        <p:sp>
          <p:nvSpPr>
            <p:cNvPr name="Freeform 62" id="62"/>
            <p:cNvSpPr/>
            <p:nvPr/>
          </p:nvSpPr>
          <p:spPr>
            <a:xfrm flipH="false" flipV="false" rot="0">
              <a:off x="0" y="0"/>
              <a:ext cx="1031240" cy="537464"/>
            </a:xfrm>
            <a:custGeom>
              <a:avLst/>
              <a:gdLst/>
              <a:ahLst/>
              <a:cxnLst/>
              <a:rect r="r" b="b" t="t" l="l"/>
              <a:pathLst>
                <a:path h="537464" w="1031240">
                  <a:moveTo>
                    <a:pt x="0" y="115189"/>
                  </a:moveTo>
                  <a:cubicBezTo>
                    <a:pt x="0" y="51562"/>
                    <a:pt x="51562" y="0"/>
                    <a:pt x="115189" y="0"/>
                  </a:cubicBezTo>
                  <a:lnTo>
                    <a:pt x="916051" y="0"/>
                  </a:lnTo>
                  <a:cubicBezTo>
                    <a:pt x="979678" y="0"/>
                    <a:pt x="1031240" y="51562"/>
                    <a:pt x="1031240" y="115189"/>
                  </a:cubicBezTo>
                  <a:lnTo>
                    <a:pt x="1031240" y="422275"/>
                  </a:lnTo>
                  <a:cubicBezTo>
                    <a:pt x="1031240" y="485902"/>
                    <a:pt x="979678" y="537464"/>
                    <a:pt x="916051"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63" id="63"/>
          <p:cNvGrpSpPr/>
          <p:nvPr/>
        </p:nvGrpSpPr>
        <p:grpSpPr>
          <a:xfrm rot="0">
            <a:off x="13120726" y="8229600"/>
            <a:ext cx="754380" cy="384048"/>
            <a:chOff x="0" y="0"/>
            <a:chExt cx="1005840" cy="512064"/>
          </a:xfrm>
        </p:grpSpPr>
        <p:sp>
          <p:nvSpPr>
            <p:cNvPr name="Freeform 64" id="64"/>
            <p:cNvSpPr/>
            <p:nvPr/>
          </p:nvSpPr>
          <p:spPr>
            <a:xfrm flipH="false" flipV="false" rot="0">
              <a:off x="0" y="0"/>
              <a:ext cx="1005840" cy="512064"/>
            </a:xfrm>
            <a:custGeom>
              <a:avLst/>
              <a:gdLst/>
              <a:ahLst/>
              <a:cxnLst/>
              <a:rect r="r" b="b" t="t" l="l"/>
              <a:pathLst>
                <a:path h="512064" w="1005840">
                  <a:moveTo>
                    <a:pt x="0" y="0"/>
                  </a:moveTo>
                  <a:lnTo>
                    <a:pt x="1005840" y="0"/>
                  </a:lnTo>
                  <a:lnTo>
                    <a:pt x="1005840" y="512064"/>
                  </a:lnTo>
                  <a:lnTo>
                    <a:pt x="0" y="512064"/>
                  </a:lnTo>
                  <a:close/>
                </a:path>
              </a:pathLst>
            </a:custGeom>
            <a:blipFill>
              <a:blip r:embed="rId3">
                <a:alphaModFix amt="0"/>
              </a:blip>
              <a:stretch>
                <a:fillRect l="-15318" t="0" r="-15318" b="0"/>
              </a:stretch>
            </a:blipFill>
          </p:spPr>
        </p:sp>
        <p:sp>
          <p:nvSpPr>
            <p:cNvPr name="TextBox 65" id="65"/>
            <p:cNvSpPr txBox="true"/>
            <p:nvPr/>
          </p:nvSpPr>
          <p:spPr>
            <a:xfrm>
              <a:off x="0" y="-38100"/>
              <a:ext cx="1005840"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Stack</a:t>
              </a:r>
            </a:p>
          </p:txBody>
        </p:sp>
      </p:grpSp>
    </p:spTree>
  </p:cSld>
  <p:clrMapOvr>
    <a:masterClrMapping/>
  </p:clrMapOvr>
  <p:transition spd="fast">
    <p:fade/>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06098" y="34671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FEATURES 4, 5, 6 · FINDING PLACES</a:t>
              </a:r>
            </a:p>
          </p:txBody>
        </p:sp>
      </p:grpSp>
      <p:sp>
        <p:nvSpPr>
          <p:cNvPr name="TextBox 5" id="5"/>
          <p:cNvSpPr txBox="true"/>
          <p:nvPr/>
        </p:nvSpPr>
        <p:spPr>
          <a:xfrm rot="0">
            <a:off x="1421892" y="1028700"/>
            <a:ext cx="15723108" cy="1362075"/>
          </a:xfrm>
          <a:prstGeom prst="rect">
            <a:avLst/>
          </a:prstGeom>
        </p:spPr>
        <p:txBody>
          <a:bodyPr anchor="t" rtlCol="false" tIns="0" lIns="0" bIns="0" rIns="0">
            <a:spAutoFit/>
          </a:bodyPr>
          <a:lstStyle/>
          <a:p>
            <a:pPr algn="l">
              <a:lnSpc>
                <a:spcPts val="10799"/>
              </a:lnSpc>
            </a:pPr>
            <a:r>
              <a:rPr lang="en-US" sz="8999" spc="1349">
                <a:solidFill>
                  <a:srgbClr val="16171B"/>
                </a:solidFill>
                <a:latin typeface="Bebas Neue Cyrillic"/>
                <a:ea typeface="Bebas Neue Cyrillic"/>
                <a:cs typeface="Bebas Neue Cyrillic"/>
                <a:sym typeface="Bebas Neue Cyrillic"/>
              </a:rPr>
              <a:t>Search it, Browse it, Sort it</a:t>
            </a:r>
          </a:p>
        </p:txBody>
      </p:sp>
      <p:grpSp>
        <p:nvGrpSpPr>
          <p:cNvPr name="Group 6" id="6"/>
          <p:cNvGrpSpPr/>
          <p:nvPr/>
        </p:nvGrpSpPr>
        <p:grpSpPr>
          <a:xfrm rot="0">
            <a:off x="813435" y="2665095"/>
            <a:ext cx="5299710" cy="6328410"/>
            <a:chOff x="0" y="0"/>
            <a:chExt cx="7066280" cy="8437880"/>
          </a:xfrm>
        </p:grpSpPr>
        <p:sp>
          <p:nvSpPr>
            <p:cNvPr name="Freeform 7" id="7"/>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8" id="8"/>
          <p:cNvGrpSpPr/>
          <p:nvPr/>
        </p:nvGrpSpPr>
        <p:grpSpPr>
          <a:xfrm rot="0">
            <a:off x="1224915" y="3076575"/>
            <a:ext cx="924306" cy="924306"/>
            <a:chOff x="0" y="0"/>
            <a:chExt cx="1232408" cy="1232408"/>
          </a:xfrm>
        </p:grpSpPr>
        <p:sp>
          <p:nvSpPr>
            <p:cNvPr name="Freeform 9" id="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10" id="10"/>
          <p:cNvGrpSpPr/>
          <p:nvPr/>
        </p:nvGrpSpPr>
        <p:grpSpPr>
          <a:xfrm rot="0">
            <a:off x="1433598" y="3285258"/>
            <a:ext cx="506940" cy="506940"/>
            <a:chOff x="0" y="0"/>
            <a:chExt cx="675919" cy="675919"/>
          </a:xfrm>
        </p:grpSpPr>
        <p:sp>
          <p:nvSpPr>
            <p:cNvPr name="Freeform 11" id="1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4"/>
              <a:stretch>
                <a:fillRect l="0" t="0" r="-3" b="-3"/>
              </a:stretch>
            </a:blipFill>
          </p:spPr>
        </p:sp>
      </p:grpSp>
      <p:grpSp>
        <p:nvGrpSpPr>
          <p:cNvPr name="Group 12" id="12"/>
          <p:cNvGrpSpPr/>
          <p:nvPr/>
        </p:nvGrpSpPr>
        <p:grpSpPr>
          <a:xfrm rot="0">
            <a:off x="2331720" y="3195828"/>
            <a:ext cx="3566160" cy="685800"/>
            <a:chOff x="0" y="0"/>
            <a:chExt cx="4754880" cy="914400"/>
          </a:xfrm>
        </p:grpSpPr>
        <p:sp>
          <p:nvSpPr>
            <p:cNvPr name="Freeform 13" id="13"/>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14" id="14"/>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Search</a:t>
              </a:r>
            </a:p>
          </p:txBody>
        </p:sp>
      </p:grpSp>
      <p:sp>
        <p:nvSpPr>
          <p:cNvPr name="TextBox 15" id="15"/>
          <p:cNvSpPr txBox="true"/>
          <p:nvPr/>
        </p:nvSpPr>
        <p:spPr>
          <a:xfrm rot="0">
            <a:off x="1234440" y="4213860"/>
            <a:ext cx="4526280" cy="1684020"/>
          </a:xfrm>
          <a:prstGeom prst="rect">
            <a:avLst/>
          </a:prstGeom>
        </p:spPr>
        <p:txBody>
          <a:bodyPr anchor="t" rtlCol="false" tIns="0" lIns="0" bIns="0" rIns="0">
            <a:spAutoFit/>
          </a:bodyPr>
          <a:lstStyle/>
          <a:p>
            <a:pPr algn="l">
              <a:lnSpc>
                <a:spcPts val="2430"/>
              </a:lnSpc>
            </a:pPr>
            <a:r>
              <a:rPr lang="en-US" sz="2025">
                <a:solidFill>
                  <a:srgbClr val="5F626B"/>
                </a:solidFill>
                <a:latin typeface="Calibri (MS)"/>
                <a:ea typeface="Calibri (MS)"/>
                <a:cs typeface="Calibri (MS)"/>
                <a:sym typeface="Calibri (MS)"/>
              </a:rPr>
              <a:t>One box for everything. Exact names are found first with binary search on a sorted copy, then partial name and category matches with linear search.</a:t>
            </a:r>
          </a:p>
        </p:txBody>
      </p:sp>
      <p:grpSp>
        <p:nvGrpSpPr>
          <p:cNvPr name="Group 16" id="16"/>
          <p:cNvGrpSpPr/>
          <p:nvPr/>
        </p:nvGrpSpPr>
        <p:grpSpPr>
          <a:xfrm rot="0">
            <a:off x="1224915" y="8220075"/>
            <a:ext cx="885901" cy="403098"/>
            <a:chOff x="0" y="0"/>
            <a:chExt cx="1181202" cy="537464"/>
          </a:xfrm>
        </p:grpSpPr>
        <p:sp>
          <p:nvSpPr>
            <p:cNvPr name="Freeform 17" id="17"/>
            <p:cNvSpPr/>
            <p:nvPr/>
          </p:nvSpPr>
          <p:spPr>
            <a:xfrm flipH="false" flipV="false" rot="0">
              <a:off x="0" y="0"/>
              <a:ext cx="1181227" cy="537464"/>
            </a:xfrm>
            <a:custGeom>
              <a:avLst/>
              <a:gdLst/>
              <a:ahLst/>
              <a:cxnLst/>
              <a:rect r="r" b="b" t="t" l="l"/>
              <a:pathLst>
                <a:path h="537464" w="1181227">
                  <a:moveTo>
                    <a:pt x="0" y="115189"/>
                  </a:moveTo>
                  <a:cubicBezTo>
                    <a:pt x="0" y="51562"/>
                    <a:pt x="51562" y="0"/>
                    <a:pt x="115189" y="0"/>
                  </a:cubicBezTo>
                  <a:lnTo>
                    <a:pt x="1066038" y="0"/>
                  </a:lnTo>
                  <a:cubicBezTo>
                    <a:pt x="1129665" y="0"/>
                    <a:pt x="1181227" y="51562"/>
                    <a:pt x="1181227" y="115189"/>
                  </a:cubicBezTo>
                  <a:lnTo>
                    <a:pt x="1181227" y="422275"/>
                  </a:lnTo>
                  <a:cubicBezTo>
                    <a:pt x="1181227" y="485902"/>
                    <a:pt x="1129665" y="537464"/>
                    <a:pt x="1066038"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18" id="18"/>
          <p:cNvGrpSpPr/>
          <p:nvPr/>
        </p:nvGrpSpPr>
        <p:grpSpPr>
          <a:xfrm rot="0">
            <a:off x="1234440" y="8229600"/>
            <a:ext cx="866851" cy="384048"/>
            <a:chOff x="0" y="0"/>
            <a:chExt cx="1155802" cy="512064"/>
          </a:xfrm>
        </p:grpSpPr>
        <p:sp>
          <p:nvSpPr>
            <p:cNvPr name="Freeform 19" id="19"/>
            <p:cNvSpPr/>
            <p:nvPr/>
          </p:nvSpPr>
          <p:spPr>
            <a:xfrm flipH="false" flipV="false" rot="0">
              <a:off x="0" y="0"/>
              <a:ext cx="1155802" cy="512064"/>
            </a:xfrm>
            <a:custGeom>
              <a:avLst/>
              <a:gdLst/>
              <a:ahLst/>
              <a:cxnLst/>
              <a:rect r="r" b="b" t="t" l="l"/>
              <a:pathLst>
                <a:path h="512064" w="1155802">
                  <a:moveTo>
                    <a:pt x="0" y="0"/>
                  </a:moveTo>
                  <a:lnTo>
                    <a:pt x="1155802" y="0"/>
                  </a:lnTo>
                  <a:lnTo>
                    <a:pt x="1155802" y="512064"/>
                  </a:lnTo>
                  <a:lnTo>
                    <a:pt x="0" y="512064"/>
                  </a:lnTo>
                  <a:close/>
                </a:path>
              </a:pathLst>
            </a:custGeom>
            <a:blipFill>
              <a:blip r:embed="rId3">
                <a:alphaModFix amt="0"/>
              </a:blip>
              <a:stretch>
                <a:fillRect l="-6843" t="0" r="-6843" b="0"/>
              </a:stretch>
            </a:blipFill>
          </p:spPr>
        </p:sp>
        <p:sp>
          <p:nvSpPr>
            <p:cNvPr name="TextBox 20" id="20"/>
            <p:cNvSpPr txBox="true"/>
            <p:nvPr/>
          </p:nvSpPr>
          <p:spPr>
            <a:xfrm>
              <a:off x="0" y="-38100"/>
              <a:ext cx="1155802"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Linear</a:t>
              </a:r>
            </a:p>
          </p:txBody>
        </p:sp>
      </p:grpSp>
      <p:grpSp>
        <p:nvGrpSpPr>
          <p:cNvPr name="Group 21" id="21"/>
          <p:cNvGrpSpPr/>
          <p:nvPr/>
        </p:nvGrpSpPr>
        <p:grpSpPr>
          <a:xfrm rot="0">
            <a:off x="2201494" y="8220075"/>
            <a:ext cx="1673200" cy="403098"/>
            <a:chOff x="0" y="0"/>
            <a:chExt cx="2230933" cy="537464"/>
          </a:xfrm>
        </p:grpSpPr>
        <p:sp>
          <p:nvSpPr>
            <p:cNvPr name="Freeform 22" id="22"/>
            <p:cNvSpPr/>
            <p:nvPr/>
          </p:nvSpPr>
          <p:spPr>
            <a:xfrm flipH="false" flipV="false" rot="0">
              <a:off x="0" y="0"/>
              <a:ext cx="2231009" cy="537464"/>
            </a:xfrm>
            <a:custGeom>
              <a:avLst/>
              <a:gdLst/>
              <a:ahLst/>
              <a:cxnLst/>
              <a:rect r="r" b="b" t="t" l="l"/>
              <a:pathLst>
                <a:path h="537464" w="2231009">
                  <a:moveTo>
                    <a:pt x="0" y="115189"/>
                  </a:moveTo>
                  <a:cubicBezTo>
                    <a:pt x="0" y="51562"/>
                    <a:pt x="51562" y="0"/>
                    <a:pt x="115189" y="0"/>
                  </a:cubicBezTo>
                  <a:lnTo>
                    <a:pt x="2115820" y="0"/>
                  </a:lnTo>
                  <a:cubicBezTo>
                    <a:pt x="2179447" y="0"/>
                    <a:pt x="2231009" y="51562"/>
                    <a:pt x="2231009" y="115189"/>
                  </a:cubicBezTo>
                  <a:lnTo>
                    <a:pt x="2231009" y="422275"/>
                  </a:lnTo>
                  <a:cubicBezTo>
                    <a:pt x="2231009" y="485902"/>
                    <a:pt x="2179447" y="537464"/>
                    <a:pt x="2115820"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23" id="23"/>
          <p:cNvGrpSpPr/>
          <p:nvPr/>
        </p:nvGrpSpPr>
        <p:grpSpPr>
          <a:xfrm rot="0">
            <a:off x="2211019" y="8229600"/>
            <a:ext cx="1654150" cy="384048"/>
            <a:chOff x="0" y="0"/>
            <a:chExt cx="2205533" cy="512064"/>
          </a:xfrm>
        </p:grpSpPr>
        <p:sp>
          <p:nvSpPr>
            <p:cNvPr name="Freeform 24" id="24"/>
            <p:cNvSpPr/>
            <p:nvPr/>
          </p:nvSpPr>
          <p:spPr>
            <a:xfrm flipH="false" flipV="false" rot="0">
              <a:off x="0" y="0"/>
              <a:ext cx="2205532" cy="512064"/>
            </a:xfrm>
            <a:custGeom>
              <a:avLst/>
              <a:gdLst/>
              <a:ahLst/>
              <a:cxnLst/>
              <a:rect r="r" b="b" t="t" l="l"/>
              <a:pathLst>
                <a:path h="512064" w="2205532">
                  <a:moveTo>
                    <a:pt x="0" y="0"/>
                  </a:moveTo>
                  <a:lnTo>
                    <a:pt x="2205532" y="0"/>
                  </a:lnTo>
                  <a:lnTo>
                    <a:pt x="2205532" y="512064"/>
                  </a:lnTo>
                  <a:lnTo>
                    <a:pt x="0" y="512064"/>
                  </a:lnTo>
                  <a:close/>
                </a:path>
              </a:pathLst>
            </a:custGeom>
            <a:blipFill>
              <a:blip r:embed="rId3">
                <a:alphaModFix amt="0"/>
              </a:blip>
              <a:stretch>
                <a:fillRect l="0" t="-33924" r="0" b="-33924"/>
              </a:stretch>
            </a:blipFill>
          </p:spPr>
        </p:sp>
        <p:sp>
          <p:nvSpPr>
            <p:cNvPr name="TextBox 25" id="25"/>
            <p:cNvSpPr txBox="true"/>
            <p:nvPr/>
          </p:nvSpPr>
          <p:spPr>
            <a:xfrm>
              <a:off x="0" y="-38100"/>
              <a:ext cx="2205533"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Binary search</a:t>
              </a:r>
            </a:p>
          </p:txBody>
        </p:sp>
      </p:grpSp>
      <p:grpSp>
        <p:nvGrpSpPr>
          <p:cNvPr name="Group 26" id="26"/>
          <p:cNvGrpSpPr/>
          <p:nvPr/>
        </p:nvGrpSpPr>
        <p:grpSpPr>
          <a:xfrm rot="0">
            <a:off x="1224915" y="5956935"/>
            <a:ext cx="4476750" cy="2007870"/>
            <a:chOff x="0" y="0"/>
            <a:chExt cx="5969000" cy="2677160"/>
          </a:xfrm>
        </p:grpSpPr>
        <p:sp>
          <p:nvSpPr>
            <p:cNvPr name="Freeform 27" id="27"/>
            <p:cNvSpPr/>
            <p:nvPr/>
          </p:nvSpPr>
          <p:spPr>
            <a:xfrm flipH="false" flipV="false" rot="0">
              <a:off x="0" y="0"/>
              <a:ext cx="5969000" cy="2677160"/>
            </a:xfrm>
            <a:custGeom>
              <a:avLst/>
              <a:gdLst/>
              <a:ahLst/>
              <a:cxnLst/>
              <a:rect r="r" b="b" t="t" l="l"/>
              <a:pathLst>
                <a:path h="2677160" w="5969000">
                  <a:moveTo>
                    <a:pt x="0" y="184658"/>
                  </a:moveTo>
                  <a:cubicBezTo>
                    <a:pt x="0" y="82677"/>
                    <a:pt x="82677" y="0"/>
                    <a:pt x="184658" y="0"/>
                  </a:cubicBezTo>
                  <a:lnTo>
                    <a:pt x="5784342" y="0"/>
                  </a:lnTo>
                  <a:cubicBezTo>
                    <a:pt x="5886323" y="0"/>
                    <a:pt x="5969000" y="82677"/>
                    <a:pt x="5969000" y="184658"/>
                  </a:cubicBezTo>
                  <a:lnTo>
                    <a:pt x="5969000" y="2492502"/>
                  </a:lnTo>
                  <a:cubicBezTo>
                    <a:pt x="5969000" y="2594483"/>
                    <a:pt x="5886323" y="2677160"/>
                    <a:pt x="5784342" y="2677160"/>
                  </a:cubicBezTo>
                  <a:lnTo>
                    <a:pt x="184658" y="2677160"/>
                  </a:lnTo>
                  <a:cubicBezTo>
                    <a:pt x="82677" y="2677160"/>
                    <a:pt x="0" y="2594483"/>
                    <a:pt x="0" y="2492502"/>
                  </a:cubicBezTo>
                  <a:close/>
                </a:path>
              </a:pathLst>
            </a:custGeom>
            <a:solidFill>
              <a:srgbClr val="07080A"/>
            </a:solidFill>
            <a:ln w="19050" cap="sq">
              <a:solidFill>
                <a:srgbClr val="2C2F38"/>
              </a:solidFill>
              <a:prstDash val="solid"/>
              <a:miter/>
            </a:ln>
          </p:spPr>
        </p:sp>
      </p:grpSp>
      <p:grpSp>
        <p:nvGrpSpPr>
          <p:cNvPr name="Group 28" id="28"/>
          <p:cNvGrpSpPr/>
          <p:nvPr/>
        </p:nvGrpSpPr>
        <p:grpSpPr>
          <a:xfrm rot="0">
            <a:off x="1499235" y="6190107"/>
            <a:ext cx="183642" cy="183642"/>
            <a:chOff x="0" y="0"/>
            <a:chExt cx="244856" cy="244856"/>
          </a:xfrm>
        </p:grpSpPr>
        <p:sp>
          <p:nvSpPr>
            <p:cNvPr name="Freeform 29" id="29"/>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30" id="30"/>
          <p:cNvGrpSpPr/>
          <p:nvPr/>
        </p:nvGrpSpPr>
        <p:grpSpPr>
          <a:xfrm rot="0">
            <a:off x="1773555" y="6190107"/>
            <a:ext cx="183642" cy="183642"/>
            <a:chOff x="0" y="0"/>
            <a:chExt cx="244856" cy="244856"/>
          </a:xfrm>
        </p:grpSpPr>
        <p:sp>
          <p:nvSpPr>
            <p:cNvPr name="Freeform 31" id="31"/>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32" id="32"/>
          <p:cNvGrpSpPr/>
          <p:nvPr/>
        </p:nvGrpSpPr>
        <p:grpSpPr>
          <a:xfrm rot="0">
            <a:off x="2047875" y="6190107"/>
            <a:ext cx="183642" cy="183642"/>
            <a:chOff x="0" y="0"/>
            <a:chExt cx="244856" cy="244856"/>
          </a:xfrm>
        </p:grpSpPr>
        <p:sp>
          <p:nvSpPr>
            <p:cNvPr name="Freeform 33" id="33"/>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34" id="34"/>
          <p:cNvSpPr txBox="true"/>
          <p:nvPr/>
        </p:nvSpPr>
        <p:spPr>
          <a:xfrm rot="0">
            <a:off x="1536192" y="6545580"/>
            <a:ext cx="3854196" cy="1203960"/>
          </a:xfrm>
          <a:prstGeom prst="rect">
            <a:avLst/>
          </a:prstGeom>
        </p:spPr>
        <p:txBody>
          <a:bodyPr anchor="t" rtlCol="false" tIns="0" lIns="0" bIns="0" rIns="0">
            <a:spAutoFit/>
          </a:bodyPr>
          <a:lstStyle/>
          <a:p>
            <a:pPr algn="l">
              <a:lnSpc>
                <a:spcPts val="1984"/>
              </a:lnSpc>
            </a:pPr>
            <a:r>
              <a:rPr lang="en-US" sz="1575">
                <a:solidFill>
                  <a:srgbClr val="D9B100"/>
                </a:solidFill>
                <a:latin typeface="Consolas"/>
                <a:ea typeface="Consolas"/>
                <a:cs typeface="Consolas"/>
                <a:sym typeface="Consolas"/>
              </a:rPr>
              <a:t>  › </a:t>
            </a:r>
            <a:r>
              <a:rPr lang="en-US" sz="1575">
                <a:solidFill>
                  <a:srgbClr val="FFFFFF"/>
                </a:solidFill>
                <a:latin typeface="Consolas"/>
                <a:ea typeface="Consolas"/>
                <a:cs typeface="Consolas"/>
                <a:sym typeface="Consolas"/>
              </a:rPr>
              <a:t>lib</a:t>
            </a:r>
          </a:p>
          <a:p>
            <a:pPr algn="l">
              <a:lnSpc>
                <a:spcPts val="1984"/>
              </a:lnSpc>
            </a:pPr>
            <a:r>
              <a:rPr lang="en-US" sz="1575">
                <a:solidFill>
                  <a:srgbClr val="7C7F89"/>
                </a:solidFill>
                <a:latin typeface="Consolas"/>
                <a:ea typeface="Consolas"/>
                <a:cs typeface="Consolas"/>
                <a:sym typeface="Consolas"/>
              </a:rPr>
              <a:t>  binary search: 6 steps</a:t>
            </a:r>
          </a:p>
          <a:p>
            <a:pPr algn="l">
              <a:lnSpc>
                <a:spcPts val="1984"/>
              </a:lnSpc>
            </a:pPr>
            <a:r>
              <a:rPr lang="en-US" sz="1575">
                <a:solidFill>
                  <a:srgbClr val="D7D8DC"/>
                </a:solidFill>
                <a:latin typeface="Consolas"/>
                <a:ea typeface="Consolas"/>
                <a:cs typeface="Consolas"/>
                <a:sym typeface="Consolas"/>
              </a:rPr>
              <a:t>   1  Central Library</a:t>
            </a:r>
          </a:p>
        </p:txBody>
      </p:sp>
      <p:grpSp>
        <p:nvGrpSpPr>
          <p:cNvPr name="Group 35" id="35"/>
          <p:cNvGrpSpPr/>
          <p:nvPr/>
        </p:nvGrpSpPr>
        <p:grpSpPr>
          <a:xfrm rot="0">
            <a:off x="6436995" y="2665095"/>
            <a:ext cx="5299710" cy="6328410"/>
            <a:chOff x="0" y="0"/>
            <a:chExt cx="7066280" cy="8437880"/>
          </a:xfrm>
        </p:grpSpPr>
        <p:sp>
          <p:nvSpPr>
            <p:cNvPr name="Freeform 36" id="36"/>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37" id="37"/>
          <p:cNvGrpSpPr/>
          <p:nvPr/>
        </p:nvGrpSpPr>
        <p:grpSpPr>
          <a:xfrm rot="0">
            <a:off x="6848475" y="3076575"/>
            <a:ext cx="924306" cy="924306"/>
            <a:chOff x="0" y="0"/>
            <a:chExt cx="1232408" cy="1232408"/>
          </a:xfrm>
        </p:grpSpPr>
        <p:sp>
          <p:nvSpPr>
            <p:cNvPr name="Freeform 38" id="38"/>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39" id="39"/>
          <p:cNvGrpSpPr/>
          <p:nvPr/>
        </p:nvGrpSpPr>
        <p:grpSpPr>
          <a:xfrm rot="0">
            <a:off x="7057158" y="3285258"/>
            <a:ext cx="506940" cy="506940"/>
            <a:chOff x="0" y="0"/>
            <a:chExt cx="675919" cy="675919"/>
          </a:xfrm>
        </p:grpSpPr>
        <p:sp>
          <p:nvSpPr>
            <p:cNvPr name="Freeform 40" id="40"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5"/>
              <a:stretch>
                <a:fillRect l="0" t="0" r="-3" b="-3"/>
              </a:stretch>
            </a:blipFill>
          </p:spPr>
        </p:sp>
      </p:grpSp>
      <p:grpSp>
        <p:nvGrpSpPr>
          <p:cNvPr name="Group 41" id="41"/>
          <p:cNvGrpSpPr/>
          <p:nvPr/>
        </p:nvGrpSpPr>
        <p:grpSpPr>
          <a:xfrm rot="0">
            <a:off x="7955280" y="3195828"/>
            <a:ext cx="3566160" cy="685800"/>
            <a:chOff x="0" y="0"/>
            <a:chExt cx="4754880" cy="914400"/>
          </a:xfrm>
        </p:grpSpPr>
        <p:sp>
          <p:nvSpPr>
            <p:cNvPr name="Freeform 42" id="42"/>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43" id="43"/>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Browse by category</a:t>
              </a:r>
            </a:p>
          </p:txBody>
        </p:sp>
      </p:grpSp>
      <p:sp>
        <p:nvSpPr>
          <p:cNvPr name="TextBox 44" id="44"/>
          <p:cNvSpPr txBox="true"/>
          <p:nvPr/>
        </p:nvSpPr>
        <p:spPr>
          <a:xfrm rot="0">
            <a:off x="6858000" y="4213860"/>
            <a:ext cx="4526280" cy="1684020"/>
          </a:xfrm>
          <a:prstGeom prst="rect">
            <a:avLst/>
          </a:prstGeom>
        </p:spPr>
        <p:txBody>
          <a:bodyPr anchor="t" rtlCol="false" tIns="0" lIns="0" bIns="0" rIns="0">
            <a:spAutoFit/>
          </a:bodyPr>
          <a:lstStyle/>
          <a:p>
            <a:pPr algn="l">
              <a:lnSpc>
                <a:spcPts val="2430"/>
              </a:lnSpc>
            </a:pPr>
            <a:r>
              <a:rPr lang="en-US" sz="2025">
                <a:solidFill>
                  <a:srgbClr val="5F626B"/>
                </a:solidFill>
                <a:latin typeface="Calibri (MS)"/>
                <a:ea typeface="Calibri (MS)"/>
                <a:cs typeface="Calibri (MS)"/>
                <a:sym typeface="Calibri (MS)"/>
              </a:rPr>
              <a:t>The campus as a general tree: KUET at the root, 10 categories, 44 places as leaves. 55 nodes, height 3.</a:t>
            </a:r>
          </a:p>
        </p:txBody>
      </p:sp>
      <p:grpSp>
        <p:nvGrpSpPr>
          <p:cNvPr name="Group 45" id="45"/>
          <p:cNvGrpSpPr/>
          <p:nvPr/>
        </p:nvGrpSpPr>
        <p:grpSpPr>
          <a:xfrm rot="0">
            <a:off x="6848475" y="8220075"/>
            <a:ext cx="1560728" cy="403098"/>
            <a:chOff x="0" y="0"/>
            <a:chExt cx="2080971" cy="537464"/>
          </a:xfrm>
        </p:grpSpPr>
        <p:sp>
          <p:nvSpPr>
            <p:cNvPr name="Freeform 46" id="46"/>
            <p:cNvSpPr/>
            <p:nvPr/>
          </p:nvSpPr>
          <p:spPr>
            <a:xfrm flipH="false" flipV="false" rot="0">
              <a:off x="0" y="0"/>
              <a:ext cx="2081022" cy="537464"/>
            </a:xfrm>
            <a:custGeom>
              <a:avLst/>
              <a:gdLst/>
              <a:ahLst/>
              <a:cxnLst/>
              <a:rect r="r" b="b" t="t" l="l"/>
              <a:pathLst>
                <a:path h="537464" w="2081022">
                  <a:moveTo>
                    <a:pt x="0" y="115189"/>
                  </a:moveTo>
                  <a:cubicBezTo>
                    <a:pt x="0" y="51562"/>
                    <a:pt x="51562" y="0"/>
                    <a:pt x="115189" y="0"/>
                  </a:cubicBezTo>
                  <a:lnTo>
                    <a:pt x="1965833" y="0"/>
                  </a:lnTo>
                  <a:cubicBezTo>
                    <a:pt x="2029460" y="0"/>
                    <a:pt x="2081022" y="51562"/>
                    <a:pt x="2081022" y="115189"/>
                  </a:cubicBezTo>
                  <a:lnTo>
                    <a:pt x="2081022" y="422275"/>
                  </a:lnTo>
                  <a:cubicBezTo>
                    <a:pt x="2081022" y="485902"/>
                    <a:pt x="2029460" y="537464"/>
                    <a:pt x="1965833"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47" id="47"/>
          <p:cNvGrpSpPr/>
          <p:nvPr/>
        </p:nvGrpSpPr>
        <p:grpSpPr>
          <a:xfrm rot="0">
            <a:off x="6858000" y="8229600"/>
            <a:ext cx="1541678" cy="384048"/>
            <a:chOff x="0" y="0"/>
            <a:chExt cx="2055571" cy="512064"/>
          </a:xfrm>
        </p:grpSpPr>
        <p:sp>
          <p:nvSpPr>
            <p:cNvPr name="Freeform 48" id="48"/>
            <p:cNvSpPr/>
            <p:nvPr/>
          </p:nvSpPr>
          <p:spPr>
            <a:xfrm flipH="false" flipV="false" rot="0">
              <a:off x="0" y="0"/>
              <a:ext cx="2055572" cy="512064"/>
            </a:xfrm>
            <a:custGeom>
              <a:avLst/>
              <a:gdLst/>
              <a:ahLst/>
              <a:cxnLst/>
              <a:rect r="r" b="b" t="t" l="l"/>
              <a:pathLst>
                <a:path h="512064" w="2055572">
                  <a:moveTo>
                    <a:pt x="0" y="0"/>
                  </a:moveTo>
                  <a:lnTo>
                    <a:pt x="2055572" y="0"/>
                  </a:lnTo>
                  <a:lnTo>
                    <a:pt x="2055572" y="512064"/>
                  </a:lnTo>
                  <a:lnTo>
                    <a:pt x="0" y="512064"/>
                  </a:lnTo>
                  <a:close/>
                </a:path>
              </a:pathLst>
            </a:custGeom>
            <a:blipFill>
              <a:blip r:embed="rId3">
                <a:alphaModFix amt="0"/>
              </a:blip>
              <a:stretch>
                <a:fillRect l="0" t="-28218" r="0" b="-28218"/>
              </a:stretch>
            </a:blipFill>
          </p:spPr>
        </p:sp>
        <p:sp>
          <p:nvSpPr>
            <p:cNvPr name="TextBox 49" id="49"/>
            <p:cNvSpPr txBox="true"/>
            <p:nvPr/>
          </p:nvSpPr>
          <p:spPr>
            <a:xfrm>
              <a:off x="0" y="-38100"/>
              <a:ext cx="2055571"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General tree</a:t>
              </a:r>
            </a:p>
          </p:txBody>
        </p:sp>
      </p:grpSp>
      <p:grpSp>
        <p:nvGrpSpPr>
          <p:cNvPr name="Group 50" id="50"/>
          <p:cNvGrpSpPr/>
          <p:nvPr/>
        </p:nvGrpSpPr>
        <p:grpSpPr>
          <a:xfrm rot="0">
            <a:off x="6848475" y="5956935"/>
            <a:ext cx="4476750" cy="2007870"/>
            <a:chOff x="0" y="0"/>
            <a:chExt cx="5969000" cy="2677160"/>
          </a:xfrm>
        </p:grpSpPr>
        <p:sp>
          <p:nvSpPr>
            <p:cNvPr name="Freeform 51" id="51"/>
            <p:cNvSpPr/>
            <p:nvPr/>
          </p:nvSpPr>
          <p:spPr>
            <a:xfrm flipH="false" flipV="false" rot="0">
              <a:off x="0" y="0"/>
              <a:ext cx="5969000" cy="2677160"/>
            </a:xfrm>
            <a:custGeom>
              <a:avLst/>
              <a:gdLst/>
              <a:ahLst/>
              <a:cxnLst/>
              <a:rect r="r" b="b" t="t" l="l"/>
              <a:pathLst>
                <a:path h="2677160" w="5969000">
                  <a:moveTo>
                    <a:pt x="0" y="184658"/>
                  </a:moveTo>
                  <a:cubicBezTo>
                    <a:pt x="0" y="82677"/>
                    <a:pt x="82677" y="0"/>
                    <a:pt x="184658" y="0"/>
                  </a:cubicBezTo>
                  <a:lnTo>
                    <a:pt x="5784342" y="0"/>
                  </a:lnTo>
                  <a:cubicBezTo>
                    <a:pt x="5886323" y="0"/>
                    <a:pt x="5969000" y="82677"/>
                    <a:pt x="5969000" y="184658"/>
                  </a:cubicBezTo>
                  <a:lnTo>
                    <a:pt x="5969000" y="2492502"/>
                  </a:lnTo>
                  <a:cubicBezTo>
                    <a:pt x="5969000" y="2594483"/>
                    <a:pt x="5886323" y="2677160"/>
                    <a:pt x="5784342" y="2677160"/>
                  </a:cubicBezTo>
                  <a:lnTo>
                    <a:pt x="184658" y="2677160"/>
                  </a:lnTo>
                  <a:cubicBezTo>
                    <a:pt x="82677" y="2677160"/>
                    <a:pt x="0" y="2594483"/>
                    <a:pt x="0" y="2492502"/>
                  </a:cubicBezTo>
                  <a:close/>
                </a:path>
              </a:pathLst>
            </a:custGeom>
            <a:solidFill>
              <a:srgbClr val="07080A"/>
            </a:solidFill>
            <a:ln w="19050" cap="sq">
              <a:solidFill>
                <a:srgbClr val="2C2F38"/>
              </a:solidFill>
              <a:prstDash val="solid"/>
              <a:miter/>
            </a:ln>
          </p:spPr>
        </p:sp>
      </p:grpSp>
      <p:grpSp>
        <p:nvGrpSpPr>
          <p:cNvPr name="Group 52" id="52"/>
          <p:cNvGrpSpPr/>
          <p:nvPr/>
        </p:nvGrpSpPr>
        <p:grpSpPr>
          <a:xfrm rot="0">
            <a:off x="7122795" y="6190107"/>
            <a:ext cx="183642" cy="183642"/>
            <a:chOff x="0" y="0"/>
            <a:chExt cx="244856" cy="244856"/>
          </a:xfrm>
        </p:grpSpPr>
        <p:sp>
          <p:nvSpPr>
            <p:cNvPr name="Freeform 53" id="53"/>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54" id="54"/>
          <p:cNvGrpSpPr/>
          <p:nvPr/>
        </p:nvGrpSpPr>
        <p:grpSpPr>
          <a:xfrm rot="0">
            <a:off x="7397115" y="6190107"/>
            <a:ext cx="183642" cy="183642"/>
            <a:chOff x="0" y="0"/>
            <a:chExt cx="244856" cy="244856"/>
          </a:xfrm>
        </p:grpSpPr>
        <p:sp>
          <p:nvSpPr>
            <p:cNvPr name="Freeform 55" id="55"/>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56" id="56"/>
          <p:cNvGrpSpPr/>
          <p:nvPr/>
        </p:nvGrpSpPr>
        <p:grpSpPr>
          <a:xfrm rot="0">
            <a:off x="7671435" y="6190107"/>
            <a:ext cx="183642" cy="183642"/>
            <a:chOff x="0" y="0"/>
            <a:chExt cx="244856" cy="244856"/>
          </a:xfrm>
        </p:grpSpPr>
        <p:sp>
          <p:nvSpPr>
            <p:cNvPr name="Freeform 57" id="57"/>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58" id="58"/>
          <p:cNvSpPr txBox="true"/>
          <p:nvPr/>
        </p:nvSpPr>
        <p:spPr>
          <a:xfrm rot="0">
            <a:off x="7159752" y="6545580"/>
            <a:ext cx="3854196" cy="1203960"/>
          </a:xfrm>
          <a:prstGeom prst="rect">
            <a:avLst/>
          </a:prstGeom>
        </p:spPr>
        <p:txBody>
          <a:bodyPr anchor="t" rtlCol="false" tIns="0" lIns="0" bIns="0" rIns="0">
            <a:spAutoFit/>
          </a:bodyPr>
          <a:lstStyle/>
          <a:p>
            <a:pPr algn="l">
              <a:lnSpc>
                <a:spcPts val="1984"/>
              </a:lnSpc>
            </a:pPr>
            <a:r>
              <a:rPr lang="en-US" sz="1575" b="true">
                <a:solidFill>
                  <a:srgbClr val="FFFFFF"/>
                </a:solidFill>
                <a:latin typeface="Consolas Bold"/>
                <a:ea typeface="Consolas Bold"/>
                <a:cs typeface="Consolas Bold"/>
                <a:sym typeface="Consolas Bold"/>
              </a:rPr>
              <a:t>  KUET</a:t>
            </a:r>
          </a:p>
          <a:p>
            <a:pPr algn="l">
              <a:lnSpc>
                <a:spcPts val="1984"/>
              </a:lnSpc>
            </a:pPr>
            <a:r>
              <a:rPr lang="en-US" sz="1575">
                <a:solidFill>
                  <a:srgbClr val="7C7F89"/>
                </a:solidFill>
                <a:latin typeface="Consolas"/>
                <a:ea typeface="Consolas"/>
                <a:cs typeface="Consolas"/>
                <a:sym typeface="Consolas"/>
              </a:rPr>
              <a:t>  ├── </a:t>
            </a:r>
            <a:r>
              <a:rPr lang="en-US" sz="1575">
                <a:solidFill>
                  <a:srgbClr val="D9B100"/>
                </a:solidFill>
                <a:latin typeface="Consolas"/>
                <a:ea typeface="Consolas"/>
                <a:cs typeface="Consolas"/>
                <a:sym typeface="Consolas"/>
              </a:rPr>
              <a:t>Academic</a:t>
            </a:r>
            <a:r>
              <a:rPr lang="en-US" sz="1575">
                <a:solidFill>
                  <a:srgbClr val="7C7F89"/>
                </a:solidFill>
                <a:latin typeface="Consolas"/>
                <a:ea typeface="Consolas"/>
                <a:cs typeface="Consolas"/>
                <a:sym typeface="Consolas"/>
              </a:rPr>
              <a:t>   11 places</a:t>
            </a:r>
          </a:p>
          <a:p>
            <a:pPr algn="l">
              <a:lnSpc>
                <a:spcPts val="1984"/>
              </a:lnSpc>
            </a:pPr>
            <a:r>
              <a:rPr lang="en-US" sz="1575">
                <a:solidFill>
                  <a:srgbClr val="7C7F89"/>
                </a:solidFill>
                <a:latin typeface="Consolas"/>
                <a:ea typeface="Consolas"/>
                <a:cs typeface="Consolas"/>
                <a:sym typeface="Consolas"/>
              </a:rPr>
              <a:t>  ├── </a:t>
            </a:r>
            <a:r>
              <a:rPr lang="en-US" sz="1575">
                <a:solidFill>
                  <a:srgbClr val="D9B100"/>
                </a:solidFill>
                <a:latin typeface="Consolas"/>
                <a:ea typeface="Consolas"/>
                <a:cs typeface="Consolas"/>
                <a:sym typeface="Consolas"/>
              </a:rPr>
              <a:t>Residential</a:t>
            </a:r>
            <a:r>
              <a:rPr lang="en-US" sz="1575">
                <a:solidFill>
                  <a:srgbClr val="7C7F89"/>
                </a:solidFill>
                <a:latin typeface="Consolas"/>
                <a:ea typeface="Consolas"/>
                <a:cs typeface="Consolas"/>
                <a:sym typeface="Consolas"/>
              </a:rPr>
              <a:t>  9 places</a:t>
            </a:r>
          </a:p>
          <a:p>
            <a:pPr algn="l">
              <a:lnSpc>
                <a:spcPts val="1984"/>
              </a:lnSpc>
            </a:pPr>
            <a:r>
              <a:rPr lang="en-US" sz="1575">
                <a:solidFill>
                  <a:srgbClr val="7C7F89"/>
                </a:solidFill>
                <a:latin typeface="Consolas"/>
                <a:ea typeface="Consolas"/>
                <a:cs typeface="Consolas"/>
                <a:sym typeface="Consolas"/>
              </a:rPr>
              <a:t>  └── </a:t>
            </a:r>
            <a:r>
              <a:rPr lang="en-US" sz="1575">
                <a:solidFill>
                  <a:srgbClr val="D9B100"/>
                </a:solidFill>
                <a:latin typeface="Consolas"/>
                <a:ea typeface="Consolas"/>
                <a:cs typeface="Consolas"/>
                <a:sym typeface="Consolas"/>
              </a:rPr>
              <a:t>Landmark</a:t>
            </a:r>
            <a:r>
              <a:rPr lang="en-US" sz="1575">
                <a:solidFill>
                  <a:srgbClr val="7C7F89"/>
                </a:solidFill>
                <a:latin typeface="Consolas"/>
                <a:ea typeface="Consolas"/>
                <a:cs typeface="Consolas"/>
                <a:sym typeface="Consolas"/>
              </a:rPr>
              <a:t>     4 places</a:t>
            </a:r>
          </a:p>
        </p:txBody>
      </p:sp>
      <p:grpSp>
        <p:nvGrpSpPr>
          <p:cNvPr name="Group 59" id="59"/>
          <p:cNvGrpSpPr/>
          <p:nvPr/>
        </p:nvGrpSpPr>
        <p:grpSpPr>
          <a:xfrm rot="0">
            <a:off x="12060555" y="2665095"/>
            <a:ext cx="5299710" cy="6328410"/>
            <a:chOff x="0" y="0"/>
            <a:chExt cx="7066280" cy="8437880"/>
          </a:xfrm>
        </p:grpSpPr>
        <p:sp>
          <p:nvSpPr>
            <p:cNvPr name="Freeform 60" id="60"/>
            <p:cNvSpPr/>
            <p:nvPr/>
          </p:nvSpPr>
          <p:spPr>
            <a:xfrm flipH="false" flipV="false" rot="0">
              <a:off x="0" y="0"/>
              <a:ext cx="7066280" cy="8437880"/>
            </a:xfrm>
            <a:custGeom>
              <a:avLst/>
              <a:gdLst/>
              <a:ahLst/>
              <a:cxnLst/>
              <a:rect r="r" b="b" t="t" l="l"/>
              <a:pathLst>
                <a:path h="8437880" w="7066280">
                  <a:moveTo>
                    <a:pt x="0" y="220218"/>
                  </a:moveTo>
                  <a:cubicBezTo>
                    <a:pt x="0" y="98552"/>
                    <a:pt x="98552" y="0"/>
                    <a:pt x="220218" y="0"/>
                  </a:cubicBezTo>
                  <a:lnTo>
                    <a:pt x="6846062" y="0"/>
                  </a:lnTo>
                  <a:cubicBezTo>
                    <a:pt x="6967728" y="0"/>
                    <a:pt x="7066280" y="98552"/>
                    <a:pt x="7066280" y="220218"/>
                  </a:cubicBezTo>
                  <a:lnTo>
                    <a:pt x="7066280" y="8217662"/>
                  </a:lnTo>
                  <a:cubicBezTo>
                    <a:pt x="7066280" y="8339328"/>
                    <a:pt x="6967728" y="8437880"/>
                    <a:pt x="6846062" y="8437880"/>
                  </a:cubicBezTo>
                  <a:lnTo>
                    <a:pt x="220218" y="8437880"/>
                  </a:lnTo>
                  <a:cubicBezTo>
                    <a:pt x="98552" y="8437880"/>
                    <a:pt x="0" y="8339328"/>
                    <a:pt x="0" y="8217662"/>
                  </a:cubicBezTo>
                  <a:close/>
                </a:path>
              </a:pathLst>
            </a:custGeom>
            <a:solidFill>
              <a:srgbClr val="F3F4F6"/>
            </a:solidFill>
            <a:ln w="19050" cap="sq">
              <a:solidFill>
                <a:srgbClr val="F3F4F6"/>
              </a:solidFill>
              <a:prstDash val="solid"/>
              <a:miter/>
            </a:ln>
          </p:spPr>
        </p:sp>
      </p:grpSp>
      <p:grpSp>
        <p:nvGrpSpPr>
          <p:cNvPr name="Group 61" id="61"/>
          <p:cNvGrpSpPr/>
          <p:nvPr/>
        </p:nvGrpSpPr>
        <p:grpSpPr>
          <a:xfrm rot="0">
            <a:off x="12472035" y="3076575"/>
            <a:ext cx="924306" cy="924306"/>
            <a:chOff x="0" y="0"/>
            <a:chExt cx="1232408" cy="1232408"/>
          </a:xfrm>
        </p:grpSpPr>
        <p:sp>
          <p:nvSpPr>
            <p:cNvPr name="Freeform 62" id="62"/>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FBF4D2"/>
            </a:solidFill>
            <a:ln w="19050" cap="sq">
              <a:solidFill>
                <a:srgbClr val="FBF4D2"/>
              </a:solidFill>
              <a:prstDash val="solid"/>
              <a:miter/>
            </a:ln>
          </p:spPr>
        </p:sp>
      </p:grpSp>
      <p:grpSp>
        <p:nvGrpSpPr>
          <p:cNvPr name="Group 63" id="63"/>
          <p:cNvGrpSpPr/>
          <p:nvPr/>
        </p:nvGrpSpPr>
        <p:grpSpPr>
          <a:xfrm rot="0">
            <a:off x="12680718" y="3285258"/>
            <a:ext cx="506940" cy="506940"/>
            <a:chOff x="0" y="0"/>
            <a:chExt cx="675919" cy="675919"/>
          </a:xfrm>
        </p:grpSpPr>
        <p:sp>
          <p:nvSpPr>
            <p:cNvPr name="Freeform 64" id="64"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6"/>
              <a:stretch>
                <a:fillRect l="0" t="0" r="-3" b="-3"/>
              </a:stretch>
            </a:blipFill>
          </p:spPr>
        </p:sp>
      </p:grpSp>
      <p:grpSp>
        <p:nvGrpSpPr>
          <p:cNvPr name="Group 65" id="65"/>
          <p:cNvGrpSpPr/>
          <p:nvPr/>
        </p:nvGrpSpPr>
        <p:grpSpPr>
          <a:xfrm rot="0">
            <a:off x="13578840" y="3195828"/>
            <a:ext cx="3566160" cy="685800"/>
            <a:chOff x="0" y="0"/>
            <a:chExt cx="4754880" cy="914400"/>
          </a:xfrm>
        </p:grpSpPr>
        <p:sp>
          <p:nvSpPr>
            <p:cNvPr name="Freeform 66" id="66"/>
            <p:cNvSpPr/>
            <p:nvPr/>
          </p:nvSpPr>
          <p:spPr>
            <a:xfrm flipH="false" flipV="false" rot="0">
              <a:off x="0" y="0"/>
              <a:ext cx="4754880" cy="914400"/>
            </a:xfrm>
            <a:custGeom>
              <a:avLst/>
              <a:gdLst/>
              <a:ahLst/>
              <a:cxnLst/>
              <a:rect r="r" b="b" t="t" l="l"/>
              <a:pathLst>
                <a:path h="914400" w="4754880">
                  <a:moveTo>
                    <a:pt x="0" y="0"/>
                  </a:moveTo>
                  <a:lnTo>
                    <a:pt x="4754880" y="0"/>
                  </a:lnTo>
                  <a:lnTo>
                    <a:pt x="4754880" y="914400"/>
                  </a:lnTo>
                  <a:lnTo>
                    <a:pt x="0" y="914400"/>
                  </a:lnTo>
                  <a:close/>
                </a:path>
              </a:pathLst>
            </a:custGeom>
            <a:blipFill>
              <a:blip r:embed="rId3">
                <a:alphaModFix amt="0"/>
              </a:blip>
              <a:stretch>
                <a:fillRect l="0" t="-51322" r="0" b="-51322"/>
              </a:stretch>
            </a:blipFill>
          </p:spPr>
        </p:sp>
        <p:sp>
          <p:nvSpPr>
            <p:cNvPr name="TextBox 67" id="67"/>
            <p:cNvSpPr txBox="true"/>
            <p:nvPr/>
          </p:nvSpPr>
          <p:spPr>
            <a:xfrm>
              <a:off x="0" y="-19050"/>
              <a:ext cx="4754880" cy="93345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Sort places</a:t>
              </a:r>
            </a:p>
          </p:txBody>
        </p:sp>
      </p:grpSp>
      <p:sp>
        <p:nvSpPr>
          <p:cNvPr name="TextBox 68" id="68"/>
          <p:cNvSpPr txBox="true"/>
          <p:nvPr/>
        </p:nvSpPr>
        <p:spPr>
          <a:xfrm rot="0">
            <a:off x="12481560" y="4213860"/>
            <a:ext cx="4526280" cy="1684020"/>
          </a:xfrm>
          <a:prstGeom prst="rect">
            <a:avLst/>
          </a:prstGeom>
        </p:spPr>
        <p:txBody>
          <a:bodyPr anchor="t" rtlCol="false" tIns="0" lIns="0" bIns="0" rIns="0">
            <a:spAutoFit/>
          </a:bodyPr>
          <a:lstStyle/>
          <a:p>
            <a:pPr algn="l">
              <a:lnSpc>
                <a:spcPts val="2430"/>
              </a:lnSpc>
            </a:pPr>
            <a:r>
              <a:rPr lang="en-US" sz="2025">
                <a:solidFill>
                  <a:srgbClr val="5F626B"/>
                </a:solidFill>
                <a:latin typeface="Calibri (MS)"/>
                <a:ea typeface="Calibri (MS)"/>
                <a:cs typeface="Calibri (MS)"/>
                <a:sym typeface="Calibri (MS)"/>
              </a:rPr>
              <a:t>A–Z, Z–A, by category, or by distance from you. Prints how many comparisons and swaps each sort made.</a:t>
            </a:r>
          </a:p>
        </p:txBody>
      </p:sp>
      <p:grpSp>
        <p:nvGrpSpPr>
          <p:cNvPr name="Group 69" id="69"/>
          <p:cNvGrpSpPr/>
          <p:nvPr/>
        </p:nvGrpSpPr>
        <p:grpSpPr>
          <a:xfrm rot="0">
            <a:off x="12472035" y="8220075"/>
            <a:ext cx="885901" cy="403098"/>
            <a:chOff x="0" y="0"/>
            <a:chExt cx="1181202" cy="537464"/>
          </a:xfrm>
        </p:grpSpPr>
        <p:sp>
          <p:nvSpPr>
            <p:cNvPr name="Freeform 70" id="70"/>
            <p:cNvSpPr/>
            <p:nvPr/>
          </p:nvSpPr>
          <p:spPr>
            <a:xfrm flipH="false" flipV="false" rot="0">
              <a:off x="0" y="0"/>
              <a:ext cx="1181227" cy="537464"/>
            </a:xfrm>
            <a:custGeom>
              <a:avLst/>
              <a:gdLst/>
              <a:ahLst/>
              <a:cxnLst/>
              <a:rect r="r" b="b" t="t" l="l"/>
              <a:pathLst>
                <a:path h="537464" w="1181227">
                  <a:moveTo>
                    <a:pt x="0" y="115189"/>
                  </a:moveTo>
                  <a:cubicBezTo>
                    <a:pt x="0" y="51562"/>
                    <a:pt x="51562" y="0"/>
                    <a:pt x="115189" y="0"/>
                  </a:cubicBezTo>
                  <a:lnTo>
                    <a:pt x="1066038" y="0"/>
                  </a:lnTo>
                  <a:cubicBezTo>
                    <a:pt x="1129665" y="0"/>
                    <a:pt x="1181227" y="51562"/>
                    <a:pt x="1181227" y="115189"/>
                  </a:cubicBezTo>
                  <a:lnTo>
                    <a:pt x="1181227" y="422275"/>
                  </a:lnTo>
                  <a:cubicBezTo>
                    <a:pt x="1181227" y="485902"/>
                    <a:pt x="1129665" y="537464"/>
                    <a:pt x="1066038"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71" id="71"/>
          <p:cNvGrpSpPr/>
          <p:nvPr/>
        </p:nvGrpSpPr>
        <p:grpSpPr>
          <a:xfrm rot="0">
            <a:off x="12481560" y="8229600"/>
            <a:ext cx="866851" cy="384048"/>
            <a:chOff x="0" y="0"/>
            <a:chExt cx="1155802" cy="512064"/>
          </a:xfrm>
        </p:grpSpPr>
        <p:sp>
          <p:nvSpPr>
            <p:cNvPr name="Freeform 72" id="72"/>
            <p:cNvSpPr/>
            <p:nvPr/>
          </p:nvSpPr>
          <p:spPr>
            <a:xfrm flipH="false" flipV="false" rot="0">
              <a:off x="0" y="0"/>
              <a:ext cx="1155802" cy="512064"/>
            </a:xfrm>
            <a:custGeom>
              <a:avLst/>
              <a:gdLst/>
              <a:ahLst/>
              <a:cxnLst/>
              <a:rect r="r" b="b" t="t" l="l"/>
              <a:pathLst>
                <a:path h="512064" w="1155802">
                  <a:moveTo>
                    <a:pt x="0" y="0"/>
                  </a:moveTo>
                  <a:lnTo>
                    <a:pt x="1155802" y="0"/>
                  </a:lnTo>
                  <a:lnTo>
                    <a:pt x="1155802" y="512064"/>
                  </a:lnTo>
                  <a:lnTo>
                    <a:pt x="0" y="512064"/>
                  </a:lnTo>
                  <a:close/>
                </a:path>
              </a:pathLst>
            </a:custGeom>
            <a:blipFill>
              <a:blip r:embed="rId3">
                <a:alphaModFix amt="0"/>
              </a:blip>
              <a:stretch>
                <a:fillRect l="-6843" t="0" r="-6843" b="0"/>
              </a:stretch>
            </a:blipFill>
          </p:spPr>
        </p:sp>
        <p:sp>
          <p:nvSpPr>
            <p:cNvPr name="TextBox 73" id="73"/>
            <p:cNvSpPr txBox="true"/>
            <p:nvPr/>
          </p:nvSpPr>
          <p:spPr>
            <a:xfrm>
              <a:off x="0" y="-38100"/>
              <a:ext cx="1155802"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Bubble</a:t>
              </a:r>
            </a:p>
          </p:txBody>
        </p:sp>
      </p:grpSp>
      <p:grpSp>
        <p:nvGrpSpPr>
          <p:cNvPr name="Group 74" id="74"/>
          <p:cNvGrpSpPr/>
          <p:nvPr/>
        </p:nvGrpSpPr>
        <p:grpSpPr>
          <a:xfrm rot="0">
            <a:off x="13448614" y="8220075"/>
            <a:ext cx="1785671" cy="403098"/>
            <a:chOff x="0" y="0"/>
            <a:chExt cx="2380894" cy="537464"/>
          </a:xfrm>
        </p:grpSpPr>
        <p:sp>
          <p:nvSpPr>
            <p:cNvPr name="Freeform 75" id="75"/>
            <p:cNvSpPr/>
            <p:nvPr/>
          </p:nvSpPr>
          <p:spPr>
            <a:xfrm flipH="false" flipV="false" rot="0">
              <a:off x="0" y="0"/>
              <a:ext cx="2380869" cy="537464"/>
            </a:xfrm>
            <a:custGeom>
              <a:avLst/>
              <a:gdLst/>
              <a:ahLst/>
              <a:cxnLst/>
              <a:rect r="r" b="b" t="t" l="l"/>
              <a:pathLst>
                <a:path h="537464" w="2380869">
                  <a:moveTo>
                    <a:pt x="0" y="115189"/>
                  </a:moveTo>
                  <a:cubicBezTo>
                    <a:pt x="0" y="51562"/>
                    <a:pt x="51562" y="0"/>
                    <a:pt x="115189" y="0"/>
                  </a:cubicBezTo>
                  <a:lnTo>
                    <a:pt x="2265680" y="0"/>
                  </a:lnTo>
                  <a:cubicBezTo>
                    <a:pt x="2329307" y="0"/>
                    <a:pt x="2380869" y="51562"/>
                    <a:pt x="2380869" y="115189"/>
                  </a:cubicBezTo>
                  <a:lnTo>
                    <a:pt x="2380869" y="422275"/>
                  </a:lnTo>
                  <a:cubicBezTo>
                    <a:pt x="2380869" y="485902"/>
                    <a:pt x="2329307" y="537464"/>
                    <a:pt x="2265680" y="537464"/>
                  </a:cubicBezTo>
                  <a:lnTo>
                    <a:pt x="115189" y="537464"/>
                  </a:lnTo>
                  <a:cubicBezTo>
                    <a:pt x="51562" y="537464"/>
                    <a:pt x="0" y="485902"/>
                    <a:pt x="0" y="422275"/>
                  </a:cubicBezTo>
                  <a:close/>
                </a:path>
              </a:pathLst>
            </a:custGeom>
            <a:solidFill>
              <a:srgbClr val="FBF4D2"/>
            </a:solidFill>
            <a:ln w="19050" cap="sq">
              <a:solidFill>
                <a:srgbClr val="FBF4D2"/>
              </a:solidFill>
              <a:prstDash val="solid"/>
              <a:miter/>
            </a:ln>
          </p:spPr>
        </p:sp>
      </p:grpSp>
      <p:grpSp>
        <p:nvGrpSpPr>
          <p:cNvPr name="Group 76" id="76"/>
          <p:cNvGrpSpPr/>
          <p:nvPr/>
        </p:nvGrpSpPr>
        <p:grpSpPr>
          <a:xfrm rot="0">
            <a:off x="13458139" y="8229600"/>
            <a:ext cx="1766621" cy="384048"/>
            <a:chOff x="0" y="0"/>
            <a:chExt cx="2355494" cy="512064"/>
          </a:xfrm>
        </p:grpSpPr>
        <p:sp>
          <p:nvSpPr>
            <p:cNvPr name="Freeform 77" id="77"/>
            <p:cNvSpPr/>
            <p:nvPr/>
          </p:nvSpPr>
          <p:spPr>
            <a:xfrm flipH="false" flipV="false" rot="0">
              <a:off x="0" y="0"/>
              <a:ext cx="2355494" cy="512064"/>
            </a:xfrm>
            <a:custGeom>
              <a:avLst/>
              <a:gdLst/>
              <a:ahLst/>
              <a:cxnLst/>
              <a:rect r="r" b="b" t="t" l="l"/>
              <a:pathLst>
                <a:path h="512064" w="2355494">
                  <a:moveTo>
                    <a:pt x="0" y="0"/>
                  </a:moveTo>
                  <a:lnTo>
                    <a:pt x="2355494" y="0"/>
                  </a:lnTo>
                  <a:lnTo>
                    <a:pt x="2355494" y="512064"/>
                  </a:lnTo>
                  <a:lnTo>
                    <a:pt x="0" y="512064"/>
                  </a:lnTo>
                  <a:close/>
                </a:path>
              </a:pathLst>
            </a:custGeom>
            <a:blipFill>
              <a:blip r:embed="rId3">
                <a:alphaModFix amt="0"/>
              </a:blip>
              <a:stretch>
                <a:fillRect l="0" t="-39631" r="0" b="-39631"/>
              </a:stretch>
            </a:blipFill>
          </p:spPr>
        </p:sp>
        <p:sp>
          <p:nvSpPr>
            <p:cNvPr name="TextBox 78" id="78"/>
            <p:cNvSpPr txBox="true"/>
            <p:nvPr/>
          </p:nvSpPr>
          <p:spPr>
            <a:xfrm>
              <a:off x="0" y="-38100"/>
              <a:ext cx="2355494"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Selection sort</a:t>
              </a:r>
            </a:p>
          </p:txBody>
        </p:sp>
      </p:grpSp>
      <p:grpSp>
        <p:nvGrpSpPr>
          <p:cNvPr name="Group 79" id="79"/>
          <p:cNvGrpSpPr/>
          <p:nvPr/>
        </p:nvGrpSpPr>
        <p:grpSpPr>
          <a:xfrm rot="0">
            <a:off x="12472035" y="5956935"/>
            <a:ext cx="4476750" cy="2007870"/>
            <a:chOff x="0" y="0"/>
            <a:chExt cx="5969000" cy="2677160"/>
          </a:xfrm>
        </p:grpSpPr>
        <p:sp>
          <p:nvSpPr>
            <p:cNvPr name="Freeform 80" id="80"/>
            <p:cNvSpPr/>
            <p:nvPr/>
          </p:nvSpPr>
          <p:spPr>
            <a:xfrm flipH="false" flipV="false" rot="0">
              <a:off x="0" y="0"/>
              <a:ext cx="5969000" cy="2677160"/>
            </a:xfrm>
            <a:custGeom>
              <a:avLst/>
              <a:gdLst/>
              <a:ahLst/>
              <a:cxnLst/>
              <a:rect r="r" b="b" t="t" l="l"/>
              <a:pathLst>
                <a:path h="2677160" w="5969000">
                  <a:moveTo>
                    <a:pt x="0" y="184658"/>
                  </a:moveTo>
                  <a:cubicBezTo>
                    <a:pt x="0" y="82677"/>
                    <a:pt x="82677" y="0"/>
                    <a:pt x="184658" y="0"/>
                  </a:cubicBezTo>
                  <a:lnTo>
                    <a:pt x="5784342" y="0"/>
                  </a:lnTo>
                  <a:cubicBezTo>
                    <a:pt x="5886323" y="0"/>
                    <a:pt x="5969000" y="82677"/>
                    <a:pt x="5969000" y="184658"/>
                  </a:cubicBezTo>
                  <a:lnTo>
                    <a:pt x="5969000" y="2492502"/>
                  </a:lnTo>
                  <a:cubicBezTo>
                    <a:pt x="5969000" y="2594483"/>
                    <a:pt x="5886323" y="2677160"/>
                    <a:pt x="5784342" y="2677160"/>
                  </a:cubicBezTo>
                  <a:lnTo>
                    <a:pt x="184658" y="2677160"/>
                  </a:lnTo>
                  <a:cubicBezTo>
                    <a:pt x="82677" y="2677160"/>
                    <a:pt x="0" y="2594483"/>
                    <a:pt x="0" y="2492502"/>
                  </a:cubicBezTo>
                  <a:close/>
                </a:path>
              </a:pathLst>
            </a:custGeom>
            <a:solidFill>
              <a:srgbClr val="07080A"/>
            </a:solidFill>
            <a:ln w="19050" cap="sq">
              <a:solidFill>
                <a:srgbClr val="2C2F38"/>
              </a:solidFill>
              <a:prstDash val="solid"/>
              <a:miter/>
            </a:ln>
          </p:spPr>
        </p:sp>
      </p:grpSp>
      <p:grpSp>
        <p:nvGrpSpPr>
          <p:cNvPr name="Group 81" id="81"/>
          <p:cNvGrpSpPr/>
          <p:nvPr/>
        </p:nvGrpSpPr>
        <p:grpSpPr>
          <a:xfrm rot="0">
            <a:off x="12746355" y="6190107"/>
            <a:ext cx="183642" cy="183642"/>
            <a:chOff x="0" y="0"/>
            <a:chExt cx="244856" cy="244856"/>
          </a:xfrm>
        </p:grpSpPr>
        <p:sp>
          <p:nvSpPr>
            <p:cNvPr name="Freeform 82" id="82"/>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83" id="83"/>
          <p:cNvGrpSpPr/>
          <p:nvPr/>
        </p:nvGrpSpPr>
        <p:grpSpPr>
          <a:xfrm rot="0">
            <a:off x="13020675" y="6190107"/>
            <a:ext cx="183642" cy="183642"/>
            <a:chOff x="0" y="0"/>
            <a:chExt cx="244856" cy="244856"/>
          </a:xfrm>
        </p:grpSpPr>
        <p:sp>
          <p:nvSpPr>
            <p:cNvPr name="Freeform 84" id="84"/>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85" id="85"/>
          <p:cNvGrpSpPr/>
          <p:nvPr/>
        </p:nvGrpSpPr>
        <p:grpSpPr>
          <a:xfrm rot="0">
            <a:off x="13294995" y="6190107"/>
            <a:ext cx="183642" cy="183642"/>
            <a:chOff x="0" y="0"/>
            <a:chExt cx="244856" cy="244856"/>
          </a:xfrm>
        </p:grpSpPr>
        <p:sp>
          <p:nvSpPr>
            <p:cNvPr name="Freeform 86" id="86"/>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87" id="87"/>
          <p:cNvSpPr txBox="true"/>
          <p:nvPr/>
        </p:nvSpPr>
        <p:spPr>
          <a:xfrm rot="0">
            <a:off x="12783312" y="6545580"/>
            <a:ext cx="3854196" cy="1203960"/>
          </a:xfrm>
          <a:prstGeom prst="rect">
            <a:avLst/>
          </a:prstGeom>
        </p:spPr>
        <p:txBody>
          <a:bodyPr anchor="t" rtlCol="false" tIns="0" lIns="0" bIns="0" rIns="0">
            <a:spAutoFit/>
          </a:bodyPr>
          <a:lstStyle/>
          <a:p>
            <a:pPr algn="l">
              <a:lnSpc>
                <a:spcPts val="1984"/>
              </a:lnSpc>
            </a:pPr>
            <a:r>
              <a:rPr lang="en-US" sz="1575">
                <a:solidFill>
                  <a:srgbClr val="7C7F89"/>
                </a:solidFill>
                <a:latin typeface="Consolas"/>
                <a:ea typeface="Consolas"/>
                <a:cs typeface="Consolas"/>
                <a:sym typeface="Consolas"/>
              </a:rPr>
              <a:t>  by name, 44 places</a:t>
            </a:r>
          </a:p>
          <a:p>
            <a:pPr algn="l">
              <a:lnSpc>
                <a:spcPts val="1984"/>
              </a:lnSpc>
            </a:pPr>
            <a:r>
              <a:rPr lang="en-US" sz="1575">
                <a:solidFill>
                  <a:srgbClr val="D9B100"/>
                </a:solidFill>
                <a:latin typeface="Consolas"/>
                <a:ea typeface="Consolas"/>
                <a:cs typeface="Consolas"/>
                <a:sym typeface="Consolas"/>
              </a:rPr>
              <a:t>  bubble     </a:t>
            </a:r>
            <a:r>
              <a:rPr lang="en-US" sz="1575">
                <a:solidFill>
                  <a:srgbClr val="D7D8DC"/>
                </a:solidFill>
                <a:latin typeface="Consolas"/>
                <a:ea typeface="Consolas"/>
                <a:cs typeface="Consolas"/>
                <a:sym typeface="Consolas"/>
              </a:rPr>
              <a:t>367 swaps</a:t>
            </a:r>
          </a:p>
          <a:p>
            <a:pPr algn="l">
              <a:lnSpc>
                <a:spcPts val="1984"/>
              </a:lnSpc>
            </a:pPr>
            <a:r>
              <a:rPr lang="en-US" sz="1575">
                <a:solidFill>
                  <a:srgbClr val="D9B100"/>
                </a:solidFill>
                <a:latin typeface="Consolas"/>
                <a:ea typeface="Consolas"/>
                <a:cs typeface="Consolas"/>
                <a:sym typeface="Consolas"/>
              </a:rPr>
              <a:t>  selection  </a:t>
            </a:r>
            <a:r>
              <a:rPr lang="en-US" sz="1575">
                <a:solidFill>
                  <a:srgbClr val="D7D8DC"/>
                </a:solidFill>
                <a:latin typeface="Consolas"/>
                <a:ea typeface="Consolas"/>
                <a:cs typeface="Consolas"/>
                <a:sym typeface="Consolas"/>
              </a:rPr>
              <a:t> 39 swaps</a:t>
            </a:r>
          </a:p>
        </p:txBody>
      </p:sp>
    </p:spTree>
  </p:cSld>
  <p:clrMapOvr>
    <a:masterClrMapping/>
  </p:clrMapOvr>
  <p:transition spd="fast">
    <p:fade/>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FEATURES 8, 9, 10 · YOUR OWN TRAIL</a:t>
              </a:r>
            </a:p>
          </p:txBody>
        </p:sp>
      </p:grpSp>
      <p:sp>
        <p:nvSpPr>
          <p:cNvPr name="TextBox 5" id="5"/>
          <p:cNvSpPr txBox="true"/>
          <p:nvPr/>
        </p:nvSpPr>
        <p:spPr>
          <a:xfrm rot="0">
            <a:off x="822960" y="1207008"/>
            <a:ext cx="23720720" cy="1104900"/>
          </a:xfrm>
          <a:prstGeom prst="rect">
            <a:avLst/>
          </a:prstGeom>
        </p:spPr>
        <p:txBody>
          <a:bodyPr anchor="t" rtlCol="false" tIns="0" lIns="0" bIns="0" rIns="0">
            <a:spAutoFit/>
          </a:bodyPr>
          <a:lstStyle/>
          <a:p>
            <a:pPr algn="l">
              <a:lnSpc>
                <a:spcPts val="8723"/>
              </a:lnSpc>
            </a:pPr>
            <a:r>
              <a:rPr lang="en-US" sz="7269">
                <a:solidFill>
                  <a:srgbClr val="FFFFFF"/>
                </a:solidFill>
                <a:latin typeface="Gagalin"/>
                <a:ea typeface="Gagalin"/>
                <a:cs typeface="Gagalin"/>
                <a:sym typeface="Gagalin"/>
              </a:rPr>
              <a:t>It remembers where you've been</a:t>
            </a:r>
          </a:p>
        </p:txBody>
      </p:sp>
      <p:grpSp>
        <p:nvGrpSpPr>
          <p:cNvPr name="Group 6" id="6"/>
          <p:cNvGrpSpPr/>
          <p:nvPr/>
        </p:nvGrpSpPr>
        <p:grpSpPr>
          <a:xfrm rot="0">
            <a:off x="813435" y="2665095"/>
            <a:ext cx="8111490" cy="2967990"/>
            <a:chOff x="0" y="0"/>
            <a:chExt cx="10815320" cy="3957320"/>
          </a:xfrm>
        </p:grpSpPr>
        <p:sp>
          <p:nvSpPr>
            <p:cNvPr name="Freeform 7" id="7"/>
            <p:cNvSpPr/>
            <p:nvPr/>
          </p:nvSpPr>
          <p:spPr>
            <a:xfrm flipH="false" flipV="false" rot="0">
              <a:off x="0" y="0"/>
              <a:ext cx="10815320" cy="3957320"/>
            </a:xfrm>
            <a:custGeom>
              <a:avLst/>
              <a:gdLst/>
              <a:ahLst/>
              <a:cxnLst/>
              <a:rect r="r" b="b" t="t" l="l"/>
              <a:pathLst>
                <a:path h="3957320" w="10815320">
                  <a:moveTo>
                    <a:pt x="0" y="220853"/>
                  </a:moveTo>
                  <a:cubicBezTo>
                    <a:pt x="0" y="98933"/>
                    <a:pt x="98933" y="0"/>
                    <a:pt x="220853" y="0"/>
                  </a:cubicBezTo>
                  <a:lnTo>
                    <a:pt x="10594467" y="0"/>
                  </a:lnTo>
                  <a:cubicBezTo>
                    <a:pt x="10716387" y="0"/>
                    <a:pt x="10815320" y="98933"/>
                    <a:pt x="10815320" y="220853"/>
                  </a:cubicBezTo>
                  <a:lnTo>
                    <a:pt x="10815320" y="3736467"/>
                  </a:lnTo>
                  <a:cubicBezTo>
                    <a:pt x="10815320" y="3858387"/>
                    <a:pt x="10716387" y="3957320"/>
                    <a:pt x="10594467" y="3957320"/>
                  </a:cubicBezTo>
                  <a:lnTo>
                    <a:pt x="220853" y="3957320"/>
                  </a:lnTo>
                  <a:cubicBezTo>
                    <a:pt x="98933" y="3957320"/>
                    <a:pt x="0" y="3858387"/>
                    <a:pt x="0" y="3736467"/>
                  </a:cubicBezTo>
                  <a:close/>
                </a:path>
              </a:pathLst>
            </a:custGeom>
            <a:solidFill>
              <a:srgbClr val="1B1D24"/>
            </a:solidFill>
            <a:ln w="19050" cap="sq">
              <a:solidFill>
                <a:srgbClr val="2C2F38"/>
              </a:solidFill>
              <a:prstDash val="solid"/>
              <a:miter/>
            </a:ln>
          </p:spPr>
        </p:sp>
      </p:grpSp>
      <p:grpSp>
        <p:nvGrpSpPr>
          <p:cNvPr name="Group 8" id="8"/>
          <p:cNvGrpSpPr/>
          <p:nvPr/>
        </p:nvGrpSpPr>
        <p:grpSpPr>
          <a:xfrm rot="0">
            <a:off x="1224915" y="3076575"/>
            <a:ext cx="924306" cy="924306"/>
            <a:chOff x="0" y="0"/>
            <a:chExt cx="1232408" cy="1232408"/>
          </a:xfrm>
        </p:grpSpPr>
        <p:sp>
          <p:nvSpPr>
            <p:cNvPr name="Freeform 9" id="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10" id="10"/>
          <p:cNvGrpSpPr/>
          <p:nvPr/>
        </p:nvGrpSpPr>
        <p:grpSpPr>
          <a:xfrm rot="0">
            <a:off x="1433598" y="3285258"/>
            <a:ext cx="506940" cy="506940"/>
            <a:chOff x="0" y="0"/>
            <a:chExt cx="675919" cy="675919"/>
          </a:xfrm>
        </p:grpSpPr>
        <p:sp>
          <p:nvSpPr>
            <p:cNvPr name="Freeform 11" id="1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4"/>
              <a:stretch>
                <a:fillRect l="0" t="0" r="-3" b="-3"/>
              </a:stretch>
            </a:blipFill>
          </p:spPr>
        </p:sp>
      </p:grpSp>
      <p:grpSp>
        <p:nvGrpSpPr>
          <p:cNvPr name="Group 12" id="12"/>
          <p:cNvGrpSpPr/>
          <p:nvPr/>
        </p:nvGrpSpPr>
        <p:grpSpPr>
          <a:xfrm rot="0">
            <a:off x="2400300" y="3154680"/>
            <a:ext cx="6172200" cy="617220"/>
            <a:chOff x="0" y="0"/>
            <a:chExt cx="8229600" cy="822960"/>
          </a:xfrm>
        </p:grpSpPr>
        <p:sp>
          <p:nvSpPr>
            <p:cNvPr name="Freeform 13" id="13"/>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14" id="14"/>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Trip history</a:t>
              </a:r>
            </a:p>
          </p:txBody>
        </p:sp>
      </p:grpSp>
      <p:sp>
        <p:nvSpPr>
          <p:cNvPr name="TextBox 15" id="15"/>
          <p:cNvSpPr txBox="true"/>
          <p:nvPr/>
        </p:nvSpPr>
        <p:spPr>
          <a:xfrm rot="0">
            <a:off x="2400300" y="3792855"/>
            <a:ext cx="6172200" cy="121348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Every place you go is pushed on a stack. Back pops the top and takes you to where you were before.</a:t>
            </a:r>
          </a:p>
        </p:txBody>
      </p:sp>
      <p:grpSp>
        <p:nvGrpSpPr>
          <p:cNvPr name="Group 16" id="16"/>
          <p:cNvGrpSpPr/>
          <p:nvPr/>
        </p:nvGrpSpPr>
        <p:grpSpPr>
          <a:xfrm rot="0">
            <a:off x="2390775" y="4996815"/>
            <a:ext cx="773430" cy="403098"/>
            <a:chOff x="0" y="0"/>
            <a:chExt cx="1031240" cy="537464"/>
          </a:xfrm>
        </p:grpSpPr>
        <p:sp>
          <p:nvSpPr>
            <p:cNvPr name="Freeform 17" id="17"/>
            <p:cNvSpPr/>
            <p:nvPr/>
          </p:nvSpPr>
          <p:spPr>
            <a:xfrm flipH="false" flipV="false" rot="0">
              <a:off x="0" y="0"/>
              <a:ext cx="1031240" cy="537464"/>
            </a:xfrm>
            <a:custGeom>
              <a:avLst/>
              <a:gdLst/>
              <a:ahLst/>
              <a:cxnLst/>
              <a:rect r="r" b="b" t="t" l="l"/>
              <a:pathLst>
                <a:path h="537464" w="1031240">
                  <a:moveTo>
                    <a:pt x="0" y="115189"/>
                  </a:moveTo>
                  <a:cubicBezTo>
                    <a:pt x="0" y="51562"/>
                    <a:pt x="51562" y="0"/>
                    <a:pt x="115189" y="0"/>
                  </a:cubicBezTo>
                  <a:lnTo>
                    <a:pt x="916051" y="0"/>
                  </a:lnTo>
                  <a:cubicBezTo>
                    <a:pt x="979678" y="0"/>
                    <a:pt x="1031240" y="51562"/>
                    <a:pt x="1031240" y="115189"/>
                  </a:cubicBezTo>
                  <a:lnTo>
                    <a:pt x="1031240" y="422275"/>
                  </a:lnTo>
                  <a:cubicBezTo>
                    <a:pt x="1031240" y="485902"/>
                    <a:pt x="979678" y="537464"/>
                    <a:pt x="916051" y="537464"/>
                  </a:cubicBezTo>
                  <a:lnTo>
                    <a:pt x="115189" y="537464"/>
                  </a:lnTo>
                  <a:cubicBezTo>
                    <a:pt x="51562" y="537464"/>
                    <a:pt x="0" y="485902"/>
                    <a:pt x="0" y="422275"/>
                  </a:cubicBezTo>
                  <a:close/>
                </a:path>
              </a:pathLst>
            </a:custGeom>
            <a:solidFill>
              <a:srgbClr val="2A2410"/>
            </a:solidFill>
            <a:ln w="19050" cap="sq">
              <a:solidFill>
                <a:srgbClr val="2A2410"/>
              </a:solidFill>
              <a:prstDash val="solid"/>
              <a:miter/>
            </a:ln>
          </p:spPr>
        </p:sp>
      </p:grpSp>
      <p:grpSp>
        <p:nvGrpSpPr>
          <p:cNvPr name="Group 18" id="18"/>
          <p:cNvGrpSpPr/>
          <p:nvPr/>
        </p:nvGrpSpPr>
        <p:grpSpPr>
          <a:xfrm rot="0">
            <a:off x="2400300" y="5006340"/>
            <a:ext cx="754380" cy="384048"/>
            <a:chOff x="0" y="0"/>
            <a:chExt cx="1005840" cy="512064"/>
          </a:xfrm>
        </p:grpSpPr>
        <p:sp>
          <p:nvSpPr>
            <p:cNvPr name="Freeform 19" id="19"/>
            <p:cNvSpPr/>
            <p:nvPr/>
          </p:nvSpPr>
          <p:spPr>
            <a:xfrm flipH="false" flipV="false" rot="0">
              <a:off x="0" y="0"/>
              <a:ext cx="1005840" cy="512064"/>
            </a:xfrm>
            <a:custGeom>
              <a:avLst/>
              <a:gdLst/>
              <a:ahLst/>
              <a:cxnLst/>
              <a:rect r="r" b="b" t="t" l="l"/>
              <a:pathLst>
                <a:path h="512064" w="1005840">
                  <a:moveTo>
                    <a:pt x="0" y="0"/>
                  </a:moveTo>
                  <a:lnTo>
                    <a:pt x="1005840" y="0"/>
                  </a:lnTo>
                  <a:lnTo>
                    <a:pt x="1005840" y="512064"/>
                  </a:lnTo>
                  <a:lnTo>
                    <a:pt x="0" y="512064"/>
                  </a:lnTo>
                  <a:close/>
                </a:path>
              </a:pathLst>
            </a:custGeom>
            <a:blipFill>
              <a:blip r:embed="rId3">
                <a:alphaModFix amt="0"/>
              </a:blip>
              <a:stretch>
                <a:fillRect l="-15318" t="0" r="-15318" b="0"/>
              </a:stretch>
            </a:blipFill>
          </p:spPr>
        </p:sp>
        <p:sp>
          <p:nvSpPr>
            <p:cNvPr name="TextBox 20" id="20"/>
            <p:cNvSpPr txBox="true"/>
            <p:nvPr/>
          </p:nvSpPr>
          <p:spPr>
            <a:xfrm>
              <a:off x="0" y="-38100"/>
              <a:ext cx="1005840" cy="550164"/>
            </a:xfrm>
            <a:prstGeom prst="rect">
              <a:avLst/>
            </a:prstGeom>
          </p:spPr>
          <p:txBody>
            <a:bodyPr anchor="ctr" rtlCol="false" tIns="0" lIns="0" bIns="0" rIns="0"/>
            <a:lstStyle/>
            <a:p>
              <a:pPr algn="ctr">
                <a:lnSpc>
                  <a:spcPts val="1709"/>
                </a:lnSpc>
              </a:pPr>
              <a:r>
                <a:rPr lang="en-US" sz="1425" b="true">
                  <a:solidFill>
                    <a:srgbClr val="D9B100"/>
                  </a:solidFill>
                  <a:latin typeface="Consolas Bold"/>
                  <a:ea typeface="Consolas Bold"/>
                  <a:cs typeface="Consolas Bold"/>
                  <a:sym typeface="Consolas Bold"/>
                </a:rPr>
                <a:t>Stack</a:t>
              </a:r>
            </a:p>
          </p:txBody>
        </p:sp>
      </p:grpSp>
      <p:grpSp>
        <p:nvGrpSpPr>
          <p:cNvPr name="Group 21" id="21"/>
          <p:cNvGrpSpPr/>
          <p:nvPr/>
        </p:nvGrpSpPr>
        <p:grpSpPr>
          <a:xfrm rot="0">
            <a:off x="9180195" y="2665095"/>
            <a:ext cx="8111490" cy="2967990"/>
            <a:chOff x="0" y="0"/>
            <a:chExt cx="10815320" cy="3957320"/>
          </a:xfrm>
        </p:grpSpPr>
        <p:sp>
          <p:nvSpPr>
            <p:cNvPr name="Freeform 22" id="22"/>
            <p:cNvSpPr/>
            <p:nvPr/>
          </p:nvSpPr>
          <p:spPr>
            <a:xfrm flipH="false" flipV="false" rot="0">
              <a:off x="0" y="0"/>
              <a:ext cx="10815320" cy="3957320"/>
            </a:xfrm>
            <a:custGeom>
              <a:avLst/>
              <a:gdLst/>
              <a:ahLst/>
              <a:cxnLst/>
              <a:rect r="r" b="b" t="t" l="l"/>
              <a:pathLst>
                <a:path h="3957320" w="10815320">
                  <a:moveTo>
                    <a:pt x="0" y="220853"/>
                  </a:moveTo>
                  <a:cubicBezTo>
                    <a:pt x="0" y="98933"/>
                    <a:pt x="98933" y="0"/>
                    <a:pt x="220853" y="0"/>
                  </a:cubicBezTo>
                  <a:lnTo>
                    <a:pt x="10594467" y="0"/>
                  </a:lnTo>
                  <a:cubicBezTo>
                    <a:pt x="10716387" y="0"/>
                    <a:pt x="10815320" y="98933"/>
                    <a:pt x="10815320" y="220853"/>
                  </a:cubicBezTo>
                  <a:lnTo>
                    <a:pt x="10815320" y="3736467"/>
                  </a:lnTo>
                  <a:cubicBezTo>
                    <a:pt x="10815320" y="3858387"/>
                    <a:pt x="10716387" y="3957320"/>
                    <a:pt x="10594467" y="3957320"/>
                  </a:cubicBezTo>
                  <a:lnTo>
                    <a:pt x="220853" y="3957320"/>
                  </a:lnTo>
                  <a:cubicBezTo>
                    <a:pt x="98933" y="3957320"/>
                    <a:pt x="0" y="3858387"/>
                    <a:pt x="0" y="3736467"/>
                  </a:cubicBezTo>
                  <a:close/>
                </a:path>
              </a:pathLst>
            </a:custGeom>
            <a:solidFill>
              <a:srgbClr val="1B1D24"/>
            </a:solidFill>
            <a:ln w="19050" cap="sq">
              <a:solidFill>
                <a:srgbClr val="2C2F38"/>
              </a:solidFill>
              <a:prstDash val="solid"/>
              <a:miter/>
            </a:ln>
          </p:spPr>
        </p:sp>
      </p:grpSp>
      <p:grpSp>
        <p:nvGrpSpPr>
          <p:cNvPr name="Group 23" id="23"/>
          <p:cNvGrpSpPr/>
          <p:nvPr/>
        </p:nvGrpSpPr>
        <p:grpSpPr>
          <a:xfrm rot="0">
            <a:off x="9591675" y="3076575"/>
            <a:ext cx="924306" cy="924306"/>
            <a:chOff x="0" y="0"/>
            <a:chExt cx="1232408" cy="1232408"/>
          </a:xfrm>
        </p:grpSpPr>
        <p:sp>
          <p:nvSpPr>
            <p:cNvPr name="Freeform 24" id="24"/>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25" id="25"/>
          <p:cNvGrpSpPr/>
          <p:nvPr/>
        </p:nvGrpSpPr>
        <p:grpSpPr>
          <a:xfrm rot="0">
            <a:off x="9800358" y="3285258"/>
            <a:ext cx="506940" cy="506940"/>
            <a:chOff x="0" y="0"/>
            <a:chExt cx="675919" cy="675919"/>
          </a:xfrm>
        </p:grpSpPr>
        <p:sp>
          <p:nvSpPr>
            <p:cNvPr name="Freeform 26" id="26"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5"/>
              <a:stretch>
                <a:fillRect l="0" t="0" r="-3" b="-3"/>
              </a:stretch>
            </a:blipFill>
          </p:spPr>
        </p:sp>
      </p:grpSp>
      <p:grpSp>
        <p:nvGrpSpPr>
          <p:cNvPr name="Group 27" id="27"/>
          <p:cNvGrpSpPr/>
          <p:nvPr/>
        </p:nvGrpSpPr>
        <p:grpSpPr>
          <a:xfrm rot="0">
            <a:off x="10767060" y="3154680"/>
            <a:ext cx="6172200" cy="617220"/>
            <a:chOff x="0" y="0"/>
            <a:chExt cx="8229600" cy="822960"/>
          </a:xfrm>
        </p:grpSpPr>
        <p:sp>
          <p:nvSpPr>
            <p:cNvPr name="Freeform 28" id="28"/>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29" id="29"/>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Recent searches</a:t>
              </a:r>
            </a:p>
          </p:txBody>
        </p:sp>
      </p:grpSp>
      <p:sp>
        <p:nvSpPr>
          <p:cNvPr name="TextBox 30" id="30"/>
          <p:cNvSpPr txBox="true"/>
          <p:nvPr/>
        </p:nvSpPr>
        <p:spPr>
          <a:xfrm rot="0">
            <a:off x="10767060" y="3792855"/>
            <a:ext cx="6172200" cy="121348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The last 10 places you opened, newest first. A repeat moves to the front instead of appearing twice.</a:t>
            </a:r>
          </a:p>
        </p:txBody>
      </p:sp>
      <p:grpSp>
        <p:nvGrpSpPr>
          <p:cNvPr name="Group 31" id="31"/>
          <p:cNvGrpSpPr/>
          <p:nvPr/>
        </p:nvGrpSpPr>
        <p:grpSpPr>
          <a:xfrm rot="0">
            <a:off x="10757535" y="4996815"/>
            <a:ext cx="1448257" cy="403098"/>
            <a:chOff x="0" y="0"/>
            <a:chExt cx="1931010" cy="537464"/>
          </a:xfrm>
        </p:grpSpPr>
        <p:sp>
          <p:nvSpPr>
            <p:cNvPr name="Freeform 32" id="32"/>
            <p:cNvSpPr/>
            <p:nvPr/>
          </p:nvSpPr>
          <p:spPr>
            <a:xfrm flipH="false" flipV="false" rot="0">
              <a:off x="0" y="0"/>
              <a:ext cx="1931035" cy="537464"/>
            </a:xfrm>
            <a:custGeom>
              <a:avLst/>
              <a:gdLst/>
              <a:ahLst/>
              <a:cxnLst/>
              <a:rect r="r" b="b" t="t" l="l"/>
              <a:pathLst>
                <a:path h="537464" w="1931035">
                  <a:moveTo>
                    <a:pt x="0" y="115189"/>
                  </a:moveTo>
                  <a:cubicBezTo>
                    <a:pt x="0" y="51562"/>
                    <a:pt x="51562" y="0"/>
                    <a:pt x="115189" y="0"/>
                  </a:cubicBezTo>
                  <a:lnTo>
                    <a:pt x="1815846" y="0"/>
                  </a:lnTo>
                  <a:cubicBezTo>
                    <a:pt x="1879473" y="0"/>
                    <a:pt x="1931035" y="51562"/>
                    <a:pt x="1931035" y="115189"/>
                  </a:cubicBezTo>
                  <a:lnTo>
                    <a:pt x="1931035" y="422275"/>
                  </a:lnTo>
                  <a:cubicBezTo>
                    <a:pt x="1931035" y="485902"/>
                    <a:pt x="1879473" y="537464"/>
                    <a:pt x="1815846" y="537464"/>
                  </a:cubicBezTo>
                  <a:lnTo>
                    <a:pt x="115189" y="537464"/>
                  </a:lnTo>
                  <a:cubicBezTo>
                    <a:pt x="51562" y="537464"/>
                    <a:pt x="0" y="485902"/>
                    <a:pt x="0" y="422275"/>
                  </a:cubicBezTo>
                  <a:close/>
                </a:path>
              </a:pathLst>
            </a:custGeom>
            <a:solidFill>
              <a:srgbClr val="2A2410"/>
            </a:solidFill>
            <a:ln w="19050" cap="sq">
              <a:solidFill>
                <a:srgbClr val="2A2410"/>
              </a:solidFill>
              <a:prstDash val="solid"/>
              <a:miter/>
            </a:ln>
          </p:spPr>
        </p:sp>
      </p:grpSp>
      <p:grpSp>
        <p:nvGrpSpPr>
          <p:cNvPr name="Group 33" id="33"/>
          <p:cNvGrpSpPr/>
          <p:nvPr/>
        </p:nvGrpSpPr>
        <p:grpSpPr>
          <a:xfrm rot="0">
            <a:off x="10767060" y="5006340"/>
            <a:ext cx="1429207" cy="384048"/>
            <a:chOff x="0" y="0"/>
            <a:chExt cx="1905610" cy="512064"/>
          </a:xfrm>
        </p:grpSpPr>
        <p:sp>
          <p:nvSpPr>
            <p:cNvPr name="Freeform 34" id="34"/>
            <p:cNvSpPr/>
            <p:nvPr/>
          </p:nvSpPr>
          <p:spPr>
            <a:xfrm flipH="false" flipV="false" rot="0">
              <a:off x="0" y="0"/>
              <a:ext cx="1905610" cy="512064"/>
            </a:xfrm>
            <a:custGeom>
              <a:avLst/>
              <a:gdLst/>
              <a:ahLst/>
              <a:cxnLst/>
              <a:rect r="r" b="b" t="t" l="l"/>
              <a:pathLst>
                <a:path h="512064" w="1905610">
                  <a:moveTo>
                    <a:pt x="0" y="0"/>
                  </a:moveTo>
                  <a:lnTo>
                    <a:pt x="1905610" y="0"/>
                  </a:lnTo>
                  <a:lnTo>
                    <a:pt x="1905610" y="512064"/>
                  </a:lnTo>
                  <a:lnTo>
                    <a:pt x="0" y="512064"/>
                  </a:lnTo>
                  <a:close/>
                </a:path>
              </a:pathLst>
            </a:custGeom>
            <a:blipFill>
              <a:blip r:embed="rId3">
                <a:alphaModFix amt="0"/>
              </a:blip>
              <a:stretch>
                <a:fillRect l="0" t="-22512" r="0" b="-22512"/>
              </a:stretch>
            </a:blipFill>
          </p:spPr>
        </p:sp>
        <p:sp>
          <p:nvSpPr>
            <p:cNvPr name="TextBox 35" id="35"/>
            <p:cNvSpPr txBox="true"/>
            <p:nvPr/>
          </p:nvSpPr>
          <p:spPr>
            <a:xfrm>
              <a:off x="0" y="-38100"/>
              <a:ext cx="1905610" cy="550164"/>
            </a:xfrm>
            <a:prstGeom prst="rect">
              <a:avLst/>
            </a:prstGeom>
          </p:spPr>
          <p:txBody>
            <a:bodyPr anchor="ctr" rtlCol="false" tIns="0" lIns="0" bIns="0" rIns="0"/>
            <a:lstStyle/>
            <a:p>
              <a:pPr algn="ctr">
                <a:lnSpc>
                  <a:spcPts val="1709"/>
                </a:lnSpc>
              </a:pPr>
              <a:r>
                <a:rPr lang="en-US" sz="1425" b="true">
                  <a:solidFill>
                    <a:srgbClr val="D9B100"/>
                  </a:solidFill>
                  <a:latin typeface="Consolas Bold"/>
                  <a:ea typeface="Consolas Bold"/>
                  <a:cs typeface="Consolas Bold"/>
                  <a:sym typeface="Consolas Bold"/>
                </a:rPr>
                <a:t>Linked list</a:t>
              </a:r>
            </a:p>
          </p:txBody>
        </p:sp>
      </p:grpSp>
      <p:grpSp>
        <p:nvGrpSpPr>
          <p:cNvPr name="Group 36" id="36"/>
          <p:cNvGrpSpPr/>
          <p:nvPr/>
        </p:nvGrpSpPr>
        <p:grpSpPr>
          <a:xfrm rot="0">
            <a:off x="813435" y="5888355"/>
            <a:ext cx="8111490" cy="2967990"/>
            <a:chOff x="0" y="0"/>
            <a:chExt cx="10815320" cy="3957320"/>
          </a:xfrm>
        </p:grpSpPr>
        <p:sp>
          <p:nvSpPr>
            <p:cNvPr name="Freeform 37" id="37"/>
            <p:cNvSpPr/>
            <p:nvPr/>
          </p:nvSpPr>
          <p:spPr>
            <a:xfrm flipH="false" flipV="false" rot="0">
              <a:off x="0" y="0"/>
              <a:ext cx="10815320" cy="3957320"/>
            </a:xfrm>
            <a:custGeom>
              <a:avLst/>
              <a:gdLst/>
              <a:ahLst/>
              <a:cxnLst/>
              <a:rect r="r" b="b" t="t" l="l"/>
              <a:pathLst>
                <a:path h="3957320" w="10815320">
                  <a:moveTo>
                    <a:pt x="0" y="220853"/>
                  </a:moveTo>
                  <a:cubicBezTo>
                    <a:pt x="0" y="98933"/>
                    <a:pt x="98933" y="0"/>
                    <a:pt x="220853" y="0"/>
                  </a:cubicBezTo>
                  <a:lnTo>
                    <a:pt x="10594467" y="0"/>
                  </a:lnTo>
                  <a:cubicBezTo>
                    <a:pt x="10716387" y="0"/>
                    <a:pt x="10815320" y="98933"/>
                    <a:pt x="10815320" y="220853"/>
                  </a:cubicBezTo>
                  <a:lnTo>
                    <a:pt x="10815320" y="3736467"/>
                  </a:lnTo>
                  <a:cubicBezTo>
                    <a:pt x="10815320" y="3858387"/>
                    <a:pt x="10716387" y="3957320"/>
                    <a:pt x="10594467" y="3957320"/>
                  </a:cubicBezTo>
                  <a:lnTo>
                    <a:pt x="220853" y="3957320"/>
                  </a:lnTo>
                  <a:cubicBezTo>
                    <a:pt x="98933" y="3957320"/>
                    <a:pt x="0" y="3858387"/>
                    <a:pt x="0" y="3736467"/>
                  </a:cubicBezTo>
                  <a:close/>
                </a:path>
              </a:pathLst>
            </a:custGeom>
            <a:solidFill>
              <a:srgbClr val="1B1D24"/>
            </a:solidFill>
            <a:ln w="19050" cap="sq">
              <a:solidFill>
                <a:srgbClr val="2C2F38"/>
              </a:solidFill>
              <a:prstDash val="solid"/>
              <a:miter/>
            </a:ln>
          </p:spPr>
        </p:sp>
      </p:grpSp>
      <p:grpSp>
        <p:nvGrpSpPr>
          <p:cNvPr name="Group 38" id="38"/>
          <p:cNvGrpSpPr/>
          <p:nvPr/>
        </p:nvGrpSpPr>
        <p:grpSpPr>
          <a:xfrm rot="0">
            <a:off x="1224915" y="6299835"/>
            <a:ext cx="924306" cy="924306"/>
            <a:chOff x="0" y="0"/>
            <a:chExt cx="1232408" cy="1232408"/>
          </a:xfrm>
        </p:grpSpPr>
        <p:sp>
          <p:nvSpPr>
            <p:cNvPr name="Freeform 39" id="39"/>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40" id="40"/>
          <p:cNvGrpSpPr/>
          <p:nvPr/>
        </p:nvGrpSpPr>
        <p:grpSpPr>
          <a:xfrm rot="0">
            <a:off x="1433598" y="6508518"/>
            <a:ext cx="506940" cy="506940"/>
            <a:chOff x="0" y="0"/>
            <a:chExt cx="675919" cy="675919"/>
          </a:xfrm>
        </p:grpSpPr>
        <p:sp>
          <p:nvSpPr>
            <p:cNvPr name="Freeform 41" id="41"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6"/>
              <a:stretch>
                <a:fillRect l="0" t="0" r="-3" b="-3"/>
              </a:stretch>
            </a:blipFill>
          </p:spPr>
        </p:sp>
      </p:grpSp>
      <p:grpSp>
        <p:nvGrpSpPr>
          <p:cNvPr name="Group 42" id="42"/>
          <p:cNvGrpSpPr/>
          <p:nvPr/>
        </p:nvGrpSpPr>
        <p:grpSpPr>
          <a:xfrm rot="0">
            <a:off x="2400300" y="6377940"/>
            <a:ext cx="6172200" cy="617220"/>
            <a:chOff x="0" y="0"/>
            <a:chExt cx="8229600" cy="822960"/>
          </a:xfrm>
        </p:grpSpPr>
        <p:sp>
          <p:nvSpPr>
            <p:cNvPr name="Freeform 43" id="43"/>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44" id="44"/>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Favorites</a:t>
              </a:r>
            </a:p>
          </p:txBody>
        </p:sp>
      </p:grpSp>
      <p:sp>
        <p:nvSpPr>
          <p:cNvPr name="TextBox 45" id="45"/>
          <p:cNvSpPr txBox="true"/>
          <p:nvPr/>
        </p:nvSpPr>
        <p:spPr>
          <a:xfrm rot="0">
            <a:off x="2400300" y="7016115"/>
            <a:ext cx="6172200" cy="121348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Star any place from its page. Saved per user in favorites.txt, so they are there next time you log in.</a:t>
            </a:r>
          </a:p>
        </p:txBody>
      </p:sp>
      <p:grpSp>
        <p:nvGrpSpPr>
          <p:cNvPr name="Group 46" id="46"/>
          <p:cNvGrpSpPr/>
          <p:nvPr/>
        </p:nvGrpSpPr>
        <p:grpSpPr>
          <a:xfrm rot="0">
            <a:off x="2390775" y="8220075"/>
            <a:ext cx="1448257" cy="403098"/>
            <a:chOff x="0" y="0"/>
            <a:chExt cx="1931010" cy="537464"/>
          </a:xfrm>
        </p:grpSpPr>
        <p:sp>
          <p:nvSpPr>
            <p:cNvPr name="Freeform 47" id="47"/>
            <p:cNvSpPr/>
            <p:nvPr/>
          </p:nvSpPr>
          <p:spPr>
            <a:xfrm flipH="false" flipV="false" rot="0">
              <a:off x="0" y="0"/>
              <a:ext cx="1931035" cy="537464"/>
            </a:xfrm>
            <a:custGeom>
              <a:avLst/>
              <a:gdLst/>
              <a:ahLst/>
              <a:cxnLst/>
              <a:rect r="r" b="b" t="t" l="l"/>
              <a:pathLst>
                <a:path h="537464" w="1931035">
                  <a:moveTo>
                    <a:pt x="0" y="115189"/>
                  </a:moveTo>
                  <a:cubicBezTo>
                    <a:pt x="0" y="51562"/>
                    <a:pt x="51562" y="0"/>
                    <a:pt x="115189" y="0"/>
                  </a:cubicBezTo>
                  <a:lnTo>
                    <a:pt x="1815846" y="0"/>
                  </a:lnTo>
                  <a:cubicBezTo>
                    <a:pt x="1879473" y="0"/>
                    <a:pt x="1931035" y="51562"/>
                    <a:pt x="1931035" y="115189"/>
                  </a:cubicBezTo>
                  <a:lnTo>
                    <a:pt x="1931035" y="422275"/>
                  </a:lnTo>
                  <a:cubicBezTo>
                    <a:pt x="1931035" y="485902"/>
                    <a:pt x="1879473" y="537464"/>
                    <a:pt x="1815846" y="537464"/>
                  </a:cubicBezTo>
                  <a:lnTo>
                    <a:pt x="115189" y="537464"/>
                  </a:lnTo>
                  <a:cubicBezTo>
                    <a:pt x="51562" y="537464"/>
                    <a:pt x="0" y="485902"/>
                    <a:pt x="0" y="422275"/>
                  </a:cubicBezTo>
                  <a:close/>
                </a:path>
              </a:pathLst>
            </a:custGeom>
            <a:solidFill>
              <a:srgbClr val="2A2410"/>
            </a:solidFill>
            <a:ln w="19050" cap="sq">
              <a:solidFill>
                <a:srgbClr val="2A2410"/>
              </a:solidFill>
              <a:prstDash val="solid"/>
              <a:miter/>
            </a:ln>
          </p:spPr>
        </p:sp>
      </p:grpSp>
      <p:grpSp>
        <p:nvGrpSpPr>
          <p:cNvPr name="Group 48" id="48"/>
          <p:cNvGrpSpPr/>
          <p:nvPr/>
        </p:nvGrpSpPr>
        <p:grpSpPr>
          <a:xfrm rot="0">
            <a:off x="2400300" y="8229600"/>
            <a:ext cx="1429207" cy="384048"/>
            <a:chOff x="0" y="0"/>
            <a:chExt cx="1905610" cy="512064"/>
          </a:xfrm>
        </p:grpSpPr>
        <p:sp>
          <p:nvSpPr>
            <p:cNvPr name="Freeform 49" id="49"/>
            <p:cNvSpPr/>
            <p:nvPr/>
          </p:nvSpPr>
          <p:spPr>
            <a:xfrm flipH="false" flipV="false" rot="0">
              <a:off x="0" y="0"/>
              <a:ext cx="1905610" cy="512064"/>
            </a:xfrm>
            <a:custGeom>
              <a:avLst/>
              <a:gdLst/>
              <a:ahLst/>
              <a:cxnLst/>
              <a:rect r="r" b="b" t="t" l="l"/>
              <a:pathLst>
                <a:path h="512064" w="1905610">
                  <a:moveTo>
                    <a:pt x="0" y="0"/>
                  </a:moveTo>
                  <a:lnTo>
                    <a:pt x="1905610" y="0"/>
                  </a:lnTo>
                  <a:lnTo>
                    <a:pt x="1905610" y="512064"/>
                  </a:lnTo>
                  <a:lnTo>
                    <a:pt x="0" y="512064"/>
                  </a:lnTo>
                  <a:close/>
                </a:path>
              </a:pathLst>
            </a:custGeom>
            <a:blipFill>
              <a:blip r:embed="rId3">
                <a:alphaModFix amt="0"/>
              </a:blip>
              <a:stretch>
                <a:fillRect l="0" t="-22512" r="0" b="-22512"/>
              </a:stretch>
            </a:blipFill>
          </p:spPr>
        </p:sp>
        <p:sp>
          <p:nvSpPr>
            <p:cNvPr name="TextBox 50" id="50"/>
            <p:cNvSpPr txBox="true"/>
            <p:nvPr/>
          </p:nvSpPr>
          <p:spPr>
            <a:xfrm>
              <a:off x="0" y="-38100"/>
              <a:ext cx="1905610" cy="550164"/>
            </a:xfrm>
            <a:prstGeom prst="rect">
              <a:avLst/>
            </a:prstGeom>
          </p:spPr>
          <p:txBody>
            <a:bodyPr anchor="ctr" rtlCol="false" tIns="0" lIns="0" bIns="0" rIns="0"/>
            <a:lstStyle/>
            <a:p>
              <a:pPr algn="ctr">
                <a:lnSpc>
                  <a:spcPts val="1709"/>
                </a:lnSpc>
              </a:pPr>
              <a:r>
                <a:rPr lang="en-US" sz="1425" b="true">
                  <a:solidFill>
                    <a:srgbClr val="D9B100"/>
                  </a:solidFill>
                  <a:latin typeface="Consolas Bold"/>
                  <a:ea typeface="Consolas Bold"/>
                  <a:cs typeface="Consolas Bold"/>
                  <a:sym typeface="Consolas Bold"/>
                </a:rPr>
                <a:t>Linked list</a:t>
              </a:r>
            </a:p>
          </p:txBody>
        </p:sp>
      </p:grpSp>
      <p:grpSp>
        <p:nvGrpSpPr>
          <p:cNvPr name="Group 51" id="51"/>
          <p:cNvGrpSpPr/>
          <p:nvPr/>
        </p:nvGrpSpPr>
        <p:grpSpPr>
          <a:xfrm rot="0">
            <a:off x="9180195" y="5888355"/>
            <a:ext cx="8111490" cy="2967990"/>
            <a:chOff x="0" y="0"/>
            <a:chExt cx="10815320" cy="3957320"/>
          </a:xfrm>
        </p:grpSpPr>
        <p:sp>
          <p:nvSpPr>
            <p:cNvPr name="Freeform 52" id="52"/>
            <p:cNvSpPr/>
            <p:nvPr/>
          </p:nvSpPr>
          <p:spPr>
            <a:xfrm flipH="false" flipV="false" rot="0">
              <a:off x="0" y="0"/>
              <a:ext cx="10815320" cy="3957320"/>
            </a:xfrm>
            <a:custGeom>
              <a:avLst/>
              <a:gdLst/>
              <a:ahLst/>
              <a:cxnLst/>
              <a:rect r="r" b="b" t="t" l="l"/>
              <a:pathLst>
                <a:path h="3957320" w="10815320">
                  <a:moveTo>
                    <a:pt x="0" y="220853"/>
                  </a:moveTo>
                  <a:cubicBezTo>
                    <a:pt x="0" y="98933"/>
                    <a:pt x="98933" y="0"/>
                    <a:pt x="220853" y="0"/>
                  </a:cubicBezTo>
                  <a:lnTo>
                    <a:pt x="10594467" y="0"/>
                  </a:lnTo>
                  <a:cubicBezTo>
                    <a:pt x="10716387" y="0"/>
                    <a:pt x="10815320" y="98933"/>
                    <a:pt x="10815320" y="220853"/>
                  </a:cubicBezTo>
                  <a:lnTo>
                    <a:pt x="10815320" y="3736467"/>
                  </a:lnTo>
                  <a:cubicBezTo>
                    <a:pt x="10815320" y="3858387"/>
                    <a:pt x="10716387" y="3957320"/>
                    <a:pt x="10594467" y="3957320"/>
                  </a:cubicBezTo>
                  <a:lnTo>
                    <a:pt x="220853" y="3957320"/>
                  </a:lnTo>
                  <a:cubicBezTo>
                    <a:pt x="98933" y="3957320"/>
                    <a:pt x="0" y="3858387"/>
                    <a:pt x="0" y="3736467"/>
                  </a:cubicBezTo>
                  <a:close/>
                </a:path>
              </a:pathLst>
            </a:custGeom>
            <a:solidFill>
              <a:srgbClr val="1B1D24"/>
            </a:solidFill>
            <a:ln w="19050" cap="sq">
              <a:solidFill>
                <a:srgbClr val="2C2F38"/>
              </a:solidFill>
              <a:prstDash val="solid"/>
              <a:miter/>
            </a:ln>
          </p:spPr>
        </p:sp>
      </p:grpSp>
      <p:grpSp>
        <p:nvGrpSpPr>
          <p:cNvPr name="Group 53" id="53"/>
          <p:cNvGrpSpPr/>
          <p:nvPr/>
        </p:nvGrpSpPr>
        <p:grpSpPr>
          <a:xfrm rot="0">
            <a:off x="9591675" y="6299835"/>
            <a:ext cx="924306" cy="924306"/>
            <a:chOff x="0" y="0"/>
            <a:chExt cx="1232408" cy="1232408"/>
          </a:xfrm>
        </p:grpSpPr>
        <p:sp>
          <p:nvSpPr>
            <p:cNvPr name="Freeform 54" id="54"/>
            <p:cNvSpPr/>
            <p:nvPr/>
          </p:nvSpPr>
          <p:spPr>
            <a:xfrm flipH="false" flipV="false" rot="0">
              <a:off x="0" y="0"/>
              <a:ext cx="1232408" cy="1232408"/>
            </a:xfrm>
            <a:custGeom>
              <a:avLst/>
              <a:gdLst/>
              <a:ahLst/>
              <a:cxnLst/>
              <a:rect r="r" b="b" t="t" l="l"/>
              <a:pathLst>
                <a:path h="1232408" w="1232408">
                  <a:moveTo>
                    <a:pt x="0" y="616204"/>
                  </a:moveTo>
                  <a:cubicBezTo>
                    <a:pt x="0" y="275844"/>
                    <a:pt x="275844" y="0"/>
                    <a:pt x="616204" y="0"/>
                  </a:cubicBezTo>
                  <a:cubicBezTo>
                    <a:pt x="956564" y="0"/>
                    <a:pt x="1232408" y="275844"/>
                    <a:pt x="1232408" y="616204"/>
                  </a:cubicBezTo>
                  <a:cubicBezTo>
                    <a:pt x="1232408" y="956564"/>
                    <a:pt x="956564" y="1232408"/>
                    <a:pt x="616204" y="1232408"/>
                  </a:cubicBezTo>
                  <a:cubicBezTo>
                    <a:pt x="275844" y="1232408"/>
                    <a:pt x="0" y="956564"/>
                    <a:pt x="0" y="616204"/>
                  </a:cubicBezTo>
                  <a:close/>
                </a:path>
              </a:pathLst>
            </a:custGeom>
            <a:solidFill>
              <a:srgbClr val="2A2410"/>
            </a:solidFill>
            <a:ln w="19050" cap="sq">
              <a:solidFill>
                <a:srgbClr val="2A2410"/>
              </a:solidFill>
              <a:prstDash val="solid"/>
              <a:miter/>
            </a:ln>
          </p:spPr>
        </p:sp>
      </p:grpSp>
      <p:grpSp>
        <p:nvGrpSpPr>
          <p:cNvPr name="Group 55" id="55"/>
          <p:cNvGrpSpPr/>
          <p:nvPr/>
        </p:nvGrpSpPr>
        <p:grpSpPr>
          <a:xfrm rot="0">
            <a:off x="9800358" y="6508518"/>
            <a:ext cx="506940" cy="506940"/>
            <a:chOff x="0" y="0"/>
            <a:chExt cx="675919" cy="675919"/>
          </a:xfrm>
        </p:grpSpPr>
        <p:sp>
          <p:nvSpPr>
            <p:cNvPr name="Freeform 56" id="56" descr="preencoded.png"/>
            <p:cNvSpPr/>
            <p:nvPr/>
          </p:nvSpPr>
          <p:spPr>
            <a:xfrm flipH="false" flipV="false" rot="0">
              <a:off x="0" y="0"/>
              <a:ext cx="675894" cy="675894"/>
            </a:xfrm>
            <a:custGeom>
              <a:avLst/>
              <a:gdLst/>
              <a:ahLst/>
              <a:cxnLst/>
              <a:rect r="r" b="b" t="t" l="l"/>
              <a:pathLst>
                <a:path h="675894" w="675894">
                  <a:moveTo>
                    <a:pt x="0" y="0"/>
                  </a:moveTo>
                  <a:lnTo>
                    <a:pt x="675894" y="0"/>
                  </a:lnTo>
                  <a:lnTo>
                    <a:pt x="675894" y="675894"/>
                  </a:lnTo>
                  <a:lnTo>
                    <a:pt x="0" y="675894"/>
                  </a:lnTo>
                  <a:lnTo>
                    <a:pt x="0" y="0"/>
                  </a:lnTo>
                  <a:close/>
                </a:path>
              </a:pathLst>
            </a:custGeom>
            <a:blipFill>
              <a:blip r:embed="rId7"/>
              <a:stretch>
                <a:fillRect l="0" t="0" r="-3" b="-3"/>
              </a:stretch>
            </a:blipFill>
          </p:spPr>
        </p:sp>
      </p:grpSp>
      <p:grpSp>
        <p:nvGrpSpPr>
          <p:cNvPr name="Group 57" id="57"/>
          <p:cNvGrpSpPr/>
          <p:nvPr/>
        </p:nvGrpSpPr>
        <p:grpSpPr>
          <a:xfrm rot="0">
            <a:off x="10767060" y="6377940"/>
            <a:ext cx="6172200" cy="617220"/>
            <a:chOff x="0" y="0"/>
            <a:chExt cx="8229600" cy="822960"/>
          </a:xfrm>
        </p:grpSpPr>
        <p:sp>
          <p:nvSpPr>
            <p:cNvPr name="Freeform 58" id="58"/>
            <p:cNvSpPr/>
            <p:nvPr/>
          </p:nvSpPr>
          <p:spPr>
            <a:xfrm flipH="false" flipV="false" rot="0">
              <a:off x="0" y="0"/>
              <a:ext cx="8229600" cy="822960"/>
            </a:xfrm>
            <a:custGeom>
              <a:avLst/>
              <a:gdLst/>
              <a:ahLst/>
              <a:cxnLst/>
              <a:rect r="r" b="b" t="t" l="l"/>
              <a:pathLst>
                <a:path h="822960" w="8229600">
                  <a:moveTo>
                    <a:pt x="0" y="0"/>
                  </a:moveTo>
                  <a:lnTo>
                    <a:pt x="8229600" y="0"/>
                  </a:lnTo>
                  <a:lnTo>
                    <a:pt x="8229600" y="822960"/>
                  </a:lnTo>
                  <a:lnTo>
                    <a:pt x="0" y="822960"/>
                  </a:lnTo>
                  <a:close/>
                </a:path>
              </a:pathLst>
            </a:custGeom>
            <a:blipFill>
              <a:blip r:embed="rId3">
                <a:alphaModFix amt="0"/>
              </a:blip>
              <a:stretch>
                <a:fillRect l="0" t="-144850" r="0" b="-144850"/>
              </a:stretch>
            </a:blipFill>
          </p:spPr>
        </p:sp>
        <p:sp>
          <p:nvSpPr>
            <p:cNvPr name="TextBox 59" id="59"/>
            <p:cNvSpPr txBox="true"/>
            <p:nvPr/>
          </p:nvSpPr>
          <p:spPr>
            <a:xfrm>
              <a:off x="0" y="-19050"/>
              <a:ext cx="8229600" cy="842010"/>
            </a:xfrm>
            <a:prstGeom prst="rect">
              <a:avLst/>
            </a:prstGeom>
          </p:spPr>
          <p:txBody>
            <a:bodyPr anchor="ctr" rtlCol="false" tIns="0" lIns="0" bIns="0" rIns="0"/>
            <a:lstStyle/>
            <a:p>
              <a:pPr algn="l">
                <a:lnSpc>
                  <a:spcPts val="3419"/>
                </a:lnSpc>
              </a:pPr>
              <a:r>
                <a:rPr lang="en-US" sz="2850" b="true">
                  <a:solidFill>
                    <a:srgbClr val="FFFFFF"/>
                  </a:solidFill>
                  <a:latin typeface="Arial Bold"/>
                  <a:ea typeface="Arial Bold"/>
                  <a:cs typeface="Arial Bold"/>
                  <a:sym typeface="Arial Bold"/>
                </a:rPr>
                <a:t>Accounts</a:t>
              </a:r>
            </a:p>
          </p:txBody>
        </p:sp>
      </p:grpSp>
      <p:sp>
        <p:nvSpPr>
          <p:cNvPr name="TextBox 60" id="60"/>
          <p:cNvSpPr txBox="true"/>
          <p:nvPr/>
        </p:nvSpPr>
        <p:spPr>
          <a:xfrm rot="0">
            <a:off x="10767060" y="7016115"/>
            <a:ext cx="6172200" cy="1213485"/>
          </a:xfrm>
          <a:prstGeom prst="rect">
            <a:avLst/>
          </a:prstGeom>
        </p:spPr>
        <p:txBody>
          <a:bodyPr anchor="t" rtlCol="false" tIns="0" lIns="0" bIns="0" rIns="0">
            <a:spAutoFit/>
          </a:bodyPr>
          <a:lstStyle/>
          <a:p>
            <a:pPr algn="l">
              <a:lnSpc>
                <a:spcPts val="2520"/>
              </a:lnSpc>
            </a:pPr>
            <a:r>
              <a:rPr lang="en-US" sz="2100">
                <a:solidFill>
                  <a:srgbClr val="B5B7BE"/>
                </a:solidFill>
                <a:latin typeface="Calibri (MS)"/>
                <a:ea typeface="Calibri (MS)"/>
                <a:cs typeface="Calibri (MS)"/>
                <a:sym typeface="Calibri (MS)"/>
              </a:rPr>
              <a:t>Log in or register as a student; admins get four more menus. Passwords are hidden while typing and stored hashed.</a:t>
            </a:r>
          </a:p>
        </p:txBody>
      </p:sp>
      <p:grpSp>
        <p:nvGrpSpPr>
          <p:cNvPr name="Group 61" id="61"/>
          <p:cNvGrpSpPr/>
          <p:nvPr/>
        </p:nvGrpSpPr>
        <p:grpSpPr>
          <a:xfrm rot="0">
            <a:off x="10757535" y="8220075"/>
            <a:ext cx="1448257" cy="403098"/>
            <a:chOff x="0" y="0"/>
            <a:chExt cx="1931010" cy="537464"/>
          </a:xfrm>
        </p:grpSpPr>
        <p:sp>
          <p:nvSpPr>
            <p:cNvPr name="Freeform 62" id="62"/>
            <p:cNvSpPr/>
            <p:nvPr/>
          </p:nvSpPr>
          <p:spPr>
            <a:xfrm flipH="false" flipV="false" rot="0">
              <a:off x="0" y="0"/>
              <a:ext cx="1931035" cy="537464"/>
            </a:xfrm>
            <a:custGeom>
              <a:avLst/>
              <a:gdLst/>
              <a:ahLst/>
              <a:cxnLst/>
              <a:rect r="r" b="b" t="t" l="l"/>
              <a:pathLst>
                <a:path h="537464" w="1931035">
                  <a:moveTo>
                    <a:pt x="0" y="115189"/>
                  </a:moveTo>
                  <a:cubicBezTo>
                    <a:pt x="0" y="51562"/>
                    <a:pt x="51562" y="0"/>
                    <a:pt x="115189" y="0"/>
                  </a:cubicBezTo>
                  <a:lnTo>
                    <a:pt x="1815846" y="0"/>
                  </a:lnTo>
                  <a:cubicBezTo>
                    <a:pt x="1879473" y="0"/>
                    <a:pt x="1931035" y="51562"/>
                    <a:pt x="1931035" y="115189"/>
                  </a:cubicBezTo>
                  <a:lnTo>
                    <a:pt x="1931035" y="422275"/>
                  </a:lnTo>
                  <a:cubicBezTo>
                    <a:pt x="1931035" y="485902"/>
                    <a:pt x="1879473" y="537464"/>
                    <a:pt x="1815846" y="537464"/>
                  </a:cubicBezTo>
                  <a:lnTo>
                    <a:pt x="115189" y="537464"/>
                  </a:lnTo>
                  <a:cubicBezTo>
                    <a:pt x="51562" y="537464"/>
                    <a:pt x="0" y="485902"/>
                    <a:pt x="0" y="422275"/>
                  </a:cubicBezTo>
                  <a:close/>
                </a:path>
              </a:pathLst>
            </a:custGeom>
            <a:solidFill>
              <a:srgbClr val="2A2410"/>
            </a:solidFill>
            <a:ln w="19050" cap="sq">
              <a:solidFill>
                <a:srgbClr val="2A2410"/>
              </a:solidFill>
              <a:prstDash val="solid"/>
              <a:miter/>
            </a:ln>
          </p:spPr>
        </p:sp>
      </p:grpSp>
      <p:grpSp>
        <p:nvGrpSpPr>
          <p:cNvPr name="Group 63" id="63"/>
          <p:cNvGrpSpPr/>
          <p:nvPr/>
        </p:nvGrpSpPr>
        <p:grpSpPr>
          <a:xfrm rot="0">
            <a:off x="10767060" y="8229600"/>
            <a:ext cx="1429207" cy="384048"/>
            <a:chOff x="0" y="0"/>
            <a:chExt cx="1905610" cy="512064"/>
          </a:xfrm>
        </p:grpSpPr>
        <p:sp>
          <p:nvSpPr>
            <p:cNvPr name="Freeform 64" id="64"/>
            <p:cNvSpPr/>
            <p:nvPr/>
          </p:nvSpPr>
          <p:spPr>
            <a:xfrm flipH="false" flipV="false" rot="0">
              <a:off x="0" y="0"/>
              <a:ext cx="1905610" cy="512064"/>
            </a:xfrm>
            <a:custGeom>
              <a:avLst/>
              <a:gdLst/>
              <a:ahLst/>
              <a:cxnLst/>
              <a:rect r="r" b="b" t="t" l="l"/>
              <a:pathLst>
                <a:path h="512064" w="1905610">
                  <a:moveTo>
                    <a:pt x="0" y="0"/>
                  </a:moveTo>
                  <a:lnTo>
                    <a:pt x="1905610" y="0"/>
                  </a:lnTo>
                  <a:lnTo>
                    <a:pt x="1905610" y="512064"/>
                  </a:lnTo>
                  <a:lnTo>
                    <a:pt x="0" y="512064"/>
                  </a:lnTo>
                  <a:close/>
                </a:path>
              </a:pathLst>
            </a:custGeom>
            <a:blipFill>
              <a:blip r:embed="rId3">
                <a:alphaModFix amt="0"/>
              </a:blip>
              <a:stretch>
                <a:fillRect l="0" t="-22512" r="0" b="-22512"/>
              </a:stretch>
            </a:blipFill>
          </p:spPr>
        </p:sp>
        <p:sp>
          <p:nvSpPr>
            <p:cNvPr name="TextBox 65" id="65"/>
            <p:cNvSpPr txBox="true"/>
            <p:nvPr/>
          </p:nvSpPr>
          <p:spPr>
            <a:xfrm>
              <a:off x="0" y="-38100"/>
              <a:ext cx="1905610" cy="550164"/>
            </a:xfrm>
            <a:prstGeom prst="rect">
              <a:avLst/>
            </a:prstGeom>
          </p:spPr>
          <p:txBody>
            <a:bodyPr anchor="ctr" rtlCol="false" tIns="0" lIns="0" bIns="0" rIns="0"/>
            <a:lstStyle/>
            <a:p>
              <a:pPr algn="ctr">
                <a:lnSpc>
                  <a:spcPts val="1709"/>
                </a:lnSpc>
              </a:pPr>
              <a:r>
                <a:rPr lang="en-US" sz="1425" b="true">
                  <a:solidFill>
                    <a:srgbClr val="D9B100"/>
                  </a:solidFill>
                  <a:latin typeface="Consolas Bold"/>
                  <a:ea typeface="Consolas Bold"/>
                  <a:cs typeface="Consolas Bold"/>
                  <a:sym typeface="Consolas Bold"/>
                </a:rPr>
                <a:t>FNV-1a hash</a:t>
              </a:r>
            </a:p>
          </p:txBody>
        </p:sp>
      </p:grpSp>
    </p:spTree>
  </p:cSld>
  <p:clrMapOvr>
    <a:masterClrMapping/>
  </p:clrMapOvr>
  <p:transition spd="fast">
    <p:fade/>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FEATURES 12–15 · ADMIN TOOLS, AND SMALL THINGS THAT MATTER</a:t>
              </a:r>
            </a:p>
          </p:txBody>
        </p:sp>
      </p:grpSp>
      <p:sp>
        <p:nvSpPr>
          <p:cNvPr name="TextBox 5" id="5"/>
          <p:cNvSpPr txBox="true"/>
          <p:nvPr/>
        </p:nvSpPr>
        <p:spPr>
          <a:xfrm rot="0">
            <a:off x="822960" y="1006983"/>
            <a:ext cx="20879724" cy="1174726"/>
          </a:xfrm>
          <a:prstGeom prst="rect">
            <a:avLst/>
          </a:prstGeom>
        </p:spPr>
        <p:txBody>
          <a:bodyPr anchor="t" rtlCol="false" tIns="0" lIns="0" bIns="0" rIns="0">
            <a:spAutoFit/>
          </a:bodyPr>
          <a:lstStyle/>
          <a:p>
            <a:pPr algn="l">
              <a:lnSpc>
                <a:spcPts val="9790"/>
              </a:lnSpc>
            </a:pPr>
            <a:r>
              <a:rPr lang="en-US" sz="6398" spc="627">
                <a:solidFill>
                  <a:srgbClr val="16171B"/>
                </a:solidFill>
                <a:latin typeface="Gagalin"/>
                <a:ea typeface="Gagalin"/>
                <a:cs typeface="Gagalin"/>
                <a:sym typeface="Gagalin"/>
              </a:rPr>
              <a:t>Built to be edited, and hard to break</a:t>
            </a:r>
          </a:p>
        </p:txBody>
      </p:sp>
      <p:grpSp>
        <p:nvGrpSpPr>
          <p:cNvPr name="Group 6" id="6"/>
          <p:cNvGrpSpPr/>
          <p:nvPr/>
        </p:nvGrpSpPr>
        <p:grpSpPr>
          <a:xfrm rot="0">
            <a:off x="822960" y="2674620"/>
            <a:ext cx="8229600" cy="411480"/>
            <a:chOff x="0" y="0"/>
            <a:chExt cx="10972800" cy="548640"/>
          </a:xfrm>
        </p:grpSpPr>
        <p:sp>
          <p:nvSpPr>
            <p:cNvPr name="Freeform 7" id="7"/>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700" r="0" b="-339700"/>
              </a:stretch>
            </a:blipFill>
          </p:spPr>
        </p:sp>
        <p:sp>
          <p:nvSpPr>
            <p:cNvPr name="TextBox 8" id="8"/>
            <p:cNvSpPr txBox="true"/>
            <p:nvPr/>
          </p:nvSpPr>
          <p:spPr>
            <a:xfrm>
              <a:off x="0" y="-19050"/>
              <a:ext cx="10972800" cy="567690"/>
            </a:xfrm>
            <a:prstGeom prst="rect">
              <a:avLst/>
            </a:prstGeom>
          </p:spPr>
          <p:txBody>
            <a:bodyPr anchor="ctr" rtlCol="false" tIns="0" lIns="0" bIns="0" rIns="0"/>
            <a:lstStyle/>
            <a:p>
              <a:pPr algn="l">
                <a:lnSpc>
                  <a:spcPts val="2160"/>
                </a:lnSpc>
              </a:pPr>
              <a:r>
                <a:rPr lang="en-US" b="true" sz="1800" spc="300">
                  <a:solidFill>
                    <a:srgbClr val="8F7200"/>
                  </a:solidFill>
                  <a:latin typeface="Arial Bold"/>
                  <a:ea typeface="Arial Bold"/>
                  <a:cs typeface="Arial Bold"/>
                  <a:sym typeface="Arial Bold"/>
                </a:rPr>
                <a:t>ADMIN (MENUS 12–15)</a:t>
              </a:r>
            </a:p>
          </p:txBody>
        </p:sp>
      </p:grpSp>
      <p:grpSp>
        <p:nvGrpSpPr>
          <p:cNvPr name="Group 9" id="9"/>
          <p:cNvGrpSpPr/>
          <p:nvPr/>
        </p:nvGrpSpPr>
        <p:grpSpPr>
          <a:xfrm rot="0">
            <a:off x="813435" y="3282315"/>
            <a:ext cx="8111490" cy="1664970"/>
            <a:chOff x="0" y="0"/>
            <a:chExt cx="10815320" cy="2219960"/>
          </a:xfrm>
        </p:grpSpPr>
        <p:sp>
          <p:nvSpPr>
            <p:cNvPr name="Freeform 10" id="10"/>
            <p:cNvSpPr/>
            <p:nvPr/>
          </p:nvSpPr>
          <p:spPr>
            <a:xfrm flipH="false" flipV="false" rot="0">
              <a:off x="0" y="0"/>
              <a:ext cx="10815320" cy="2219960"/>
            </a:xfrm>
            <a:custGeom>
              <a:avLst/>
              <a:gdLst/>
              <a:ahLst/>
              <a:cxnLst/>
              <a:rect r="r" b="b" t="t" l="l"/>
              <a:pathLst>
                <a:path h="2219960" w="10815320">
                  <a:moveTo>
                    <a:pt x="0" y="185039"/>
                  </a:moveTo>
                  <a:cubicBezTo>
                    <a:pt x="0" y="82804"/>
                    <a:pt x="82804" y="0"/>
                    <a:pt x="185039" y="0"/>
                  </a:cubicBezTo>
                  <a:lnTo>
                    <a:pt x="10630281" y="0"/>
                  </a:lnTo>
                  <a:cubicBezTo>
                    <a:pt x="10732389" y="0"/>
                    <a:pt x="10815320" y="82804"/>
                    <a:pt x="10815320" y="185039"/>
                  </a:cubicBezTo>
                  <a:lnTo>
                    <a:pt x="10815320" y="2034921"/>
                  </a:lnTo>
                  <a:cubicBezTo>
                    <a:pt x="10815320" y="2137029"/>
                    <a:pt x="10732516" y="2219960"/>
                    <a:pt x="10630281" y="2219960"/>
                  </a:cubicBezTo>
                  <a:lnTo>
                    <a:pt x="185039" y="2219960"/>
                  </a:lnTo>
                  <a:cubicBezTo>
                    <a:pt x="82804" y="2219960"/>
                    <a:pt x="0" y="2137156"/>
                    <a:pt x="0" y="2034921"/>
                  </a:cubicBezTo>
                  <a:close/>
                </a:path>
              </a:pathLst>
            </a:custGeom>
            <a:solidFill>
              <a:srgbClr val="F3F4F6"/>
            </a:solidFill>
            <a:ln w="19050" cap="sq">
              <a:solidFill>
                <a:srgbClr val="F3F4F6"/>
              </a:solidFill>
              <a:prstDash val="solid"/>
              <a:miter/>
            </a:ln>
          </p:spPr>
        </p:sp>
      </p:grpSp>
      <p:sp>
        <p:nvSpPr>
          <p:cNvPr name="TextBox 11" id="11"/>
          <p:cNvSpPr txBox="true"/>
          <p:nvPr/>
        </p:nvSpPr>
        <p:spPr>
          <a:xfrm rot="0">
            <a:off x="1165860" y="3399282"/>
            <a:ext cx="7406640" cy="1428750"/>
          </a:xfrm>
          <a:prstGeom prst="rect">
            <a:avLst/>
          </a:prstGeom>
        </p:spPr>
        <p:txBody>
          <a:bodyPr anchor="t" rtlCol="false" tIns="0" lIns="0" bIns="0" rIns="0">
            <a:spAutoFit/>
          </a:bodyPr>
          <a:lstStyle/>
          <a:p>
            <a:pPr algn="l">
              <a:lnSpc>
                <a:spcPts val="2700"/>
              </a:lnSpc>
            </a:pPr>
            <a:r>
              <a:rPr lang="en-US" sz="2250" b="true">
                <a:solidFill>
                  <a:srgbClr val="16171B"/>
                </a:solidFill>
                <a:latin typeface="Calibri (MS) Bold"/>
                <a:ea typeface="Calibri (MS) Bold"/>
                <a:cs typeface="Calibri (MS) Bold"/>
                <a:sym typeface="Calibri (MS) Bold"/>
              </a:rPr>
              <a:t>Manage places</a:t>
            </a:r>
          </a:p>
          <a:p>
            <a:pPr algn="l">
              <a:lnSpc>
                <a:spcPts val="2250"/>
              </a:lnSpc>
            </a:pPr>
            <a:r>
              <a:rPr lang="en-US" sz="1875">
                <a:solidFill>
                  <a:srgbClr val="5F626B"/>
                </a:solidFill>
                <a:latin typeface="Calibri (MS)"/>
                <a:ea typeface="Calibri (MS)"/>
                <a:cs typeface="Calibri (MS)"/>
                <a:sym typeface="Calibri (MS)"/>
              </a:rPr>
              <a:t>Add, edit and delete. Deleting one also removes it from the graph, favorites, recent searches and the middle of the history stack.</a:t>
            </a:r>
          </a:p>
        </p:txBody>
      </p:sp>
      <p:grpSp>
        <p:nvGrpSpPr>
          <p:cNvPr name="Group 12" id="12"/>
          <p:cNvGrpSpPr/>
          <p:nvPr/>
        </p:nvGrpSpPr>
        <p:grpSpPr>
          <a:xfrm rot="0">
            <a:off x="813435" y="5133975"/>
            <a:ext cx="8111490" cy="1664970"/>
            <a:chOff x="0" y="0"/>
            <a:chExt cx="10815320" cy="2219960"/>
          </a:xfrm>
        </p:grpSpPr>
        <p:sp>
          <p:nvSpPr>
            <p:cNvPr name="Freeform 13" id="13"/>
            <p:cNvSpPr/>
            <p:nvPr/>
          </p:nvSpPr>
          <p:spPr>
            <a:xfrm flipH="false" flipV="false" rot="0">
              <a:off x="0" y="0"/>
              <a:ext cx="10815320" cy="2219960"/>
            </a:xfrm>
            <a:custGeom>
              <a:avLst/>
              <a:gdLst/>
              <a:ahLst/>
              <a:cxnLst/>
              <a:rect r="r" b="b" t="t" l="l"/>
              <a:pathLst>
                <a:path h="2219960" w="10815320">
                  <a:moveTo>
                    <a:pt x="0" y="185039"/>
                  </a:moveTo>
                  <a:cubicBezTo>
                    <a:pt x="0" y="82804"/>
                    <a:pt x="82804" y="0"/>
                    <a:pt x="185039" y="0"/>
                  </a:cubicBezTo>
                  <a:lnTo>
                    <a:pt x="10630281" y="0"/>
                  </a:lnTo>
                  <a:cubicBezTo>
                    <a:pt x="10732389" y="0"/>
                    <a:pt x="10815320" y="82804"/>
                    <a:pt x="10815320" y="185039"/>
                  </a:cubicBezTo>
                  <a:lnTo>
                    <a:pt x="10815320" y="2034921"/>
                  </a:lnTo>
                  <a:cubicBezTo>
                    <a:pt x="10815320" y="2137029"/>
                    <a:pt x="10732516" y="2219960"/>
                    <a:pt x="10630281" y="2219960"/>
                  </a:cubicBezTo>
                  <a:lnTo>
                    <a:pt x="185039" y="2219960"/>
                  </a:lnTo>
                  <a:cubicBezTo>
                    <a:pt x="82804" y="2219960"/>
                    <a:pt x="0" y="2137156"/>
                    <a:pt x="0" y="2034921"/>
                  </a:cubicBezTo>
                  <a:close/>
                </a:path>
              </a:pathLst>
            </a:custGeom>
            <a:solidFill>
              <a:srgbClr val="F3F4F6"/>
            </a:solidFill>
            <a:ln w="19050" cap="sq">
              <a:solidFill>
                <a:srgbClr val="F3F4F6"/>
              </a:solidFill>
              <a:prstDash val="solid"/>
              <a:miter/>
            </a:ln>
          </p:spPr>
        </p:sp>
      </p:grpSp>
      <p:sp>
        <p:nvSpPr>
          <p:cNvPr name="TextBox 14" id="14"/>
          <p:cNvSpPr txBox="true"/>
          <p:nvPr/>
        </p:nvSpPr>
        <p:spPr>
          <a:xfrm rot="0">
            <a:off x="1165860" y="5250942"/>
            <a:ext cx="7406640" cy="1428750"/>
          </a:xfrm>
          <a:prstGeom prst="rect">
            <a:avLst/>
          </a:prstGeom>
        </p:spPr>
        <p:txBody>
          <a:bodyPr anchor="t" rtlCol="false" tIns="0" lIns="0" bIns="0" rIns="0">
            <a:spAutoFit/>
          </a:bodyPr>
          <a:lstStyle/>
          <a:p>
            <a:pPr algn="l">
              <a:lnSpc>
                <a:spcPts val="2700"/>
              </a:lnSpc>
            </a:pPr>
            <a:r>
              <a:rPr lang="en-US" sz="2250" b="true">
                <a:solidFill>
                  <a:srgbClr val="16171B"/>
                </a:solidFill>
                <a:latin typeface="Calibri (MS) Bold"/>
                <a:ea typeface="Calibri (MS) Bold"/>
                <a:cs typeface="Calibri (MS) Bold"/>
                <a:sym typeface="Calibri (MS) Bold"/>
              </a:rPr>
              <a:t>Manage walkways</a:t>
            </a:r>
          </a:p>
          <a:p>
            <a:pPr algn="l">
              <a:lnSpc>
                <a:spcPts val="2250"/>
              </a:lnSpc>
            </a:pPr>
            <a:r>
              <a:rPr lang="en-US" sz="1875">
                <a:solidFill>
                  <a:srgbClr val="5F626B"/>
                </a:solidFill>
                <a:latin typeface="Calibri (MS)"/>
                <a:ea typeface="Calibri (MS)"/>
                <a:cs typeface="Calibri (MS)"/>
                <a:sym typeface="Calibri (MS)"/>
              </a:rPr>
              <a:t>Add or remove walkways with road names; the app warns if part of the campus becomes unreachable (DFS check).</a:t>
            </a:r>
          </a:p>
        </p:txBody>
      </p:sp>
      <p:grpSp>
        <p:nvGrpSpPr>
          <p:cNvPr name="Group 15" id="15"/>
          <p:cNvGrpSpPr/>
          <p:nvPr/>
        </p:nvGrpSpPr>
        <p:grpSpPr>
          <a:xfrm rot="0">
            <a:off x="813435" y="6985635"/>
            <a:ext cx="8111490" cy="1664970"/>
            <a:chOff x="0" y="0"/>
            <a:chExt cx="10815320" cy="2219960"/>
          </a:xfrm>
        </p:grpSpPr>
        <p:sp>
          <p:nvSpPr>
            <p:cNvPr name="Freeform 16" id="16"/>
            <p:cNvSpPr/>
            <p:nvPr/>
          </p:nvSpPr>
          <p:spPr>
            <a:xfrm flipH="false" flipV="false" rot="0">
              <a:off x="0" y="0"/>
              <a:ext cx="10815320" cy="2219960"/>
            </a:xfrm>
            <a:custGeom>
              <a:avLst/>
              <a:gdLst/>
              <a:ahLst/>
              <a:cxnLst/>
              <a:rect r="r" b="b" t="t" l="l"/>
              <a:pathLst>
                <a:path h="2219960" w="10815320">
                  <a:moveTo>
                    <a:pt x="0" y="185039"/>
                  </a:moveTo>
                  <a:cubicBezTo>
                    <a:pt x="0" y="82804"/>
                    <a:pt x="82804" y="0"/>
                    <a:pt x="185039" y="0"/>
                  </a:cubicBezTo>
                  <a:lnTo>
                    <a:pt x="10630281" y="0"/>
                  </a:lnTo>
                  <a:cubicBezTo>
                    <a:pt x="10732389" y="0"/>
                    <a:pt x="10815320" y="82804"/>
                    <a:pt x="10815320" y="185039"/>
                  </a:cubicBezTo>
                  <a:lnTo>
                    <a:pt x="10815320" y="2034921"/>
                  </a:lnTo>
                  <a:cubicBezTo>
                    <a:pt x="10815320" y="2137029"/>
                    <a:pt x="10732516" y="2219960"/>
                    <a:pt x="10630281" y="2219960"/>
                  </a:cubicBezTo>
                  <a:lnTo>
                    <a:pt x="185039" y="2219960"/>
                  </a:lnTo>
                  <a:cubicBezTo>
                    <a:pt x="82804" y="2219960"/>
                    <a:pt x="0" y="2137156"/>
                    <a:pt x="0" y="2034921"/>
                  </a:cubicBezTo>
                  <a:close/>
                </a:path>
              </a:pathLst>
            </a:custGeom>
            <a:solidFill>
              <a:srgbClr val="F3F4F6"/>
            </a:solidFill>
            <a:ln w="19050" cap="sq">
              <a:solidFill>
                <a:srgbClr val="F3F4F6"/>
              </a:solidFill>
              <a:prstDash val="solid"/>
              <a:miter/>
            </a:ln>
          </p:spPr>
        </p:sp>
      </p:grpSp>
      <p:sp>
        <p:nvSpPr>
          <p:cNvPr name="TextBox 17" id="17"/>
          <p:cNvSpPr txBox="true"/>
          <p:nvPr/>
        </p:nvSpPr>
        <p:spPr>
          <a:xfrm rot="0">
            <a:off x="1165860" y="7102602"/>
            <a:ext cx="7406640" cy="1428750"/>
          </a:xfrm>
          <a:prstGeom prst="rect">
            <a:avLst/>
          </a:prstGeom>
        </p:spPr>
        <p:txBody>
          <a:bodyPr anchor="t" rtlCol="false" tIns="0" lIns="0" bIns="0" rIns="0">
            <a:spAutoFit/>
          </a:bodyPr>
          <a:lstStyle/>
          <a:p>
            <a:pPr algn="l">
              <a:lnSpc>
                <a:spcPts val="2700"/>
              </a:lnSpc>
            </a:pPr>
            <a:r>
              <a:rPr lang="en-US" sz="2250" b="true">
                <a:solidFill>
                  <a:srgbClr val="16171B"/>
                </a:solidFill>
                <a:latin typeface="Calibri (MS) Bold"/>
                <a:ea typeface="Calibri (MS) Bold"/>
                <a:cs typeface="Calibri (MS) Bold"/>
                <a:sym typeface="Calibri (MS) Bold"/>
              </a:rPr>
              <a:t>Users and activity log</a:t>
            </a:r>
          </a:p>
          <a:p>
            <a:pPr algn="l">
              <a:lnSpc>
                <a:spcPts val="2250"/>
              </a:lnSpc>
            </a:pPr>
            <a:r>
              <a:rPr lang="en-US" sz="1875">
                <a:solidFill>
                  <a:srgbClr val="5F626B"/>
                </a:solidFill>
                <a:latin typeface="Calibri (MS)"/>
                <a:ea typeface="Calibri (MS)"/>
                <a:cs typeface="Calibri (MS)"/>
                <a:sym typeface="Calibri (MS)"/>
              </a:rPr>
              <a:t>See every account (never passwords) and the timestamped log of logins, searches, routes and edits.</a:t>
            </a:r>
          </a:p>
        </p:txBody>
      </p:sp>
      <p:grpSp>
        <p:nvGrpSpPr>
          <p:cNvPr name="Group 18" id="18"/>
          <p:cNvGrpSpPr/>
          <p:nvPr/>
        </p:nvGrpSpPr>
        <p:grpSpPr>
          <a:xfrm rot="0">
            <a:off x="9395460" y="2674620"/>
            <a:ext cx="8229600" cy="411480"/>
            <a:chOff x="0" y="0"/>
            <a:chExt cx="10972800" cy="548640"/>
          </a:xfrm>
        </p:grpSpPr>
        <p:sp>
          <p:nvSpPr>
            <p:cNvPr name="Freeform 19" id="19"/>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3">
                <a:alphaModFix amt="0"/>
              </a:blip>
              <a:stretch>
                <a:fillRect l="0" t="-339700" r="0" b="-339700"/>
              </a:stretch>
            </a:blipFill>
          </p:spPr>
        </p:sp>
        <p:sp>
          <p:nvSpPr>
            <p:cNvPr name="TextBox 20" id="20"/>
            <p:cNvSpPr txBox="true"/>
            <p:nvPr/>
          </p:nvSpPr>
          <p:spPr>
            <a:xfrm>
              <a:off x="0" y="-19050"/>
              <a:ext cx="10972800" cy="567690"/>
            </a:xfrm>
            <a:prstGeom prst="rect">
              <a:avLst/>
            </a:prstGeom>
          </p:spPr>
          <p:txBody>
            <a:bodyPr anchor="ctr" rtlCol="false" tIns="0" lIns="0" bIns="0" rIns="0"/>
            <a:lstStyle/>
            <a:p>
              <a:pPr algn="l">
                <a:lnSpc>
                  <a:spcPts val="2160"/>
                </a:lnSpc>
              </a:pPr>
              <a:r>
                <a:rPr lang="en-US" b="true" sz="1800" spc="300">
                  <a:solidFill>
                    <a:srgbClr val="8F7200"/>
                  </a:solidFill>
                  <a:latin typeface="Arial Bold"/>
                  <a:ea typeface="Arial Bold"/>
                  <a:cs typeface="Arial Bold"/>
                  <a:sym typeface="Arial Bold"/>
                </a:rPr>
                <a:t>EVERYWHERE IN THE APP</a:t>
              </a:r>
            </a:p>
          </p:txBody>
        </p:sp>
      </p:grpSp>
      <p:grpSp>
        <p:nvGrpSpPr>
          <p:cNvPr name="Group 21" id="21"/>
          <p:cNvGrpSpPr/>
          <p:nvPr/>
        </p:nvGrpSpPr>
        <p:grpSpPr>
          <a:xfrm rot="0">
            <a:off x="9385935" y="3282315"/>
            <a:ext cx="704850" cy="704850"/>
            <a:chOff x="0" y="0"/>
            <a:chExt cx="939800" cy="939800"/>
          </a:xfrm>
        </p:grpSpPr>
        <p:sp>
          <p:nvSpPr>
            <p:cNvPr name="Freeform 22" id="22"/>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23" id="23"/>
          <p:cNvGrpSpPr/>
          <p:nvPr/>
        </p:nvGrpSpPr>
        <p:grpSpPr>
          <a:xfrm rot="0">
            <a:off x="9546336" y="3442716"/>
            <a:ext cx="384048" cy="384048"/>
            <a:chOff x="0" y="0"/>
            <a:chExt cx="512064" cy="512064"/>
          </a:xfrm>
        </p:grpSpPr>
        <p:sp>
          <p:nvSpPr>
            <p:cNvPr name="Freeform 24" id="24"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4"/>
              <a:stretch>
                <a:fillRect l="0" t="0" r="0" b="0"/>
              </a:stretch>
            </a:blipFill>
          </p:spPr>
        </p:sp>
      </p:grpSp>
      <p:sp>
        <p:nvSpPr>
          <p:cNvPr name="TextBox 25" id="25"/>
          <p:cNvSpPr txBox="true"/>
          <p:nvPr/>
        </p:nvSpPr>
        <p:spPr>
          <a:xfrm rot="0">
            <a:off x="10287000" y="3189351"/>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Type a place any way</a:t>
            </a:r>
          </a:p>
          <a:p>
            <a:pPr algn="l">
              <a:lnSpc>
                <a:spcPts val="2070"/>
              </a:lnSpc>
            </a:pPr>
            <a:r>
              <a:rPr lang="en-US" sz="1725">
                <a:solidFill>
                  <a:srgbClr val="5F626B"/>
                </a:solidFill>
                <a:latin typeface="Calibri (MS)"/>
                <a:ea typeface="Calibri (MS)"/>
                <a:cs typeface="Calibri (MS)"/>
                <a:sym typeface="Calibri (MS)"/>
              </a:rPr>
              <a:t>name, part of a name, map number or coordinates</a:t>
            </a:r>
          </a:p>
        </p:txBody>
      </p:sp>
      <p:grpSp>
        <p:nvGrpSpPr>
          <p:cNvPr name="Group 26" id="26"/>
          <p:cNvGrpSpPr/>
          <p:nvPr/>
        </p:nvGrpSpPr>
        <p:grpSpPr>
          <a:xfrm rot="0">
            <a:off x="9385935" y="4201287"/>
            <a:ext cx="704850" cy="704850"/>
            <a:chOff x="0" y="0"/>
            <a:chExt cx="939800" cy="939800"/>
          </a:xfrm>
        </p:grpSpPr>
        <p:sp>
          <p:nvSpPr>
            <p:cNvPr name="Freeform 27" id="27"/>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28" id="28"/>
          <p:cNvGrpSpPr/>
          <p:nvPr/>
        </p:nvGrpSpPr>
        <p:grpSpPr>
          <a:xfrm rot="0">
            <a:off x="9546336" y="4361688"/>
            <a:ext cx="384048" cy="384048"/>
            <a:chOff x="0" y="0"/>
            <a:chExt cx="512064" cy="512064"/>
          </a:xfrm>
        </p:grpSpPr>
        <p:sp>
          <p:nvSpPr>
            <p:cNvPr name="Freeform 29" id="2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5"/>
              <a:stretch>
                <a:fillRect l="0" t="0" r="0" b="0"/>
              </a:stretch>
            </a:blipFill>
          </p:spPr>
        </p:sp>
      </p:grpSp>
      <p:sp>
        <p:nvSpPr>
          <p:cNvPr name="TextBox 30" id="30"/>
          <p:cNvSpPr txBox="true"/>
          <p:nvPr/>
        </p:nvSpPr>
        <p:spPr>
          <a:xfrm rot="0">
            <a:off x="10287000" y="4108323"/>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Enter always goes back</a:t>
            </a:r>
          </a:p>
          <a:p>
            <a:pPr algn="l">
              <a:lnSpc>
                <a:spcPts val="2070"/>
              </a:lnSpc>
            </a:pPr>
            <a:r>
              <a:rPr lang="en-US" sz="1725">
                <a:solidFill>
                  <a:srgbClr val="5F626B"/>
                </a:solidFill>
                <a:latin typeface="Calibri (MS)"/>
                <a:ea typeface="Calibri (MS)"/>
                <a:cs typeface="Calibri (MS)"/>
                <a:sym typeface="Calibri (MS)"/>
              </a:rPr>
              <a:t>no menu ever traps you</a:t>
            </a:r>
          </a:p>
        </p:txBody>
      </p:sp>
      <p:grpSp>
        <p:nvGrpSpPr>
          <p:cNvPr name="Group 31" id="31"/>
          <p:cNvGrpSpPr/>
          <p:nvPr/>
        </p:nvGrpSpPr>
        <p:grpSpPr>
          <a:xfrm rot="0">
            <a:off x="9385935" y="5120259"/>
            <a:ext cx="704850" cy="704850"/>
            <a:chOff x="0" y="0"/>
            <a:chExt cx="939800" cy="939800"/>
          </a:xfrm>
        </p:grpSpPr>
        <p:sp>
          <p:nvSpPr>
            <p:cNvPr name="Freeform 32" id="32"/>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33" id="33"/>
          <p:cNvGrpSpPr/>
          <p:nvPr/>
        </p:nvGrpSpPr>
        <p:grpSpPr>
          <a:xfrm rot="0">
            <a:off x="9546336" y="5280660"/>
            <a:ext cx="384048" cy="384048"/>
            <a:chOff x="0" y="0"/>
            <a:chExt cx="512064" cy="512064"/>
          </a:xfrm>
        </p:grpSpPr>
        <p:sp>
          <p:nvSpPr>
            <p:cNvPr name="Freeform 34" id="34"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6"/>
              <a:stretch>
                <a:fillRect l="0" t="0" r="0" b="0"/>
              </a:stretch>
            </a:blipFill>
          </p:spPr>
        </p:sp>
      </p:grpSp>
      <p:sp>
        <p:nvSpPr>
          <p:cNvPr name="TextBox 35" id="35"/>
          <p:cNvSpPr txBox="true"/>
          <p:nvPr/>
        </p:nvSpPr>
        <p:spPr>
          <a:xfrm rot="0">
            <a:off x="10287000" y="5027295"/>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Never crashes on bad input</a:t>
            </a:r>
          </a:p>
          <a:p>
            <a:pPr algn="l">
              <a:lnSpc>
                <a:spcPts val="2070"/>
              </a:lnSpc>
            </a:pPr>
            <a:r>
              <a:rPr lang="en-US" sz="1725">
                <a:solidFill>
                  <a:srgbClr val="5F626B"/>
                </a:solidFill>
                <a:latin typeface="Calibri (MS)"/>
                <a:ea typeface="Calibri (MS)"/>
                <a:cs typeface="Calibri (MS)"/>
                <a:sym typeface="Calibri (MS)"/>
              </a:rPr>
              <a:t>letters where numbers go just ask again</a:t>
            </a:r>
          </a:p>
        </p:txBody>
      </p:sp>
      <p:grpSp>
        <p:nvGrpSpPr>
          <p:cNvPr name="Group 36" id="36"/>
          <p:cNvGrpSpPr/>
          <p:nvPr/>
        </p:nvGrpSpPr>
        <p:grpSpPr>
          <a:xfrm rot="0">
            <a:off x="9385935" y="6039231"/>
            <a:ext cx="704850" cy="704850"/>
            <a:chOff x="0" y="0"/>
            <a:chExt cx="939800" cy="939800"/>
          </a:xfrm>
        </p:grpSpPr>
        <p:sp>
          <p:nvSpPr>
            <p:cNvPr name="Freeform 37" id="37"/>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38" id="38"/>
          <p:cNvGrpSpPr/>
          <p:nvPr/>
        </p:nvGrpSpPr>
        <p:grpSpPr>
          <a:xfrm rot="0">
            <a:off x="9546336" y="6199632"/>
            <a:ext cx="384048" cy="384048"/>
            <a:chOff x="0" y="0"/>
            <a:chExt cx="512064" cy="512064"/>
          </a:xfrm>
        </p:grpSpPr>
        <p:sp>
          <p:nvSpPr>
            <p:cNvPr name="Freeform 39" id="3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7"/>
              <a:stretch>
                <a:fillRect l="0" t="0" r="0" b="0"/>
              </a:stretch>
            </a:blipFill>
          </p:spPr>
        </p:sp>
      </p:grpSp>
      <p:sp>
        <p:nvSpPr>
          <p:cNvPr name="TextBox 40" id="40"/>
          <p:cNvSpPr txBox="true"/>
          <p:nvPr/>
        </p:nvSpPr>
        <p:spPr>
          <a:xfrm rot="0">
            <a:off x="10287000" y="5946267"/>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Coloured in KUET gold</a:t>
            </a:r>
          </a:p>
          <a:p>
            <a:pPr algn="l">
              <a:lnSpc>
                <a:spcPts val="2070"/>
              </a:lnSpc>
            </a:pPr>
            <a:r>
              <a:rPr lang="en-US" sz="1725">
                <a:solidFill>
                  <a:srgbClr val="5F626B"/>
                </a:solidFill>
                <a:latin typeface="Calibri (MS)"/>
                <a:ea typeface="Calibri (MS)"/>
                <a:cs typeface="Calibri (MS)"/>
                <a:sym typeface="Calibri (MS)"/>
              </a:rPr>
              <a:t>termcolor; plain text when piped or NO_COLOR is set</a:t>
            </a:r>
          </a:p>
        </p:txBody>
      </p:sp>
      <p:grpSp>
        <p:nvGrpSpPr>
          <p:cNvPr name="Group 41" id="41"/>
          <p:cNvGrpSpPr/>
          <p:nvPr/>
        </p:nvGrpSpPr>
        <p:grpSpPr>
          <a:xfrm rot="0">
            <a:off x="9385935" y="6958203"/>
            <a:ext cx="704850" cy="704850"/>
            <a:chOff x="0" y="0"/>
            <a:chExt cx="939800" cy="939800"/>
          </a:xfrm>
        </p:grpSpPr>
        <p:sp>
          <p:nvSpPr>
            <p:cNvPr name="Freeform 42" id="42"/>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43" id="43"/>
          <p:cNvGrpSpPr/>
          <p:nvPr/>
        </p:nvGrpSpPr>
        <p:grpSpPr>
          <a:xfrm rot="0">
            <a:off x="9546336" y="7118604"/>
            <a:ext cx="384048" cy="384048"/>
            <a:chOff x="0" y="0"/>
            <a:chExt cx="512064" cy="512064"/>
          </a:xfrm>
        </p:grpSpPr>
        <p:sp>
          <p:nvSpPr>
            <p:cNvPr name="Freeform 44" id="44"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8"/>
              <a:stretch>
                <a:fillRect l="0" t="0" r="0" b="0"/>
              </a:stretch>
            </a:blipFill>
          </p:spPr>
        </p:sp>
      </p:grpSp>
      <p:sp>
        <p:nvSpPr>
          <p:cNvPr name="TextBox 45" id="45"/>
          <p:cNvSpPr txBox="true"/>
          <p:nvPr/>
        </p:nvSpPr>
        <p:spPr>
          <a:xfrm rot="0">
            <a:off x="10287000" y="6865239"/>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Saves as it goes</a:t>
            </a:r>
          </a:p>
          <a:p>
            <a:pPr algn="l">
              <a:lnSpc>
                <a:spcPts val="2070"/>
              </a:lnSpc>
            </a:pPr>
            <a:r>
              <a:rPr lang="en-US" sz="1725">
                <a:solidFill>
                  <a:srgbClr val="5F626B"/>
                </a:solidFill>
                <a:latin typeface="Calibri (MS)"/>
                <a:ea typeface="Calibri (MS)"/>
                <a:cs typeface="Calibri (MS)"/>
                <a:sym typeface="Calibri (MS)"/>
              </a:rPr>
              <a:t>plain text files, readable in Notepad</a:t>
            </a:r>
          </a:p>
        </p:txBody>
      </p:sp>
      <p:grpSp>
        <p:nvGrpSpPr>
          <p:cNvPr name="Group 46" id="46"/>
          <p:cNvGrpSpPr/>
          <p:nvPr/>
        </p:nvGrpSpPr>
        <p:grpSpPr>
          <a:xfrm rot="0">
            <a:off x="9385935" y="7877175"/>
            <a:ext cx="704850" cy="704850"/>
            <a:chOff x="0" y="0"/>
            <a:chExt cx="939800" cy="939800"/>
          </a:xfrm>
        </p:grpSpPr>
        <p:sp>
          <p:nvSpPr>
            <p:cNvPr name="Freeform 47" id="47"/>
            <p:cNvSpPr/>
            <p:nvPr/>
          </p:nvSpPr>
          <p:spPr>
            <a:xfrm flipH="false" flipV="false" rot="0">
              <a:off x="0" y="0"/>
              <a:ext cx="939800" cy="939800"/>
            </a:xfrm>
            <a:custGeom>
              <a:avLst/>
              <a:gdLst/>
              <a:ahLst/>
              <a:cxnLst/>
              <a:rect r="r" b="b" t="t" l="l"/>
              <a:pathLst>
                <a:path h="939800" w="939800">
                  <a:moveTo>
                    <a:pt x="0" y="469900"/>
                  </a:moveTo>
                  <a:cubicBezTo>
                    <a:pt x="0" y="210439"/>
                    <a:pt x="210439" y="0"/>
                    <a:pt x="469900" y="0"/>
                  </a:cubicBezTo>
                  <a:cubicBezTo>
                    <a:pt x="729361" y="0"/>
                    <a:pt x="939800" y="210439"/>
                    <a:pt x="939800" y="469900"/>
                  </a:cubicBezTo>
                  <a:cubicBezTo>
                    <a:pt x="939800" y="729361"/>
                    <a:pt x="729361" y="939800"/>
                    <a:pt x="469900" y="939800"/>
                  </a:cubicBezTo>
                  <a:cubicBezTo>
                    <a:pt x="210439" y="939800"/>
                    <a:pt x="0" y="729361"/>
                    <a:pt x="0" y="469900"/>
                  </a:cubicBezTo>
                  <a:close/>
                </a:path>
              </a:pathLst>
            </a:custGeom>
            <a:solidFill>
              <a:srgbClr val="FBF4D2"/>
            </a:solidFill>
            <a:ln w="19050" cap="sq">
              <a:solidFill>
                <a:srgbClr val="FBF4D2"/>
              </a:solidFill>
              <a:prstDash val="solid"/>
              <a:miter/>
            </a:ln>
          </p:spPr>
        </p:sp>
      </p:grpSp>
      <p:grpSp>
        <p:nvGrpSpPr>
          <p:cNvPr name="Group 48" id="48"/>
          <p:cNvGrpSpPr/>
          <p:nvPr/>
        </p:nvGrpSpPr>
        <p:grpSpPr>
          <a:xfrm rot="0">
            <a:off x="9546336" y="8037576"/>
            <a:ext cx="384048" cy="384048"/>
            <a:chOff x="0" y="0"/>
            <a:chExt cx="512064" cy="512064"/>
          </a:xfrm>
        </p:grpSpPr>
        <p:sp>
          <p:nvSpPr>
            <p:cNvPr name="Freeform 49" id="49" descr="preencoded.png"/>
            <p:cNvSpPr/>
            <p:nvPr/>
          </p:nvSpPr>
          <p:spPr>
            <a:xfrm flipH="false" flipV="false" rot="0">
              <a:off x="0" y="0"/>
              <a:ext cx="512064" cy="512064"/>
            </a:xfrm>
            <a:custGeom>
              <a:avLst/>
              <a:gdLst/>
              <a:ahLst/>
              <a:cxnLst/>
              <a:rect r="r" b="b" t="t" l="l"/>
              <a:pathLst>
                <a:path h="512064" w="512064">
                  <a:moveTo>
                    <a:pt x="0" y="0"/>
                  </a:moveTo>
                  <a:lnTo>
                    <a:pt x="512064" y="0"/>
                  </a:lnTo>
                  <a:lnTo>
                    <a:pt x="512064" y="512064"/>
                  </a:lnTo>
                  <a:lnTo>
                    <a:pt x="0" y="512064"/>
                  </a:lnTo>
                  <a:lnTo>
                    <a:pt x="0" y="0"/>
                  </a:lnTo>
                  <a:close/>
                </a:path>
              </a:pathLst>
            </a:custGeom>
            <a:blipFill>
              <a:blip r:embed="rId9"/>
              <a:stretch>
                <a:fillRect l="0" t="0" r="0" b="0"/>
              </a:stretch>
            </a:blipFill>
          </p:spPr>
        </p:sp>
      </p:grpSp>
      <p:sp>
        <p:nvSpPr>
          <p:cNvPr name="TextBox 50" id="50"/>
          <p:cNvSpPr txBox="true"/>
          <p:nvPr/>
        </p:nvSpPr>
        <p:spPr>
          <a:xfrm rot="0">
            <a:off x="10287000" y="7784211"/>
            <a:ext cx="7269480" cy="87058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One portable .exe</a:t>
            </a:r>
          </a:p>
          <a:p>
            <a:pPr algn="l">
              <a:lnSpc>
                <a:spcPts val="2070"/>
              </a:lnSpc>
            </a:pPr>
            <a:r>
              <a:rPr lang="en-US" sz="1725">
                <a:solidFill>
                  <a:srgbClr val="5F626B"/>
                </a:solidFill>
                <a:latin typeface="Calibri (MS)"/>
                <a:ea typeface="Calibri (MS)"/>
                <a:cs typeface="Calibri (MS)"/>
                <a:sym typeface="Calibri (MS)"/>
              </a:rPr>
              <a:t>static build with the CholoKUET icon</a:t>
            </a:r>
          </a:p>
        </p:txBody>
      </p:sp>
    </p:spTree>
  </p:cSld>
  <p:clrMapOvr>
    <a:masterClrMapping/>
  </p:clrMapOvr>
  <p:transition spd="fast">
    <p:fade/>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THE APP IN ACTION</a:t>
              </a:r>
            </a:p>
          </p:txBody>
        </p:sp>
      </p:grpSp>
      <p:sp>
        <p:nvSpPr>
          <p:cNvPr name="TextBox 5" id="5"/>
          <p:cNvSpPr txBox="true"/>
          <p:nvPr/>
        </p:nvSpPr>
        <p:spPr>
          <a:xfrm rot="0">
            <a:off x="822960" y="892683"/>
            <a:ext cx="21355730" cy="1300734"/>
          </a:xfrm>
          <a:prstGeom prst="rect">
            <a:avLst/>
          </a:prstGeom>
        </p:spPr>
        <p:txBody>
          <a:bodyPr anchor="t" rtlCol="false" tIns="0" lIns="0" bIns="0" rIns="0">
            <a:spAutoFit/>
          </a:bodyPr>
          <a:lstStyle/>
          <a:p>
            <a:pPr algn="l">
              <a:lnSpc>
                <a:spcPts val="11063"/>
              </a:lnSpc>
            </a:pPr>
            <a:r>
              <a:rPr lang="en-US" sz="6546" spc="949">
                <a:solidFill>
                  <a:srgbClr val="FFFFFF"/>
                </a:solidFill>
                <a:latin typeface="Gagalin"/>
                <a:ea typeface="Gagalin"/>
                <a:cs typeface="Gagalin"/>
                <a:sym typeface="Gagalin"/>
              </a:rPr>
              <a:t>One real session, start to finish</a:t>
            </a:r>
          </a:p>
        </p:txBody>
      </p:sp>
      <p:grpSp>
        <p:nvGrpSpPr>
          <p:cNvPr name="Group 6" id="6"/>
          <p:cNvGrpSpPr/>
          <p:nvPr/>
        </p:nvGrpSpPr>
        <p:grpSpPr>
          <a:xfrm rot="0">
            <a:off x="822960" y="2221992"/>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57150"/>
              <a:ext cx="22183344" cy="715518"/>
            </a:xfrm>
            <a:prstGeom prst="rect">
              <a:avLst/>
            </a:prstGeom>
          </p:spPr>
          <p:txBody>
            <a:bodyPr anchor="ctr" rtlCol="false" tIns="0" lIns="0" bIns="0" rIns="0"/>
            <a:lstStyle/>
            <a:p>
              <a:pPr algn="l">
                <a:lnSpc>
                  <a:spcPts val="2700"/>
                </a:lnSpc>
              </a:pPr>
              <a:r>
                <a:rPr lang="en-US" sz="2250">
                  <a:solidFill>
                    <a:srgbClr val="C9CAD0"/>
                  </a:solidFill>
                  <a:latin typeface="Calibri (MS)"/>
                  <a:ea typeface="Calibri (MS)"/>
                  <a:cs typeface="Calibri (MS)"/>
                  <a:sym typeface="Calibri (MS)"/>
                </a:rPr>
                <a:t>Fifteen stops and 24 screens, captured in order from a single run of the app.</a:t>
              </a:r>
            </a:p>
          </p:txBody>
        </p:sp>
      </p:grpSp>
      <p:grpSp>
        <p:nvGrpSpPr>
          <p:cNvPr name="Group 9" id="9"/>
          <p:cNvGrpSpPr/>
          <p:nvPr/>
        </p:nvGrpSpPr>
        <p:grpSpPr>
          <a:xfrm rot="0">
            <a:off x="1555909" y="4504849"/>
            <a:ext cx="15541943" cy="2854642"/>
            <a:chOff x="0" y="0"/>
            <a:chExt cx="20722590" cy="3806190"/>
          </a:xfrm>
        </p:grpSpPr>
        <p:sp>
          <p:nvSpPr>
            <p:cNvPr name="Freeform 10" id="10"/>
            <p:cNvSpPr/>
            <p:nvPr/>
          </p:nvSpPr>
          <p:spPr>
            <a:xfrm flipH="false" flipV="false" rot="0">
              <a:off x="0" y="0"/>
              <a:ext cx="20722589" cy="3806190"/>
            </a:xfrm>
            <a:custGeom>
              <a:avLst/>
              <a:gdLst/>
              <a:ahLst/>
              <a:cxnLst/>
              <a:rect r="r" b="b" t="t" l="l"/>
              <a:pathLst>
                <a:path h="3806190" w="20722589">
                  <a:moveTo>
                    <a:pt x="0" y="0"/>
                  </a:moveTo>
                  <a:lnTo>
                    <a:pt x="20722589" y="0"/>
                  </a:lnTo>
                  <a:lnTo>
                    <a:pt x="20722589" y="3806190"/>
                  </a:lnTo>
                  <a:lnTo>
                    <a:pt x="2640711" y="3806190"/>
                  </a:lnTo>
                </a:path>
              </a:pathLst>
            </a:custGeom>
            <a:blipFill>
              <a:blip r:embed="rId3">
                <a:alphaModFix amt="0"/>
              </a:blip>
              <a:stretch>
                <a:fillRect l="0" t="-56085" r="0" b="-56085"/>
              </a:stretch>
            </a:blipFill>
            <a:ln w="42862" cap="sq">
              <a:solidFill>
                <a:srgbClr val="2C2F38"/>
              </a:solidFill>
              <a:prstDash val="solid"/>
              <a:miter/>
            </a:ln>
          </p:spPr>
        </p:sp>
      </p:grpSp>
      <p:sp>
        <p:nvSpPr>
          <p:cNvPr name="AutoShape 11" id="11"/>
          <p:cNvSpPr/>
          <p:nvPr/>
        </p:nvSpPr>
        <p:spPr>
          <a:xfrm rot="9480">
            <a:off x="1555880" y="4516755"/>
            <a:ext cx="15542000" cy="0"/>
          </a:xfrm>
          <a:prstGeom prst="line">
            <a:avLst/>
          </a:prstGeom>
          <a:ln cap="rnd" w="19050">
            <a:solidFill>
              <a:srgbClr val="D9B100"/>
            </a:solidFill>
            <a:prstDash val="solid"/>
            <a:headEnd type="none" len="sm" w="sm"/>
            <a:tailEnd type="none" len="sm" w="sm"/>
          </a:ln>
        </p:spPr>
      </p:sp>
      <p:sp>
        <p:nvSpPr>
          <p:cNvPr name="AutoShape 12" id="12"/>
          <p:cNvSpPr/>
          <p:nvPr/>
        </p:nvSpPr>
        <p:spPr>
          <a:xfrm rot="5348400">
            <a:off x="15648937" y="5922645"/>
            <a:ext cx="2854966" cy="0"/>
          </a:xfrm>
          <a:prstGeom prst="line">
            <a:avLst/>
          </a:prstGeom>
          <a:ln cap="rnd" w="19050">
            <a:solidFill>
              <a:srgbClr val="D9B100"/>
            </a:solidFill>
            <a:prstDash val="solid"/>
            <a:headEnd type="none" len="sm" w="sm"/>
            <a:tailEnd type="none" len="sm" w="sm"/>
          </a:ln>
        </p:spPr>
      </p:sp>
      <p:sp>
        <p:nvSpPr>
          <p:cNvPr name="AutoShape 13" id="13"/>
          <p:cNvSpPr/>
          <p:nvPr/>
        </p:nvSpPr>
        <p:spPr>
          <a:xfrm rot="10789140">
            <a:off x="3530975" y="7328535"/>
            <a:ext cx="13566905" cy="0"/>
          </a:xfrm>
          <a:prstGeom prst="line">
            <a:avLst/>
          </a:prstGeom>
          <a:ln cap="rnd" w="19050">
            <a:solidFill>
              <a:srgbClr val="D9B100"/>
            </a:solidFill>
            <a:prstDash val="solid"/>
            <a:headEnd type="none" len="sm" w="sm"/>
            <a:tailEnd type="none" len="sm" w="sm"/>
          </a:ln>
        </p:spPr>
      </p:sp>
      <p:grpSp>
        <p:nvGrpSpPr>
          <p:cNvPr name="Group 14" id="14"/>
          <p:cNvGrpSpPr/>
          <p:nvPr/>
        </p:nvGrpSpPr>
        <p:grpSpPr>
          <a:xfrm rot="0">
            <a:off x="1260729" y="4209669"/>
            <a:ext cx="633222" cy="633222"/>
            <a:chOff x="0" y="0"/>
            <a:chExt cx="844296" cy="844296"/>
          </a:xfrm>
        </p:grpSpPr>
        <p:sp>
          <p:nvSpPr>
            <p:cNvPr name="Freeform 15" id="15"/>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16" id="16"/>
          <p:cNvGrpSpPr/>
          <p:nvPr/>
        </p:nvGrpSpPr>
        <p:grpSpPr>
          <a:xfrm rot="0">
            <a:off x="1289304" y="4238244"/>
            <a:ext cx="576072" cy="576072"/>
            <a:chOff x="0" y="0"/>
            <a:chExt cx="768096" cy="768096"/>
          </a:xfrm>
        </p:grpSpPr>
        <p:sp>
          <p:nvSpPr>
            <p:cNvPr name="Freeform 17" id="17"/>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18" id="18"/>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a:t>
              </a:r>
            </a:p>
          </p:txBody>
        </p:sp>
      </p:grpSp>
      <p:sp>
        <p:nvSpPr>
          <p:cNvPr name="TextBox 19" id="19"/>
          <p:cNvSpPr txBox="true"/>
          <p:nvPr/>
        </p:nvSpPr>
        <p:spPr>
          <a:xfrm rot="0">
            <a:off x="630936"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Launch</a:t>
            </a:r>
          </a:p>
        </p:txBody>
      </p:sp>
      <p:grpSp>
        <p:nvGrpSpPr>
          <p:cNvPr name="Group 20" id="20"/>
          <p:cNvGrpSpPr/>
          <p:nvPr/>
        </p:nvGrpSpPr>
        <p:grpSpPr>
          <a:xfrm rot="0">
            <a:off x="3235833" y="4209669"/>
            <a:ext cx="633222" cy="633222"/>
            <a:chOff x="0" y="0"/>
            <a:chExt cx="844296" cy="844296"/>
          </a:xfrm>
        </p:grpSpPr>
        <p:sp>
          <p:nvSpPr>
            <p:cNvPr name="Freeform 21" id="21"/>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22" id="22"/>
          <p:cNvGrpSpPr/>
          <p:nvPr/>
        </p:nvGrpSpPr>
        <p:grpSpPr>
          <a:xfrm rot="0">
            <a:off x="3264408" y="4238244"/>
            <a:ext cx="576072" cy="576072"/>
            <a:chOff x="0" y="0"/>
            <a:chExt cx="768096" cy="768096"/>
          </a:xfrm>
        </p:grpSpPr>
        <p:sp>
          <p:nvSpPr>
            <p:cNvPr name="Freeform 23" id="23"/>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24" id="24"/>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2</a:t>
              </a:r>
            </a:p>
          </p:txBody>
        </p:sp>
      </p:grpSp>
      <p:sp>
        <p:nvSpPr>
          <p:cNvPr name="TextBox 25" id="25"/>
          <p:cNvSpPr txBox="true"/>
          <p:nvPr/>
        </p:nvSpPr>
        <p:spPr>
          <a:xfrm rot="0">
            <a:off x="2606040"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Create an account</a:t>
            </a:r>
          </a:p>
        </p:txBody>
      </p:sp>
      <p:grpSp>
        <p:nvGrpSpPr>
          <p:cNvPr name="Group 26" id="26"/>
          <p:cNvGrpSpPr/>
          <p:nvPr/>
        </p:nvGrpSpPr>
        <p:grpSpPr>
          <a:xfrm rot="0">
            <a:off x="5210937" y="4209669"/>
            <a:ext cx="633222" cy="633222"/>
            <a:chOff x="0" y="0"/>
            <a:chExt cx="844296" cy="844296"/>
          </a:xfrm>
        </p:grpSpPr>
        <p:sp>
          <p:nvSpPr>
            <p:cNvPr name="Freeform 27" id="27"/>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28" id="28"/>
          <p:cNvGrpSpPr/>
          <p:nvPr/>
        </p:nvGrpSpPr>
        <p:grpSpPr>
          <a:xfrm rot="0">
            <a:off x="5239512" y="4238244"/>
            <a:ext cx="576072" cy="576072"/>
            <a:chOff x="0" y="0"/>
            <a:chExt cx="768096" cy="768096"/>
          </a:xfrm>
        </p:grpSpPr>
        <p:sp>
          <p:nvSpPr>
            <p:cNvPr name="Freeform 29" id="29"/>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30" id="30"/>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3</a:t>
              </a:r>
            </a:p>
          </p:txBody>
        </p:sp>
      </p:grpSp>
      <p:sp>
        <p:nvSpPr>
          <p:cNvPr name="TextBox 31" id="31"/>
          <p:cNvSpPr txBox="true"/>
          <p:nvPr/>
        </p:nvSpPr>
        <p:spPr>
          <a:xfrm rot="0">
            <a:off x="4581144"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Log in</a:t>
            </a:r>
          </a:p>
        </p:txBody>
      </p:sp>
      <p:grpSp>
        <p:nvGrpSpPr>
          <p:cNvPr name="Group 32" id="32"/>
          <p:cNvGrpSpPr/>
          <p:nvPr/>
        </p:nvGrpSpPr>
        <p:grpSpPr>
          <a:xfrm rot="0">
            <a:off x="7186041" y="4209669"/>
            <a:ext cx="633222" cy="633222"/>
            <a:chOff x="0" y="0"/>
            <a:chExt cx="844296" cy="844296"/>
          </a:xfrm>
        </p:grpSpPr>
        <p:sp>
          <p:nvSpPr>
            <p:cNvPr name="Freeform 33" id="33"/>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34" id="34"/>
          <p:cNvGrpSpPr/>
          <p:nvPr/>
        </p:nvGrpSpPr>
        <p:grpSpPr>
          <a:xfrm rot="0">
            <a:off x="7214616" y="4238244"/>
            <a:ext cx="576072" cy="576072"/>
            <a:chOff x="0" y="0"/>
            <a:chExt cx="768096" cy="768096"/>
          </a:xfrm>
        </p:grpSpPr>
        <p:sp>
          <p:nvSpPr>
            <p:cNvPr name="Freeform 35" id="35"/>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36" id="36"/>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4</a:t>
              </a:r>
            </a:p>
          </p:txBody>
        </p:sp>
      </p:grpSp>
      <p:sp>
        <p:nvSpPr>
          <p:cNvPr name="TextBox 37" id="37"/>
          <p:cNvSpPr txBox="true"/>
          <p:nvPr/>
        </p:nvSpPr>
        <p:spPr>
          <a:xfrm rot="0">
            <a:off x="6556248"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Take me somewhere</a:t>
            </a:r>
          </a:p>
        </p:txBody>
      </p:sp>
      <p:grpSp>
        <p:nvGrpSpPr>
          <p:cNvPr name="Group 38" id="38"/>
          <p:cNvGrpSpPr/>
          <p:nvPr/>
        </p:nvGrpSpPr>
        <p:grpSpPr>
          <a:xfrm rot="0">
            <a:off x="9161145" y="4209669"/>
            <a:ext cx="633222" cy="633222"/>
            <a:chOff x="0" y="0"/>
            <a:chExt cx="844296" cy="844296"/>
          </a:xfrm>
        </p:grpSpPr>
        <p:sp>
          <p:nvSpPr>
            <p:cNvPr name="Freeform 39" id="39"/>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40" id="40"/>
          <p:cNvGrpSpPr/>
          <p:nvPr/>
        </p:nvGrpSpPr>
        <p:grpSpPr>
          <a:xfrm rot="0">
            <a:off x="9189720" y="4238244"/>
            <a:ext cx="576072" cy="576072"/>
            <a:chOff x="0" y="0"/>
            <a:chExt cx="768096" cy="768096"/>
          </a:xfrm>
        </p:grpSpPr>
        <p:sp>
          <p:nvSpPr>
            <p:cNvPr name="Freeform 41" id="41"/>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42" id="42"/>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5</a:t>
              </a:r>
            </a:p>
          </p:txBody>
        </p:sp>
      </p:grpSp>
      <p:sp>
        <p:nvSpPr>
          <p:cNvPr name="TextBox 43" id="43"/>
          <p:cNvSpPr txBox="true"/>
          <p:nvPr/>
        </p:nvSpPr>
        <p:spPr>
          <a:xfrm rot="0">
            <a:off x="8531352"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Every stop</a:t>
            </a:r>
          </a:p>
        </p:txBody>
      </p:sp>
      <p:grpSp>
        <p:nvGrpSpPr>
          <p:cNvPr name="Group 44" id="44"/>
          <p:cNvGrpSpPr/>
          <p:nvPr/>
        </p:nvGrpSpPr>
        <p:grpSpPr>
          <a:xfrm rot="0">
            <a:off x="11136249" y="4209669"/>
            <a:ext cx="633222" cy="633222"/>
            <a:chOff x="0" y="0"/>
            <a:chExt cx="844296" cy="844296"/>
          </a:xfrm>
        </p:grpSpPr>
        <p:sp>
          <p:nvSpPr>
            <p:cNvPr name="Freeform 45" id="45"/>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46" id="46"/>
          <p:cNvGrpSpPr/>
          <p:nvPr/>
        </p:nvGrpSpPr>
        <p:grpSpPr>
          <a:xfrm rot="0">
            <a:off x="11164824" y="4238244"/>
            <a:ext cx="576072" cy="576072"/>
            <a:chOff x="0" y="0"/>
            <a:chExt cx="768096" cy="768096"/>
          </a:xfrm>
        </p:grpSpPr>
        <p:sp>
          <p:nvSpPr>
            <p:cNvPr name="Freeform 47" id="47"/>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48" id="48"/>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6</a:t>
              </a:r>
            </a:p>
          </p:txBody>
        </p:sp>
      </p:grpSp>
      <p:sp>
        <p:nvSpPr>
          <p:cNvPr name="TextBox 49" id="49"/>
          <p:cNvSpPr txBox="true"/>
          <p:nvPr/>
        </p:nvSpPr>
        <p:spPr>
          <a:xfrm rot="0">
            <a:off x="10506456"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What’s near me</a:t>
            </a:r>
          </a:p>
        </p:txBody>
      </p:sp>
      <p:grpSp>
        <p:nvGrpSpPr>
          <p:cNvPr name="Group 50" id="50"/>
          <p:cNvGrpSpPr/>
          <p:nvPr/>
        </p:nvGrpSpPr>
        <p:grpSpPr>
          <a:xfrm rot="0">
            <a:off x="13111353" y="4209669"/>
            <a:ext cx="633222" cy="633222"/>
            <a:chOff x="0" y="0"/>
            <a:chExt cx="844296" cy="844296"/>
          </a:xfrm>
        </p:grpSpPr>
        <p:sp>
          <p:nvSpPr>
            <p:cNvPr name="Freeform 51" id="51"/>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52" id="52"/>
          <p:cNvGrpSpPr/>
          <p:nvPr/>
        </p:nvGrpSpPr>
        <p:grpSpPr>
          <a:xfrm rot="0">
            <a:off x="13139928" y="4238244"/>
            <a:ext cx="576072" cy="576072"/>
            <a:chOff x="0" y="0"/>
            <a:chExt cx="768096" cy="768096"/>
          </a:xfrm>
        </p:grpSpPr>
        <p:sp>
          <p:nvSpPr>
            <p:cNvPr name="Freeform 53" id="53"/>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54" id="54"/>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7</a:t>
              </a:r>
            </a:p>
          </p:txBody>
        </p:sp>
      </p:grpSp>
      <p:sp>
        <p:nvSpPr>
          <p:cNvPr name="TextBox 55" id="55"/>
          <p:cNvSpPr txBox="true"/>
          <p:nvPr/>
        </p:nvSpPr>
        <p:spPr>
          <a:xfrm rot="0">
            <a:off x="12481560"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Place page</a:t>
            </a:r>
          </a:p>
        </p:txBody>
      </p:sp>
      <p:grpSp>
        <p:nvGrpSpPr>
          <p:cNvPr name="Group 56" id="56"/>
          <p:cNvGrpSpPr/>
          <p:nvPr/>
        </p:nvGrpSpPr>
        <p:grpSpPr>
          <a:xfrm rot="0">
            <a:off x="15086457" y="4209669"/>
            <a:ext cx="633222" cy="633222"/>
            <a:chOff x="0" y="0"/>
            <a:chExt cx="844296" cy="844296"/>
          </a:xfrm>
        </p:grpSpPr>
        <p:sp>
          <p:nvSpPr>
            <p:cNvPr name="Freeform 57" id="57"/>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58" id="58"/>
          <p:cNvGrpSpPr/>
          <p:nvPr/>
        </p:nvGrpSpPr>
        <p:grpSpPr>
          <a:xfrm rot="0">
            <a:off x="15115032" y="4238244"/>
            <a:ext cx="576072" cy="576072"/>
            <a:chOff x="0" y="0"/>
            <a:chExt cx="768096" cy="768096"/>
          </a:xfrm>
        </p:grpSpPr>
        <p:sp>
          <p:nvSpPr>
            <p:cNvPr name="Freeform 59" id="59"/>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60" id="60"/>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8</a:t>
              </a:r>
            </a:p>
          </p:txBody>
        </p:sp>
      </p:grpSp>
      <p:sp>
        <p:nvSpPr>
          <p:cNvPr name="TextBox 61" id="61"/>
          <p:cNvSpPr txBox="true"/>
          <p:nvPr/>
        </p:nvSpPr>
        <p:spPr>
          <a:xfrm rot="0">
            <a:off x="14456664" y="495985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Explore the campus</a:t>
            </a:r>
          </a:p>
        </p:txBody>
      </p:sp>
      <p:grpSp>
        <p:nvGrpSpPr>
          <p:cNvPr name="Group 62" id="62"/>
          <p:cNvGrpSpPr/>
          <p:nvPr/>
        </p:nvGrpSpPr>
        <p:grpSpPr>
          <a:xfrm rot="0">
            <a:off x="15086457" y="7021449"/>
            <a:ext cx="633222" cy="633222"/>
            <a:chOff x="0" y="0"/>
            <a:chExt cx="844296" cy="844296"/>
          </a:xfrm>
        </p:grpSpPr>
        <p:sp>
          <p:nvSpPr>
            <p:cNvPr name="Freeform 63" id="63"/>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64" id="64"/>
          <p:cNvGrpSpPr/>
          <p:nvPr/>
        </p:nvGrpSpPr>
        <p:grpSpPr>
          <a:xfrm rot="0">
            <a:off x="15115032" y="7050024"/>
            <a:ext cx="576072" cy="576072"/>
            <a:chOff x="0" y="0"/>
            <a:chExt cx="768096" cy="768096"/>
          </a:xfrm>
        </p:grpSpPr>
        <p:sp>
          <p:nvSpPr>
            <p:cNvPr name="Freeform 65" id="65"/>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66" id="66"/>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9</a:t>
              </a:r>
            </a:p>
          </p:txBody>
        </p:sp>
      </p:grpSp>
      <p:sp>
        <p:nvSpPr>
          <p:cNvPr name="TextBox 67" id="67"/>
          <p:cNvSpPr txBox="true"/>
          <p:nvPr/>
        </p:nvSpPr>
        <p:spPr>
          <a:xfrm rot="0">
            <a:off x="14456664"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Roads and walkways</a:t>
            </a:r>
          </a:p>
        </p:txBody>
      </p:sp>
      <p:grpSp>
        <p:nvGrpSpPr>
          <p:cNvPr name="Group 68" id="68"/>
          <p:cNvGrpSpPr/>
          <p:nvPr/>
        </p:nvGrpSpPr>
        <p:grpSpPr>
          <a:xfrm rot="0">
            <a:off x="13111353" y="7021449"/>
            <a:ext cx="633222" cy="633222"/>
            <a:chOff x="0" y="0"/>
            <a:chExt cx="844296" cy="844296"/>
          </a:xfrm>
        </p:grpSpPr>
        <p:sp>
          <p:nvSpPr>
            <p:cNvPr name="Freeform 69" id="69"/>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70" id="70"/>
          <p:cNvGrpSpPr/>
          <p:nvPr/>
        </p:nvGrpSpPr>
        <p:grpSpPr>
          <a:xfrm rot="0">
            <a:off x="13139928" y="7050024"/>
            <a:ext cx="576072" cy="576072"/>
            <a:chOff x="0" y="0"/>
            <a:chExt cx="768096" cy="768096"/>
          </a:xfrm>
        </p:grpSpPr>
        <p:sp>
          <p:nvSpPr>
            <p:cNvPr name="Freeform 71" id="71"/>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72" id="72"/>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10</a:t>
              </a:r>
            </a:p>
          </p:txBody>
        </p:sp>
      </p:grpSp>
      <p:sp>
        <p:nvSpPr>
          <p:cNvPr name="TextBox 73" id="73"/>
          <p:cNvSpPr txBox="true"/>
          <p:nvPr/>
        </p:nvSpPr>
        <p:spPr>
          <a:xfrm rot="0">
            <a:off x="12481560"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Search</a:t>
            </a:r>
          </a:p>
        </p:txBody>
      </p:sp>
      <p:grpSp>
        <p:nvGrpSpPr>
          <p:cNvPr name="Group 74" id="74"/>
          <p:cNvGrpSpPr/>
          <p:nvPr/>
        </p:nvGrpSpPr>
        <p:grpSpPr>
          <a:xfrm rot="0">
            <a:off x="11136249" y="7021449"/>
            <a:ext cx="633222" cy="633222"/>
            <a:chOff x="0" y="0"/>
            <a:chExt cx="844296" cy="844296"/>
          </a:xfrm>
        </p:grpSpPr>
        <p:sp>
          <p:nvSpPr>
            <p:cNvPr name="Freeform 75" id="75"/>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76" id="76"/>
          <p:cNvGrpSpPr/>
          <p:nvPr/>
        </p:nvGrpSpPr>
        <p:grpSpPr>
          <a:xfrm rot="0">
            <a:off x="11164824" y="7050024"/>
            <a:ext cx="576072" cy="576072"/>
            <a:chOff x="0" y="0"/>
            <a:chExt cx="768096" cy="768096"/>
          </a:xfrm>
        </p:grpSpPr>
        <p:sp>
          <p:nvSpPr>
            <p:cNvPr name="Freeform 77" id="77"/>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78" id="78"/>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11</a:t>
              </a:r>
            </a:p>
          </p:txBody>
        </p:sp>
      </p:grpSp>
      <p:sp>
        <p:nvSpPr>
          <p:cNvPr name="TextBox 79" id="79"/>
          <p:cNvSpPr txBox="true"/>
          <p:nvPr/>
        </p:nvSpPr>
        <p:spPr>
          <a:xfrm rot="0">
            <a:off x="10506456"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Sort places</a:t>
            </a:r>
          </a:p>
        </p:txBody>
      </p:sp>
      <p:grpSp>
        <p:nvGrpSpPr>
          <p:cNvPr name="Group 80" id="80"/>
          <p:cNvGrpSpPr/>
          <p:nvPr/>
        </p:nvGrpSpPr>
        <p:grpSpPr>
          <a:xfrm rot="0">
            <a:off x="9161145" y="7021449"/>
            <a:ext cx="633222" cy="633222"/>
            <a:chOff x="0" y="0"/>
            <a:chExt cx="844296" cy="844296"/>
          </a:xfrm>
        </p:grpSpPr>
        <p:sp>
          <p:nvSpPr>
            <p:cNvPr name="Freeform 81" id="81"/>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82" id="82"/>
          <p:cNvGrpSpPr/>
          <p:nvPr/>
        </p:nvGrpSpPr>
        <p:grpSpPr>
          <a:xfrm rot="0">
            <a:off x="9189720" y="7050024"/>
            <a:ext cx="576072" cy="576072"/>
            <a:chOff x="0" y="0"/>
            <a:chExt cx="768096" cy="768096"/>
          </a:xfrm>
        </p:grpSpPr>
        <p:sp>
          <p:nvSpPr>
            <p:cNvPr name="Freeform 83" id="83"/>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84" id="84"/>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12</a:t>
              </a:r>
            </a:p>
          </p:txBody>
        </p:sp>
      </p:grpSp>
      <p:sp>
        <p:nvSpPr>
          <p:cNvPr name="TextBox 85" id="85"/>
          <p:cNvSpPr txBox="true"/>
          <p:nvPr/>
        </p:nvSpPr>
        <p:spPr>
          <a:xfrm rot="0">
            <a:off x="8531352"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Where am I?</a:t>
            </a:r>
          </a:p>
        </p:txBody>
      </p:sp>
      <p:grpSp>
        <p:nvGrpSpPr>
          <p:cNvPr name="Group 86" id="86"/>
          <p:cNvGrpSpPr/>
          <p:nvPr/>
        </p:nvGrpSpPr>
        <p:grpSpPr>
          <a:xfrm rot="0">
            <a:off x="7186041" y="7021449"/>
            <a:ext cx="633222" cy="633222"/>
            <a:chOff x="0" y="0"/>
            <a:chExt cx="844296" cy="844296"/>
          </a:xfrm>
        </p:grpSpPr>
        <p:sp>
          <p:nvSpPr>
            <p:cNvPr name="Freeform 87" id="87"/>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88" id="88"/>
          <p:cNvGrpSpPr/>
          <p:nvPr/>
        </p:nvGrpSpPr>
        <p:grpSpPr>
          <a:xfrm rot="0">
            <a:off x="7214616" y="7050024"/>
            <a:ext cx="576072" cy="576072"/>
            <a:chOff x="0" y="0"/>
            <a:chExt cx="768096" cy="768096"/>
          </a:xfrm>
        </p:grpSpPr>
        <p:sp>
          <p:nvSpPr>
            <p:cNvPr name="Freeform 89" id="89"/>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90" id="90"/>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13</a:t>
              </a:r>
            </a:p>
          </p:txBody>
        </p:sp>
      </p:grpSp>
      <p:sp>
        <p:nvSpPr>
          <p:cNvPr name="TextBox 91" id="91"/>
          <p:cNvSpPr txBox="true"/>
          <p:nvPr/>
        </p:nvSpPr>
        <p:spPr>
          <a:xfrm rot="0">
            <a:off x="6556248"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Trip history</a:t>
            </a:r>
          </a:p>
        </p:txBody>
      </p:sp>
      <p:grpSp>
        <p:nvGrpSpPr>
          <p:cNvPr name="Group 92" id="92"/>
          <p:cNvGrpSpPr/>
          <p:nvPr/>
        </p:nvGrpSpPr>
        <p:grpSpPr>
          <a:xfrm rot="0">
            <a:off x="5210937" y="7021449"/>
            <a:ext cx="633222" cy="633222"/>
            <a:chOff x="0" y="0"/>
            <a:chExt cx="844296" cy="844296"/>
          </a:xfrm>
        </p:grpSpPr>
        <p:sp>
          <p:nvSpPr>
            <p:cNvPr name="Freeform 93" id="93"/>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94" id="94"/>
          <p:cNvGrpSpPr/>
          <p:nvPr/>
        </p:nvGrpSpPr>
        <p:grpSpPr>
          <a:xfrm rot="0">
            <a:off x="5239512" y="7050024"/>
            <a:ext cx="576072" cy="576072"/>
            <a:chOff x="0" y="0"/>
            <a:chExt cx="768096" cy="768096"/>
          </a:xfrm>
        </p:grpSpPr>
        <p:sp>
          <p:nvSpPr>
            <p:cNvPr name="Freeform 95" id="95"/>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96" id="96"/>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14</a:t>
              </a:r>
            </a:p>
          </p:txBody>
        </p:sp>
      </p:grpSp>
      <p:sp>
        <p:nvSpPr>
          <p:cNvPr name="TextBox 97" id="97"/>
          <p:cNvSpPr txBox="true"/>
          <p:nvPr/>
        </p:nvSpPr>
        <p:spPr>
          <a:xfrm rot="0">
            <a:off x="4581144"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Favorites</a:t>
            </a:r>
          </a:p>
        </p:txBody>
      </p:sp>
      <p:grpSp>
        <p:nvGrpSpPr>
          <p:cNvPr name="Group 98" id="98"/>
          <p:cNvGrpSpPr/>
          <p:nvPr/>
        </p:nvGrpSpPr>
        <p:grpSpPr>
          <a:xfrm rot="0">
            <a:off x="3235833" y="7021449"/>
            <a:ext cx="633222" cy="633222"/>
            <a:chOff x="0" y="0"/>
            <a:chExt cx="844296" cy="844296"/>
          </a:xfrm>
        </p:grpSpPr>
        <p:sp>
          <p:nvSpPr>
            <p:cNvPr name="Freeform 99" id="99"/>
            <p:cNvSpPr/>
            <p:nvPr/>
          </p:nvSpPr>
          <p:spPr>
            <a:xfrm flipH="false" flipV="false" rot="0">
              <a:off x="0" y="0"/>
              <a:ext cx="844296" cy="844296"/>
            </a:xfrm>
            <a:custGeom>
              <a:avLst/>
              <a:gdLst/>
              <a:ahLst/>
              <a:cxnLst/>
              <a:rect r="r" b="b" t="t" l="l"/>
              <a:pathLst>
                <a:path h="844296" w="844296">
                  <a:moveTo>
                    <a:pt x="0" y="422148"/>
                  </a:moveTo>
                  <a:cubicBezTo>
                    <a:pt x="0" y="188976"/>
                    <a:pt x="188976" y="0"/>
                    <a:pt x="422148" y="0"/>
                  </a:cubicBezTo>
                  <a:cubicBezTo>
                    <a:pt x="655320" y="0"/>
                    <a:pt x="844296" y="188976"/>
                    <a:pt x="844296" y="422148"/>
                  </a:cubicBezTo>
                  <a:cubicBezTo>
                    <a:pt x="844296" y="655320"/>
                    <a:pt x="655320" y="844296"/>
                    <a:pt x="422148" y="844296"/>
                  </a:cubicBezTo>
                  <a:cubicBezTo>
                    <a:pt x="188976" y="844296"/>
                    <a:pt x="0" y="655320"/>
                    <a:pt x="0" y="422148"/>
                  </a:cubicBezTo>
                  <a:close/>
                </a:path>
              </a:pathLst>
            </a:custGeom>
            <a:solidFill>
              <a:srgbClr val="D9B100"/>
            </a:solidFill>
            <a:ln w="57150" cap="sq">
              <a:solidFill>
                <a:srgbClr val="101114"/>
              </a:solidFill>
              <a:prstDash val="solid"/>
              <a:miter/>
            </a:ln>
          </p:spPr>
        </p:sp>
      </p:grpSp>
      <p:grpSp>
        <p:nvGrpSpPr>
          <p:cNvPr name="Group 100" id="100"/>
          <p:cNvGrpSpPr/>
          <p:nvPr/>
        </p:nvGrpSpPr>
        <p:grpSpPr>
          <a:xfrm rot="0">
            <a:off x="3264408" y="7050024"/>
            <a:ext cx="576072" cy="576072"/>
            <a:chOff x="0" y="0"/>
            <a:chExt cx="768096" cy="768096"/>
          </a:xfrm>
        </p:grpSpPr>
        <p:sp>
          <p:nvSpPr>
            <p:cNvPr name="Freeform 101" id="101"/>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3">
                <a:alphaModFix amt="0"/>
              </a:blip>
              <a:stretch>
                <a:fillRect l="-78303" t="0" r="-78303" b="0"/>
              </a:stretch>
            </a:blipFill>
          </p:spPr>
        </p:sp>
        <p:sp>
          <p:nvSpPr>
            <p:cNvPr name="TextBox 102" id="102"/>
            <p:cNvSpPr txBox="true"/>
            <p:nvPr/>
          </p:nvSpPr>
          <p:spPr>
            <a:xfrm>
              <a:off x="0" y="-19050"/>
              <a:ext cx="768096" cy="787146"/>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15</a:t>
              </a:r>
            </a:p>
          </p:txBody>
        </p:sp>
      </p:grpSp>
      <p:sp>
        <p:nvSpPr>
          <p:cNvPr name="TextBox 103" id="103"/>
          <p:cNvSpPr txBox="true"/>
          <p:nvPr/>
        </p:nvSpPr>
        <p:spPr>
          <a:xfrm rot="0">
            <a:off x="2606040" y="7771638"/>
            <a:ext cx="1892808" cy="732282"/>
          </a:xfrm>
          <a:prstGeom prst="rect">
            <a:avLst/>
          </a:prstGeom>
        </p:spPr>
        <p:txBody>
          <a:bodyPr anchor="t" rtlCol="false" tIns="0" lIns="0" bIns="0" rIns="0">
            <a:spAutoFit/>
          </a:bodyPr>
          <a:lstStyle/>
          <a:p>
            <a:pPr algn="ctr">
              <a:lnSpc>
                <a:spcPts val="2070"/>
              </a:lnSpc>
            </a:pPr>
            <a:r>
              <a:rPr lang="en-US" sz="1875" b="true">
                <a:solidFill>
                  <a:srgbClr val="FFFFFF"/>
                </a:solidFill>
                <a:latin typeface="Calibri (MS) Bold"/>
                <a:ea typeface="Calibri (MS) Bold"/>
                <a:cs typeface="Calibri (MS) Bold"/>
                <a:sym typeface="Calibri (MS) Bold"/>
              </a:rPr>
              <a:t>Exit</a:t>
            </a:r>
          </a:p>
        </p:txBody>
      </p:sp>
      <p:grpSp>
        <p:nvGrpSpPr>
          <p:cNvPr name="Group 104" id="104"/>
          <p:cNvGrpSpPr/>
          <p:nvPr/>
        </p:nvGrpSpPr>
        <p:grpSpPr>
          <a:xfrm rot="0">
            <a:off x="1261872" y="3393338"/>
            <a:ext cx="630936" cy="790042"/>
            <a:chOff x="0" y="0"/>
            <a:chExt cx="841248" cy="1053389"/>
          </a:xfrm>
        </p:grpSpPr>
        <p:sp>
          <p:nvSpPr>
            <p:cNvPr name="Freeform 105" id="105" descr="pin_mark.png"/>
            <p:cNvSpPr/>
            <p:nvPr/>
          </p:nvSpPr>
          <p:spPr>
            <a:xfrm flipH="false" flipV="false" rot="0">
              <a:off x="0" y="0"/>
              <a:ext cx="841248" cy="1053338"/>
            </a:xfrm>
            <a:custGeom>
              <a:avLst/>
              <a:gdLst/>
              <a:ahLst/>
              <a:cxnLst/>
              <a:rect r="r" b="b" t="t" l="l"/>
              <a:pathLst>
                <a:path h="1053338" w="841248">
                  <a:moveTo>
                    <a:pt x="0" y="0"/>
                  </a:moveTo>
                  <a:lnTo>
                    <a:pt x="841248" y="0"/>
                  </a:lnTo>
                  <a:lnTo>
                    <a:pt x="841248" y="1053338"/>
                  </a:lnTo>
                  <a:lnTo>
                    <a:pt x="0" y="1053338"/>
                  </a:lnTo>
                  <a:lnTo>
                    <a:pt x="0" y="0"/>
                  </a:lnTo>
                  <a:close/>
                </a:path>
              </a:pathLst>
            </a:custGeom>
            <a:blipFill>
              <a:blip r:embed="rId4"/>
              <a:stretch>
                <a:fillRect l="0" t="0" r="0" b="-4"/>
              </a:stretch>
            </a:blipFill>
          </p:spPr>
        </p:sp>
      </p:grpSp>
    </p:spTree>
  </p:cSld>
  <p:clrMapOvr>
    <a:masterClrMapping/>
  </p:clrMapOvr>
  <p:transition spd="fast">
    <p:fade/>
  </p:transition>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 OF 15</a:t>
              </a:r>
            </a:p>
          </p:txBody>
        </p:sp>
      </p:grpSp>
      <p:sp>
        <p:nvSpPr>
          <p:cNvPr name="TextBox 5" id="5"/>
          <p:cNvSpPr txBox="true"/>
          <p:nvPr/>
        </p:nvSpPr>
        <p:spPr>
          <a:xfrm rot="0">
            <a:off x="822960" y="1178433"/>
            <a:ext cx="18117879" cy="1019175"/>
          </a:xfrm>
          <a:prstGeom prst="rect">
            <a:avLst/>
          </a:prstGeom>
        </p:spPr>
        <p:txBody>
          <a:bodyPr anchor="t" rtlCol="false" tIns="0" lIns="0" bIns="0" rIns="0">
            <a:spAutoFit/>
          </a:bodyPr>
          <a:lstStyle/>
          <a:p>
            <a:pPr algn="l">
              <a:lnSpc>
                <a:spcPts val="7840"/>
              </a:lnSpc>
            </a:pPr>
            <a:r>
              <a:rPr lang="en-US" sz="6533" b="true">
                <a:solidFill>
                  <a:srgbClr val="16171B"/>
                </a:solidFill>
                <a:latin typeface="Arial Bold"/>
                <a:ea typeface="Arial Bold"/>
                <a:cs typeface="Arial Bold"/>
                <a:sym typeface="Arial Bold"/>
              </a:rPr>
              <a:t>Launch</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One command, make run, builds CholoKUET and opens the welcome screen.</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119080">
            <a:off x="11979526" y="950595"/>
            <a:ext cx="57664"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23826" y="898398"/>
            <a:ext cx="123444" cy="123444"/>
            <a:chOff x="0" y="0"/>
            <a:chExt cx="164592" cy="164592"/>
          </a:xfrm>
        </p:grpSpPr>
        <p:sp>
          <p:nvSpPr>
            <p:cNvPr name="Freeform 14" id="1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5" id="15"/>
          <p:cNvGrpSpPr/>
          <p:nvPr/>
        </p:nvGrpSpPr>
        <p:grpSpPr>
          <a:xfrm rot="0">
            <a:off x="12707874" y="898398"/>
            <a:ext cx="123444" cy="123444"/>
            <a:chOff x="0" y="0"/>
            <a:chExt cx="164592" cy="164592"/>
          </a:xfrm>
        </p:grpSpPr>
        <p:sp>
          <p:nvSpPr>
            <p:cNvPr name="Freeform 16" id="1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7" id="17"/>
          <p:cNvGrpSpPr/>
          <p:nvPr/>
        </p:nvGrpSpPr>
        <p:grpSpPr>
          <a:xfrm rot="0">
            <a:off x="13091922" y="898398"/>
            <a:ext cx="123444" cy="123444"/>
            <a:chOff x="0" y="0"/>
            <a:chExt cx="164592" cy="164592"/>
          </a:xfrm>
        </p:grpSpPr>
        <p:sp>
          <p:nvSpPr>
            <p:cNvPr name="Freeform 18" id="1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9" id="19"/>
          <p:cNvGrpSpPr/>
          <p:nvPr/>
        </p:nvGrpSpPr>
        <p:grpSpPr>
          <a:xfrm rot="0">
            <a:off x="13475970" y="898398"/>
            <a:ext cx="123444" cy="123444"/>
            <a:chOff x="0" y="0"/>
            <a:chExt cx="164592" cy="164592"/>
          </a:xfrm>
        </p:grpSpPr>
        <p:sp>
          <p:nvSpPr>
            <p:cNvPr name="Freeform 20" id="2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1" id="21"/>
          <p:cNvGrpSpPr/>
          <p:nvPr/>
        </p:nvGrpSpPr>
        <p:grpSpPr>
          <a:xfrm rot="0">
            <a:off x="13860018" y="898398"/>
            <a:ext cx="123444" cy="123444"/>
            <a:chOff x="0" y="0"/>
            <a:chExt cx="164592" cy="164592"/>
          </a:xfrm>
        </p:grpSpPr>
        <p:sp>
          <p:nvSpPr>
            <p:cNvPr name="Freeform 22" id="2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1830050"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3985653"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5796165" y="9683496"/>
            <a:ext cx="727500" cy="384048"/>
            <a:chOff x="0" y="0"/>
            <a:chExt cx="970001" cy="512064"/>
          </a:xfrm>
        </p:grpSpPr>
        <p:sp>
          <p:nvSpPr>
            <p:cNvPr name="Freeform 47" id="47"/>
            <p:cNvSpPr/>
            <p:nvPr/>
          </p:nvSpPr>
          <p:spPr>
            <a:xfrm flipH="false" flipV="false" rot="0">
              <a:off x="0" y="0"/>
              <a:ext cx="970026" cy="512064"/>
            </a:xfrm>
            <a:custGeom>
              <a:avLst/>
              <a:gdLst/>
              <a:ahLst/>
              <a:cxnLst/>
              <a:rect r="r" b="b" t="t" l="l"/>
              <a:pathLst>
                <a:path h="512064" w="970026">
                  <a:moveTo>
                    <a:pt x="0" y="107569"/>
                  </a:moveTo>
                  <a:cubicBezTo>
                    <a:pt x="0" y="48133"/>
                    <a:pt x="48133" y="0"/>
                    <a:pt x="107569" y="0"/>
                  </a:cubicBezTo>
                  <a:lnTo>
                    <a:pt x="862457" y="0"/>
                  </a:lnTo>
                  <a:cubicBezTo>
                    <a:pt x="921893" y="0"/>
                    <a:pt x="970026" y="48133"/>
                    <a:pt x="970026" y="107569"/>
                  </a:cubicBezTo>
                  <a:lnTo>
                    <a:pt x="970026" y="404495"/>
                  </a:lnTo>
                  <a:cubicBezTo>
                    <a:pt x="970026" y="463931"/>
                    <a:pt x="921893" y="512064"/>
                    <a:pt x="862457"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5796165" y="9683496"/>
            <a:ext cx="727500" cy="384048"/>
            <a:chOff x="0" y="0"/>
            <a:chExt cx="970001" cy="512064"/>
          </a:xfrm>
        </p:grpSpPr>
        <p:sp>
          <p:nvSpPr>
            <p:cNvPr name="Freeform 49" id="49"/>
            <p:cNvSpPr/>
            <p:nvPr/>
          </p:nvSpPr>
          <p:spPr>
            <a:xfrm flipH="false" flipV="false" rot="0">
              <a:off x="0" y="0"/>
              <a:ext cx="969996" cy="512064"/>
            </a:xfrm>
            <a:custGeom>
              <a:avLst/>
              <a:gdLst/>
              <a:ahLst/>
              <a:cxnLst/>
              <a:rect r="r" b="b" t="t" l="l"/>
              <a:pathLst>
                <a:path h="512064" w="969996">
                  <a:moveTo>
                    <a:pt x="0" y="0"/>
                  </a:moveTo>
                  <a:lnTo>
                    <a:pt x="969996" y="0"/>
                  </a:lnTo>
                  <a:lnTo>
                    <a:pt x="969996" y="512064"/>
                  </a:lnTo>
                  <a:lnTo>
                    <a:pt x="0" y="512064"/>
                  </a:lnTo>
                  <a:close/>
                </a:path>
              </a:pathLst>
            </a:custGeom>
            <a:blipFill>
              <a:blip r:embed="rId3">
                <a:alphaModFix amt="0"/>
              </a:blip>
              <a:stretch>
                <a:fillRect l="-17731" t="0" r="-17732" b="0"/>
              </a:stretch>
            </a:blipFill>
          </p:spPr>
        </p:sp>
        <p:sp>
          <p:nvSpPr>
            <p:cNvPr name="TextBox 50" id="50"/>
            <p:cNvSpPr txBox="true"/>
            <p:nvPr/>
          </p:nvSpPr>
          <p:spPr>
            <a:xfrm>
              <a:off x="0" y="-38100"/>
              <a:ext cx="970001"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make</a:t>
              </a:r>
            </a:p>
          </p:txBody>
        </p:sp>
      </p:grpSp>
      <p:grpSp>
        <p:nvGrpSpPr>
          <p:cNvPr name="Group 51" id="51"/>
          <p:cNvGrpSpPr/>
          <p:nvPr/>
        </p:nvGrpSpPr>
        <p:grpSpPr>
          <a:xfrm rot="0">
            <a:off x="16633393" y="9683496"/>
            <a:ext cx="827075" cy="384048"/>
            <a:chOff x="0" y="0"/>
            <a:chExt cx="1102766" cy="512064"/>
          </a:xfrm>
        </p:grpSpPr>
        <p:sp>
          <p:nvSpPr>
            <p:cNvPr name="Freeform 52" id="52"/>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633393" y="9683496"/>
            <a:ext cx="827075" cy="384048"/>
            <a:chOff x="0" y="0"/>
            <a:chExt cx="1102766" cy="512064"/>
          </a:xfrm>
        </p:grpSpPr>
        <p:sp>
          <p:nvSpPr>
            <p:cNvPr name="Freeform 54" id="54"/>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5" id="55"/>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C++17</a:t>
              </a:r>
            </a:p>
          </p:txBody>
        </p:sp>
      </p:grpSp>
      <p:grpSp>
        <p:nvGrpSpPr>
          <p:cNvPr name="Group 56" id="56"/>
          <p:cNvGrpSpPr/>
          <p:nvPr/>
        </p:nvGrpSpPr>
        <p:grpSpPr>
          <a:xfrm rot="0">
            <a:off x="815492" y="3779806"/>
            <a:ext cx="7478535" cy="5017970"/>
            <a:chOff x="0" y="0"/>
            <a:chExt cx="9971380" cy="6690627"/>
          </a:xfrm>
        </p:grpSpPr>
        <p:sp>
          <p:nvSpPr>
            <p:cNvPr name="Freeform 57" id="57"/>
            <p:cNvSpPr/>
            <p:nvPr/>
          </p:nvSpPr>
          <p:spPr>
            <a:xfrm flipH="false" flipV="false" rot="0">
              <a:off x="0" y="0"/>
              <a:ext cx="9971405" cy="6690614"/>
            </a:xfrm>
            <a:custGeom>
              <a:avLst/>
              <a:gdLst/>
              <a:ahLst/>
              <a:cxnLst/>
              <a:rect r="r" b="b" t="t" l="l"/>
              <a:pathLst>
                <a:path h="6690614" w="9971405">
                  <a:moveTo>
                    <a:pt x="0" y="165227"/>
                  </a:moveTo>
                  <a:cubicBezTo>
                    <a:pt x="0" y="73914"/>
                    <a:pt x="73914" y="0"/>
                    <a:pt x="165227" y="0"/>
                  </a:cubicBezTo>
                  <a:lnTo>
                    <a:pt x="9806178" y="0"/>
                  </a:lnTo>
                  <a:cubicBezTo>
                    <a:pt x="9897364" y="0"/>
                    <a:pt x="9971405" y="73914"/>
                    <a:pt x="9971405" y="165227"/>
                  </a:cubicBezTo>
                  <a:lnTo>
                    <a:pt x="9971405" y="6525387"/>
                  </a:lnTo>
                  <a:cubicBezTo>
                    <a:pt x="9971405" y="6616573"/>
                    <a:pt x="9897491" y="6690614"/>
                    <a:pt x="9806178" y="6690614"/>
                  </a:cubicBezTo>
                  <a:lnTo>
                    <a:pt x="165227" y="6690614"/>
                  </a:lnTo>
                  <a:cubicBezTo>
                    <a:pt x="73914" y="6690614"/>
                    <a:pt x="0" y="6616700"/>
                    <a:pt x="0" y="6525387"/>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1099337" y="3995071"/>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1373657" y="3995071"/>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1647977" y="3995071"/>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2004593" y="3871627"/>
            <a:ext cx="6087885" cy="411480"/>
            <a:chOff x="0" y="0"/>
            <a:chExt cx="8117180" cy="548640"/>
          </a:xfrm>
        </p:grpSpPr>
        <p:sp>
          <p:nvSpPr>
            <p:cNvPr name="Freeform 65" id="65"/>
            <p:cNvSpPr/>
            <p:nvPr/>
          </p:nvSpPr>
          <p:spPr>
            <a:xfrm flipH="false" flipV="false" rot="0">
              <a:off x="0" y="0"/>
              <a:ext cx="8117174" cy="548640"/>
            </a:xfrm>
            <a:custGeom>
              <a:avLst/>
              <a:gdLst/>
              <a:ahLst/>
              <a:cxnLst/>
              <a:rect r="r" b="b" t="t" l="l"/>
              <a:pathLst>
                <a:path h="548640" w="8117174">
                  <a:moveTo>
                    <a:pt x="0" y="0"/>
                  </a:moveTo>
                  <a:lnTo>
                    <a:pt x="8117174" y="0"/>
                  </a:lnTo>
                  <a:lnTo>
                    <a:pt x="8117174" y="548640"/>
                  </a:lnTo>
                  <a:lnTo>
                    <a:pt x="0" y="548640"/>
                  </a:lnTo>
                  <a:close/>
                </a:path>
              </a:pathLst>
            </a:custGeom>
            <a:blipFill>
              <a:blip r:embed="rId3">
                <a:alphaModFix amt="0"/>
              </a:blip>
              <a:stretch>
                <a:fillRect l="0" t="-238282" r="0" b="-238282"/>
              </a:stretch>
            </a:blipFill>
          </p:spPr>
        </p:sp>
        <p:sp>
          <p:nvSpPr>
            <p:cNvPr name="TextBox 66" id="66"/>
            <p:cNvSpPr txBox="true"/>
            <p:nvPr/>
          </p:nvSpPr>
          <p:spPr>
            <a:xfrm>
              <a:off x="0" y="-38100"/>
              <a:ext cx="8117180"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bash · make run</a:t>
              </a:r>
            </a:p>
          </p:txBody>
        </p:sp>
      </p:grpSp>
      <p:grpSp>
        <p:nvGrpSpPr>
          <p:cNvPr name="Group 67" id="67"/>
          <p:cNvGrpSpPr/>
          <p:nvPr/>
        </p:nvGrpSpPr>
        <p:grpSpPr>
          <a:xfrm rot="0">
            <a:off x="1017041" y="4337971"/>
            <a:ext cx="7075437" cy="4258256"/>
            <a:chOff x="0" y="0"/>
            <a:chExt cx="9433916" cy="5677675"/>
          </a:xfrm>
        </p:grpSpPr>
        <p:sp>
          <p:nvSpPr>
            <p:cNvPr name="Freeform 68" id="68" descr="Screenshot_1.jpg"/>
            <p:cNvSpPr/>
            <p:nvPr/>
          </p:nvSpPr>
          <p:spPr>
            <a:xfrm flipH="false" flipV="false" rot="0">
              <a:off x="0" y="0"/>
              <a:ext cx="9433941" cy="5677662"/>
            </a:xfrm>
            <a:custGeom>
              <a:avLst/>
              <a:gdLst/>
              <a:ahLst/>
              <a:cxnLst/>
              <a:rect r="r" b="b" t="t" l="l"/>
              <a:pathLst>
                <a:path h="5677662" w="9433941">
                  <a:moveTo>
                    <a:pt x="0" y="0"/>
                  </a:moveTo>
                  <a:lnTo>
                    <a:pt x="9433941" y="0"/>
                  </a:lnTo>
                  <a:lnTo>
                    <a:pt x="9433941" y="5677662"/>
                  </a:lnTo>
                  <a:lnTo>
                    <a:pt x="0" y="5677662"/>
                  </a:lnTo>
                  <a:lnTo>
                    <a:pt x="0" y="0"/>
                  </a:lnTo>
                  <a:close/>
                </a:path>
              </a:pathLst>
            </a:custGeom>
            <a:blipFill>
              <a:blip r:embed="rId5"/>
              <a:stretch>
                <a:fillRect l="0" t="0" r="0" b="0"/>
              </a:stretch>
            </a:blipFill>
          </p:spPr>
        </p:sp>
      </p:grpSp>
      <p:sp>
        <p:nvSpPr>
          <p:cNvPr name="AutoShape 69" id="69"/>
          <p:cNvSpPr/>
          <p:nvPr/>
        </p:nvSpPr>
        <p:spPr>
          <a:xfrm rot="305040">
            <a:off x="8385562" y="6279261"/>
            <a:ext cx="483680" cy="0"/>
          </a:xfrm>
          <a:prstGeom prst="line">
            <a:avLst/>
          </a:prstGeom>
          <a:ln cap="rnd" w="19050">
            <a:solidFill>
              <a:srgbClr val="D9B100"/>
            </a:solidFill>
            <a:prstDash val="solid"/>
            <a:headEnd type="none" len="sm" w="sm"/>
            <a:tailEnd type="triangle" len="med" w="lg"/>
          </a:ln>
        </p:spPr>
      </p:sp>
      <p:grpSp>
        <p:nvGrpSpPr>
          <p:cNvPr name="Group 70" id="70"/>
          <p:cNvGrpSpPr/>
          <p:nvPr/>
        </p:nvGrpSpPr>
        <p:grpSpPr>
          <a:xfrm rot="0">
            <a:off x="8960768" y="3779806"/>
            <a:ext cx="8511273" cy="5017970"/>
            <a:chOff x="0" y="0"/>
            <a:chExt cx="11348364" cy="6690627"/>
          </a:xfrm>
        </p:grpSpPr>
        <p:sp>
          <p:nvSpPr>
            <p:cNvPr name="Freeform 71" id="71"/>
            <p:cNvSpPr/>
            <p:nvPr/>
          </p:nvSpPr>
          <p:spPr>
            <a:xfrm flipH="false" flipV="false" rot="0">
              <a:off x="0" y="0"/>
              <a:ext cx="11348466" cy="6690614"/>
            </a:xfrm>
            <a:custGeom>
              <a:avLst/>
              <a:gdLst/>
              <a:ahLst/>
              <a:cxnLst/>
              <a:rect r="r" b="b" t="t" l="l"/>
              <a:pathLst>
                <a:path h="6690614" w="11348466">
                  <a:moveTo>
                    <a:pt x="0" y="165227"/>
                  </a:moveTo>
                  <a:cubicBezTo>
                    <a:pt x="0" y="73914"/>
                    <a:pt x="73914" y="0"/>
                    <a:pt x="165227" y="0"/>
                  </a:cubicBezTo>
                  <a:lnTo>
                    <a:pt x="11183239" y="0"/>
                  </a:lnTo>
                  <a:cubicBezTo>
                    <a:pt x="11274425" y="0"/>
                    <a:pt x="11348466" y="73914"/>
                    <a:pt x="11348466" y="165227"/>
                  </a:cubicBezTo>
                  <a:lnTo>
                    <a:pt x="11348466" y="6525387"/>
                  </a:lnTo>
                  <a:cubicBezTo>
                    <a:pt x="11348466" y="6616573"/>
                    <a:pt x="11274552" y="6690614"/>
                    <a:pt x="11183239" y="6690614"/>
                  </a:cubicBezTo>
                  <a:lnTo>
                    <a:pt x="165227" y="6690614"/>
                  </a:lnTo>
                  <a:cubicBezTo>
                    <a:pt x="73914" y="6690614"/>
                    <a:pt x="0" y="6616700"/>
                    <a:pt x="0" y="6525387"/>
                  </a:cubicBezTo>
                  <a:close/>
                </a:path>
              </a:pathLst>
            </a:custGeom>
            <a:solidFill>
              <a:srgbClr val="000000"/>
            </a:solidFill>
            <a:ln w="19050" cap="sq">
              <a:solidFill>
                <a:srgbClr val="2C2F38"/>
              </a:solidFill>
              <a:prstDash val="solid"/>
              <a:miter/>
            </a:ln>
          </p:spPr>
        </p:sp>
      </p:grpSp>
      <p:grpSp>
        <p:nvGrpSpPr>
          <p:cNvPr name="Group 72" id="72"/>
          <p:cNvGrpSpPr/>
          <p:nvPr/>
        </p:nvGrpSpPr>
        <p:grpSpPr>
          <a:xfrm rot="0">
            <a:off x="9244613" y="3995071"/>
            <a:ext cx="164592" cy="164592"/>
            <a:chOff x="0" y="0"/>
            <a:chExt cx="219456" cy="219456"/>
          </a:xfrm>
        </p:grpSpPr>
        <p:sp>
          <p:nvSpPr>
            <p:cNvPr name="Freeform 73" id="7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74" id="74"/>
          <p:cNvGrpSpPr/>
          <p:nvPr/>
        </p:nvGrpSpPr>
        <p:grpSpPr>
          <a:xfrm rot="0">
            <a:off x="9518933" y="3995071"/>
            <a:ext cx="164592" cy="164592"/>
            <a:chOff x="0" y="0"/>
            <a:chExt cx="219456" cy="219456"/>
          </a:xfrm>
        </p:grpSpPr>
        <p:sp>
          <p:nvSpPr>
            <p:cNvPr name="Freeform 75" id="75"/>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6" id="76"/>
          <p:cNvGrpSpPr/>
          <p:nvPr/>
        </p:nvGrpSpPr>
        <p:grpSpPr>
          <a:xfrm rot="0">
            <a:off x="9793253" y="3995071"/>
            <a:ext cx="164592" cy="164592"/>
            <a:chOff x="0" y="0"/>
            <a:chExt cx="219456" cy="219456"/>
          </a:xfrm>
        </p:grpSpPr>
        <p:sp>
          <p:nvSpPr>
            <p:cNvPr name="Freeform 77" id="77"/>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8" id="78"/>
          <p:cNvGrpSpPr/>
          <p:nvPr/>
        </p:nvGrpSpPr>
        <p:grpSpPr>
          <a:xfrm rot="0">
            <a:off x="10149869" y="3871627"/>
            <a:ext cx="7120623" cy="411480"/>
            <a:chOff x="0" y="0"/>
            <a:chExt cx="9494164" cy="548640"/>
          </a:xfrm>
        </p:grpSpPr>
        <p:sp>
          <p:nvSpPr>
            <p:cNvPr name="Freeform 79" id="79"/>
            <p:cNvSpPr/>
            <p:nvPr/>
          </p:nvSpPr>
          <p:spPr>
            <a:xfrm flipH="false" flipV="false" rot="0">
              <a:off x="0" y="0"/>
              <a:ext cx="9494170" cy="548640"/>
            </a:xfrm>
            <a:custGeom>
              <a:avLst/>
              <a:gdLst/>
              <a:ahLst/>
              <a:cxnLst/>
              <a:rect r="r" b="b" t="t" l="l"/>
              <a:pathLst>
                <a:path h="548640" w="9494170">
                  <a:moveTo>
                    <a:pt x="0" y="0"/>
                  </a:moveTo>
                  <a:lnTo>
                    <a:pt x="9494170" y="0"/>
                  </a:lnTo>
                  <a:lnTo>
                    <a:pt x="9494170" y="548640"/>
                  </a:lnTo>
                  <a:lnTo>
                    <a:pt x="0" y="548640"/>
                  </a:lnTo>
                  <a:close/>
                </a:path>
              </a:pathLst>
            </a:custGeom>
            <a:blipFill>
              <a:blip r:embed="rId3">
                <a:alphaModFix amt="0"/>
              </a:blip>
              <a:stretch>
                <a:fillRect l="0" t="-287186" r="0" b="-287186"/>
              </a:stretch>
            </a:blipFill>
          </p:spPr>
        </p:sp>
        <p:sp>
          <p:nvSpPr>
            <p:cNvPr name="TextBox 80" id="80"/>
            <p:cNvSpPr txBox="true"/>
            <p:nvPr/>
          </p:nvSpPr>
          <p:spPr>
            <a:xfrm>
              <a:off x="0" y="-38100"/>
              <a:ext cx="949416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welcome screen</a:t>
              </a:r>
            </a:p>
          </p:txBody>
        </p:sp>
      </p:grpSp>
      <p:grpSp>
        <p:nvGrpSpPr>
          <p:cNvPr name="Group 81" id="81"/>
          <p:cNvGrpSpPr/>
          <p:nvPr/>
        </p:nvGrpSpPr>
        <p:grpSpPr>
          <a:xfrm rot="0">
            <a:off x="9162317" y="4337971"/>
            <a:ext cx="8108175" cy="4258256"/>
            <a:chOff x="0" y="0"/>
            <a:chExt cx="10810900" cy="5677675"/>
          </a:xfrm>
        </p:grpSpPr>
        <p:sp>
          <p:nvSpPr>
            <p:cNvPr name="Freeform 82" id="82" descr="Screenshot_2.jpg"/>
            <p:cNvSpPr/>
            <p:nvPr/>
          </p:nvSpPr>
          <p:spPr>
            <a:xfrm flipH="false" flipV="false" rot="0">
              <a:off x="0" y="0"/>
              <a:ext cx="10810875" cy="5677662"/>
            </a:xfrm>
            <a:custGeom>
              <a:avLst/>
              <a:gdLst/>
              <a:ahLst/>
              <a:cxnLst/>
              <a:rect r="r" b="b" t="t" l="l"/>
              <a:pathLst>
                <a:path h="5677662" w="10810875">
                  <a:moveTo>
                    <a:pt x="0" y="0"/>
                  </a:moveTo>
                  <a:lnTo>
                    <a:pt x="10810875" y="0"/>
                  </a:lnTo>
                  <a:lnTo>
                    <a:pt x="10810875" y="5677662"/>
                  </a:lnTo>
                  <a:lnTo>
                    <a:pt x="0" y="5677662"/>
                  </a:lnTo>
                  <a:lnTo>
                    <a:pt x="0" y="0"/>
                  </a:lnTo>
                  <a:close/>
                </a:path>
              </a:pathLst>
            </a:custGeom>
            <a:blipFill>
              <a:blip r:embed="rId6"/>
              <a:stretch>
                <a:fillRect l="0" t="0" r="0" b="0"/>
              </a:stretch>
            </a:blipFill>
          </p:spPr>
        </p:sp>
      </p:grpSp>
    </p:spTree>
  </p:cSld>
  <p:clrMapOvr>
    <a:masterClrMapping/>
  </p:clrMapOvr>
  <p:transition spd="fast">
    <p:fade/>
  </p:transition>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2 OF 15</a:t>
              </a:r>
            </a:p>
          </p:txBody>
        </p:sp>
      </p:grpSp>
      <p:sp>
        <p:nvSpPr>
          <p:cNvPr name="TextBox 5" id="5"/>
          <p:cNvSpPr txBox="true"/>
          <p:nvPr/>
        </p:nvSpPr>
        <p:spPr>
          <a:xfrm rot="0">
            <a:off x="802386" y="1323775"/>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Create an account</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Pick a username and a password. The password stays hidden, and you can log in straight away.</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74020">
            <a:off x="11984164" y="950595"/>
            <a:ext cx="418719"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707874" y="898398"/>
            <a:ext cx="123444" cy="123444"/>
            <a:chOff x="0" y="0"/>
            <a:chExt cx="164592" cy="164592"/>
          </a:xfrm>
        </p:grpSpPr>
        <p:sp>
          <p:nvSpPr>
            <p:cNvPr name="Freeform 16" id="1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7" id="17"/>
          <p:cNvGrpSpPr/>
          <p:nvPr/>
        </p:nvGrpSpPr>
        <p:grpSpPr>
          <a:xfrm rot="0">
            <a:off x="13091922" y="898398"/>
            <a:ext cx="123444" cy="123444"/>
            <a:chOff x="0" y="0"/>
            <a:chExt cx="164592" cy="164592"/>
          </a:xfrm>
        </p:grpSpPr>
        <p:sp>
          <p:nvSpPr>
            <p:cNvPr name="Freeform 18" id="1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9" id="19"/>
          <p:cNvGrpSpPr/>
          <p:nvPr/>
        </p:nvGrpSpPr>
        <p:grpSpPr>
          <a:xfrm rot="0">
            <a:off x="13475970" y="898398"/>
            <a:ext cx="123444" cy="123444"/>
            <a:chOff x="0" y="0"/>
            <a:chExt cx="164592" cy="164592"/>
          </a:xfrm>
        </p:grpSpPr>
        <p:sp>
          <p:nvSpPr>
            <p:cNvPr name="Freeform 20" id="2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1" id="21"/>
          <p:cNvGrpSpPr/>
          <p:nvPr/>
        </p:nvGrpSpPr>
        <p:grpSpPr>
          <a:xfrm rot="0">
            <a:off x="13860018" y="898398"/>
            <a:ext cx="123444" cy="123444"/>
            <a:chOff x="0" y="0"/>
            <a:chExt cx="164592" cy="164592"/>
          </a:xfrm>
        </p:grpSpPr>
        <p:sp>
          <p:nvSpPr>
            <p:cNvPr name="Freeform 22" id="2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2214098"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4225416"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6035928" y="9683496"/>
            <a:ext cx="1424540" cy="384048"/>
            <a:chOff x="0" y="0"/>
            <a:chExt cx="1899387" cy="512064"/>
          </a:xfrm>
        </p:grpSpPr>
        <p:sp>
          <p:nvSpPr>
            <p:cNvPr name="Freeform 47" id="47"/>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6035928" y="9683496"/>
            <a:ext cx="1424540" cy="384048"/>
            <a:chOff x="0" y="0"/>
            <a:chExt cx="1899387" cy="512064"/>
          </a:xfrm>
        </p:grpSpPr>
        <p:sp>
          <p:nvSpPr>
            <p:cNvPr name="Freeform 49" id="49"/>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0" id="50"/>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FNV-1a hash</a:t>
              </a:r>
            </a:p>
          </p:txBody>
        </p:sp>
      </p:grpSp>
      <p:grpSp>
        <p:nvGrpSpPr>
          <p:cNvPr name="Group 51" id="51"/>
          <p:cNvGrpSpPr/>
          <p:nvPr/>
        </p:nvGrpSpPr>
        <p:grpSpPr>
          <a:xfrm rot="0">
            <a:off x="815492" y="4066975"/>
            <a:ext cx="8535486" cy="4443622"/>
            <a:chOff x="0" y="0"/>
            <a:chExt cx="11380648" cy="5924829"/>
          </a:xfrm>
        </p:grpSpPr>
        <p:sp>
          <p:nvSpPr>
            <p:cNvPr name="Freeform 52" id="52"/>
            <p:cNvSpPr/>
            <p:nvPr/>
          </p:nvSpPr>
          <p:spPr>
            <a:xfrm flipH="false" flipV="false" rot="0">
              <a:off x="0" y="0"/>
              <a:ext cx="11380597" cy="5924804"/>
            </a:xfrm>
            <a:custGeom>
              <a:avLst/>
              <a:gdLst/>
              <a:ahLst/>
              <a:cxnLst/>
              <a:rect r="r" b="b" t="t" l="l"/>
              <a:pathLst>
                <a:path h="5924804" w="11380597">
                  <a:moveTo>
                    <a:pt x="0" y="165227"/>
                  </a:moveTo>
                  <a:cubicBezTo>
                    <a:pt x="0" y="74041"/>
                    <a:pt x="74041" y="0"/>
                    <a:pt x="165227" y="0"/>
                  </a:cubicBezTo>
                  <a:lnTo>
                    <a:pt x="11215370" y="0"/>
                  </a:lnTo>
                  <a:cubicBezTo>
                    <a:pt x="11306683" y="0"/>
                    <a:pt x="11380597" y="74041"/>
                    <a:pt x="11380597" y="165227"/>
                  </a:cubicBezTo>
                  <a:lnTo>
                    <a:pt x="11380597" y="5759577"/>
                  </a:lnTo>
                  <a:cubicBezTo>
                    <a:pt x="11380597" y="5850890"/>
                    <a:pt x="11306556" y="5924804"/>
                    <a:pt x="11215370" y="5924804"/>
                  </a:cubicBezTo>
                  <a:lnTo>
                    <a:pt x="165227" y="5924804"/>
                  </a:lnTo>
                  <a:cubicBezTo>
                    <a:pt x="74041" y="5924804"/>
                    <a:pt x="0" y="5850890"/>
                    <a:pt x="0" y="5759577"/>
                  </a:cubicBezTo>
                  <a:close/>
                </a:path>
              </a:pathLst>
            </a:custGeom>
            <a:solidFill>
              <a:srgbClr val="000000"/>
            </a:solidFill>
            <a:ln w="19050" cap="sq">
              <a:solidFill>
                <a:srgbClr val="2C2F38"/>
              </a:solidFill>
              <a:prstDash val="solid"/>
              <a:miter/>
            </a:ln>
          </p:spPr>
        </p:sp>
      </p:grpSp>
      <p:grpSp>
        <p:nvGrpSpPr>
          <p:cNvPr name="Group 53" id="53"/>
          <p:cNvGrpSpPr/>
          <p:nvPr/>
        </p:nvGrpSpPr>
        <p:grpSpPr>
          <a:xfrm rot="0">
            <a:off x="1099337" y="4282240"/>
            <a:ext cx="164592" cy="164592"/>
            <a:chOff x="0" y="0"/>
            <a:chExt cx="219456" cy="219456"/>
          </a:xfrm>
        </p:grpSpPr>
        <p:sp>
          <p:nvSpPr>
            <p:cNvPr name="Freeform 54" id="5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55" id="55"/>
          <p:cNvGrpSpPr/>
          <p:nvPr/>
        </p:nvGrpSpPr>
        <p:grpSpPr>
          <a:xfrm rot="0">
            <a:off x="1373657" y="4282240"/>
            <a:ext cx="164592" cy="164592"/>
            <a:chOff x="0" y="0"/>
            <a:chExt cx="219456" cy="219456"/>
          </a:xfrm>
        </p:grpSpPr>
        <p:sp>
          <p:nvSpPr>
            <p:cNvPr name="Freeform 56" id="5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57" id="57"/>
          <p:cNvGrpSpPr/>
          <p:nvPr/>
        </p:nvGrpSpPr>
        <p:grpSpPr>
          <a:xfrm rot="0">
            <a:off x="1647977" y="4282240"/>
            <a:ext cx="164592" cy="164592"/>
            <a:chOff x="0" y="0"/>
            <a:chExt cx="219456" cy="219456"/>
          </a:xfrm>
        </p:grpSpPr>
        <p:sp>
          <p:nvSpPr>
            <p:cNvPr name="Freeform 58" id="5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59" id="59"/>
          <p:cNvGrpSpPr/>
          <p:nvPr/>
        </p:nvGrpSpPr>
        <p:grpSpPr>
          <a:xfrm rot="0">
            <a:off x="2004593" y="4158796"/>
            <a:ext cx="7144836" cy="411480"/>
            <a:chOff x="0" y="0"/>
            <a:chExt cx="9526448" cy="548640"/>
          </a:xfrm>
        </p:grpSpPr>
        <p:sp>
          <p:nvSpPr>
            <p:cNvPr name="Freeform 60" id="60"/>
            <p:cNvSpPr/>
            <p:nvPr/>
          </p:nvSpPr>
          <p:spPr>
            <a:xfrm flipH="false" flipV="false" rot="0">
              <a:off x="0" y="0"/>
              <a:ext cx="9526452" cy="548640"/>
            </a:xfrm>
            <a:custGeom>
              <a:avLst/>
              <a:gdLst/>
              <a:ahLst/>
              <a:cxnLst/>
              <a:rect r="r" b="b" t="t" l="l"/>
              <a:pathLst>
                <a:path h="548640" w="9526452">
                  <a:moveTo>
                    <a:pt x="0" y="0"/>
                  </a:moveTo>
                  <a:lnTo>
                    <a:pt x="9526452" y="0"/>
                  </a:lnTo>
                  <a:lnTo>
                    <a:pt x="9526452" y="548640"/>
                  </a:lnTo>
                  <a:lnTo>
                    <a:pt x="0" y="548640"/>
                  </a:lnTo>
                  <a:close/>
                </a:path>
              </a:pathLst>
            </a:custGeom>
            <a:blipFill>
              <a:blip r:embed="rId3">
                <a:alphaModFix amt="0"/>
              </a:blip>
              <a:stretch>
                <a:fillRect l="0" t="-288333" r="0" b="-288333"/>
              </a:stretch>
            </a:blipFill>
          </p:spPr>
        </p:sp>
        <p:sp>
          <p:nvSpPr>
            <p:cNvPr name="TextBox 61" id="61"/>
            <p:cNvSpPr txBox="true"/>
            <p:nvPr/>
          </p:nvSpPr>
          <p:spPr>
            <a:xfrm>
              <a:off x="0" y="-38100"/>
              <a:ext cx="9526448"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2 · create an account</a:t>
              </a:r>
            </a:p>
          </p:txBody>
        </p:sp>
      </p:grpSp>
      <p:grpSp>
        <p:nvGrpSpPr>
          <p:cNvPr name="Group 62" id="62"/>
          <p:cNvGrpSpPr/>
          <p:nvPr/>
        </p:nvGrpSpPr>
        <p:grpSpPr>
          <a:xfrm rot="0">
            <a:off x="1017041" y="4625140"/>
            <a:ext cx="8132388" cy="3683908"/>
            <a:chOff x="0" y="0"/>
            <a:chExt cx="10843184" cy="4911877"/>
          </a:xfrm>
        </p:grpSpPr>
        <p:sp>
          <p:nvSpPr>
            <p:cNvPr name="Freeform 63" id="63" descr="Screenshot_3.jpg"/>
            <p:cNvSpPr/>
            <p:nvPr/>
          </p:nvSpPr>
          <p:spPr>
            <a:xfrm flipH="false" flipV="false" rot="0">
              <a:off x="0" y="0"/>
              <a:ext cx="10843133" cy="4911852"/>
            </a:xfrm>
            <a:custGeom>
              <a:avLst/>
              <a:gdLst/>
              <a:ahLst/>
              <a:cxnLst/>
              <a:rect r="r" b="b" t="t" l="l"/>
              <a:pathLst>
                <a:path h="4911852" w="10843133">
                  <a:moveTo>
                    <a:pt x="0" y="0"/>
                  </a:moveTo>
                  <a:lnTo>
                    <a:pt x="10843133" y="0"/>
                  </a:lnTo>
                  <a:lnTo>
                    <a:pt x="10843133" y="4911852"/>
                  </a:lnTo>
                  <a:lnTo>
                    <a:pt x="0" y="4911852"/>
                  </a:lnTo>
                  <a:lnTo>
                    <a:pt x="0" y="0"/>
                  </a:lnTo>
                  <a:close/>
                </a:path>
              </a:pathLst>
            </a:custGeom>
            <a:blipFill>
              <a:blip r:embed="rId5"/>
              <a:stretch>
                <a:fillRect l="0" t="0" r="0" b="0"/>
              </a:stretch>
            </a:blipFill>
          </p:spPr>
        </p:sp>
      </p:grpSp>
      <p:sp>
        <p:nvSpPr>
          <p:cNvPr name="AutoShape 64" id="64"/>
          <p:cNvSpPr/>
          <p:nvPr/>
        </p:nvSpPr>
        <p:spPr>
          <a:xfrm rot="305040">
            <a:off x="9442514" y="6279261"/>
            <a:ext cx="483680" cy="0"/>
          </a:xfrm>
          <a:prstGeom prst="line">
            <a:avLst/>
          </a:prstGeom>
          <a:ln cap="rnd" w="19050">
            <a:solidFill>
              <a:srgbClr val="D9B100"/>
            </a:solidFill>
            <a:prstDash val="solid"/>
            <a:headEnd type="none" len="sm" w="sm"/>
            <a:tailEnd type="triangle" len="med" w="lg"/>
          </a:ln>
        </p:spPr>
      </p:sp>
      <p:grpSp>
        <p:nvGrpSpPr>
          <p:cNvPr name="Group 65" id="65"/>
          <p:cNvGrpSpPr/>
          <p:nvPr/>
        </p:nvGrpSpPr>
        <p:grpSpPr>
          <a:xfrm rot="0">
            <a:off x="10017728" y="4066975"/>
            <a:ext cx="7454322" cy="4443622"/>
            <a:chOff x="0" y="0"/>
            <a:chExt cx="9939096" cy="5924829"/>
          </a:xfrm>
        </p:grpSpPr>
        <p:sp>
          <p:nvSpPr>
            <p:cNvPr name="Freeform 66" id="66"/>
            <p:cNvSpPr/>
            <p:nvPr/>
          </p:nvSpPr>
          <p:spPr>
            <a:xfrm flipH="false" flipV="false" rot="0">
              <a:off x="0" y="0"/>
              <a:ext cx="9939020" cy="5924804"/>
            </a:xfrm>
            <a:custGeom>
              <a:avLst/>
              <a:gdLst/>
              <a:ahLst/>
              <a:cxnLst/>
              <a:rect r="r" b="b" t="t" l="l"/>
              <a:pathLst>
                <a:path h="5924804" w="9939020">
                  <a:moveTo>
                    <a:pt x="0" y="165227"/>
                  </a:moveTo>
                  <a:cubicBezTo>
                    <a:pt x="0" y="74041"/>
                    <a:pt x="74041" y="0"/>
                    <a:pt x="165227" y="0"/>
                  </a:cubicBezTo>
                  <a:lnTo>
                    <a:pt x="9773793" y="0"/>
                  </a:lnTo>
                  <a:cubicBezTo>
                    <a:pt x="9865106" y="0"/>
                    <a:pt x="9939020" y="74041"/>
                    <a:pt x="9939020" y="165227"/>
                  </a:cubicBezTo>
                  <a:lnTo>
                    <a:pt x="9939020" y="5759577"/>
                  </a:lnTo>
                  <a:cubicBezTo>
                    <a:pt x="9939020" y="5850890"/>
                    <a:pt x="9864979" y="5924804"/>
                    <a:pt x="9773793" y="5924804"/>
                  </a:cubicBezTo>
                  <a:lnTo>
                    <a:pt x="165227" y="5924804"/>
                  </a:lnTo>
                  <a:cubicBezTo>
                    <a:pt x="74041" y="5924804"/>
                    <a:pt x="0" y="5850890"/>
                    <a:pt x="0" y="5759577"/>
                  </a:cubicBezTo>
                  <a:close/>
                </a:path>
              </a:pathLst>
            </a:custGeom>
            <a:solidFill>
              <a:srgbClr val="000000"/>
            </a:solidFill>
            <a:ln w="19050" cap="sq">
              <a:solidFill>
                <a:srgbClr val="2C2F38"/>
              </a:solidFill>
              <a:prstDash val="solid"/>
              <a:miter/>
            </a:ln>
          </p:spPr>
        </p:sp>
      </p:grpSp>
      <p:grpSp>
        <p:nvGrpSpPr>
          <p:cNvPr name="Group 67" id="67"/>
          <p:cNvGrpSpPr/>
          <p:nvPr/>
        </p:nvGrpSpPr>
        <p:grpSpPr>
          <a:xfrm rot="0">
            <a:off x="10301573" y="4282240"/>
            <a:ext cx="164592" cy="164592"/>
            <a:chOff x="0" y="0"/>
            <a:chExt cx="219456" cy="219456"/>
          </a:xfrm>
        </p:grpSpPr>
        <p:sp>
          <p:nvSpPr>
            <p:cNvPr name="Freeform 68" id="6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9" id="69"/>
          <p:cNvGrpSpPr/>
          <p:nvPr/>
        </p:nvGrpSpPr>
        <p:grpSpPr>
          <a:xfrm rot="0">
            <a:off x="10575893" y="4282240"/>
            <a:ext cx="164592" cy="164592"/>
            <a:chOff x="0" y="0"/>
            <a:chExt cx="219456" cy="219456"/>
          </a:xfrm>
        </p:grpSpPr>
        <p:sp>
          <p:nvSpPr>
            <p:cNvPr name="Freeform 70" id="7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1" id="71"/>
          <p:cNvGrpSpPr/>
          <p:nvPr/>
        </p:nvGrpSpPr>
        <p:grpSpPr>
          <a:xfrm rot="0">
            <a:off x="10850213" y="4282240"/>
            <a:ext cx="164592" cy="164592"/>
            <a:chOff x="0" y="0"/>
            <a:chExt cx="219456" cy="219456"/>
          </a:xfrm>
        </p:grpSpPr>
        <p:sp>
          <p:nvSpPr>
            <p:cNvPr name="Freeform 72" id="7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3" id="73"/>
          <p:cNvGrpSpPr/>
          <p:nvPr/>
        </p:nvGrpSpPr>
        <p:grpSpPr>
          <a:xfrm rot="0">
            <a:off x="11206829" y="4158796"/>
            <a:ext cx="6063672" cy="411480"/>
            <a:chOff x="0" y="0"/>
            <a:chExt cx="8084896" cy="548640"/>
          </a:xfrm>
        </p:grpSpPr>
        <p:sp>
          <p:nvSpPr>
            <p:cNvPr name="Freeform 74" id="74"/>
            <p:cNvSpPr/>
            <p:nvPr/>
          </p:nvSpPr>
          <p:spPr>
            <a:xfrm flipH="false" flipV="false" rot="0">
              <a:off x="0" y="0"/>
              <a:ext cx="8084892" cy="548640"/>
            </a:xfrm>
            <a:custGeom>
              <a:avLst/>
              <a:gdLst/>
              <a:ahLst/>
              <a:cxnLst/>
              <a:rect r="r" b="b" t="t" l="l"/>
              <a:pathLst>
                <a:path h="548640" w="8084892">
                  <a:moveTo>
                    <a:pt x="0" y="0"/>
                  </a:moveTo>
                  <a:lnTo>
                    <a:pt x="8084892" y="0"/>
                  </a:lnTo>
                  <a:lnTo>
                    <a:pt x="8084892" y="548640"/>
                  </a:lnTo>
                  <a:lnTo>
                    <a:pt x="0" y="548640"/>
                  </a:lnTo>
                  <a:close/>
                </a:path>
              </a:pathLst>
            </a:custGeom>
            <a:blipFill>
              <a:blip r:embed="rId3">
                <a:alphaModFix amt="0"/>
              </a:blip>
              <a:stretch>
                <a:fillRect l="0" t="-237136" r="0" b="-237136"/>
              </a:stretch>
            </a:blipFill>
          </p:spPr>
        </p:sp>
        <p:sp>
          <p:nvSpPr>
            <p:cNvPr name="TextBox 75" id="75"/>
            <p:cNvSpPr txBox="true"/>
            <p:nvPr/>
          </p:nvSpPr>
          <p:spPr>
            <a:xfrm>
              <a:off x="0" y="-38100"/>
              <a:ext cx="8084896"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account created</a:t>
              </a:r>
            </a:p>
          </p:txBody>
        </p:sp>
      </p:grpSp>
      <p:grpSp>
        <p:nvGrpSpPr>
          <p:cNvPr name="Group 76" id="76"/>
          <p:cNvGrpSpPr/>
          <p:nvPr/>
        </p:nvGrpSpPr>
        <p:grpSpPr>
          <a:xfrm rot="0">
            <a:off x="10219277" y="4625140"/>
            <a:ext cx="7051224" cy="3683908"/>
            <a:chOff x="0" y="0"/>
            <a:chExt cx="9401632" cy="4911877"/>
          </a:xfrm>
        </p:grpSpPr>
        <p:sp>
          <p:nvSpPr>
            <p:cNvPr name="Freeform 77" id="77" descr="s04_clean.jpg"/>
            <p:cNvSpPr/>
            <p:nvPr/>
          </p:nvSpPr>
          <p:spPr>
            <a:xfrm flipH="false" flipV="false" rot="0">
              <a:off x="0" y="0"/>
              <a:ext cx="9401683" cy="4911852"/>
            </a:xfrm>
            <a:custGeom>
              <a:avLst/>
              <a:gdLst/>
              <a:ahLst/>
              <a:cxnLst/>
              <a:rect r="r" b="b" t="t" l="l"/>
              <a:pathLst>
                <a:path h="4911852" w="9401683">
                  <a:moveTo>
                    <a:pt x="0" y="0"/>
                  </a:moveTo>
                  <a:lnTo>
                    <a:pt x="9401683" y="0"/>
                  </a:lnTo>
                  <a:lnTo>
                    <a:pt x="9401683" y="4911852"/>
                  </a:lnTo>
                  <a:lnTo>
                    <a:pt x="0" y="4911852"/>
                  </a:lnTo>
                  <a:lnTo>
                    <a:pt x="0" y="0"/>
                  </a:lnTo>
                  <a:close/>
                </a:path>
              </a:pathLst>
            </a:custGeom>
            <a:blipFill>
              <a:blip r:embed="rId6"/>
              <a:stretch>
                <a:fillRect l="0" t="0" r="0" b="0"/>
              </a:stretch>
            </a:blipFill>
          </p:spPr>
        </p:sp>
      </p:grpSp>
    </p:spTree>
  </p:cSld>
  <p:clrMapOvr>
    <a:masterClrMapping/>
  </p:clrMapOvr>
  <p:transition spd="fast">
    <p:fade/>
  </p:transition>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3 OF 15</a:t>
              </a:r>
            </a:p>
          </p:txBody>
        </p:sp>
      </p:grpSp>
      <p:sp>
        <p:nvSpPr>
          <p:cNvPr name="TextBox 5" id="5"/>
          <p:cNvSpPr txBox="true"/>
          <p:nvPr/>
        </p:nvSpPr>
        <p:spPr>
          <a:xfrm rot="0">
            <a:off x="802386" y="1274445"/>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Log in to the main menu</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Log in, and the main menu greets you by name with eleven options in three groups.</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142920">
            <a:off x="11984488" y="950595"/>
            <a:ext cx="802129"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91922" y="898398"/>
            <a:ext cx="123444" cy="123444"/>
            <a:chOff x="0" y="0"/>
            <a:chExt cx="164592" cy="164592"/>
          </a:xfrm>
        </p:grpSpPr>
        <p:sp>
          <p:nvSpPr>
            <p:cNvPr name="Freeform 18" id="1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19" id="19"/>
          <p:cNvGrpSpPr/>
          <p:nvPr/>
        </p:nvGrpSpPr>
        <p:grpSpPr>
          <a:xfrm rot="0">
            <a:off x="13475970" y="898398"/>
            <a:ext cx="123444" cy="123444"/>
            <a:chOff x="0" y="0"/>
            <a:chExt cx="164592" cy="164592"/>
          </a:xfrm>
        </p:grpSpPr>
        <p:sp>
          <p:nvSpPr>
            <p:cNvPr name="Freeform 20" id="2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1" id="21"/>
          <p:cNvGrpSpPr/>
          <p:nvPr/>
        </p:nvGrpSpPr>
        <p:grpSpPr>
          <a:xfrm rot="0">
            <a:off x="13860018" y="898398"/>
            <a:ext cx="123444" cy="123444"/>
            <a:chOff x="0" y="0"/>
            <a:chExt cx="164592" cy="164592"/>
          </a:xfrm>
        </p:grpSpPr>
        <p:sp>
          <p:nvSpPr>
            <p:cNvPr name="Freeform 22" id="2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2598146"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815492" y="4170912"/>
            <a:ext cx="6923370" cy="4235739"/>
            <a:chOff x="0" y="0"/>
            <a:chExt cx="9231160" cy="5647652"/>
          </a:xfrm>
        </p:grpSpPr>
        <p:sp>
          <p:nvSpPr>
            <p:cNvPr name="Freeform 44" id="44"/>
            <p:cNvSpPr/>
            <p:nvPr/>
          </p:nvSpPr>
          <p:spPr>
            <a:xfrm flipH="false" flipV="false" rot="0">
              <a:off x="0" y="0"/>
              <a:ext cx="9231249" cy="5647690"/>
            </a:xfrm>
            <a:custGeom>
              <a:avLst/>
              <a:gdLst/>
              <a:ahLst/>
              <a:cxnLst/>
              <a:rect r="r" b="b" t="t" l="l"/>
              <a:pathLst>
                <a:path h="5647690" w="9231249">
                  <a:moveTo>
                    <a:pt x="0" y="165354"/>
                  </a:moveTo>
                  <a:cubicBezTo>
                    <a:pt x="0" y="74041"/>
                    <a:pt x="74041" y="0"/>
                    <a:pt x="165354" y="0"/>
                  </a:cubicBezTo>
                  <a:lnTo>
                    <a:pt x="9065895" y="0"/>
                  </a:lnTo>
                  <a:cubicBezTo>
                    <a:pt x="9157208" y="0"/>
                    <a:pt x="9231249" y="74041"/>
                    <a:pt x="9231249" y="165354"/>
                  </a:cubicBezTo>
                  <a:lnTo>
                    <a:pt x="9231249" y="5482336"/>
                  </a:lnTo>
                  <a:cubicBezTo>
                    <a:pt x="9231249" y="5573649"/>
                    <a:pt x="9157208" y="5647690"/>
                    <a:pt x="9065895" y="5647690"/>
                  </a:cubicBezTo>
                  <a:lnTo>
                    <a:pt x="165354" y="5647690"/>
                  </a:lnTo>
                  <a:cubicBezTo>
                    <a:pt x="74041" y="5647690"/>
                    <a:pt x="0" y="5573649"/>
                    <a:pt x="0" y="5482336"/>
                  </a:cubicBezTo>
                  <a:close/>
                </a:path>
              </a:pathLst>
            </a:custGeom>
            <a:solidFill>
              <a:srgbClr val="000000"/>
            </a:solidFill>
            <a:ln w="19050" cap="sq">
              <a:solidFill>
                <a:srgbClr val="2C2F38"/>
              </a:solidFill>
              <a:prstDash val="solid"/>
              <a:miter/>
            </a:ln>
          </p:spPr>
        </p:sp>
      </p:grpSp>
      <p:grpSp>
        <p:nvGrpSpPr>
          <p:cNvPr name="Group 45" id="45"/>
          <p:cNvGrpSpPr/>
          <p:nvPr/>
        </p:nvGrpSpPr>
        <p:grpSpPr>
          <a:xfrm rot="0">
            <a:off x="1099337" y="4386177"/>
            <a:ext cx="164592" cy="164592"/>
            <a:chOff x="0" y="0"/>
            <a:chExt cx="219456" cy="219456"/>
          </a:xfrm>
        </p:grpSpPr>
        <p:sp>
          <p:nvSpPr>
            <p:cNvPr name="Freeform 46" id="4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47" id="47"/>
          <p:cNvGrpSpPr/>
          <p:nvPr/>
        </p:nvGrpSpPr>
        <p:grpSpPr>
          <a:xfrm rot="0">
            <a:off x="1373657" y="4386177"/>
            <a:ext cx="164592" cy="164592"/>
            <a:chOff x="0" y="0"/>
            <a:chExt cx="219456" cy="219456"/>
          </a:xfrm>
        </p:grpSpPr>
        <p:sp>
          <p:nvSpPr>
            <p:cNvPr name="Freeform 48" id="4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49" id="49"/>
          <p:cNvGrpSpPr/>
          <p:nvPr/>
        </p:nvGrpSpPr>
        <p:grpSpPr>
          <a:xfrm rot="0">
            <a:off x="1647977" y="4386177"/>
            <a:ext cx="164592" cy="164592"/>
            <a:chOff x="0" y="0"/>
            <a:chExt cx="219456" cy="219456"/>
          </a:xfrm>
        </p:grpSpPr>
        <p:sp>
          <p:nvSpPr>
            <p:cNvPr name="Freeform 50" id="5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51" id="51"/>
          <p:cNvGrpSpPr/>
          <p:nvPr/>
        </p:nvGrpSpPr>
        <p:grpSpPr>
          <a:xfrm rot="0">
            <a:off x="2004593" y="4262733"/>
            <a:ext cx="5532720" cy="411480"/>
            <a:chOff x="0" y="0"/>
            <a:chExt cx="7376960" cy="548640"/>
          </a:xfrm>
        </p:grpSpPr>
        <p:sp>
          <p:nvSpPr>
            <p:cNvPr name="Freeform 52" id="52"/>
            <p:cNvSpPr/>
            <p:nvPr/>
          </p:nvSpPr>
          <p:spPr>
            <a:xfrm flipH="false" flipV="false" rot="0">
              <a:off x="0" y="0"/>
              <a:ext cx="7376962" cy="548640"/>
            </a:xfrm>
            <a:custGeom>
              <a:avLst/>
              <a:gdLst/>
              <a:ahLst/>
              <a:cxnLst/>
              <a:rect r="r" b="b" t="t" l="l"/>
              <a:pathLst>
                <a:path h="548640" w="7376962">
                  <a:moveTo>
                    <a:pt x="0" y="0"/>
                  </a:moveTo>
                  <a:lnTo>
                    <a:pt x="7376962" y="0"/>
                  </a:lnTo>
                  <a:lnTo>
                    <a:pt x="7376962" y="548640"/>
                  </a:lnTo>
                  <a:lnTo>
                    <a:pt x="0" y="548640"/>
                  </a:lnTo>
                  <a:close/>
                </a:path>
              </a:pathLst>
            </a:custGeom>
            <a:blipFill>
              <a:blip r:embed="rId3">
                <a:alphaModFix amt="0"/>
              </a:blip>
              <a:stretch>
                <a:fillRect l="0" t="-211993" r="0" b="-211993"/>
              </a:stretch>
            </a:blipFill>
          </p:spPr>
        </p:sp>
        <p:sp>
          <p:nvSpPr>
            <p:cNvPr name="TextBox 53" id="53"/>
            <p:cNvSpPr txBox="true"/>
            <p:nvPr/>
          </p:nvSpPr>
          <p:spPr>
            <a:xfrm>
              <a:off x="0" y="-38100"/>
              <a:ext cx="7376960"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1 · log in</a:t>
              </a:r>
            </a:p>
          </p:txBody>
        </p:sp>
      </p:grpSp>
      <p:grpSp>
        <p:nvGrpSpPr>
          <p:cNvPr name="Group 54" id="54"/>
          <p:cNvGrpSpPr/>
          <p:nvPr/>
        </p:nvGrpSpPr>
        <p:grpSpPr>
          <a:xfrm rot="0">
            <a:off x="1017041" y="4729077"/>
            <a:ext cx="6520272" cy="3476025"/>
            <a:chOff x="0" y="0"/>
            <a:chExt cx="8693696" cy="4634700"/>
          </a:xfrm>
        </p:grpSpPr>
        <p:sp>
          <p:nvSpPr>
            <p:cNvPr name="Freeform 55" id="55" descr="Screenshot_5.jpg"/>
            <p:cNvSpPr/>
            <p:nvPr/>
          </p:nvSpPr>
          <p:spPr>
            <a:xfrm flipH="false" flipV="false" rot="0">
              <a:off x="0" y="0"/>
              <a:ext cx="8693658" cy="4634738"/>
            </a:xfrm>
            <a:custGeom>
              <a:avLst/>
              <a:gdLst/>
              <a:ahLst/>
              <a:cxnLst/>
              <a:rect r="r" b="b" t="t" l="l"/>
              <a:pathLst>
                <a:path h="4634738" w="8693658">
                  <a:moveTo>
                    <a:pt x="0" y="0"/>
                  </a:moveTo>
                  <a:lnTo>
                    <a:pt x="8693658" y="0"/>
                  </a:lnTo>
                  <a:lnTo>
                    <a:pt x="8693658" y="4634738"/>
                  </a:lnTo>
                  <a:lnTo>
                    <a:pt x="0" y="4634738"/>
                  </a:lnTo>
                  <a:lnTo>
                    <a:pt x="0" y="0"/>
                  </a:lnTo>
                  <a:close/>
                </a:path>
              </a:pathLst>
            </a:custGeom>
            <a:blipFill>
              <a:blip r:embed="rId5"/>
              <a:stretch>
                <a:fillRect l="0" t="0" r="0" b="0"/>
              </a:stretch>
            </a:blipFill>
          </p:spPr>
        </p:sp>
      </p:grpSp>
      <p:sp>
        <p:nvSpPr>
          <p:cNvPr name="AutoShape 56" id="56"/>
          <p:cNvSpPr/>
          <p:nvPr/>
        </p:nvSpPr>
        <p:spPr>
          <a:xfrm rot="305040">
            <a:off x="7830398" y="6279261"/>
            <a:ext cx="483680" cy="0"/>
          </a:xfrm>
          <a:prstGeom prst="line">
            <a:avLst/>
          </a:prstGeom>
          <a:ln cap="rnd" w="19050">
            <a:solidFill>
              <a:srgbClr val="D9B100"/>
            </a:solidFill>
            <a:prstDash val="solid"/>
            <a:headEnd type="none" len="sm" w="sm"/>
            <a:tailEnd type="triangle" len="med" w="lg"/>
          </a:ln>
        </p:spPr>
      </p:sp>
      <p:grpSp>
        <p:nvGrpSpPr>
          <p:cNvPr name="Group 57" id="57"/>
          <p:cNvGrpSpPr/>
          <p:nvPr/>
        </p:nvGrpSpPr>
        <p:grpSpPr>
          <a:xfrm rot="0">
            <a:off x="8405612" y="3426057"/>
            <a:ext cx="9066438" cy="5725468"/>
            <a:chOff x="0" y="0"/>
            <a:chExt cx="12088584" cy="7633957"/>
          </a:xfrm>
        </p:grpSpPr>
        <p:sp>
          <p:nvSpPr>
            <p:cNvPr name="Freeform 58" id="58"/>
            <p:cNvSpPr/>
            <p:nvPr/>
          </p:nvSpPr>
          <p:spPr>
            <a:xfrm flipH="false" flipV="false" rot="0">
              <a:off x="0" y="0"/>
              <a:ext cx="12088622" cy="7633970"/>
            </a:xfrm>
            <a:custGeom>
              <a:avLst/>
              <a:gdLst/>
              <a:ahLst/>
              <a:cxnLst/>
              <a:rect r="r" b="b" t="t" l="l"/>
              <a:pathLst>
                <a:path h="7633970" w="12088622">
                  <a:moveTo>
                    <a:pt x="0" y="165100"/>
                  </a:moveTo>
                  <a:cubicBezTo>
                    <a:pt x="0" y="73914"/>
                    <a:pt x="73914" y="0"/>
                    <a:pt x="165100" y="0"/>
                  </a:cubicBezTo>
                  <a:lnTo>
                    <a:pt x="11923522" y="0"/>
                  </a:lnTo>
                  <a:cubicBezTo>
                    <a:pt x="12014708" y="0"/>
                    <a:pt x="12088622" y="73914"/>
                    <a:pt x="12088622" y="165100"/>
                  </a:cubicBezTo>
                  <a:lnTo>
                    <a:pt x="12088622" y="7468870"/>
                  </a:lnTo>
                  <a:cubicBezTo>
                    <a:pt x="12088622" y="7560056"/>
                    <a:pt x="12014708" y="7633970"/>
                    <a:pt x="11923522" y="7633970"/>
                  </a:cubicBezTo>
                  <a:lnTo>
                    <a:pt x="165100" y="7633970"/>
                  </a:lnTo>
                  <a:cubicBezTo>
                    <a:pt x="73914" y="7633970"/>
                    <a:pt x="0" y="7560056"/>
                    <a:pt x="0" y="7468870"/>
                  </a:cubicBezTo>
                  <a:close/>
                </a:path>
              </a:pathLst>
            </a:custGeom>
            <a:solidFill>
              <a:srgbClr val="000000"/>
            </a:solidFill>
            <a:ln w="19050" cap="sq">
              <a:solidFill>
                <a:srgbClr val="2C2F38"/>
              </a:solidFill>
              <a:prstDash val="solid"/>
              <a:miter/>
            </a:ln>
          </p:spPr>
        </p:sp>
      </p:grpSp>
      <p:grpSp>
        <p:nvGrpSpPr>
          <p:cNvPr name="Group 59" id="59"/>
          <p:cNvGrpSpPr/>
          <p:nvPr/>
        </p:nvGrpSpPr>
        <p:grpSpPr>
          <a:xfrm rot="0">
            <a:off x="8689457" y="3641322"/>
            <a:ext cx="164592" cy="164592"/>
            <a:chOff x="0" y="0"/>
            <a:chExt cx="219456" cy="219456"/>
          </a:xfrm>
        </p:grpSpPr>
        <p:sp>
          <p:nvSpPr>
            <p:cNvPr name="Freeform 60" id="6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1" id="61"/>
          <p:cNvGrpSpPr/>
          <p:nvPr/>
        </p:nvGrpSpPr>
        <p:grpSpPr>
          <a:xfrm rot="0">
            <a:off x="8963777" y="3641322"/>
            <a:ext cx="164592" cy="164592"/>
            <a:chOff x="0" y="0"/>
            <a:chExt cx="219456" cy="219456"/>
          </a:xfrm>
        </p:grpSpPr>
        <p:sp>
          <p:nvSpPr>
            <p:cNvPr name="Freeform 62" id="6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3" id="63"/>
          <p:cNvGrpSpPr/>
          <p:nvPr/>
        </p:nvGrpSpPr>
        <p:grpSpPr>
          <a:xfrm rot="0">
            <a:off x="9238097" y="3641322"/>
            <a:ext cx="164592" cy="164592"/>
            <a:chOff x="0" y="0"/>
            <a:chExt cx="219456" cy="219456"/>
          </a:xfrm>
        </p:grpSpPr>
        <p:sp>
          <p:nvSpPr>
            <p:cNvPr name="Freeform 64" id="6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5" id="65"/>
          <p:cNvGrpSpPr/>
          <p:nvPr/>
        </p:nvGrpSpPr>
        <p:grpSpPr>
          <a:xfrm rot="0">
            <a:off x="9594713" y="3517878"/>
            <a:ext cx="7675788" cy="411480"/>
            <a:chOff x="0" y="0"/>
            <a:chExt cx="10234384" cy="548640"/>
          </a:xfrm>
        </p:grpSpPr>
        <p:sp>
          <p:nvSpPr>
            <p:cNvPr name="Freeform 66" id="66"/>
            <p:cNvSpPr/>
            <p:nvPr/>
          </p:nvSpPr>
          <p:spPr>
            <a:xfrm flipH="false" flipV="false" rot="0">
              <a:off x="0" y="0"/>
              <a:ext cx="10234382" cy="548640"/>
            </a:xfrm>
            <a:custGeom>
              <a:avLst/>
              <a:gdLst/>
              <a:ahLst/>
              <a:cxnLst/>
              <a:rect r="r" b="b" t="t" l="l"/>
              <a:pathLst>
                <a:path h="548640" w="10234382">
                  <a:moveTo>
                    <a:pt x="0" y="0"/>
                  </a:moveTo>
                  <a:lnTo>
                    <a:pt x="10234382" y="0"/>
                  </a:lnTo>
                  <a:lnTo>
                    <a:pt x="10234382" y="548640"/>
                  </a:lnTo>
                  <a:lnTo>
                    <a:pt x="0" y="548640"/>
                  </a:lnTo>
                  <a:close/>
                </a:path>
              </a:pathLst>
            </a:custGeom>
            <a:blipFill>
              <a:blip r:embed="rId3">
                <a:alphaModFix amt="0"/>
              </a:blip>
              <a:stretch>
                <a:fillRect l="0" t="-313475" r="0" b="-313475"/>
              </a:stretch>
            </a:blipFill>
          </p:spPr>
        </p:sp>
        <p:sp>
          <p:nvSpPr>
            <p:cNvPr name="TextBox 67" id="67"/>
            <p:cNvSpPr txBox="true"/>
            <p:nvPr/>
          </p:nvSpPr>
          <p:spPr>
            <a:xfrm>
              <a:off x="0" y="-38100"/>
              <a:ext cx="1023438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main menu</a:t>
              </a:r>
            </a:p>
          </p:txBody>
        </p:sp>
      </p:grpSp>
      <p:grpSp>
        <p:nvGrpSpPr>
          <p:cNvPr name="Group 68" id="68"/>
          <p:cNvGrpSpPr/>
          <p:nvPr/>
        </p:nvGrpSpPr>
        <p:grpSpPr>
          <a:xfrm rot="0">
            <a:off x="8607161" y="3984222"/>
            <a:ext cx="8663340" cy="4965754"/>
            <a:chOff x="0" y="0"/>
            <a:chExt cx="11551120" cy="6621005"/>
          </a:xfrm>
        </p:grpSpPr>
        <p:sp>
          <p:nvSpPr>
            <p:cNvPr name="Freeform 69" id="69" descr="Screenshot_6.jpg"/>
            <p:cNvSpPr/>
            <p:nvPr/>
          </p:nvSpPr>
          <p:spPr>
            <a:xfrm flipH="false" flipV="false" rot="0">
              <a:off x="0" y="0"/>
              <a:ext cx="11551158" cy="6621018"/>
            </a:xfrm>
            <a:custGeom>
              <a:avLst/>
              <a:gdLst/>
              <a:ahLst/>
              <a:cxnLst/>
              <a:rect r="r" b="b" t="t" l="l"/>
              <a:pathLst>
                <a:path h="6621018" w="11551158">
                  <a:moveTo>
                    <a:pt x="0" y="0"/>
                  </a:moveTo>
                  <a:lnTo>
                    <a:pt x="11551158" y="0"/>
                  </a:lnTo>
                  <a:lnTo>
                    <a:pt x="11551158" y="6621018"/>
                  </a:lnTo>
                  <a:lnTo>
                    <a:pt x="0" y="6621018"/>
                  </a:lnTo>
                  <a:lnTo>
                    <a:pt x="0" y="0"/>
                  </a:lnTo>
                  <a:close/>
                </a:path>
              </a:pathLst>
            </a:custGeom>
            <a:blipFill>
              <a:blip r:embed="rId6"/>
              <a:stretch>
                <a:fillRect l="0" t="0" r="0" b="0"/>
              </a:stretch>
            </a:blipFill>
          </p:spPr>
        </p:sp>
      </p:grpSp>
    </p:spTree>
  </p:cSld>
  <p:clrMapOvr>
    <a:masterClrMapping/>
  </p:clrMapOvr>
  <p:transition spd="fast">
    <p:fade/>
  </p:transition>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4 OF 15</a:t>
              </a:r>
            </a:p>
          </p:txBody>
        </p:sp>
      </p:grpSp>
      <p:sp>
        <p:nvSpPr>
          <p:cNvPr name="TextBox 5" id="5"/>
          <p:cNvSpPr txBox="true"/>
          <p:nvPr/>
        </p:nvSpPr>
        <p:spPr>
          <a:xfrm rot="0">
            <a:off x="802386" y="1274445"/>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Take me somewhere</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Type part of each place name. BFS finds the route and gives directions road by road.</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96660">
            <a:off x="11984593" y="950595"/>
            <a:ext cx="1185948"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75970" y="898398"/>
            <a:ext cx="123444" cy="123444"/>
            <a:chOff x="0" y="0"/>
            <a:chExt cx="164592" cy="164592"/>
          </a:xfrm>
        </p:grpSpPr>
        <p:sp>
          <p:nvSpPr>
            <p:cNvPr name="Freeform 20" id="2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1" id="21"/>
          <p:cNvGrpSpPr/>
          <p:nvPr/>
        </p:nvGrpSpPr>
        <p:grpSpPr>
          <a:xfrm rot="0">
            <a:off x="13860018" y="898398"/>
            <a:ext cx="123444" cy="123444"/>
            <a:chOff x="0" y="0"/>
            <a:chExt cx="164592" cy="164592"/>
          </a:xfrm>
        </p:grpSpPr>
        <p:sp>
          <p:nvSpPr>
            <p:cNvPr name="Freeform 22" id="2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2982194"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351810"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162322" y="9683496"/>
            <a:ext cx="1623698" cy="384048"/>
            <a:chOff x="0" y="0"/>
            <a:chExt cx="2164931" cy="512064"/>
          </a:xfrm>
        </p:grpSpPr>
        <p:sp>
          <p:nvSpPr>
            <p:cNvPr name="Freeform 47" id="47"/>
            <p:cNvSpPr/>
            <p:nvPr/>
          </p:nvSpPr>
          <p:spPr>
            <a:xfrm flipH="false" flipV="false" rot="0">
              <a:off x="0" y="0"/>
              <a:ext cx="2164969" cy="512064"/>
            </a:xfrm>
            <a:custGeom>
              <a:avLst/>
              <a:gdLst/>
              <a:ahLst/>
              <a:cxnLst/>
              <a:rect r="r" b="b" t="t" l="l"/>
              <a:pathLst>
                <a:path h="512064" w="2164969">
                  <a:moveTo>
                    <a:pt x="0" y="107569"/>
                  </a:moveTo>
                  <a:cubicBezTo>
                    <a:pt x="0" y="48133"/>
                    <a:pt x="48133" y="0"/>
                    <a:pt x="107569" y="0"/>
                  </a:cubicBezTo>
                  <a:lnTo>
                    <a:pt x="2057400" y="0"/>
                  </a:lnTo>
                  <a:cubicBezTo>
                    <a:pt x="2116836" y="0"/>
                    <a:pt x="2164969" y="48133"/>
                    <a:pt x="2164969" y="107569"/>
                  </a:cubicBezTo>
                  <a:lnTo>
                    <a:pt x="2164969" y="404495"/>
                  </a:lnTo>
                  <a:cubicBezTo>
                    <a:pt x="2164969" y="463931"/>
                    <a:pt x="2116836" y="512064"/>
                    <a:pt x="2057400"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162322" y="9683496"/>
            <a:ext cx="1623698" cy="384048"/>
            <a:chOff x="0" y="0"/>
            <a:chExt cx="2164931" cy="512064"/>
          </a:xfrm>
        </p:grpSpPr>
        <p:sp>
          <p:nvSpPr>
            <p:cNvPr name="Freeform 49" id="49"/>
            <p:cNvSpPr/>
            <p:nvPr/>
          </p:nvSpPr>
          <p:spPr>
            <a:xfrm flipH="false" flipV="false" rot="0">
              <a:off x="0" y="0"/>
              <a:ext cx="2164934" cy="512064"/>
            </a:xfrm>
            <a:custGeom>
              <a:avLst/>
              <a:gdLst/>
              <a:ahLst/>
              <a:cxnLst/>
              <a:rect r="r" b="b" t="t" l="l"/>
              <a:pathLst>
                <a:path h="512064" w="2164934">
                  <a:moveTo>
                    <a:pt x="0" y="0"/>
                  </a:moveTo>
                  <a:lnTo>
                    <a:pt x="2164934" y="0"/>
                  </a:lnTo>
                  <a:lnTo>
                    <a:pt x="2164934" y="512064"/>
                  </a:lnTo>
                  <a:lnTo>
                    <a:pt x="0" y="512064"/>
                  </a:lnTo>
                  <a:close/>
                </a:path>
              </a:pathLst>
            </a:custGeom>
            <a:blipFill>
              <a:blip r:embed="rId3">
                <a:alphaModFix amt="0"/>
              </a:blip>
              <a:stretch>
                <a:fillRect l="0" t="-32379" r="0" b="-32379"/>
              </a:stretch>
            </a:blipFill>
          </p:spPr>
        </p:sp>
        <p:sp>
          <p:nvSpPr>
            <p:cNvPr name="TextBox 50" id="50"/>
            <p:cNvSpPr txBox="true"/>
            <p:nvPr/>
          </p:nvSpPr>
          <p:spPr>
            <a:xfrm>
              <a:off x="0" y="-38100"/>
              <a:ext cx="2164931"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Linear search</a:t>
              </a:r>
            </a:p>
          </p:txBody>
        </p:sp>
      </p:grpSp>
      <p:grpSp>
        <p:nvGrpSpPr>
          <p:cNvPr name="Group 51" id="51"/>
          <p:cNvGrpSpPr/>
          <p:nvPr/>
        </p:nvGrpSpPr>
        <p:grpSpPr>
          <a:xfrm rot="0">
            <a:off x="15895749" y="9683496"/>
            <a:ext cx="627917" cy="384048"/>
            <a:chOff x="0" y="0"/>
            <a:chExt cx="837222" cy="512064"/>
          </a:xfrm>
        </p:grpSpPr>
        <p:sp>
          <p:nvSpPr>
            <p:cNvPr name="Freeform 52" id="52"/>
            <p:cNvSpPr/>
            <p:nvPr/>
          </p:nvSpPr>
          <p:spPr>
            <a:xfrm flipH="false" flipV="false" rot="0">
              <a:off x="0" y="0"/>
              <a:ext cx="837311" cy="512064"/>
            </a:xfrm>
            <a:custGeom>
              <a:avLst/>
              <a:gdLst/>
              <a:ahLst/>
              <a:cxnLst/>
              <a:rect r="r" b="b" t="t" l="l"/>
              <a:pathLst>
                <a:path h="512064" w="837311">
                  <a:moveTo>
                    <a:pt x="0" y="107569"/>
                  </a:moveTo>
                  <a:cubicBezTo>
                    <a:pt x="0" y="48133"/>
                    <a:pt x="48133" y="0"/>
                    <a:pt x="107569" y="0"/>
                  </a:cubicBezTo>
                  <a:lnTo>
                    <a:pt x="729742" y="0"/>
                  </a:lnTo>
                  <a:cubicBezTo>
                    <a:pt x="789178" y="0"/>
                    <a:pt x="837311" y="48133"/>
                    <a:pt x="837311" y="107569"/>
                  </a:cubicBezTo>
                  <a:lnTo>
                    <a:pt x="837311" y="404495"/>
                  </a:lnTo>
                  <a:cubicBezTo>
                    <a:pt x="837311" y="463931"/>
                    <a:pt x="789178" y="512064"/>
                    <a:pt x="729742"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5895749" y="9683496"/>
            <a:ext cx="627917" cy="384048"/>
            <a:chOff x="0" y="0"/>
            <a:chExt cx="837222" cy="512064"/>
          </a:xfrm>
        </p:grpSpPr>
        <p:sp>
          <p:nvSpPr>
            <p:cNvPr name="Freeform 54" id="54"/>
            <p:cNvSpPr/>
            <p:nvPr/>
          </p:nvSpPr>
          <p:spPr>
            <a:xfrm flipH="false" flipV="false" rot="0">
              <a:off x="0" y="0"/>
              <a:ext cx="837224" cy="512064"/>
            </a:xfrm>
            <a:custGeom>
              <a:avLst/>
              <a:gdLst/>
              <a:ahLst/>
              <a:cxnLst/>
              <a:rect r="r" b="b" t="t" l="l"/>
              <a:pathLst>
                <a:path h="512064" w="837224">
                  <a:moveTo>
                    <a:pt x="0" y="0"/>
                  </a:moveTo>
                  <a:lnTo>
                    <a:pt x="837224" y="0"/>
                  </a:lnTo>
                  <a:lnTo>
                    <a:pt x="837224" y="512064"/>
                  </a:lnTo>
                  <a:lnTo>
                    <a:pt x="0" y="512064"/>
                  </a:lnTo>
                  <a:close/>
                </a:path>
              </a:pathLst>
            </a:custGeom>
            <a:blipFill>
              <a:blip r:embed="rId3">
                <a:alphaModFix amt="0"/>
              </a:blip>
              <a:stretch>
                <a:fillRect l="-28473" t="0" r="-28473" b="0"/>
              </a:stretch>
            </a:blipFill>
          </p:spPr>
        </p:sp>
        <p:sp>
          <p:nvSpPr>
            <p:cNvPr name="TextBox 55" id="55"/>
            <p:cNvSpPr txBox="true"/>
            <p:nvPr/>
          </p:nvSpPr>
          <p:spPr>
            <a:xfrm>
              <a:off x="0" y="-38100"/>
              <a:ext cx="837222"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BFS</a:t>
              </a:r>
            </a:p>
          </p:txBody>
        </p:sp>
      </p:grpSp>
      <p:grpSp>
        <p:nvGrpSpPr>
          <p:cNvPr name="Group 56" id="56"/>
          <p:cNvGrpSpPr/>
          <p:nvPr/>
        </p:nvGrpSpPr>
        <p:grpSpPr>
          <a:xfrm rot="0">
            <a:off x="16633393" y="9683496"/>
            <a:ext cx="827075" cy="384048"/>
            <a:chOff x="0" y="0"/>
            <a:chExt cx="1102766" cy="512064"/>
          </a:xfrm>
        </p:grpSpPr>
        <p:sp>
          <p:nvSpPr>
            <p:cNvPr name="Freeform 57" id="57"/>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58" id="58"/>
          <p:cNvGrpSpPr/>
          <p:nvPr/>
        </p:nvGrpSpPr>
        <p:grpSpPr>
          <a:xfrm rot="0">
            <a:off x="16633393" y="9683496"/>
            <a:ext cx="827075" cy="384048"/>
            <a:chOff x="0" y="0"/>
            <a:chExt cx="1102766" cy="512064"/>
          </a:xfrm>
        </p:grpSpPr>
        <p:sp>
          <p:nvSpPr>
            <p:cNvPr name="Freeform 59" id="59"/>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60" id="60"/>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Queue</a:t>
              </a:r>
            </a:p>
          </p:txBody>
        </p:sp>
      </p:grpSp>
      <p:grpSp>
        <p:nvGrpSpPr>
          <p:cNvPr name="Group 61" id="61"/>
          <p:cNvGrpSpPr/>
          <p:nvPr/>
        </p:nvGrpSpPr>
        <p:grpSpPr>
          <a:xfrm rot="0">
            <a:off x="815492" y="4922044"/>
            <a:ext cx="7659853" cy="2733484"/>
            <a:chOff x="0" y="0"/>
            <a:chExt cx="10213137" cy="3644646"/>
          </a:xfrm>
        </p:grpSpPr>
        <p:sp>
          <p:nvSpPr>
            <p:cNvPr name="Freeform 62" id="62"/>
            <p:cNvSpPr/>
            <p:nvPr/>
          </p:nvSpPr>
          <p:spPr>
            <a:xfrm flipH="false" flipV="false" rot="0">
              <a:off x="0" y="0"/>
              <a:ext cx="10213086" cy="3644646"/>
            </a:xfrm>
            <a:custGeom>
              <a:avLst/>
              <a:gdLst/>
              <a:ahLst/>
              <a:cxnLst/>
              <a:rect r="r" b="b" t="t" l="l"/>
              <a:pathLst>
                <a:path h="3644646" w="10213086">
                  <a:moveTo>
                    <a:pt x="0" y="165735"/>
                  </a:moveTo>
                  <a:cubicBezTo>
                    <a:pt x="0" y="74168"/>
                    <a:pt x="74168" y="0"/>
                    <a:pt x="165735" y="0"/>
                  </a:cubicBezTo>
                  <a:lnTo>
                    <a:pt x="10047351" y="0"/>
                  </a:lnTo>
                  <a:cubicBezTo>
                    <a:pt x="10138918" y="0"/>
                    <a:pt x="10213086" y="74168"/>
                    <a:pt x="10213086" y="165735"/>
                  </a:cubicBezTo>
                  <a:lnTo>
                    <a:pt x="10213086" y="3478911"/>
                  </a:lnTo>
                  <a:cubicBezTo>
                    <a:pt x="10213086" y="3570478"/>
                    <a:pt x="10138918" y="3644646"/>
                    <a:pt x="10047351" y="3644646"/>
                  </a:cubicBezTo>
                  <a:lnTo>
                    <a:pt x="165735" y="3644646"/>
                  </a:lnTo>
                  <a:cubicBezTo>
                    <a:pt x="74168" y="3644646"/>
                    <a:pt x="0" y="3570478"/>
                    <a:pt x="0" y="3478911"/>
                  </a:cubicBezTo>
                  <a:close/>
                </a:path>
              </a:pathLst>
            </a:custGeom>
            <a:solidFill>
              <a:srgbClr val="000000"/>
            </a:solidFill>
            <a:ln w="19050" cap="sq">
              <a:solidFill>
                <a:srgbClr val="2C2F38"/>
              </a:solidFill>
              <a:prstDash val="solid"/>
              <a:miter/>
            </a:ln>
          </p:spPr>
        </p:sp>
      </p:grpSp>
      <p:grpSp>
        <p:nvGrpSpPr>
          <p:cNvPr name="Group 63" id="63"/>
          <p:cNvGrpSpPr/>
          <p:nvPr/>
        </p:nvGrpSpPr>
        <p:grpSpPr>
          <a:xfrm rot="0">
            <a:off x="1099337" y="5137309"/>
            <a:ext cx="164592" cy="164592"/>
            <a:chOff x="0" y="0"/>
            <a:chExt cx="219456" cy="219456"/>
          </a:xfrm>
        </p:grpSpPr>
        <p:sp>
          <p:nvSpPr>
            <p:cNvPr name="Freeform 64" id="6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5" id="65"/>
          <p:cNvGrpSpPr/>
          <p:nvPr/>
        </p:nvGrpSpPr>
        <p:grpSpPr>
          <a:xfrm rot="0">
            <a:off x="1373657" y="5137309"/>
            <a:ext cx="164592" cy="164592"/>
            <a:chOff x="0" y="0"/>
            <a:chExt cx="219456" cy="219456"/>
          </a:xfrm>
        </p:grpSpPr>
        <p:sp>
          <p:nvSpPr>
            <p:cNvPr name="Freeform 66" id="6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7" id="67"/>
          <p:cNvGrpSpPr/>
          <p:nvPr/>
        </p:nvGrpSpPr>
        <p:grpSpPr>
          <a:xfrm rot="0">
            <a:off x="1647977" y="5137309"/>
            <a:ext cx="164592" cy="164592"/>
            <a:chOff x="0" y="0"/>
            <a:chExt cx="219456" cy="219456"/>
          </a:xfrm>
        </p:grpSpPr>
        <p:sp>
          <p:nvSpPr>
            <p:cNvPr name="Freeform 68" id="6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9" id="69"/>
          <p:cNvGrpSpPr/>
          <p:nvPr/>
        </p:nvGrpSpPr>
        <p:grpSpPr>
          <a:xfrm rot="0">
            <a:off x="2004593" y="5013865"/>
            <a:ext cx="6269203" cy="411480"/>
            <a:chOff x="0" y="0"/>
            <a:chExt cx="8358937" cy="548640"/>
          </a:xfrm>
        </p:grpSpPr>
        <p:sp>
          <p:nvSpPr>
            <p:cNvPr name="Freeform 70" id="70"/>
            <p:cNvSpPr/>
            <p:nvPr/>
          </p:nvSpPr>
          <p:spPr>
            <a:xfrm flipH="false" flipV="false" rot="0">
              <a:off x="0" y="0"/>
              <a:ext cx="8358932" cy="548640"/>
            </a:xfrm>
            <a:custGeom>
              <a:avLst/>
              <a:gdLst/>
              <a:ahLst/>
              <a:cxnLst/>
              <a:rect r="r" b="b" t="t" l="l"/>
              <a:pathLst>
                <a:path h="548640" w="8358932">
                  <a:moveTo>
                    <a:pt x="0" y="0"/>
                  </a:moveTo>
                  <a:lnTo>
                    <a:pt x="8358932" y="0"/>
                  </a:lnTo>
                  <a:lnTo>
                    <a:pt x="8358932" y="548640"/>
                  </a:lnTo>
                  <a:lnTo>
                    <a:pt x="0" y="548640"/>
                  </a:lnTo>
                  <a:close/>
                </a:path>
              </a:pathLst>
            </a:custGeom>
            <a:blipFill>
              <a:blip r:embed="rId3">
                <a:alphaModFix amt="0"/>
              </a:blip>
              <a:stretch>
                <a:fillRect l="0" t="-246868" r="0" b="-246868"/>
              </a:stretch>
            </a:blipFill>
          </p:spPr>
        </p:sp>
        <p:sp>
          <p:nvSpPr>
            <p:cNvPr name="TextBox 71" id="71"/>
            <p:cNvSpPr txBox="true"/>
            <p:nvPr/>
          </p:nvSpPr>
          <p:spPr>
            <a:xfrm>
              <a:off x="0" y="-38100"/>
              <a:ext cx="8358937"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1 · take me somewhere</a:t>
              </a:r>
            </a:p>
          </p:txBody>
        </p:sp>
      </p:grpSp>
      <p:grpSp>
        <p:nvGrpSpPr>
          <p:cNvPr name="Group 72" id="72"/>
          <p:cNvGrpSpPr/>
          <p:nvPr/>
        </p:nvGrpSpPr>
        <p:grpSpPr>
          <a:xfrm rot="0">
            <a:off x="1017041" y="5480209"/>
            <a:ext cx="7256755" cy="1973770"/>
            <a:chOff x="0" y="0"/>
            <a:chExt cx="9675673" cy="2631694"/>
          </a:xfrm>
        </p:grpSpPr>
        <p:sp>
          <p:nvSpPr>
            <p:cNvPr name="Freeform 73" id="73" descr="Screenshot_7.jpg"/>
            <p:cNvSpPr/>
            <p:nvPr/>
          </p:nvSpPr>
          <p:spPr>
            <a:xfrm flipH="false" flipV="false" rot="0">
              <a:off x="0" y="0"/>
              <a:ext cx="9675622" cy="2631694"/>
            </a:xfrm>
            <a:custGeom>
              <a:avLst/>
              <a:gdLst/>
              <a:ahLst/>
              <a:cxnLst/>
              <a:rect r="r" b="b" t="t" l="l"/>
              <a:pathLst>
                <a:path h="2631694" w="9675622">
                  <a:moveTo>
                    <a:pt x="0" y="0"/>
                  </a:moveTo>
                  <a:lnTo>
                    <a:pt x="9675622" y="0"/>
                  </a:lnTo>
                  <a:lnTo>
                    <a:pt x="9675622" y="2631694"/>
                  </a:lnTo>
                  <a:lnTo>
                    <a:pt x="0" y="2631694"/>
                  </a:lnTo>
                  <a:lnTo>
                    <a:pt x="0" y="0"/>
                  </a:lnTo>
                  <a:close/>
                </a:path>
              </a:pathLst>
            </a:custGeom>
            <a:blipFill>
              <a:blip r:embed="rId5"/>
              <a:stretch>
                <a:fillRect l="0" t="0" r="0" b="0"/>
              </a:stretch>
            </a:blipFill>
          </p:spPr>
        </p:sp>
      </p:grpSp>
      <p:sp>
        <p:nvSpPr>
          <p:cNvPr name="AutoShape 74" id="74"/>
          <p:cNvSpPr/>
          <p:nvPr/>
        </p:nvSpPr>
        <p:spPr>
          <a:xfrm rot="305040">
            <a:off x="8566880" y="6279261"/>
            <a:ext cx="483680" cy="0"/>
          </a:xfrm>
          <a:prstGeom prst="line">
            <a:avLst/>
          </a:prstGeom>
          <a:ln cap="rnd" w="19050">
            <a:solidFill>
              <a:srgbClr val="D9B100"/>
            </a:solidFill>
            <a:prstDash val="solid"/>
            <a:headEnd type="none" len="sm" w="sm"/>
            <a:tailEnd type="triangle" len="med" w="lg"/>
          </a:ln>
        </p:spPr>
      </p:sp>
      <p:grpSp>
        <p:nvGrpSpPr>
          <p:cNvPr name="Group 75" id="75"/>
          <p:cNvGrpSpPr/>
          <p:nvPr/>
        </p:nvGrpSpPr>
        <p:grpSpPr>
          <a:xfrm rot="0">
            <a:off x="9142095" y="4317178"/>
            <a:ext cx="8329955" cy="3943217"/>
            <a:chOff x="0" y="0"/>
            <a:chExt cx="11106607" cy="5257622"/>
          </a:xfrm>
        </p:grpSpPr>
        <p:sp>
          <p:nvSpPr>
            <p:cNvPr name="Freeform 76" id="76"/>
            <p:cNvSpPr/>
            <p:nvPr/>
          </p:nvSpPr>
          <p:spPr>
            <a:xfrm flipH="false" flipV="false" rot="0">
              <a:off x="0" y="0"/>
              <a:ext cx="11106658" cy="5257673"/>
            </a:xfrm>
            <a:custGeom>
              <a:avLst/>
              <a:gdLst/>
              <a:ahLst/>
              <a:cxnLst/>
              <a:rect r="r" b="b" t="t" l="l"/>
              <a:pathLst>
                <a:path h="5257673" w="11106658">
                  <a:moveTo>
                    <a:pt x="0" y="165354"/>
                  </a:moveTo>
                  <a:cubicBezTo>
                    <a:pt x="0" y="74041"/>
                    <a:pt x="74041" y="0"/>
                    <a:pt x="165354" y="0"/>
                  </a:cubicBezTo>
                  <a:lnTo>
                    <a:pt x="10941304" y="0"/>
                  </a:lnTo>
                  <a:cubicBezTo>
                    <a:pt x="11032617" y="0"/>
                    <a:pt x="11106658" y="74041"/>
                    <a:pt x="11106658" y="165354"/>
                  </a:cubicBezTo>
                  <a:lnTo>
                    <a:pt x="11106658" y="5092319"/>
                  </a:lnTo>
                  <a:cubicBezTo>
                    <a:pt x="11106658" y="5183632"/>
                    <a:pt x="11032617" y="5257673"/>
                    <a:pt x="10941304" y="5257673"/>
                  </a:cubicBezTo>
                  <a:lnTo>
                    <a:pt x="165354" y="5257673"/>
                  </a:lnTo>
                  <a:cubicBezTo>
                    <a:pt x="74041" y="5257673"/>
                    <a:pt x="0" y="5183632"/>
                    <a:pt x="0" y="5092319"/>
                  </a:cubicBezTo>
                  <a:close/>
                </a:path>
              </a:pathLst>
            </a:custGeom>
            <a:solidFill>
              <a:srgbClr val="000000"/>
            </a:solidFill>
            <a:ln w="19050" cap="sq">
              <a:solidFill>
                <a:srgbClr val="2C2F38"/>
              </a:solidFill>
              <a:prstDash val="solid"/>
              <a:miter/>
            </a:ln>
          </p:spPr>
        </p:sp>
      </p:grpSp>
      <p:grpSp>
        <p:nvGrpSpPr>
          <p:cNvPr name="Group 77" id="77"/>
          <p:cNvGrpSpPr/>
          <p:nvPr/>
        </p:nvGrpSpPr>
        <p:grpSpPr>
          <a:xfrm rot="0">
            <a:off x="9425940" y="4532443"/>
            <a:ext cx="164592" cy="164592"/>
            <a:chOff x="0" y="0"/>
            <a:chExt cx="219456" cy="219456"/>
          </a:xfrm>
        </p:grpSpPr>
        <p:sp>
          <p:nvSpPr>
            <p:cNvPr name="Freeform 78" id="7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79" id="79"/>
          <p:cNvGrpSpPr/>
          <p:nvPr/>
        </p:nvGrpSpPr>
        <p:grpSpPr>
          <a:xfrm rot="0">
            <a:off x="9700260" y="4532443"/>
            <a:ext cx="164592" cy="164592"/>
            <a:chOff x="0" y="0"/>
            <a:chExt cx="219456" cy="219456"/>
          </a:xfrm>
        </p:grpSpPr>
        <p:sp>
          <p:nvSpPr>
            <p:cNvPr name="Freeform 80" id="8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81" id="81"/>
          <p:cNvGrpSpPr/>
          <p:nvPr/>
        </p:nvGrpSpPr>
        <p:grpSpPr>
          <a:xfrm rot="0">
            <a:off x="9974580" y="4532443"/>
            <a:ext cx="164592" cy="164592"/>
            <a:chOff x="0" y="0"/>
            <a:chExt cx="219456" cy="219456"/>
          </a:xfrm>
        </p:grpSpPr>
        <p:sp>
          <p:nvSpPr>
            <p:cNvPr name="Freeform 82" id="8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83" id="83"/>
          <p:cNvGrpSpPr/>
          <p:nvPr/>
        </p:nvGrpSpPr>
        <p:grpSpPr>
          <a:xfrm rot="0">
            <a:off x="10331196" y="4408999"/>
            <a:ext cx="6939305" cy="411480"/>
            <a:chOff x="0" y="0"/>
            <a:chExt cx="9252407" cy="548640"/>
          </a:xfrm>
        </p:grpSpPr>
        <p:sp>
          <p:nvSpPr>
            <p:cNvPr name="Freeform 84" id="84"/>
            <p:cNvSpPr/>
            <p:nvPr/>
          </p:nvSpPr>
          <p:spPr>
            <a:xfrm flipH="false" flipV="false" rot="0">
              <a:off x="0" y="0"/>
              <a:ext cx="9252412" cy="548640"/>
            </a:xfrm>
            <a:custGeom>
              <a:avLst/>
              <a:gdLst/>
              <a:ahLst/>
              <a:cxnLst/>
              <a:rect r="r" b="b" t="t" l="l"/>
              <a:pathLst>
                <a:path h="548640" w="9252412">
                  <a:moveTo>
                    <a:pt x="0" y="0"/>
                  </a:moveTo>
                  <a:lnTo>
                    <a:pt x="9252412" y="0"/>
                  </a:lnTo>
                  <a:lnTo>
                    <a:pt x="9252412" y="548640"/>
                  </a:lnTo>
                  <a:lnTo>
                    <a:pt x="0" y="548640"/>
                  </a:lnTo>
                  <a:close/>
                </a:path>
              </a:pathLst>
            </a:custGeom>
            <a:blipFill>
              <a:blip r:embed="rId3">
                <a:alphaModFix amt="0"/>
              </a:blip>
              <a:stretch>
                <a:fillRect l="0" t="-278600" r="0" b="-278600"/>
              </a:stretch>
            </a:blipFill>
          </p:spPr>
        </p:sp>
        <p:sp>
          <p:nvSpPr>
            <p:cNvPr name="TextBox 85" id="85"/>
            <p:cNvSpPr txBox="true"/>
            <p:nvPr/>
          </p:nvSpPr>
          <p:spPr>
            <a:xfrm>
              <a:off x="0" y="-38100"/>
              <a:ext cx="9252407"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directions</a:t>
              </a:r>
            </a:p>
          </p:txBody>
        </p:sp>
      </p:grpSp>
      <p:grpSp>
        <p:nvGrpSpPr>
          <p:cNvPr name="Group 86" id="86"/>
          <p:cNvGrpSpPr/>
          <p:nvPr/>
        </p:nvGrpSpPr>
        <p:grpSpPr>
          <a:xfrm rot="0">
            <a:off x="9343644" y="4875343"/>
            <a:ext cx="7926857" cy="3183503"/>
            <a:chOff x="0" y="0"/>
            <a:chExt cx="10569143" cy="4244670"/>
          </a:xfrm>
        </p:grpSpPr>
        <p:sp>
          <p:nvSpPr>
            <p:cNvPr name="Freeform 87" id="87" descr="Screenshot_8.jpg"/>
            <p:cNvSpPr/>
            <p:nvPr/>
          </p:nvSpPr>
          <p:spPr>
            <a:xfrm flipH="false" flipV="false" rot="0">
              <a:off x="0" y="0"/>
              <a:ext cx="10569194" cy="4244721"/>
            </a:xfrm>
            <a:custGeom>
              <a:avLst/>
              <a:gdLst/>
              <a:ahLst/>
              <a:cxnLst/>
              <a:rect r="r" b="b" t="t" l="l"/>
              <a:pathLst>
                <a:path h="4244721" w="10569194">
                  <a:moveTo>
                    <a:pt x="0" y="0"/>
                  </a:moveTo>
                  <a:lnTo>
                    <a:pt x="10569194" y="0"/>
                  </a:lnTo>
                  <a:lnTo>
                    <a:pt x="10569194" y="4244721"/>
                  </a:lnTo>
                  <a:lnTo>
                    <a:pt x="0" y="4244721"/>
                  </a:lnTo>
                  <a:lnTo>
                    <a:pt x="0" y="0"/>
                  </a:lnTo>
                  <a:close/>
                </a:path>
              </a:pathLst>
            </a:custGeom>
            <a:blipFill>
              <a:blip r:embed="rId6"/>
              <a:stretch>
                <a:fillRect l="0" t="0" r="0" b="1"/>
              </a:stretch>
            </a:blipFill>
          </p:spPr>
        </p:sp>
      </p:grpSp>
    </p:spTree>
  </p:cSld>
  <p:clrMapOvr>
    <a:masterClrMapping/>
  </p:clrMapOvr>
  <p:transition spd="fast">
    <p:fade/>
  </p:transition>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5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Take me somewhere: the stops</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Every stop with its leg and running total, then “I’m going” moves you to the destination.</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73020">
            <a:off x="11984650" y="950595"/>
            <a:ext cx="1569882"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60018" y="898398"/>
            <a:ext cx="123444" cy="123444"/>
            <a:chOff x="0" y="0"/>
            <a:chExt cx="164592" cy="164592"/>
          </a:xfrm>
        </p:grpSpPr>
        <p:sp>
          <p:nvSpPr>
            <p:cNvPr name="Freeform 22" id="2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3366242"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3288613"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5099125" y="9683496"/>
            <a:ext cx="827075" cy="384048"/>
            <a:chOff x="0" y="0"/>
            <a:chExt cx="1102766" cy="512064"/>
          </a:xfrm>
        </p:grpSpPr>
        <p:sp>
          <p:nvSpPr>
            <p:cNvPr name="Freeform 47" id="47"/>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5099125" y="9683496"/>
            <a:ext cx="827075" cy="384048"/>
            <a:chOff x="0" y="0"/>
            <a:chExt cx="1102766" cy="512064"/>
          </a:xfrm>
        </p:grpSpPr>
        <p:sp>
          <p:nvSpPr>
            <p:cNvPr name="Freeform 49" id="49"/>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0" id="50"/>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Stack</a:t>
              </a:r>
            </a:p>
          </p:txBody>
        </p:sp>
      </p:grpSp>
      <p:grpSp>
        <p:nvGrpSpPr>
          <p:cNvPr name="Group 51" id="51"/>
          <p:cNvGrpSpPr/>
          <p:nvPr/>
        </p:nvGrpSpPr>
        <p:grpSpPr>
          <a:xfrm rot="0">
            <a:off x="16035928" y="9683496"/>
            <a:ext cx="1424540" cy="384048"/>
            <a:chOff x="0" y="0"/>
            <a:chExt cx="1899387" cy="512064"/>
          </a:xfrm>
        </p:grpSpPr>
        <p:sp>
          <p:nvSpPr>
            <p:cNvPr name="Freeform 52" id="52"/>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035928" y="9683496"/>
            <a:ext cx="1424540" cy="384048"/>
            <a:chOff x="0" y="0"/>
            <a:chExt cx="1899387" cy="512064"/>
          </a:xfrm>
        </p:grpSpPr>
        <p:sp>
          <p:nvSpPr>
            <p:cNvPr name="Freeform 54" id="54"/>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5" id="55"/>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Linked list</a:t>
              </a:r>
            </a:p>
          </p:txBody>
        </p:sp>
      </p:grpSp>
      <p:grpSp>
        <p:nvGrpSpPr>
          <p:cNvPr name="Group 56" id="56"/>
          <p:cNvGrpSpPr/>
          <p:nvPr/>
        </p:nvGrpSpPr>
        <p:grpSpPr>
          <a:xfrm rot="0">
            <a:off x="815492" y="4117743"/>
            <a:ext cx="10071954" cy="4342095"/>
            <a:chOff x="0" y="0"/>
            <a:chExt cx="13429272" cy="5789460"/>
          </a:xfrm>
        </p:grpSpPr>
        <p:sp>
          <p:nvSpPr>
            <p:cNvPr name="Freeform 57" id="57"/>
            <p:cNvSpPr/>
            <p:nvPr/>
          </p:nvSpPr>
          <p:spPr>
            <a:xfrm flipH="false" flipV="false" rot="0">
              <a:off x="0" y="0"/>
              <a:ext cx="13429235" cy="5789422"/>
            </a:xfrm>
            <a:custGeom>
              <a:avLst/>
              <a:gdLst/>
              <a:ahLst/>
              <a:cxnLst/>
              <a:rect r="r" b="b" t="t" l="l"/>
              <a:pathLst>
                <a:path h="5789422" w="13429235">
                  <a:moveTo>
                    <a:pt x="0" y="165227"/>
                  </a:moveTo>
                  <a:cubicBezTo>
                    <a:pt x="0" y="74041"/>
                    <a:pt x="74041" y="0"/>
                    <a:pt x="165227" y="0"/>
                  </a:cubicBezTo>
                  <a:lnTo>
                    <a:pt x="13264007" y="0"/>
                  </a:lnTo>
                  <a:cubicBezTo>
                    <a:pt x="13355321" y="0"/>
                    <a:pt x="13429235" y="74041"/>
                    <a:pt x="13429235" y="165227"/>
                  </a:cubicBezTo>
                  <a:lnTo>
                    <a:pt x="13429235" y="5624195"/>
                  </a:lnTo>
                  <a:cubicBezTo>
                    <a:pt x="13429235" y="5715508"/>
                    <a:pt x="13355194" y="5789422"/>
                    <a:pt x="13264007" y="5789422"/>
                  </a:cubicBezTo>
                  <a:lnTo>
                    <a:pt x="165227" y="5789422"/>
                  </a:lnTo>
                  <a:cubicBezTo>
                    <a:pt x="74041" y="5789422"/>
                    <a:pt x="0" y="5715508"/>
                    <a:pt x="0" y="5624195"/>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1099337" y="4333008"/>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1373657" y="4333008"/>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1647977" y="4333008"/>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2004593" y="4209564"/>
            <a:ext cx="8681304" cy="411480"/>
            <a:chOff x="0" y="0"/>
            <a:chExt cx="11575072" cy="548640"/>
          </a:xfrm>
        </p:grpSpPr>
        <p:sp>
          <p:nvSpPr>
            <p:cNvPr name="Freeform 65" id="65"/>
            <p:cNvSpPr/>
            <p:nvPr/>
          </p:nvSpPr>
          <p:spPr>
            <a:xfrm flipH="false" flipV="false" rot="0">
              <a:off x="0" y="0"/>
              <a:ext cx="11575068" cy="548640"/>
            </a:xfrm>
            <a:custGeom>
              <a:avLst/>
              <a:gdLst/>
              <a:ahLst/>
              <a:cxnLst/>
              <a:rect r="r" b="b" t="t" l="l"/>
              <a:pathLst>
                <a:path h="548640" w="11575068">
                  <a:moveTo>
                    <a:pt x="0" y="0"/>
                  </a:moveTo>
                  <a:lnTo>
                    <a:pt x="11575068" y="0"/>
                  </a:lnTo>
                  <a:lnTo>
                    <a:pt x="11575068" y="548640"/>
                  </a:lnTo>
                  <a:lnTo>
                    <a:pt x="0" y="548640"/>
                  </a:lnTo>
                  <a:close/>
                </a:path>
              </a:pathLst>
            </a:custGeom>
            <a:blipFill>
              <a:blip r:embed="rId3">
                <a:alphaModFix amt="0"/>
              </a:blip>
              <a:stretch>
                <a:fillRect l="0" t="-361090" r="0" b="-361090"/>
              </a:stretch>
            </a:blipFill>
          </p:spPr>
        </p:sp>
        <p:sp>
          <p:nvSpPr>
            <p:cNvPr name="TextBox 66" id="66"/>
            <p:cNvSpPr txBox="true"/>
            <p:nvPr/>
          </p:nvSpPr>
          <p:spPr>
            <a:xfrm>
              <a:off x="0" y="-38100"/>
              <a:ext cx="11575072"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stops and roads</a:t>
              </a:r>
            </a:p>
          </p:txBody>
        </p:sp>
      </p:grpSp>
      <p:grpSp>
        <p:nvGrpSpPr>
          <p:cNvPr name="Group 67" id="67"/>
          <p:cNvGrpSpPr/>
          <p:nvPr/>
        </p:nvGrpSpPr>
        <p:grpSpPr>
          <a:xfrm rot="0">
            <a:off x="1017041" y="4675908"/>
            <a:ext cx="9668856" cy="3582381"/>
            <a:chOff x="0" y="0"/>
            <a:chExt cx="12891808" cy="4776508"/>
          </a:xfrm>
        </p:grpSpPr>
        <p:sp>
          <p:nvSpPr>
            <p:cNvPr name="Freeform 68" id="68" descr="Screenshot_9.jpg"/>
            <p:cNvSpPr/>
            <p:nvPr/>
          </p:nvSpPr>
          <p:spPr>
            <a:xfrm flipH="false" flipV="false" rot="0">
              <a:off x="0" y="0"/>
              <a:ext cx="12891770" cy="4776470"/>
            </a:xfrm>
            <a:custGeom>
              <a:avLst/>
              <a:gdLst/>
              <a:ahLst/>
              <a:cxnLst/>
              <a:rect r="r" b="b" t="t" l="l"/>
              <a:pathLst>
                <a:path h="4776470" w="12891770">
                  <a:moveTo>
                    <a:pt x="0" y="0"/>
                  </a:moveTo>
                  <a:lnTo>
                    <a:pt x="12891770" y="0"/>
                  </a:lnTo>
                  <a:lnTo>
                    <a:pt x="12891770" y="4776470"/>
                  </a:lnTo>
                  <a:lnTo>
                    <a:pt x="0" y="4776470"/>
                  </a:lnTo>
                  <a:lnTo>
                    <a:pt x="0" y="0"/>
                  </a:lnTo>
                  <a:close/>
                </a:path>
              </a:pathLst>
            </a:custGeom>
            <a:blipFill>
              <a:blip r:embed="rId5"/>
              <a:stretch>
                <a:fillRect l="0" t="0" r="0" b="0"/>
              </a:stretch>
            </a:blipFill>
          </p:spPr>
        </p:sp>
      </p:grpSp>
      <p:sp>
        <p:nvSpPr>
          <p:cNvPr name="AutoShape 69" id="69"/>
          <p:cNvSpPr/>
          <p:nvPr/>
        </p:nvSpPr>
        <p:spPr>
          <a:xfrm rot="305040">
            <a:off x="10978982" y="6279261"/>
            <a:ext cx="483680" cy="0"/>
          </a:xfrm>
          <a:prstGeom prst="line">
            <a:avLst/>
          </a:prstGeom>
          <a:ln cap="rnd" w="19050">
            <a:solidFill>
              <a:srgbClr val="D9B100"/>
            </a:solidFill>
            <a:prstDash val="solid"/>
            <a:headEnd type="none" len="sm" w="sm"/>
            <a:tailEnd type="triangle" len="med" w="lg"/>
          </a:ln>
        </p:spPr>
      </p:sp>
      <p:grpSp>
        <p:nvGrpSpPr>
          <p:cNvPr name="Group 70" id="70"/>
          <p:cNvGrpSpPr/>
          <p:nvPr/>
        </p:nvGrpSpPr>
        <p:grpSpPr>
          <a:xfrm rot="0">
            <a:off x="11554196" y="5393065"/>
            <a:ext cx="5917854" cy="1791443"/>
            <a:chOff x="0" y="0"/>
            <a:chExt cx="7890472" cy="2388591"/>
          </a:xfrm>
        </p:grpSpPr>
        <p:sp>
          <p:nvSpPr>
            <p:cNvPr name="Freeform 71" id="71"/>
            <p:cNvSpPr/>
            <p:nvPr/>
          </p:nvSpPr>
          <p:spPr>
            <a:xfrm flipH="false" flipV="false" rot="0">
              <a:off x="0" y="0"/>
              <a:ext cx="7890510" cy="2388616"/>
            </a:xfrm>
            <a:custGeom>
              <a:avLst/>
              <a:gdLst/>
              <a:ahLst/>
              <a:cxnLst/>
              <a:rect r="r" b="b" t="t" l="l"/>
              <a:pathLst>
                <a:path h="2388616" w="7890510">
                  <a:moveTo>
                    <a:pt x="0" y="166370"/>
                  </a:moveTo>
                  <a:cubicBezTo>
                    <a:pt x="0" y="74422"/>
                    <a:pt x="74422" y="0"/>
                    <a:pt x="166370" y="0"/>
                  </a:cubicBezTo>
                  <a:lnTo>
                    <a:pt x="7724140" y="0"/>
                  </a:lnTo>
                  <a:cubicBezTo>
                    <a:pt x="7815961" y="0"/>
                    <a:pt x="7890510" y="74422"/>
                    <a:pt x="7890510" y="166370"/>
                  </a:cubicBezTo>
                  <a:lnTo>
                    <a:pt x="7890510" y="2222246"/>
                  </a:lnTo>
                  <a:cubicBezTo>
                    <a:pt x="7890510" y="2314067"/>
                    <a:pt x="7816088" y="2388616"/>
                    <a:pt x="7724140" y="2388616"/>
                  </a:cubicBezTo>
                  <a:lnTo>
                    <a:pt x="166370" y="2388616"/>
                  </a:lnTo>
                  <a:cubicBezTo>
                    <a:pt x="74549" y="2388616"/>
                    <a:pt x="0" y="2314194"/>
                    <a:pt x="0" y="2222246"/>
                  </a:cubicBezTo>
                  <a:close/>
                </a:path>
              </a:pathLst>
            </a:custGeom>
            <a:solidFill>
              <a:srgbClr val="000000"/>
            </a:solidFill>
            <a:ln w="19050" cap="sq">
              <a:solidFill>
                <a:srgbClr val="2C2F38"/>
              </a:solidFill>
              <a:prstDash val="solid"/>
              <a:miter/>
            </a:ln>
          </p:spPr>
        </p:sp>
      </p:grpSp>
      <p:grpSp>
        <p:nvGrpSpPr>
          <p:cNvPr name="Group 72" id="72"/>
          <p:cNvGrpSpPr/>
          <p:nvPr/>
        </p:nvGrpSpPr>
        <p:grpSpPr>
          <a:xfrm rot="0">
            <a:off x="11838041" y="5608330"/>
            <a:ext cx="164592" cy="164592"/>
            <a:chOff x="0" y="0"/>
            <a:chExt cx="219456" cy="219456"/>
          </a:xfrm>
        </p:grpSpPr>
        <p:sp>
          <p:nvSpPr>
            <p:cNvPr name="Freeform 73" id="7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74" id="74"/>
          <p:cNvGrpSpPr/>
          <p:nvPr/>
        </p:nvGrpSpPr>
        <p:grpSpPr>
          <a:xfrm rot="0">
            <a:off x="12112361" y="5608330"/>
            <a:ext cx="164592" cy="164592"/>
            <a:chOff x="0" y="0"/>
            <a:chExt cx="219456" cy="219456"/>
          </a:xfrm>
        </p:grpSpPr>
        <p:sp>
          <p:nvSpPr>
            <p:cNvPr name="Freeform 75" id="75"/>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6" id="76"/>
          <p:cNvGrpSpPr/>
          <p:nvPr/>
        </p:nvGrpSpPr>
        <p:grpSpPr>
          <a:xfrm rot="0">
            <a:off x="12386681" y="5608330"/>
            <a:ext cx="164592" cy="164592"/>
            <a:chOff x="0" y="0"/>
            <a:chExt cx="219456" cy="219456"/>
          </a:xfrm>
        </p:grpSpPr>
        <p:sp>
          <p:nvSpPr>
            <p:cNvPr name="Freeform 77" id="77"/>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8" id="78"/>
          <p:cNvGrpSpPr/>
          <p:nvPr/>
        </p:nvGrpSpPr>
        <p:grpSpPr>
          <a:xfrm rot="0">
            <a:off x="12743297" y="5484886"/>
            <a:ext cx="4527204" cy="411480"/>
            <a:chOff x="0" y="0"/>
            <a:chExt cx="6036272" cy="548640"/>
          </a:xfrm>
        </p:grpSpPr>
        <p:sp>
          <p:nvSpPr>
            <p:cNvPr name="Freeform 79" id="79"/>
            <p:cNvSpPr/>
            <p:nvPr/>
          </p:nvSpPr>
          <p:spPr>
            <a:xfrm flipH="false" flipV="false" rot="0">
              <a:off x="0" y="0"/>
              <a:ext cx="6036276" cy="548640"/>
            </a:xfrm>
            <a:custGeom>
              <a:avLst/>
              <a:gdLst/>
              <a:ahLst/>
              <a:cxnLst/>
              <a:rect r="r" b="b" t="t" l="l"/>
              <a:pathLst>
                <a:path h="548640" w="6036276">
                  <a:moveTo>
                    <a:pt x="0" y="0"/>
                  </a:moveTo>
                  <a:lnTo>
                    <a:pt x="6036276" y="0"/>
                  </a:lnTo>
                  <a:lnTo>
                    <a:pt x="6036276" y="548640"/>
                  </a:lnTo>
                  <a:lnTo>
                    <a:pt x="0" y="548640"/>
                  </a:lnTo>
                  <a:close/>
                </a:path>
              </a:pathLst>
            </a:custGeom>
            <a:blipFill>
              <a:blip r:embed="rId3">
                <a:alphaModFix amt="0"/>
              </a:blip>
              <a:stretch>
                <a:fillRect l="0" t="-164379" r="0" b="-164379"/>
              </a:stretch>
            </a:blipFill>
          </p:spPr>
        </p:sp>
        <p:sp>
          <p:nvSpPr>
            <p:cNvPr name="TextBox 80" id="80"/>
            <p:cNvSpPr txBox="true"/>
            <p:nvPr/>
          </p:nvSpPr>
          <p:spPr>
            <a:xfrm>
              <a:off x="0" y="-38100"/>
              <a:ext cx="6036272"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1 · I’m going</a:t>
              </a:r>
            </a:p>
          </p:txBody>
        </p:sp>
      </p:grpSp>
      <p:grpSp>
        <p:nvGrpSpPr>
          <p:cNvPr name="Group 81" id="81"/>
          <p:cNvGrpSpPr/>
          <p:nvPr/>
        </p:nvGrpSpPr>
        <p:grpSpPr>
          <a:xfrm rot="0">
            <a:off x="11755745" y="5951230"/>
            <a:ext cx="5514756" cy="1031729"/>
            <a:chOff x="0" y="0"/>
            <a:chExt cx="7353008" cy="1375639"/>
          </a:xfrm>
        </p:grpSpPr>
        <p:sp>
          <p:nvSpPr>
            <p:cNvPr name="Freeform 82" id="82" descr="Screenshot_10.jpg"/>
            <p:cNvSpPr/>
            <p:nvPr/>
          </p:nvSpPr>
          <p:spPr>
            <a:xfrm flipH="false" flipV="false" rot="0">
              <a:off x="0" y="0"/>
              <a:ext cx="7353046" cy="1375664"/>
            </a:xfrm>
            <a:custGeom>
              <a:avLst/>
              <a:gdLst/>
              <a:ahLst/>
              <a:cxnLst/>
              <a:rect r="r" b="b" t="t" l="l"/>
              <a:pathLst>
                <a:path h="1375664" w="7353046">
                  <a:moveTo>
                    <a:pt x="0" y="0"/>
                  </a:moveTo>
                  <a:lnTo>
                    <a:pt x="7353046" y="0"/>
                  </a:lnTo>
                  <a:lnTo>
                    <a:pt x="7353046" y="1375664"/>
                  </a:lnTo>
                  <a:lnTo>
                    <a:pt x="0" y="1375664"/>
                  </a:lnTo>
                  <a:lnTo>
                    <a:pt x="0" y="0"/>
                  </a:lnTo>
                  <a:close/>
                </a:path>
              </a:pathLst>
            </a:custGeom>
            <a:blipFill>
              <a:blip r:embed="rId6"/>
              <a:stretch>
                <a:fillRect l="0" t="0" r="0" b="-505"/>
              </a:stretch>
            </a:blipFill>
          </p:spPr>
        </p:sp>
      </p:grpSp>
    </p:spTree>
  </p:cSld>
  <p:clrMapOvr>
    <a:masterClrMapping/>
  </p:clrMapOvr>
  <p:transition spd="fast">
    <p:fade/>
  </p:transition>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6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What’s near me</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The ten closest places to where you are, with distance, direction and walking time.</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58680">
            <a:off x="11984688" y="950595"/>
            <a:ext cx="1953863"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44066" y="898398"/>
            <a:ext cx="123444" cy="123444"/>
            <a:chOff x="0" y="0"/>
            <a:chExt cx="164592" cy="164592"/>
          </a:xfrm>
        </p:grpSpPr>
        <p:sp>
          <p:nvSpPr>
            <p:cNvPr name="Freeform 24" id="2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3750290"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890297"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700809" y="9683496"/>
            <a:ext cx="1225391" cy="384048"/>
            <a:chOff x="0" y="0"/>
            <a:chExt cx="1633855" cy="512064"/>
          </a:xfrm>
        </p:grpSpPr>
        <p:sp>
          <p:nvSpPr>
            <p:cNvPr name="Freeform 47" id="47"/>
            <p:cNvSpPr/>
            <p:nvPr/>
          </p:nvSpPr>
          <p:spPr>
            <a:xfrm flipH="false" flipV="false" rot="0">
              <a:off x="0" y="0"/>
              <a:ext cx="1633855" cy="512064"/>
            </a:xfrm>
            <a:custGeom>
              <a:avLst/>
              <a:gdLst/>
              <a:ahLst/>
              <a:cxnLst/>
              <a:rect r="r" b="b" t="t" l="l"/>
              <a:pathLst>
                <a:path h="512064" w="1633855">
                  <a:moveTo>
                    <a:pt x="0" y="107569"/>
                  </a:moveTo>
                  <a:cubicBezTo>
                    <a:pt x="0" y="48133"/>
                    <a:pt x="48133" y="0"/>
                    <a:pt x="107569" y="0"/>
                  </a:cubicBezTo>
                  <a:lnTo>
                    <a:pt x="1526286" y="0"/>
                  </a:lnTo>
                  <a:cubicBezTo>
                    <a:pt x="1585722" y="0"/>
                    <a:pt x="1633855" y="48133"/>
                    <a:pt x="1633855" y="107569"/>
                  </a:cubicBezTo>
                  <a:lnTo>
                    <a:pt x="1633855" y="404495"/>
                  </a:lnTo>
                  <a:cubicBezTo>
                    <a:pt x="1633855" y="463931"/>
                    <a:pt x="1585722" y="512064"/>
                    <a:pt x="1526286"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700809" y="9683496"/>
            <a:ext cx="1225391" cy="384048"/>
            <a:chOff x="0" y="0"/>
            <a:chExt cx="1633855" cy="512064"/>
          </a:xfrm>
        </p:grpSpPr>
        <p:sp>
          <p:nvSpPr>
            <p:cNvPr name="Freeform 49" id="49"/>
            <p:cNvSpPr/>
            <p:nvPr/>
          </p:nvSpPr>
          <p:spPr>
            <a:xfrm flipH="false" flipV="false" rot="0">
              <a:off x="0" y="0"/>
              <a:ext cx="1633850" cy="512064"/>
            </a:xfrm>
            <a:custGeom>
              <a:avLst/>
              <a:gdLst/>
              <a:ahLst/>
              <a:cxnLst/>
              <a:rect r="r" b="b" t="t" l="l"/>
              <a:pathLst>
                <a:path h="512064" w="1633850">
                  <a:moveTo>
                    <a:pt x="0" y="0"/>
                  </a:moveTo>
                  <a:lnTo>
                    <a:pt x="1633850" y="0"/>
                  </a:lnTo>
                  <a:lnTo>
                    <a:pt x="1633850" y="512064"/>
                  </a:lnTo>
                  <a:lnTo>
                    <a:pt x="0" y="512064"/>
                  </a:lnTo>
                  <a:close/>
                </a:path>
              </a:pathLst>
            </a:custGeom>
            <a:blipFill>
              <a:blip r:embed="rId3">
                <a:alphaModFix amt="0"/>
              </a:blip>
              <a:stretch>
                <a:fillRect l="0" t="-12171" r="0" b="-12171"/>
              </a:stretch>
            </a:blipFill>
          </p:spPr>
        </p:sp>
        <p:sp>
          <p:nvSpPr>
            <p:cNvPr name="TextBox 50" id="50"/>
            <p:cNvSpPr txBox="true"/>
            <p:nvPr/>
          </p:nvSpPr>
          <p:spPr>
            <a:xfrm>
              <a:off x="0" y="-38100"/>
              <a:ext cx="1633855"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Haversine</a:t>
              </a:r>
            </a:p>
          </p:txBody>
        </p:sp>
      </p:grpSp>
      <p:grpSp>
        <p:nvGrpSpPr>
          <p:cNvPr name="Group 51" id="51"/>
          <p:cNvGrpSpPr/>
          <p:nvPr/>
        </p:nvGrpSpPr>
        <p:grpSpPr>
          <a:xfrm rot="0">
            <a:off x="16035928" y="9683496"/>
            <a:ext cx="1424540" cy="384048"/>
            <a:chOff x="0" y="0"/>
            <a:chExt cx="1899387" cy="512064"/>
          </a:xfrm>
        </p:grpSpPr>
        <p:sp>
          <p:nvSpPr>
            <p:cNvPr name="Freeform 52" id="52"/>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035928" y="9683496"/>
            <a:ext cx="1424540" cy="384048"/>
            <a:chOff x="0" y="0"/>
            <a:chExt cx="1899387" cy="512064"/>
          </a:xfrm>
        </p:grpSpPr>
        <p:sp>
          <p:nvSpPr>
            <p:cNvPr name="Freeform 54" id="54"/>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5" id="55"/>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Bubble sort</a:t>
              </a:r>
            </a:p>
          </p:txBody>
        </p:sp>
      </p:grpSp>
      <p:grpSp>
        <p:nvGrpSpPr>
          <p:cNvPr name="Group 56" id="56"/>
          <p:cNvGrpSpPr/>
          <p:nvPr/>
        </p:nvGrpSpPr>
        <p:grpSpPr>
          <a:xfrm rot="0">
            <a:off x="2970009" y="3350895"/>
            <a:ext cx="12347524" cy="5875782"/>
            <a:chOff x="0" y="0"/>
            <a:chExt cx="16463366" cy="7834376"/>
          </a:xfrm>
        </p:grpSpPr>
        <p:sp>
          <p:nvSpPr>
            <p:cNvPr name="Freeform 57" id="57"/>
            <p:cNvSpPr/>
            <p:nvPr/>
          </p:nvSpPr>
          <p:spPr>
            <a:xfrm flipH="false" flipV="false" rot="0">
              <a:off x="0" y="0"/>
              <a:ext cx="16463390" cy="7834376"/>
            </a:xfrm>
            <a:custGeom>
              <a:avLst/>
              <a:gdLst/>
              <a:ahLst/>
              <a:cxnLst/>
              <a:rect r="r" b="b" t="t" l="l"/>
              <a:pathLst>
                <a:path h="7834376" w="16463390">
                  <a:moveTo>
                    <a:pt x="0" y="165100"/>
                  </a:moveTo>
                  <a:cubicBezTo>
                    <a:pt x="0" y="73914"/>
                    <a:pt x="73914" y="0"/>
                    <a:pt x="165100" y="0"/>
                  </a:cubicBezTo>
                  <a:lnTo>
                    <a:pt x="16298290" y="0"/>
                  </a:lnTo>
                  <a:cubicBezTo>
                    <a:pt x="16389477" y="0"/>
                    <a:pt x="16463390" y="73914"/>
                    <a:pt x="16463390" y="165100"/>
                  </a:cubicBezTo>
                  <a:lnTo>
                    <a:pt x="16463390" y="7669276"/>
                  </a:lnTo>
                  <a:cubicBezTo>
                    <a:pt x="16463390" y="7760462"/>
                    <a:pt x="16389477" y="7834376"/>
                    <a:pt x="16298290" y="7834376"/>
                  </a:cubicBezTo>
                  <a:lnTo>
                    <a:pt x="165100" y="7834376"/>
                  </a:lnTo>
                  <a:cubicBezTo>
                    <a:pt x="73914" y="7834376"/>
                    <a:pt x="0" y="7760462"/>
                    <a:pt x="0" y="7669276"/>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3253854" y="3566160"/>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3528174" y="3566160"/>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3802494" y="3566160"/>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4159110" y="3442716"/>
            <a:ext cx="10956874" cy="411480"/>
            <a:chOff x="0" y="0"/>
            <a:chExt cx="14609166" cy="548640"/>
          </a:xfrm>
        </p:grpSpPr>
        <p:sp>
          <p:nvSpPr>
            <p:cNvPr name="Freeform 65" id="65"/>
            <p:cNvSpPr/>
            <p:nvPr/>
          </p:nvSpPr>
          <p:spPr>
            <a:xfrm flipH="false" flipV="false" rot="0">
              <a:off x="0" y="0"/>
              <a:ext cx="14609164" cy="548640"/>
            </a:xfrm>
            <a:custGeom>
              <a:avLst/>
              <a:gdLst/>
              <a:ahLst/>
              <a:cxnLst/>
              <a:rect r="r" b="b" t="t" l="l"/>
              <a:pathLst>
                <a:path h="548640" w="14609164">
                  <a:moveTo>
                    <a:pt x="0" y="0"/>
                  </a:moveTo>
                  <a:lnTo>
                    <a:pt x="14609164" y="0"/>
                  </a:lnTo>
                  <a:lnTo>
                    <a:pt x="14609164" y="548640"/>
                  </a:lnTo>
                  <a:lnTo>
                    <a:pt x="0" y="548640"/>
                  </a:lnTo>
                  <a:close/>
                </a:path>
              </a:pathLst>
            </a:custGeom>
            <a:blipFill>
              <a:blip r:embed="rId3">
                <a:alphaModFix amt="0"/>
              </a:blip>
              <a:stretch>
                <a:fillRect l="0" t="-468846" r="0" b="-468846"/>
              </a:stretch>
            </a:blipFill>
          </p:spPr>
        </p:sp>
        <p:sp>
          <p:nvSpPr>
            <p:cNvPr name="TextBox 66" id="66"/>
            <p:cNvSpPr txBox="true"/>
            <p:nvPr/>
          </p:nvSpPr>
          <p:spPr>
            <a:xfrm>
              <a:off x="0" y="-38100"/>
              <a:ext cx="14609166"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2 · what’s near me</a:t>
              </a:r>
            </a:p>
          </p:txBody>
        </p:sp>
      </p:grpSp>
      <p:grpSp>
        <p:nvGrpSpPr>
          <p:cNvPr name="Group 67" id="67"/>
          <p:cNvGrpSpPr/>
          <p:nvPr/>
        </p:nvGrpSpPr>
        <p:grpSpPr>
          <a:xfrm rot="0">
            <a:off x="3171558" y="3909060"/>
            <a:ext cx="11944426" cy="5116068"/>
            <a:chOff x="0" y="0"/>
            <a:chExt cx="15925902" cy="6821424"/>
          </a:xfrm>
        </p:grpSpPr>
        <p:sp>
          <p:nvSpPr>
            <p:cNvPr name="Freeform 68" id="68" descr="Screenshot_11.jpg"/>
            <p:cNvSpPr/>
            <p:nvPr/>
          </p:nvSpPr>
          <p:spPr>
            <a:xfrm flipH="false" flipV="false" rot="0">
              <a:off x="0" y="0"/>
              <a:ext cx="15925927" cy="6821424"/>
            </a:xfrm>
            <a:custGeom>
              <a:avLst/>
              <a:gdLst/>
              <a:ahLst/>
              <a:cxnLst/>
              <a:rect r="r" b="b" t="t" l="l"/>
              <a:pathLst>
                <a:path h="6821424" w="15925927">
                  <a:moveTo>
                    <a:pt x="0" y="0"/>
                  </a:moveTo>
                  <a:lnTo>
                    <a:pt x="15925927" y="0"/>
                  </a:lnTo>
                  <a:lnTo>
                    <a:pt x="15925927" y="6821424"/>
                  </a:lnTo>
                  <a:lnTo>
                    <a:pt x="0" y="6821424"/>
                  </a:lnTo>
                  <a:lnTo>
                    <a:pt x="0" y="0"/>
                  </a:lnTo>
                  <a:close/>
                </a:path>
              </a:pathLst>
            </a:custGeom>
            <a:blipFill>
              <a:blip r:embed="rId5"/>
              <a:stretch>
                <a:fillRect l="0" t="0" r="0" b="-135"/>
              </a:stretch>
            </a:blipFill>
          </p:spPr>
        </p:sp>
      </p:grpSp>
    </p:spTree>
  </p:cSld>
  <p:clrMapOvr>
    <a:masterClrMapping/>
  </p:clrMapOvr>
  <p:transition spd="fast">
    <p:fade/>
  </p:transition>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7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Place page</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Open any place to see its details, then “Take me here” routes you to it in one key.</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49020">
            <a:off x="11984717" y="950595"/>
            <a:ext cx="2337864"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28114" y="898398"/>
            <a:ext cx="123444" cy="123444"/>
            <a:chOff x="0" y="0"/>
            <a:chExt cx="164592" cy="164592"/>
          </a:xfrm>
        </p:grpSpPr>
        <p:sp>
          <p:nvSpPr>
            <p:cNvPr name="Freeform 26" id="2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4134338"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4085237"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5895749" y="9683496"/>
            <a:ext cx="827075" cy="384048"/>
            <a:chOff x="0" y="0"/>
            <a:chExt cx="1102766" cy="512064"/>
          </a:xfrm>
        </p:grpSpPr>
        <p:sp>
          <p:nvSpPr>
            <p:cNvPr name="Freeform 47" id="47"/>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5895749" y="9683496"/>
            <a:ext cx="827075" cy="384048"/>
            <a:chOff x="0" y="0"/>
            <a:chExt cx="1102766" cy="512064"/>
          </a:xfrm>
        </p:grpSpPr>
        <p:sp>
          <p:nvSpPr>
            <p:cNvPr name="Freeform 49" id="49"/>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0" id="50"/>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Graph</a:t>
              </a:r>
            </a:p>
          </p:txBody>
        </p:sp>
      </p:grpSp>
      <p:grpSp>
        <p:nvGrpSpPr>
          <p:cNvPr name="Group 51" id="51"/>
          <p:cNvGrpSpPr/>
          <p:nvPr/>
        </p:nvGrpSpPr>
        <p:grpSpPr>
          <a:xfrm rot="0">
            <a:off x="16832551" y="9683496"/>
            <a:ext cx="627917" cy="384048"/>
            <a:chOff x="0" y="0"/>
            <a:chExt cx="837222" cy="512064"/>
          </a:xfrm>
        </p:grpSpPr>
        <p:sp>
          <p:nvSpPr>
            <p:cNvPr name="Freeform 52" id="52"/>
            <p:cNvSpPr/>
            <p:nvPr/>
          </p:nvSpPr>
          <p:spPr>
            <a:xfrm flipH="false" flipV="false" rot="0">
              <a:off x="0" y="0"/>
              <a:ext cx="837311" cy="512064"/>
            </a:xfrm>
            <a:custGeom>
              <a:avLst/>
              <a:gdLst/>
              <a:ahLst/>
              <a:cxnLst/>
              <a:rect r="r" b="b" t="t" l="l"/>
              <a:pathLst>
                <a:path h="512064" w="837311">
                  <a:moveTo>
                    <a:pt x="0" y="107569"/>
                  </a:moveTo>
                  <a:cubicBezTo>
                    <a:pt x="0" y="48133"/>
                    <a:pt x="48133" y="0"/>
                    <a:pt x="107569" y="0"/>
                  </a:cubicBezTo>
                  <a:lnTo>
                    <a:pt x="729742" y="0"/>
                  </a:lnTo>
                  <a:cubicBezTo>
                    <a:pt x="789178" y="0"/>
                    <a:pt x="837311" y="48133"/>
                    <a:pt x="837311" y="107569"/>
                  </a:cubicBezTo>
                  <a:lnTo>
                    <a:pt x="837311" y="404495"/>
                  </a:lnTo>
                  <a:cubicBezTo>
                    <a:pt x="837311" y="463931"/>
                    <a:pt x="789178" y="512064"/>
                    <a:pt x="729742"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832551" y="9683496"/>
            <a:ext cx="627917" cy="384048"/>
            <a:chOff x="0" y="0"/>
            <a:chExt cx="837222" cy="512064"/>
          </a:xfrm>
        </p:grpSpPr>
        <p:sp>
          <p:nvSpPr>
            <p:cNvPr name="Freeform 54" id="54"/>
            <p:cNvSpPr/>
            <p:nvPr/>
          </p:nvSpPr>
          <p:spPr>
            <a:xfrm flipH="false" flipV="false" rot="0">
              <a:off x="0" y="0"/>
              <a:ext cx="837224" cy="512064"/>
            </a:xfrm>
            <a:custGeom>
              <a:avLst/>
              <a:gdLst/>
              <a:ahLst/>
              <a:cxnLst/>
              <a:rect r="r" b="b" t="t" l="l"/>
              <a:pathLst>
                <a:path h="512064" w="837224">
                  <a:moveTo>
                    <a:pt x="0" y="0"/>
                  </a:moveTo>
                  <a:lnTo>
                    <a:pt x="837224" y="0"/>
                  </a:lnTo>
                  <a:lnTo>
                    <a:pt x="837224" y="512064"/>
                  </a:lnTo>
                  <a:lnTo>
                    <a:pt x="0" y="512064"/>
                  </a:lnTo>
                  <a:close/>
                </a:path>
              </a:pathLst>
            </a:custGeom>
            <a:blipFill>
              <a:blip r:embed="rId3">
                <a:alphaModFix amt="0"/>
              </a:blip>
              <a:stretch>
                <a:fillRect l="-28473" t="0" r="-28473" b="0"/>
              </a:stretch>
            </a:blipFill>
          </p:spPr>
        </p:sp>
        <p:sp>
          <p:nvSpPr>
            <p:cNvPr name="TextBox 55" id="55"/>
            <p:cNvSpPr txBox="true"/>
            <p:nvPr/>
          </p:nvSpPr>
          <p:spPr>
            <a:xfrm>
              <a:off x="0" y="-38100"/>
              <a:ext cx="837222"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BFS</a:t>
              </a:r>
            </a:p>
          </p:txBody>
        </p:sp>
      </p:grpSp>
      <p:grpSp>
        <p:nvGrpSpPr>
          <p:cNvPr name="Group 56" id="56"/>
          <p:cNvGrpSpPr/>
          <p:nvPr/>
        </p:nvGrpSpPr>
        <p:grpSpPr>
          <a:xfrm rot="0">
            <a:off x="815492" y="4096979"/>
            <a:ext cx="7341794" cy="4383624"/>
            <a:chOff x="0" y="0"/>
            <a:chExt cx="9789058" cy="5844832"/>
          </a:xfrm>
        </p:grpSpPr>
        <p:sp>
          <p:nvSpPr>
            <p:cNvPr name="Freeform 57" id="57"/>
            <p:cNvSpPr/>
            <p:nvPr/>
          </p:nvSpPr>
          <p:spPr>
            <a:xfrm flipH="false" flipV="false" rot="0">
              <a:off x="0" y="0"/>
              <a:ext cx="9789161" cy="5844921"/>
            </a:xfrm>
            <a:custGeom>
              <a:avLst/>
              <a:gdLst/>
              <a:ahLst/>
              <a:cxnLst/>
              <a:rect r="r" b="b" t="t" l="l"/>
              <a:pathLst>
                <a:path h="5844921" w="9789161">
                  <a:moveTo>
                    <a:pt x="0" y="165354"/>
                  </a:moveTo>
                  <a:cubicBezTo>
                    <a:pt x="0" y="74041"/>
                    <a:pt x="74041" y="0"/>
                    <a:pt x="165354" y="0"/>
                  </a:cubicBezTo>
                  <a:lnTo>
                    <a:pt x="9623806" y="0"/>
                  </a:lnTo>
                  <a:cubicBezTo>
                    <a:pt x="9715119" y="0"/>
                    <a:pt x="9789161" y="74041"/>
                    <a:pt x="9789161" y="165354"/>
                  </a:cubicBezTo>
                  <a:lnTo>
                    <a:pt x="9789161" y="5679567"/>
                  </a:lnTo>
                  <a:cubicBezTo>
                    <a:pt x="9789161" y="5770880"/>
                    <a:pt x="9715119" y="5844921"/>
                    <a:pt x="9623806" y="5844921"/>
                  </a:cubicBezTo>
                  <a:lnTo>
                    <a:pt x="165354" y="5844921"/>
                  </a:lnTo>
                  <a:cubicBezTo>
                    <a:pt x="74041" y="5844794"/>
                    <a:pt x="0" y="5770880"/>
                    <a:pt x="0" y="5679567"/>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1099337" y="4312244"/>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1373657" y="4312244"/>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1647977" y="4312244"/>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2004593" y="4188800"/>
            <a:ext cx="5951144" cy="411480"/>
            <a:chOff x="0" y="0"/>
            <a:chExt cx="7934858" cy="548640"/>
          </a:xfrm>
        </p:grpSpPr>
        <p:sp>
          <p:nvSpPr>
            <p:cNvPr name="Freeform 65" id="65"/>
            <p:cNvSpPr/>
            <p:nvPr/>
          </p:nvSpPr>
          <p:spPr>
            <a:xfrm flipH="false" flipV="false" rot="0">
              <a:off x="0" y="0"/>
              <a:ext cx="7934854" cy="548640"/>
            </a:xfrm>
            <a:custGeom>
              <a:avLst/>
              <a:gdLst/>
              <a:ahLst/>
              <a:cxnLst/>
              <a:rect r="r" b="b" t="t" l="l"/>
              <a:pathLst>
                <a:path h="548640" w="7934854">
                  <a:moveTo>
                    <a:pt x="0" y="0"/>
                  </a:moveTo>
                  <a:lnTo>
                    <a:pt x="7934854" y="0"/>
                  </a:lnTo>
                  <a:lnTo>
                    <a:pt x="7934854" y="548640"/>
                  </a:lnTo>
                  <a:lnTo>
                    <a:pt x="0" y="548640"/>
                  </a:lnTo>
                  <a:close/>
                </a:path>
              </a:pathLst>
            </a:custGeom>
            <a:blipFill>
              <a:blip r:embed="rId3">
                <a:alphaModFix amt="0"/>
              </a:blip>
              <a:stretch>
                <a:fillRect l="0" t="-231807" r="0" b="-231807"/>
              </a:stretch>
            </a:blipFill>
          </p:spPr>
        </p:sp>
        <p:sp>
          <p:nvSpPr>
            <p:cNvPr name="TextBox 66" id="66"/>
            <p:cNvSpPr txBox="true"/>
            <p:nvPr/>
          </p:nvSpPr>
          <p:spPr>
            <a:xfrm>
              <a:off x="0" y="-38100"/>
              <a:ext cx="7934858"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place page · KUET Post Office</a:t>
              </a:r>
            </a:p>
          </p:txBody>
        </p:sp>
      </p:grpSp>
      <p:grpSp>
        <p:nvGrpSpPr>
          <p:cNvPr name="Group 67" id="67"/>
          <p:cNvGrpSpPr/>
          <p:nvPr/>
        </p:nvGrpSpPr>
        <p:grpSpPr>
          <a:xfrm rot="0">
            <a:off x="1017041" y="4655144"/>
            <a:ext cx="6938696" cy="3623910"/>
            <a:chOff x="0" y="0"/>
            <a:chExt cx="9251594" cy="4831880"/>
          </a:xfrm>
        </p:grpSpPr>
        <p:sp>
          <p:nvSpPr>
            <p:cNvPr name="Freeform 68" id="68" descr="Screenshot_12.jpg"/>
            <p:cNvSpPr/>
            <p:nvPr/>
          </p:nvSpPr>
          <p:spPr>
            <a:xfrm flipH="false" flipV="false" rot="0">
              <a:off x="0" y="0"/>
              <a:ext cx="9251569" cy="4831842"/>
            </a:xfrm>
            <a:custGeom>
              <a:avLst/>
              <a:gdLst/>
              <a:ahLst/>
              <a:cxnLst/>
              <a:rect r="r" b="b" t="t" l="l"/>
              <a:pathLst>
                <a:path h="4831842" w="9251569">
                  <a:moveTo>
                    <a:pt x="0" y="0"/>
                  </a:moveTo>
                  <a:lnTo>
                    <a:pt x="9251569" y="0"/>
                  </a:lnTo>
                  <a:lnTo>
                    <a:pt x="9251569" y="4831842"/>
                  </a:lnTo>
                  <a:lnTo>
                    <a:pt x="0" y="4831842"/>
                  </a:lnTo>
                  <a:lnTo>
                    <a:pt x="0" y="0"/>
                  </a:lnTo>
                  <a:close/>
                </a:path>
              </a:pathLst>
            </a:custGeom>
            <a:blipFill>
              <a:blip r:embed="rId5"/>
              <a:stretch>
                <a:fillRect l="0" t="0" r="0" b="0"/>
              </a:stretch>
            </a:blipFill>
          </p:spPr>
        </p:sp>
      </p:grpSp>
      <p:sp>
        <p:nvSpPr>
          <p:cNvPr name="AutoShape 69" id="69"/>
          <p:cNvSpPr/>
          <p:nvPr/>
        </p:nvSpPr>
        <p:spPr>
          <a:xfrm rot="305040">
            <a:off x="8248821" y="6279261"/>
            <a:ext cx="483680" cy="0"/>
          </a:xfrm>
          <a:prstGeom prst="line">
            <a:avLst/>
          </a:prstGeom>
          <a:ln cap="rnd" w="19050">
            <a:solidFill>
              <a:srgbClr val="D9B100"/>
            </a:solidFill>
            <a:prstDash val="solid"/>
            <a:headEnd type="none" len="sm" w="sm"/>
            <a:tailEnd type="triangle" len="med" w="lg"/>
          </a:ln>
        </p:spPr>
      </p:sp>
      <p:grpSp>
        <p:nvGrpSpPr>
          <p:cNvPr name="Group 70" id="70"/>
          <p:cNvGrpSpPr/>
          <p:nvPr/>
        </p:nvGrpSpPr>
        <p:grpSpPr>
          <a:xfrm rot="0">
            <a:off x="8824036" y="3643989"/>
            <a:ext cx="8648014" cy="5289604"/>
            <a:chOff x="0" y="0"/>
            <a:chExt cx="11530686" cy="7052805"/>
          </a:xfrm>
        </p:grpSpPr>
        <p:sp>
          <p:nvSpPr>
            <p:cNvPr name="Freeform 71" id="71"/>
            <p:cNvSpPr/>
            <p:nvPr/>
          </p:nvSpPr>
          <p:spPr>
            <a:xfrm flipH="false" flipV="false" rot="0">
              <a:off x="0" y="0"/>
              <a:ext cx="11530711" cy="7052818"/>
            </a:xfrm>
            <a:custGeom>
              <a:avLst/>
              <a:gdLst/>
              <a:ahLst/>
              <a:cxnLst/>
              <a:rect r="r" b="b" t="t" l="l"/>
              <a:pathLst>
                <a:path h="7052818" w="11530711">
                  <a:moveTo>
                    <a:pt x="0" y="165227"/>
                  </a:moveTo>
                  <a:cubicBezTo>
                    <a:pt x="0" y="73914"/>
                    <a:pt x="73914" y="0"/>
                    <a:pt x="165227" y="0"/>
                  </a:cubicBezTo>
                  <a:lnTo>
                    <a:pt x="11365484" y="0"/>
                  </a:lnTo>
                  <a:cubicBezTo>
                    <a:pt x="11456670" y="0"/>
                    <a:pt x="11530711" y="73914"/>
                    <a:pt x="11530711" y="165227"/>
                  </a:cubicBezTo>
                  <a:lnTo>
                    <a:pt x="11530711" y="6887591"/>
                  </a:lnTo>
                  <a:cubicBezTo>
                    <a:pt x="11530711" y="6978777"/>
                    <a:pt x="11456797" y="7052818"/>
                    <a:pt x="11365484" y="7052818"/>
                  </a:cubicBezTo>
                  <a:lnTo>
                    <a:pt x="165227" y="7052818"/>
                  </a:lnTo>
                  <a:cubicBezTo>
                    <a:pt x="73914" y="7052818"/>
                    <a:pt x="0" y="6978904"/>
                    <a:pt x="0" y="6887591"/>
                  </a:cubicBezTo>
                  <a:close/>
                </a:path>
              </a:pathLst>
            </a:custGeom>
            <a:solidFill>
              <a:srgbClr val="000000"/>
            </a:solidFill>
            <a:ln w="19050" cap="sq">
              <a:solidFill>
                <a:srgbClr val="2C2F38"/>
              </a:solidFill>
              <a:prstDash val="solid"/>
              <a:miter/>
            </a:ln>
          </p:spPr>
        </p:sp>
      </p:grpSp>
      <p:grpSp>
        <p:nvGrpSpPr>
          <p:cNvPr name="Group 72" id="72"/>
          <p:cNvGrpSpPr/>
          <p:nvPr/>
        </p:nvGrpSpPr>
        <p:grpSpPr>
          <a:xfrm rot="0">
            <a:off x="9107881" y="3859254"/>
            <a:ext cx="164592" cy="164592"/>
            <a:chOff x="0" y="0"/>
            <a:chExt cx="219456" cy="219456"/>
          </a:xfrm>
        </p:grpSpPr>
        <p:sp>
          <p:nvSpPr>
            <p:cNvPr name="Freeform 73" id="7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74" id="74"/>
          <p:cNvGrpSpPr/>
          <p:nvPr/>
        </p:nvGrpSpPr>
        <p:grpSpPr>
          <a:xfrm rot="0">
            <a:off x="9382201" y="3859254"/>
            <a:ext cx="164592" cy="164592"/>
            <a:chOff x="0" y="0"/>
            <a:chExt cx="219456" cy="219456"/>
          </a:xfrm>
        </p:grpSpPr>
        <p:sp>
          <p:nvSpPr>
            <p:cNvPr name="Freeform 75" id="75"/>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6" id="76"/>
          <p:cNvGrpSpPr/>
          <p:nvPr/>
        </p:nvGrpSpPr>
        <p:grpSpPr>
          <a:xfrm rot="0">
            <a:off x="9656521" y="3859254"/>
            <a:ext cx="164592" cy="164592"/>
            <a:chOff x="0" y="0"/>
            <a:chExt cx="219456" cy="219456"/>
          </a:xfrm>
        </p:grpSpPr>
        <p:sp>
          <p:nvSpPr>
            <p:cNvPr name="Freeform 77" id="77"/>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8" id="78"/>
          <p:cNvGrpSpPr/>
          <p:nvPr/>
        </p:nvGrpSpPr>
        <p:grpSpPr>
          <a:xfrm rot="0">
            <a:off x="10013137" y="3735810"/>
            <a:ext cx="7257364" cy="411480"/>
            <a:chOff x="0" y="0"/>
            <a:chExt cx="9676486" cy="548640"/>
          </a:xfrm>
        </p:grpSpPr>
        <p:sp>
          <p:nvSpPr>
            <p:cNvPr name="Freeform 79" id="79"/>
            <p:cNvSpPr/>
            <p:nvPr/>
          </p:nvSpPr>
          <p:spPr>
            <a:xfrm flipH="false" flipV="false" rot="0">
              <a:off x="0" y="0"/>
              <a:ext cx="9676490" cy="548640"/>
            </a:xfrm>
            <a:custGeom>
              <a:avLst/>
              <a:gdLst/>
              <a:ahLst/>
              <a:cxnLst/>
              <a:rect r="r" b="b" t="t" l="l"/>
              <a:pathLst>
                <a:path h="548640" w="9676490">
                  <a:moveTo>
                    <a:pt x="0" y="0"/>
                  </a:moveTo>
                  <a:lnTo>
                    <a:pt x="9676490" y="0"/>
                  </a:lnTo>
                  <a:lnTo>
                    <a:pt x="9676490" y="548640"/>
                  </a:lnTo>
                  <a:lnTo>
                    <a:pt x="0" y="548640"/>
                  </a:lnTo>
                  <a:close/>
                </a:path>
              </a:pathLst>
            </a:custGeom>
            <a:blipFill>
              <a:blip r:embed="rId3">
                <a:alphaModFix amt="0"/>
              </a:blip>
              <a:stretch>
                <a:fillRect l="0" t="-293661" r="0" b="-293661"/>
              </a:stretch>
            </a:blipFill>
          </p:spPr>
        </p:sp>
        <p:sp>
          <p:nvSpPr>
            <p:cNvPr name="TextBox 80" id="80"/>
            <p:cNvSpPr txBox="true"/>
            <p:nvPr/>
          </p:nvSpPr>
          <p:spPr>
            <a:xfrm>
              <a:off x="0" y="-38100"/>
              <a:ext cx="9676486"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1 · take me here</a:t>
              </a:r>
            </a:p>
          </p:txBody>
        </p:sp>
      </p:grpSp>
      <p:grpSp>
        <p:nvGrpSpPr>
          <p:cNvPr name="Group 81" id="81"/>
          <p:cNvGrpSpPr/>
          <p:nvPr/>
        </p:nvGrpSpPr>
        <p:grpSpPr>
          <a:xfrm rot="0">
            <a:off x="9025585" y="4202154"/>
            <a:ext cx="8244916" cy="4529890"/>
            <a:chOff x="0" y="0"/>
            <a:chExt cx="10993222" cy="6039853"/>
          </a:xfrm>
        </p:grpSpPr>
        <p:sp>
          <p:nvSpPr>
            <p:cNvPr name="Freeform 82" id="82" descr="Screenshot_13.jpg"/>
            <p:cNvSpPr/>
            <p:nvPr/>
          </p:nvSpPr>
          <p:spPr>
            <a:xfrm flipH="false" flipV="false" rot="0">
              <a:off x="0" y="0"/>
              <a:ext cx="10993247" cy="6039866"/>
            </a:xfrm>
            <a:custGeom>
              <a:avLst/>
              <a:gdLst/>
              <a:ahLst/>
              <a:cxnLst/>
              <a:rect r="r" b="b" t="t" l="l"/>
              <a:pathLst>
                <a:path h="6039866" w="10993247">
                  <a:moveTo>
                    <a:pt x="0" y="0"/>
                  </a:moveTo>
                  <a:lnTo>
                    <a:pt x="10993247" y="0"/>
                  </a:lnTo>
                  <a:lnTo>
                    <a:pt x="10993247" y="6039866"/>
                  </a:lnTo>
                  <a:lnTo>
                    <a:pt x="0" y="6039866"/>
                  </a:lnTo>
                  <a:lnTo>
                    <a:pt x="0" y="0"/>
                  </a:lnTo>
                  <a:close/>
                </a:path>
              </a:pathLst>
            </a:custGeom>
            <a:blipFill>
              <a:blip r:embed="rId6"/>
              <a:stretch>
                <a:fillRect l="0" t="0" r="0" b="-96"/>
              </a:stretch>
            </a:blipFill>
          </p:spPr>
        </p:sp>
      </p:grpSp>
    </p:spTree>
  </p:cSld>
  <p:clrMapOvr>
    <a:masterClrMapping/>
  </p:clrMapOvr>
  <p:transition spd="fast">
    <p:fade/>
  </p:transition>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8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Explore the campus</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DFS on our own stack walks every place and confirms the whole campus is connected.</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42120">
            <a:off x="11984726" y="950595"/>
            <a:ext cx="2721874"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5012162" y="898398"/>
            <a:ext cx="123444" cy="123444"/>
            <a:chOff x="0" y="0"/>
            <a:chExt cx="164592" cy="164592"/>
          </a:xfrm>
        </p:grpSpPr>
        <p:sp>
          <p:nvSpPr>
            <p:cNvPr name="Freeform 28" id="2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4518386"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4085237"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5895749" y="9683496"/>
            <a:ext cx="627917" cy="384048"/>
            <a:chOff x="0" y="0"/>
            <a:chExt cx="837222" cy="512064"/>
          </a:xfrm>
        </p:grpSpPr>
        <p:sp>
          <p:nvSpPr>
            <p:cNvPr name="Freeform 47" id="47"/>
            <p:cNvSpPr/>
            <p:nvPr/>
          </p:nvSpPr>
          <p:spPr>
            <a:xfrm flipH="false" flipV="false" rot="0">
              <a:off x="0" y="0"/>
              <a:ext cx="837311" cy="512064"/>
            </a:xfrm>
            <a:custGeom>
              <a:avLst/>
              <a:gdLst/>
              <a:ahLst/>
              <a:cxnLst/>
              <a:rect r="r" b="b" t="t" l="l"/>
              <a:pathLst>
                <a:path h="512064" w="837311">
                  <a:moveTo>
                    <a:pt x="0" y="107569"/>
                  </a:moveTo>
                  <a:cubicBezTo>
                    <a:pt x="0" y="48133"/>
                    <a:pt x="48133" y="0"/>
                    <a:pt x="107569" y="0"/>
                  </a:cubicBezTo>
                  <a:lnTo>
                    <a:pt x="729742" y="0"/>
                  </a:lnTo>
                  <a:cubicBezTo>
                    <a:pt x="789178" y="0"/>
                    <a:pt x="837311" y="48133"/>
                    <a:pt x="837311" y="107569"/>
                  </a:cubicBezTo>
                  <a:lnTo>
                    <a:pt x="837311" y="404495"/>
                  </a:lnTo>
                  <a:cubicBezTo>
                    <a:pt x="837311" y="463931"/>
                    <a:pt x="789178" y="512064"/>
                    <a:pt x="729742"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5895749" y="9683496"/>
            <a:ext cx="627917" cy="384048"/>
            <a:chOff x="0" y="0"/>
            <a:chExt cx="837222" cy="512064"/>
          </a:xfrm>
        </p:grpSpPr>
        <p:sp>
          <p:nvSpPr>
            <p:cNvPr name="Freeform 49" id="49"/>
            <p:cNvSpPr/>
            <p:nvPr/>
          </p:nvSpPr>
          <p:spPr>
            <a:xfrm flipH="false" flipV="false" rot="0">
              <a:off x="0" y="0"/>
              <a:ext cx="837224" cy="512064"/>
            </a:xfrm>
            <a:custGeom>
              <a:avLst/>
              <a:gdLst/>
              <a:ahLst/>
              <a:cxnLst/>
              <a:rect r="r" b="b" t="t" l="l"/>
              <a:pathLst>
                <a:path h="512064" w="837224">
                  <a:moveTo>
                    <a:pt x="0" y="0"/>
                  </a:moveTo>
                  <a:lnTo>
                    <a:pt x="837224" y="0"/>
                  </a:lnTo>
                  <a:lnTo>
                    <a:pt x="837224" y="512064"/>
                  </a:lnTo>
                  <a:lnTo>
                    <a:pt x="0" y="512064"/>
                  </a:lnTo>
                  <a:close/>
                </a:path>
              </a:pathLst>
            </a:custGeom>
            <a:blipFill>
              <a:blip r:embed="rId3">
                <a:alphaModFix amt="0"/>
              </a:blip>
              <a:stretch>
                <a:fillRect l="-28473" t="0" r="-28473" b="0"/>
              </a:stretch>
            </a:blipFill>
          </p:spPr>
        </p:sp>
        <p:sp>
          <p:nvSpPr>
            <p:cNvPr name="TextBox 50" id="50"/>
            <p:cNvSpPr txBox="true"/>
            <p:nvPr/>
          </p:nvSpPr>
          <p:spPr>
            <a:xfrm>
              <a:off x="0" y="-38100"/>
              <a:ext cx="837222"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DFS</a:t>
              </a:r>
            </a:p>
          </p:txBody>
        </p:sp>
      </p:grpSp>
      <p:grpSp>
        <p:nvGrpSpPr>
          <p:cNvPr name="Group 51" id="51"/>
          <p:cNvGrpSpPr/>
          <p:nvPr/>
        </p:nvGrpSpPr>
        <p:grpSpPr>
          <a:xfrm rot="0">
            <a:off x="16633393" y="9683496"/>
            <a:ext cx="827075" cy="384048"/>
            <a:chOff x="0" y="0"/>
            <a:chExt cx="1102766" cy="512064"/>
          </a:xfrm>
        </p:grpSpPr>
        <p:sp>
          <p:nvSpPr>
            <p:cNvPr name="Freeform 52" id="52"/>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633393" y="9683496"/>
            <a:ext cx="827075" cy="384048"/>
            <a:chOff x="0" y="0"/>
            <a:chExt cx="1102766" cy="512064"/>
          </a:xfrm>
        </p:grpSpPr>
        <p:sp>
          <p:nvSpPr>
            <p:cNvPr name="Freeform 54" id="54"/>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5" id="55"/>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Stack</a:t>
              </a:r>
            </a:p>
          </p:txBody>
        </p:sp>
      </p:grpSp>
      <p:grpSp>
        <p:nvGrpSpPr>
          <p:cNvPr name="Group 56" id="56"/>
          <p:cNvGrpSpPr/>
          <p:nvPr/>
        </p:nvGrpSpPr>
        <p:grpSpPr>
          <a:xfrm rot="0">
            <a:off x="1364656" y="3939245"/>
            <a:ext cx="9705708" cy="4699083"/>
            <a:chOff x="0" y="0"/>
            <a:chExt cx="12940944" cy="6265443"/>
          </a:xfrm>
        </p:grpSpPr>
        <p:sp>
          <p:nvSpPr>
            <p:cNvPr name="Freeform 57" id="57"/>
            <p:cNvSpPr/>
            <p:nvPr/>
          </p:nvSpPr>
          <p:spPr>
            <a:xfrm flipH="false" flipV="false" rot="0">
              <a:off x="0" y="0"/>
              <a:ext cx="12940919" cy="6265418"/>
            </a:xfrm>
            <a:custGeom>
              <a:avLst/>
              <a:gdLst/>
              <a:ahLst/>
              <a:cxnLst/>
              <a:rect r="r" b="b" t="t" l="l"/>
              <a:pathLst>
                <a:path h="6265418" w="12940919">
                  <a:moveTo>
                    <a:pt x="0" y="165227"/>
                  </a:moveTo>
                  <a:cubicBezTo>
                    <a:pt x="0" y="73914"/>
                    <a:pt x="73914" y="0"/>
                    <a:pt x="165227" y="0"/>
                  </a:cubicBezTo>
                  <a:lnTo>
                    <a:pt x="12775692" y="0"/>
                  </a:lnTo>
                  <a:cubicBezTo>
                    <a:pt x="12866878" y="0"/>
                    <a:pt x="12940919" y="73914"/>
                    <a:pt x="12940919" y="165227"/>
                  </a:cubicBezTo>
                  <a:lnTo>
                    <a:pt x="12940919" y="6100191"/>
                  </a:lnTo>
                  <a:cubicBezTo>
                    <a:pt x="12940919" y="6191377"/>
                    <a:pt x="12867005" y="6265418"/>
                    <a:pt x="12775692" y="6265418"/>
                  </a:cubicBezTo>
                  <a:lnTo>
                    <a:pt x="165227" y="6265418"/>
                  </a:lnTo>
                  <a:cubicBezTo>
                    <a:pt x="73914" y="6265418"/>
                    <a:pt x="0" y="6191504"/>
                    <a:pt x="0" y="6100191"/>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1648501" y="4154510"/>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1922821" y="4154510"/>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2197141" y="4154510"/>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2553757" y="4031066"/>
            <a:ext cx="8315058" cy="411480"/>
            <a:chOff x="0" y="0"/>
            <a:chExt cx="11086744" cy="548640"/>
          </a:xfrm>
        </p:grpSpPr>
        <p:sp>
          <p:nvSpPr>
            <p:cNvPr name="Freeform 65" id="65"/>
            <p:cNvSpPr/>
            <p:nvPr/>
          </p:nvSpPr>
          <p:spPr>
            <a:xfrm flipH="false" flipV="false" rot="0">
              <a:off x="0" y="0"/>
              <a:ext cx="11086750" cy="548640"/>
            </a:xfrm>
            <a:custGeom>
              <a:avLst/>
              <a:gdLst/>
              <a:ahLst/>
              <a:cxnLst/>
              <a:rect r="r" b="b" t="t" l="l"/>
              <a:pathLst>
                <a:path h="548640" w="11086750">
                  <a:moveTo>
                    <a:pt x="0" y="0"/>
                  </a:moveTo>
                  <a:lnTo>
                    <a:pt x="11086750" y="0"/>
                  </a:lnTo>
                  <a:lnTo>
                    <a:pt x="11086750" y="548640"/>
                  </a:lnTo>
                  <a:lnTo>
                    <a:pt x="0" y="548640"/>
                  </a:lnTo>
                  <a:close/>
                </a:path>
              </a:pathLst>
            </a:custGeom>
            <a:blipFill>
              <a:blip r:embed="rId3">
                <a:alphaModFix amt="0"/>
              </a:blip>
              <a:stretch>
                <a:fillRect l="0" t="-343747" r="0" b="-343747"/>
              </a:stretch>
            </a:blipFill>
          </p:spPr>
        </p:sp>
        <p:sp>
          <p:nvSpPr>
            <p:cNvPr name="TextBox 66" id="66"/>
            <p:cNvSpPr txBox="true"/>
            <p:nvPr/>
          </p:nvSpPr>
          <p:spPr>
            <a:xfrm>
              <a:off x="0" y="-38100"/>
              <a:ext cx="1108674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3 · explore the campus</a:t>
              </a:r>
            </a:p>
          </p:txBody>
        </p:sp>
      </p:grpSp>
      <p:grpSp>
        <p:nvGrpSpPr>
          <p:cNvPr name="Group 67" id="67"/>
          <p:cNvGrpSpPr/>
          <p:nvPr/>
        </p:nvGrpSpPr>
        <p:grpSpPr>
          <a:xfrm rot="0">
            <a:off x="1566205" y="4497410"/>
            <a:ext cx="9302610" cy="3939369"/>
            <a:chOff x="0" y="0"/>
            <a:chExt cx="12403480" cy="5252491"/>
          </a:xfrm>
        </p:grpSpPr>
        <p:sp>
          <p:nvSpPr>
            <p:cNvPr name="Freeform 68" id="68" descr="Screenshot_16.jpg"/>
            <p:cNvSpPr/>
            <p:nvPr/>
          </p:nvSpPr>
          <p:spPr>
            <a:xfrm flipH="false" flipV="false" rot="0">
              <a:off x="0" y="0"/>
              <a:ext cx="12403455" cy="5252466"/>
            </a:xfrm>
            <a:custGeom>
              <a:avLst/>
              <a:gdLst/>
              <a:ahLst/>
              <a:cxnLst/>
              <a:rect r="r" b="b" t="t" l="l"/>
              <a:pathLst>
                <a:path h="5252466" w="12403455">
                  <a:moveTo>
                    <a:pt x="0" y="0"/>
                  </a:moveTo>
                  <a:lnTo>
                    <a:pt x="12403455" y="0"/>
                  </a:lnTo>
                  <a:lnTo>
                    <a:pt x="12403455" y="5252466"/>
                  </a:lnTo>
                  <a:lnTo>
                    <a:pt x="0" y="5252466"/>
                  </a:lnTo>
                  <a:lnTo>
                    <a:pt x="0" y="0"/>
                  </a:lnTo>
                  <a:close/>
                </a:path>
              </a:pathLst>
            </a:custGeom>
            <a:blipFill>
              <a:blip r:embed="rId5"/>
              <a:stretch>
                <a:fillRect l="0" t="0" r="0" b="-201"/>
              </a:stretch>
            </a:blipFill>
          </p:spPr>
        </p:sp>
      </p:grpSp>
      <p:grpSp>
        <p:nvGrpSpPr>
          <p:cNvPr name="Group 69" id="69"/>
          <p:cNvGrpSpPr/>
          <p:nvPr/>
        </p:nvGrpSpPr>
        <p:grpSpPr>
          <a:xfrm rot="0">
            <a:off x="11599955" y="3350895"/>
            <a:ext cx="5322932" cy="5875782"/>
            <a:chOff x="0" y="0"/>
            <a:chExt cx="7097243" cy="7834376"/>
          </a:xfrm>
        </p:grpSpPr>
        <p:sp>
          <p:nvSpPr>
            <p:cNvPr name="Freeform 70" id="70"/>
            <p:cNvSpPr/>
            <p:nvPr/>
          </p:nvSpPr>
          <p:spPr>
            <a:xfrm flipH="false" flipV="false" rot="0">
              <a:off x="0" y="0"/>
              <a:ext cx="7097141" cy="7834376"/>
            </a:xfrm>
            <a:custGeom>
              <a:avLst/>
              <a:gdLst/>
              <a:ahLst/>
              <a:cxnLst/>
              <a:rect r="r" b="b" t="t" l="l"/>
              <a:pathLst>
                <a:path h="7834376" w="7097141">
                  <a:moveTo>
                    <a:pt x="0" y="165100"/>
                  </a:moveTo>
                  <a:cubicBezTo>
                    <a:pt x="0" y="73914"/>
                    <a:pt x="73914" y="0"/>
                    <a:pt x="165100" y="0"/>
                  </a:cubicBezTo>
                  <a:lnTo>
                    <a:pt x="6932041" y="0"/>
                  </a:lnTo>
                  <a:cubicBezTo>
                    <a:pt x="7023227" y="0"/>
                    <a:pt x="7097141" y="73914"/>
                    <a:pt x="7097141" y="165100"/>
                  </a:cubicBezTo>
                  <a:lnTo>
                    <a:pt x="7097141" y="7669276"/>
                  </a:lnTo>
                  <a:cubicBezTo>
                    <a:pt x="7097141" y="7760462"/>
                    <a:pt x="7023227" y="7834376"/>
                    <a:pt x="6932041" y="7834376"/>
                  </a:cubicBezTo>
                  <a:lnTo>
                    <a:pt x="165100" y="7834376"/>
                  </a:lnTo>
                  <a:cubicBezTo>
                    <a:pt x="73914" y="7834376"/>
                    <a:pt x="0" y="7760462"/>
                    <a:pt x="0" y="7669276"/>
                  </a:cubicBezTo>
                  <a:close/>
                </a:path>
              </a:pathLst>
            </a:custGeom>
            <a:solidFill>
              <a:srgbClr val="000000"/>
            </a:solidFill>
            <a:ln w="19050" cap="sq">
              <a:solidFill>
                <a:srgbClr val="2C2F38"/>
              </a:solidFill>
              <a:prstDash val="solid"/>
              <a:miter/>
            </a:ln>
          </p:spPr>
        </p:sp>
      </p:grpSp>
      <p:grpSp>
        <p:nvGrpSpPr>
          <p:cNvPr name="Group 71" id="71"/>
          <p:cNvGrpSpPr/>
          <p:nvPr/>
        </p:nvGrpSpPr>
        <p:grpSpPr>
          <a:xfrm rot="0">
            <a:off x="11883800" y="3566160"/>
            <a:ext cx="164592" cy="164592"/>
            <a:chOff x="0" y="0"/>
            <a:chExt cx="219456" cy="219456"/>
          </a:xfrm>
        </p:grpSpPr>
        <p:sp>
          <p:nvSpPr>
            <p:cNvPr name="Freeform 72" id="7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73" id="73"/>
          <p:cNvGrpSpPr/>
          <p:nvPr/>
        </p:nvGrpSpPr>
        <p:grpSpPr>
          <a:xfrm rot="0">
            <a:off x="12158120" y="3566160"/>
            <a:ext cx="164592" cy="164592"/>
            <a:chOff x="0" y="0"/>
            <a:chExt cx="219456" cy="219456"/>
          </a:xfrm>
        </p:grpSpPr>
        <p:sp>
          <p:nvSpPr>
            <p:cNvPr name="Freeform 74" id="7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5" id="75"/>
          <p:cNvGrpSpPr/>
          <p:nvPr/>
        </p:nvGrpSpPr>
        <p:grpSpPr>
          <a:xfrm rot="0">
            <a:off x="12432440" y="3566160"/>
            <a:ext cx="164592" cy="164592"/>
            <a:chOff x="0" y="0"/>
            <a:chExt cx="219456" cy="219456"/>
          </a:xfrm>
        </p:grpSpPr>
        <p:sp>
          <p:nvSpPr>
            <p:cNvPr name="Freeform 76" id="7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7" id="77"/>
          <p:cNvGrpSpPr/>
          <p:nvPr/>
        </p:nvGrpSpPr>
        <p:grpSpPr>
          <a:xfrm rot="0">
            <a:off x="12789056" y="3442716"/>
            <a:ext cx="3932282" cy="411480"/>
            <a:chOff x="0" y="0"/>
            <a:chExt cx="5243043" cy="548640"/>
          </a:xfrm>
        </p:grpSpPr>
        <p:sp>
          <p:nvSpPr>
            <p:cNvPr name="Freeform 78" id="78"/>
            <p:cNvSpPr/>
            <p:nvPr/>
          </p:nvSpPr>
          <p:spPr>
            <a:xfrm flipH="false" flipV="false" rot="0">
              <a:off x="0" y="0"/>
              <a:ext cx="5243044" cy="548640"/>
            </a:xfrm>
            <a:custGeom>
              <a:avLst/>
              <a:gdLst/>
              <a:ahLst/>
              <a:cxnLst/>
              <a:rect r="r" b="b" t="t" l="l"/>
              <a:pathLst>
                <a:path h="548640" w="5243044">
                  <a:moveTo>
                    <a:pt x="0" y="0"/>
                  </a:moveTo>
                  <a:lnTo>
                    <a:pt x="5243044" y="0"/>
                  </a:lnTo>
                  <a:lnTo>
                    <a:pt x="5243044" y="548640"/>
                  </a:lnTo>
                  <a:lnTo>
                    <a:pt x="0" y="548640"/>
                  </a:lnTo>
                  <a:close/>
                </a:path>
              </a:pathLst>
            </a:custGeom>
            <a:blipFill>
              <a:blip r:embed="rId3">
                <a:alphaModFix amt="0"/>
              </a:blip>
              <a:stretch>
                <a:fillRect l="0" t="-136207" r="0" b="-136207"/>
              </a:stretch>
            </a:blipFill>
          </p:spPr>
        </p:sp>
        <p:sp>
          <p:nvSpPr>
            <p:cNvPr name="TextBox 79" id="79"/>
            <p:cNvSpPr txBox="true"/>
            <p:nvPr/>
          </p:nvSpPr>
          <p:spPr>
            <a:xfrm>
              <a:off x="0" y="-38100"/>
              <a:ext cx="5243043"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DFS walk, stack shown</a:t>
              </a:r>
            </a:p>
          </p:txBody>
        </p:sp>
      </p:grpSp>
      <p:grpSp>
        <p:nvGrpSpPr>
          <p:cNvPr name="Group 80" id="80"/>
          <p:cNvGrpSpPr/>
          <p:nvPr/>
        </p:nvGrpSpPr>
        <p:grpSpPr>
          <a:xfrm rot="0">
            <a:off x="11801504" y="3909060"/>
            <a:ext cx="4919834" cy="5116068"/>
            <a:chOff x="0" y="0"/>
            <a:chExt cx="6559779" cy="6821424"/>
          </a:xfrm>
        </p:grpSpPr>
        <p:sp>
          <p:nvSpPr>
            <p:cNvPr name="Freeform 81" id="81" descr="Screenshot_15.jpg"/>
            <p:cNvSpPr/>
            <p:nvPr/>
          </p:nvSpPr>
          <p:spPr>
            <a:xfrm flipH="false" flipV="false" rot="0">
              <a:off x="0" y="0"/>
              <a:ext cx="6559804" cy="6821424"/>
            </a:xfrm>
            <a:custGeom>
              <a:avLst/>
              <a:gdLst/>
              <a:ahLst/>
              <a:cxnLst/>
              <a:rect r="r" b="b" t="t" l="l"/>
              <a:pathLst>
                <a:path h="6821424" w="6559804">
                  <a:moveTo>
                    <a:pt x="0" y="0"/>
                  </a:moveTo>
                  <a:lnTo>
                    <a:pt x="6559804" y="0"/>
                  </a:lnTo>
                  <a:lnTo>
                    <a:pt x="6559804" y="6821424"/>
                  </a:lnTo>
                  <a:lnTo>
                    <a:pt x="0" y="6821424"/>
                  </a:lnTo>
                  <a:lnTo>
                    <a:pt x="0" y="0"/>
                  </a:lnTo>
                  <a:close/>
                </a:path>
              </a:pathLst>
            </a:custGeom>
            <a:blipFill>
              <a:blip r:embed="rId6"/>
              <a:stretch>
                <a:fillRect l="0" t="0" r="0" b="0"/>
              </a:stretch>
            </a:blipFill>
          </p:spPr>
        </p:sp>
      </p:grpSp>
    </p:spTree>
  </p:cSld>
  <p:clrMapOvr>
    <a:masterClrMapping/>
  </p:clrMapOvr>
  <p:transition spd="fast">
    <p:fade/>
  </p:transition>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9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Roads and walkways</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Every walkway listed under its road, with its length: 56 walkways on 15 roads.</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36900">
            <a:off x="11984746" y="950595"/>
            <a:ext cx="3105902"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96210" y="898398"/>
            <a:ext cx="123444" cy="123444"/>
            <a:chOff x="0" y="0"/>
            <a:chExt cx="164592" cy="164592"/>
          </a:xfrm>
        </p:grpSpPr>
        <p:sp>
          <p:nvSpPr>
            <p:cNvPr name="Freeform 30" id="3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4902434"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989871"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800383" y="9683496"/>
            <a:ext cx="827075" cy="384048"/>
            <a:chOff x="0" y="0"/>
            <a:chExt cx="1102766" cy="512064"/>
          </a:xfrm>
        </p:grpSpPr>
        <p:sp>
          <p:nvSpPr>
            <p:cNvPr name="Freeform 47" id="47"/>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800383" y="9683496"/>
            <a:ext cx="827075" cy="384048"/>
            <a:chOff x="0" y="0"/>
            <a:chExt cx="1102766" cy="512064"/>
          </a:xfrm>
        </p:grpSpPr>
        <p:sp>
          <p:nvSpPr>
            <p:cNvPr name="Freeform 49" id="49"/>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0" id="50"/>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Graph</a:t>
              </a:r>
            </a:p>
          </p:txBody>
        </p:sp>
      </p:grpSp>
      <p:grpSp>
        <p:nvGrpSpPr>
          <p:cNvPr name="Group 51" id="51"/>
          <p:cNvGrpSpPr/>
          <p:nvPr/>
        </p:nvGrpSpPr>
        <p:grpSpPr>
          <a:xfrm rot="0">
            <a:off x="15737186" y="9683496"/>
            <a:ext cx="1723282" cy="384048"/>
            <a:chOff x="0" y="0"/>
            <a:chExt cx="2297709" cy="512064"/>
          </a:xfrm>
        </p:grpSpPr>
        <p:sp>
          <p:nvSpPr>
            <p:cNvPr name="Freeform 52" id="52"/>
            <p:cNvSpPr/>
            <p:nvPr/>
          </p:nvSpPr>
          <p:spPr>
            <a:xfrm flipH="false" flipV="false" rot="0">
              <a:off x="0" y="0"/>
              <a:ext cx="2297684" cy="512064"/>
            </a:xfrm>
            <a:custGeom>
              <a:avLst/>
              <a:gdLst/>
              <a:ahLst/>
              <a:cxnLst/>
              <a:rect r="r" b="b" t="t" l="l"/>
              <a:pathLst>
                <a:path h="512064" w="2297684">
                  <a:moveTo>
                    <a:pt x="0" y="107569"/>
                  </a:moveTo>
                  <a:cubicBezTo>
                    <a:pt x="0" y="48133"/>
                    <a:pt x="48133" y="0"/>
                    <a:pt x="107569" y="0"/>
                  </a:cubicBezTo>
                  <a:lnTo>
                    <a:pt x="2190115" y="0"/>
                  </a:lnTo>
                  <a:cubicBezTo>
                    <a:pt x="2249551" y="0"/>
                    <a:pt x="2297684" y="48133"/>
                    <a:pt x="2297684" y="107569"/>
                  </a:cubicBezTo>
                  <a:lnTo>
                    <a:pt x="2297684" y="404495"/>
                  </a:lnTo>
                  <a:cubicBezTo>
                    <a:pt x="2297684" y="463931"/>
                    <a:pt x="2249551" y="512064"/>
                    <a:pt x="2190115"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5737186" y="9683496"/>
            <a:ext cx="1723282" cy="384048"/>
            <a:chOff x="0" y="0"/>
            <a:chExt cx="2297709" cy="512064"/>
          </a:xfrm>
        </p:grpSpPr>
        <p:sp>
          <p:nvSpPr>
            <p:cNvPr name="Freeform 54" id="54"/>
            <p:cNvSpPr/>
            <p:nvPr/>
          </p:nvSpPr>
          <p:spPr>
            <a:xfrm flipH="false" flipV="false" rot="0">
              <a:off x="0" y="0"/>
              <a:ext cx="2297704" cy="512064"/>
            </a:xfrm>
            <a:custGeom>
              <a:avLst/>
              <a:gdLst/>
              <a:ahLst/>
              <a:cxnLst/>
              <a:rect r="r" b="b" t="t" l="l"/>
              <a:pathLst>
                <a:path h="512064" w="2297704">
                  <a:moveTo>
                    <a:pt x="0" y="0"/>
                  </a:moveTo>
                  <a:lnTo>
                    <a:pt x="2297704" y="0"/>
                  </a:lnTo>
                  <a:lnTo>
                    <a:pt x="2297704" y="512064"/>
                  </a:lnTo>
                  <a:lnTo>
                    <a:pt x="0" y="512064"/>
                  </a:lnTo>
                  <a:close/>
                </a:path>
              </a:pathLst>
            </a:custGeom>
            <a:blipFill>
              <a:blip r:embed="rId3">
                <a:alphaModFix amt="0"/>
              </a:blip>
              <a:stretch>
                <a:fillRect l="0" t="-37432" r="0" b="-37432"/>
              </a:stretch>
            </a:blipFill>
          </p:spPr>
        </p:sp>
        <p:sp>
          <p:nvSpPr>
            <p:cNvPr name="TextBox 55" id="55"/>
            <p:cNvSpPr txBox="true"/>
            <p:nvPr/>
          </p:nvSpPr>
          <p:spPr>
            <a:xfrm>
              <a:off x="0" y="-38100"/>
              <a:ext cx="2297709"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Adjacency list</a:t>
              </a:r>
            </a:p>
          </p:txBody>
        </p:sp>
      </p:grpSp>
      <p:grpSp>
        <p:nvGrpSpPr>
          <p:cNvPr name="Group 56" id="56"/>
          <p:cNvGrpSpPr/>
          <p:nvPr/>
        </p:nvGrpSpPr>
        <p:grpSpPr>
          <a:xfrm rot="0">
            <a:off x="2460774" y="3350895"/>
            <a:ext cx="13365994" cy="5875782"/>
            <a:chOff x="0" y="0"/>
            <a:chExt cx="17821326" cy="7834376"/>
          </a:xfrm>
        </p:grpSpPr>
        <p:sp>
          <p:nvSpPr>
            <p:cNvPr name="Freeform 57" id="57"/>
            <p:cNvSpPr/>
            <p:nvPr/>
          </p:nvSpPr>
          <p:spPr>
            <a:xfrm flipH="false" flipV="false" rot="0">
              <a:off x="0" y="0"/>
              <a:ext cx="17821402" cy="7834376"/>
            </a:xfrm>
            <a:custGeom>
              <a:avLst/>
              <a:gdLst/>
              <a:ahLst/>
              <a:cxnLst/>
              <a:rect r="r" b="b" t="t" l="l"/>
              <a:pathLst>
                <a:path h="7834376" w="17821402">
                  <a:moveTo>
                    <a:pt x="0" y="165100"/>
                  </a:moveTo>
                  <a:cubicBezTo>
                    <a:pt x="0" y="73914"/>
                    <a:pt x="73914" y="0"/>
                    <a:pt x="165100" y="0"/>
                  </a:cubicBezTo>
                  <a:lnTo>
                    <a:pt x="17656302" y="0"/>
                  </a:lnTo>
                  <a:cubicBezTo>
                    <a:pt x="17747489" y="0"/>
                    <a:pt x="17821402" y="73914"/>
                    <a:pt x="17821402" y="165100"/>
                  </a:cubicBezTo>
                  <a:lnTo>
                    <a:pt x="17821402" y="7669276"/>
                  </a:lnTo>
                  <a:cubicBezTo>
                    <a:pt x="17821402" y="7760462"/>
                    <a:pt x="17747489" y="7834376"/>
                    <a:pt x="17656302" y="7834376"/>
                  </a:cubicBezTo>
                  <a:lnTo>
                    <a:pt x="165100" y="7834376"/>
                  </a:lnTo>
                  <a:cubicBezTo>
                    <a:pt x="73914" y="7834376"/>
                    <a:pt x="0" y="7760462"/>
                    <a:pt x="0" y="7669276"/>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2744619" y="3566160"/>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3018939" y="3566160"/>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3293259" y="3566160"/>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3649875" y="3442716"/>
            <a:ext cx="11975344" cy="411480"/>
            <a:chOff x="0" y="0"/>
            <a:chExt cx="15967126" cy="548640"/>
          </a:xfrm>
        </p:grpSpPr>
        <p:sp>
          <p:nvSpPr>
            <p:cNvPr name="Freeform 65" id="65"/>
            <p:cNvSpPr/>
            <p:nvPr/>
          </p:nvSpPr>
          <p:spPr>
            <a:xfrm flipH="false" flipV="false" rot="0">
              <a:off x="0" y="0"/>
              <a:ext cx="15967131" cy="548640"/>
            </a:xfrm>
            <a:custGeom>
              <a:avLst/>
              <a:gdLst/>
              <a:ahLst/>
              <a:cxnLst/>
              <a:rect r="r" b="b" t="t" l="l"/>
              <a:pathLst>
                <a:path h="548640" w="15967131">
                  <a:moveTo>
                    <a:pt x="0" y="0"/>
                  </a:moveTo>
                  <a:lnTo>
                    <a:pt x="15967131" y="0"/>
                  </a:lnTo>
                  <a:lnTo>
                    <a:pt x="15967131" y="548640"/>
                  </a:lnTo>
                  <a:lnTo>
                    <a:pt x="0" y="548640"/>
                  </a:lnTo>
                  <a:close/>
                </a:path>
              </a:pathLst>
            </a:custGeom>
            <a:blipFill>
              <a:blip r:embed="rId3">
                <a:alphaModFix amt="0"/>
              </a:blip>
              <a:stretch>
                <a:fillRect l="0" t="-517075" r="0" b="-517075"/>
              </a:stretch>
            </a:blipFill>
          </p:spPr>
        </p:sp>
        <p:sp>
          <p:nvSpPr>
            <p:cNvPr name="TextBox 66" id="66"/>
            <p:cNvSpPr txBox="true"/>
            <p:nvPr/>
          </p:nvSpPr>
          <p:spPr>
            <a:xfrm>
              <a:off x="0" y="-38100"/>
              <a:ext cx="15967126"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3 · all roads and walkways</a:t>
              </a:r>
            </a:p>
          </p:txBody>
        </p:sp>
      </p:grpSp>
      <p:grpSp>
        <p:nvGrpSpPr>
          <p:cNvPr name="Group 67" id="67"/>
          <p:cNvGrpSpPr/>
          <p:nvPr/>
        </p:nvGrpSpPr>
        <p:grpSpPr>
          <a:xfrm rot="0">
            <a:off x="2662323" y="3909060"/>
            <a:ext cx="6275708" cy="4200049"/>
            <a:chOff x="0" y="0"/>
            <a:chExt cx="8367611" cy="5600065"/>
          </a:xfrm>
        </p:grpSpPr>
        <p:sp>
          <p:nvSpPr>
            <p:cNvPr name="Freeform 68" id="68" descr="Screenshot_17.jpg"/>
            <p:cNvSpPr/>
            <p:nvPr/>
          </p:nvSpPr>
          <p:spPr>
            <a:xfrm flipH="false" flipV="false" rot="0">
              <a:off x="0" y="0"/>
              <a:ext cx="8367649" cy="5600065"/>
            </a:xfrm>
            <a:custGeom>
              <a:avLst/>
              <a:gdLst/>
              <a:ahLst/>
              <a:cxnLst/>
              <a:rect r="r" b="b" t="t" l="l"/>
              <a:pathLst>
                <a:path h="5600065" w="8367649">
                  <a:moveTo>
                    <a:pt x="0" y="0"/>
                  </a:moveTo>
                  <a:lnTo>
                    <a:pt x="8367649" y="0"/>
                  </a:lnTo>
                  <a:lnTo>
                    <a:pt x="8367649" y="5600065"/>
                  </a:lnTo>
                  <a:lnTo>
                    <a:pt x="0" y="5600065"/>
                  </a:lnTo>
                  <a:lnTo>
                    <a:pt x="0" y="0"/>
                  </a:lnTo>
                  <a:close/>
                </a:path>
              </a:pathLst>
            </a:custGeom>
            <a:blipFill>
              <a:blip r:embed="rId5"/>
              <a:stretch>
                <a:fillRect l="0" t="0" r="0" b="-122041"/>
              </a:stretch>
            </a:blipFill>
          </p:spPr>
        </p:sp>
      </p:grpSp>
      <p:sp>
        <p:nvSpPr>
          <p:cNvPr name="AutoShape 69" id="69"/>
          <p:cNvSpPr/>
          <p:nvPr/>
        </p:nvSpPr>
        <p:spPr>
          <a:xfrm rot="5386920">
            <a:off x="6644773" y="6462332"/>
            <a:ext cx="4997996" cy="0"/>
          </a:xfrm>
          <a:prstGeom prst="line">
            <a:avLst/>
          </a:prstGeom>
          <a:ln cap="rnd" w="9525">
            <a:solidFill>
              <a:srgbClr val="2C2F38"/>
            </a:solidFill>
            <a:prstDash val="solid"/>
            <a:headEnd type="none" len="sm" w="sm"/>
            <a:tailEnd type="none" len="sm" w="sm"/>
          </a:ln>
        </p:spPr>
      </p:sp>
      <p:grpSp>
        <p:nvGrpSpPr>
          <p:cNvPr name="Group 70" id="70"/>
          <p:cNvGrpSpPr/>
          <p:nvPr/>
        </p:nvGrpSpPr>
        <p:grpSpPr>
          <a:xfrm rot="0">
            <a:off x="9349511" y="3909060"/>
            <a:ext cx="6275708" cy="5116068"/>
            <a:chOff x="0" y="0"/>
            <a:chExt cx="8367611" cy="6821424"/>
          </a:xfrm>
        </p:grpSpPr>
        <p:sp>
          <p:nvSpPr>
            <p:cNvPr name="Freeform 71" id="71" descr="Screenshot_17.jpg"/>
            <p:cNvSpPr/>
            <p:nvPr/>
          </p:nvSpPr>
          <p:spPr>
            <a:xfrm flipH="false" flipV="false" rot="0">
              <a:off x="0" y="0"/>
              <a:ext cx="8367649" cy="6821424"/>
            </a:xfrm>
            <a:custGeom>
              <a:avLst/>
              <a:gdLst/>
              <a:ahLst/>
              <a:cxnLst/>
              <a:rect r="r" b="b" t="t" l="l"/>
              <a:pathLst>
                <a:path h="6821424" w="8367649">
                  <a:moveTo>
                    <a:pt x="0" y="0"/>
                  </a:moveTo>
                  <a:lnTo>
                    <a:pt x="8367649" y="0"/>
                  </a:lnTo>
                  <a:lnTo>
                    <a:pt x="8367649" y="6821424"/>
                  </a:lnTo>
                  <a:lnTo>
                    <a:pt x="0" y="6821424"/>
                  </a:lnTo>
                  <a:lnTo>
                    <a:pt x="0" y="0"/>
                  </a:lnTo>
                  <a:close/>
                </a:path>
              </a:pathLst>
            </a:custGeom>
            <a:blipFill>
              <a:blip r:embed="rId5"/>
              <a:stretch>
                <a:fillRect l="0" t="-82285" r="0" b="0"/>
              </a:stretch>
            </a:blipFill>
          </p:spPr>
        </p:sp>
      </p:grpSp>
    </p:spTree>
  </p:cSld>
  <p:clrMapOvr>
    <a:masterClrMapping/>
  </p:clrMapOvr>
  <p:transition spd="fast">
    <p:fade/>
  </p:transition>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10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Search</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Type part of a name, a category or a number. Here “caf” finds the Cafeteria.</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32820">
            <a:off x="11984755" y="950595"/>
            <a:ext cx="3489931"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80258" y="898398"/>
            <a:ext cx="123444" cy="123444"/>
            <a:chOff x="0" y="0"/>
            <a:chExt cx="164592" cy="164592"/>
          </a:xfrm>
        </p:grpSpPr>
        <p:sp>
          <p:nvSpPr>
            <p:cNvPr name="Freeform 32" id="32"/>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5286482"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292832"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103344" y="9683496"/>
            <a:ext cx="1623698" cy="384048"/>
            <a:chOff x="0" y="0"/>
            <a:chExt cx="2164931" cy="512064"/>
          </a:xfrm>
        </p:grpSpPr>
        <p:sp>
          <p:nvSpPr>
            <p:cNvPr name="Freeform 47" id="47"/>
            <p:cNvSpPr/>
            <p:nvPr/>
          </p:nvSpPr>
          <p:spPr>
            <a:xfrm flipH="false" flipV="false" rot="0">
              <a:off x="0" y="0"/>
              <a:ext cx="2164969" cy="512064"/>
            </a:xfrm>
            <a:custGeom>
              <a:avLst/>
              <a:gdLst/>
              <a:ahLst/>
              <a:cxnLst/>
              <a:rect r="r" b="b" t="t" l="l"/>
              <a:pathLst>
                <a:path h="512064" w="2164969">
                  <a:moveTo>
                    <a:pt x="0" y="107569"/>
                  </a:moveTo>
                  <a:cubicBezTo>
                    <a:pt x="0" y="48133"/>
                    <a:pt x="48133" y="0"/>
                    <a:pt x="107569" y="0"/>
                  </a:cubicBezTo>
                  <a:lnTo>
                    <a:pt x="2057400" y="0"/>
                  </a:lnTo>
                  <a:cubicBezTo>
                    <a:pt x="2116836" y="0"/>
                    <a:pt x="2164969" y="48133"/>
                    <a:pt x="2164969" y="107569"/>
                  </a:cubicBezTo>
                  <a:lnTo>
                    <a:pt x="2164969" y="404495"/>
                  </a:lnTo>
                  <a:cubicBezTo>
                    <a:pt x="2164969" y="463931"/>
                    <a:pt x="2116836" y="512064"/>
                    <a:pt x="2057400"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103344" y="9683496"/>
            <a:ext cx="1623698" cy="384048"/>
            <a:chOff x="0" y="0"/>
            <a:chExt cx="2164931" cy="512064"/>
          </a:xfrm>
        </p:grpSpPr>
        <p:sp>
          <p:nvSpPr>
            <p:cNvPr name="Freeform 49" id="49"/>
            <p:cNvSpPr/>
            <p:nvPr/>
          </p:nvSpPr>
          <p:spPr>
            <a:xfrm flipH="false" flipV="false" rot="0">
              <a:off x="0" y="0"/>
              <a:ext cx="2164934" cy="512064"/>
            </a:xfrm>
            <a:custGeom>
              <a:avLst/>
              <a:gdLst/>
              <a:ahLst/>
              <a:cxnLst/>
              <a:rect r="r" b="b" t="t" l="l"/>
              <a:pathLst>
                <a:path h="512064" w="2164934">
                  <a:moveTo>
                    <a:pt x="0" y="0"/>
                  </a:moveTo>
                  <a:lnTo>
                    <a:pt x="2164934" y="0"/>
                  </a:lnTo>
                  <a:lnTo>
                    <a:pt x="2164934" y="512064"/>
                  </a:lnTo>
                  <a:lnTo>
                    <a:pt x="0" y="512064"/>
                  </a:lnTo>
                  <a:close/>
                </a:path>
              </a:pathLst>
            </a:custGeom>
            <a:blipFill>
              <a:blip r:embed="rId3">
                <a:alphaModFix amt="0"/>
              </a:blip>
              <a:stretch>
                <a:fillRect l="0" t="-32379" r="0" b="-32379"/>
              </a:stretch>
            </a:blipFill>
          </p:spPr>
        </p:sp>
        <p:sp>
          <p:nvSpPr>
            <p:cNvPr name="TextBox 50" id="50"/>
            <p:cNvSpPr txBox="true"/>
            <p:nvPr/>
          </p:nvSpPr>
          <p:spPr>
            <a:xfrm>
              <a:off x="0" y="-38100"/>
              <a:ext cx="2164931"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Linear search</a:t>
              </a:r>
            </a:p>
          </p:txBody>
        </p:sp>
      </p:grpSp>
      <p:grpSp>
        <p:nvGrpSpPr>
          <p:cNvPr name="Group 51" id="51"/>
          <p:cNvGrpSpPr/>
          <p:nvPr/>
        </p:nvGrpSpPr>
        <p:grpSpPr>
          <a:xfrm rot="0">
            <a:off x="15836770" y="9683496"/>
            <a:ext cx="1623698" cy="384048"/>
            <a:chOff x="0" y="0"/>
            <a:chExt cx="2164931" cy="512064"/>
          </a:xfrm>
        </p:grpSpPr>
        <p:sp>
          <p:nvSpPr>
            <p:cNvPr name="Freeform 52" id="52"/>
            <p:cNvSpPr/>
            <p:nvPr/>
          </p:nvSpPr>
          <p:spPr>
            <a:xfrm flipH="false" flipV="false" rot="0">
              <a:off x="0" y="0"/>
              <a:ext cx="2164969" cy="512064"/>
            </a:xfrm>
            <a:custGeom>
              <a:avLst/>
              <a:gdLst/>
              <a:ahLst/>
              <a:cxnLst/>
              <a:rect r="r" b="b" t="t" l="l"/>
              <a:pathLst>
                <a:path h="512064" w="2164969">
                  <a:moveTo>
                    <a:pt x="0" y="107569"/>
                  </a:moveTo>
                  <a:cubicBezTo>
                    <a:pt x="0" y="48133"/>
                    <a:pt x="48133" y="0"/>
                    <a:pt x="107569" y="0"/>
                  </a:cubicBezTo>
                  <a:lnTo>
                    <a:pt x="2057400" y="0"/>
                  </a:lnTo>
                  <a:cubicBezTo>
                    <a:pt x="2116836" y="0"/>
                    <a:pt x="2164969" y="48133"/>
                    <a:pt x="2164969" y="107569"/>
                  </a:cubicBezTo>
                  <a:lnTo>
                    <a:pt x="2164969" y="404495"/>
                  </a:lnTo>
                  <a:cubicBezTo>
                    <a:pt x="2164969" y="463931"/>
                    <a:pt x="2116836" y="512064"/>
                    <a:pt x="2057400"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5836770" y="9683496"/>
            <a:ext cx="1623698" cy="384048"/>
            <a:chOff x="0" y="0"/>
            <a:chExt cx="2164931" cy="512064"/>
          </a:xfrm>
        </p:grpSpPr>
        <p:sp>
          <p:nvSpPr>
            <p:cNvPr name="Freeform 54" id="54"/>
            <p:cNvSpPr/>
            <p:nvPr/>
          </p:nvSpPr>
          <p:spPr>
            <a:xfrm flipH="false" flipV="false" rot="0">
              <a:off x="0" y="0"/>
              <a:ext cx="2164934" cy="512064"/>
            </a:xfrm>
            <a:custGeom>
              <a:avLst/>
              <a:gdLst/>
              <a:ahLst/>
              <a:cxnLst/>
              <a:rect r="r" b="b" t="t" l="l"/>
              <a:pathLst>
                <a:path h="512064" w="2164934">
                  <a:moveTo>
                    <a:pt x="0" y="0"/>
                  </a:moveTo>
                  <a:lnTo>
                    <a:pt x="2164934" y="0"/>
                  </a:lnTo>
                  <a:lnTo>
                    <a:pt x="2164934" y="512064"/>
                  </a:lnTo>
                  <a:lnTo>
                    <a:pt x="0" y="512064"/>
                  </a:lnTo>
                  <a:close/>
                </a:path>
              </a:pathLst>
            </a:custGeom>
            <a:blipFill>
              <a:blip r:embed="rId3">
                <a:alphaModFix amt="0"/>
              </a:blip>
              <a:stretch>
                <a:fillRect l="0" t="-32379" r="0" b="-32379"/>
              </a:stretch>
            </a:blipFill>
          </p:spPr>
        </p:sp>
        <p:sp>
          <p:nvSpPr>
            <p:cNvPr name="TextBox 55" id="55"/>
            <p:cNvSpPr txBox="true"/>
            <p:nvPr/>
          </p:nvSpPr>
          <p:spPr>
            <a:xfrm>
              <a:off x="0" y="-38100"/>
              <a:ext cx="2164931"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Binary search</a:t>
              </a:r>
            </a:p>
          </p:txBody>
        </p:sp>
      </p:grpSp>
      <p:grpSp>
        <p:nvGrpSpPr>
          <p:cNvPr name="Group 56" id="56"/>
          <p:cNvGrpSpPr/>
          <p:nvPr/>
        </p:nvGrpSpPr>
        <p:grpSpPr>
          <a:xfrm rot="0">
            <a:off x="986942" y="3506695"/>
            <a:ext cx="16313658" cy="5564181"/>
            <a:chOff x="0" y="0"/>
            <a:chExt cx="21751544" cy="7418908"/>
          </a:xfrm>
        </p:grpSpPr>
        <p:sp>
          <p:nvSpPr>
            <p:cNvPr name="Freeform 57" id="57"/>
            <p:cNvSpPr/>
            <p:nvPr/>
          </p:nvSpPr>
          <p:spPr>
            <a:xfrm flipH="false" flipV="false" rot="0">
              <a:off x="0" y="0"/>
              <a:ext cx="21751544" cy="7418832"/>
            </a:xfrm>
            <a:custGeom>
              <a:avLst/>
              <a:gdLst/>
              <a:ahLst/>
              <a:cxnLst/>
              <a:rect r="r" b="b" t="t" l="l"/>
              <a:pathLst>
                <a:path h="7418832" w="21751544">
                  <a:moveTo>
                    <a:pt x="0" y="165100"/>
                  </a:moveTo>
                  <a:cubicBezTo>
                    <a:pt x="0" y="73914"/>
                    <a:pt x="73914" y="0"/>
                    <a:pt x="165100" y="0"/>
                  </a:cubicBezTo>
                  <a:lnTo>
                    <a:pt x="21586444" y="0"/>
                  </a:lnTo>
                  <a:cubicBezTo>
                    <a:pt x="21677630" y="0"/>
                    <a:pt x="21751544" y="73914"/>
                    <a:pt x="21751544" y="165100"/>
                  </a:cubicBezTo>
                  <a:lnTo>
                    <a:pt x="21751544" y="7253732"/>
                  </a:lnTo>
                  <a:cubicBezTo>
                    <a:pt x="21751544" y="7344918"/>
                    <a:pt x="21677630" y="7418832"/>
                    <a:pt x="21586444" y="7418832"/>
                  </a:cubicBezTo>
                  <a:lnTo>
                    <a:pt x="165100" y="7418832"/>
                  </a:lnTo>
                  <a:cubicBezTo>
                    <a:pt x="73914" y="7418832"/>
                    <a:pt x="0" y="7344918"/>
                    <a:pt x="0" y="7253732"/>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1270787" y="3721960"/>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1545107" y="3721960"/>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1819427" y="3721960"/>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2176043" y="3598516"/>
            <a:ext cx="14923008" cy="411480"/>
            <a:chOff x="0" y="0"/>
            <a:chExt cx="19897344" cy="548640"/>
          </a:xfrm>
        </p:grpSpPr>
        <p:sp>
          <p:nvSpPr>
            <p:cNvPr name="Freeform 65" id="65"/>
            <p:cNvSpPr/>
            <p:nvPr/>
          </p:nvSpPr>
          <p:spPr>
            <a:xfrm flipH="false" flipV="false" rot="0">
              <a:off x="0" y="0"/>
              <a:ext cx="19897344" cy="548640"/>
            </a:xfrm>
            <a:custGeom>
              <a:avLst/>
              <a:gdLst/>
              <a:ahLst/>
              <a:cxnLst/>
              <a:rect r="r" b="b" t="t" l="l"/>
              <a:pathLst>
                <a:path h="548640" w="19897344">
                  <a:moveTo>
                    <a:pt x="0" y="0"/>
                  </a:moveTo>
                  <a:lnTo>
                    <a:pt x="19897344" y="0"/>
                  </a:lnTo>
                  <a:lnTo>
                    <a:pt x="19897344" y="548640"/>
                  </a:lnTo>
                  <a:lnTo>
                    <a:pt x="0" y="548640"/>
                  </a:lnTo>
                  <a:close/>
                </a:path>
              </a:pathLst>
            </a:custGeom>
            <a:blipFill>
              <a:blip r:embed="rId3">
                <a:alphaModFix amt="0"/>
              </a:blip>
              <a:stretch>
                <a:fillRect l="0" t="-656657" r="0" b="-656657"/>
              </a:stretch>
            </a:blipFill>
          </p:spPr>
        </p:sp>
        <p:sp>
          <p:nvSpPr>
            <p:cNvPr name="TextBox 66" id="66"/>
            <p:cNvSpPr txBox="true"/>
            <p:nvPr/>
          </p:nvSpPr>
          <p:spPr>
            <a:xfrm>
              <a:off x="0" y="-38100"/>
              <a:ext cx="1989734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4 · search</a:t>
              </a:r>
            </a:p>
          </p:txBody>
        </p:sp>
      </p:grpSp>
      <p:grpSp>
        <p:nvGrpSpPr>
          <p:cNvPr name="Group 67" id="67"/>
          <p:cNvGrpSpPr/>
          <p:nvPr/>
        </p:nvGrpSpPr>
        <p:grpSpPr>
          <a:xfrm rot="0">
            <a:off x="1188491" y="4064860"/>
            <a:ext cx="15910560" cy="4804467"/>
            <a:chOff x="0" y="0"/>
            <a:chExt cx="21214080" cy="6405956"/>
          </a:xfrm>
        </p:grpSpPr>
        <p:sp>
          <p:nvSpPr>
            <p:cNvPr name="Freeform 68" id="68" descr="Screenshot_18.jpg"/>
            <p:cNvSpPr/>
            <p:nvPr/>
          </p:nvSpPr>
          <p:spPr>
            <a:xfrm flipH="false" flipV="false" rot="0">
              <a:off x="0" y="0"/>
              <a:ext cx="21214080" cy="6406007"/>
            </a:xfrm>
            <a:custGeom>
              <a:avLst/>
              <a:gdLst/>
              <a:ahLst/>
              <a:cxnLst/>
              <a:rect r="r" b="b" t="t" l="l"/>
              <a:pathLst>
                <a:path h="6406007" w="21214080">
                  <a:moveTo>
                    <a:pt x="0" y="0"/>
                  </a:moveTo>
                  <a:lnTo>
                    <a:pt x="21214080" y="0"/>
                  </a:lnTo>
                  <a:lnTo>
                    <a:pt x="21214080" y="6406007"/>
                  </a:lnTo>
                  <a:lnTo>
                    <a:pt x="0" y="6406007"/>
                  </a:lnTo>
                  <a:lnTo>
                    <a:pt x="0" y="0"/>
                  </a:lnTo>
                  <a:close/>
                </a:path>
              </a:pathLst>
            </a:custGeom>
            <a:blipFill>
              <a:blip r:embed="rId5"/>
              <a:stretch>
                <a:fillRect l="0" t="0" r="0" b="-282"/>
              </a:stretch>
            </a:blipFill>
          </p:spPr>
        </p:sp>
      </p:grpSp>
    </p:spTree>
  </p:cSld>
  <p:clrMapOvr>
    <a:masterClrMapping/>
  </p:clrMapOvr>
  <p:transition spd="fast">
    <p:fade/>
  </p:transition>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11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Sort places</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Four orderings, each labelled with the algorithm that runs it.</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9580">
            <a:off x="11984755" y="950595"/>
            <a:ext cx="3873960"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66542" y="884682"/>
            <a:ext cx="150876" cy="150876"/>
            <a:chOff x="0" y="0"/>
            <a:chExt cx="201168" cy="201168"/>
          </a:xfrm>
        </p:grpSpPr>
        <p:sp>
          <p:nvSpPr>
            <p:cNvPr name="Freeform 32" id="3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3" id="33"/>
          <p:cNvGrpSpPr/>
          <p:nvPr/>
        </p:nvGrpSpPr>
        <p:grpSpPr>
          <a:xfrm rot="0">
            <a:off x="16164306" y="898398"/>
            <a:ext cx="123444" cy="123444"/>
            <a:chOff x="0" y="0"/>
            <a:chExt cx="164592" cy="164592"/>
          </a:xfrm>
        </p:grpSpPr>
        <p:sp>
          <p:nvSpPr>
            <p:cNvPr name="Freeform 34" id="34"/>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5670530"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392406"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202918" y="9683496"/>
            <a:ext cx="1424540" cy="384048"/>
            <a:chOff x="0" y="0"/>
            <a:chExt cx="1899387" cy="512064"/>
          </a:xfrm>
        </p:grpSpPr>
        <p:sp>
          <p:nvSpPr>
            <p:cNvPr name="Freeform 47" id="47"/>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202918" y="9683496"/>
            <a:ext cx="1424540" cy="384048"/>
            <a:chOff x="0" y="0"/>
            <a:chExt cx="1899387" cy="512064"/>
          </a:xfrm>
        </p:grpSpPr>
        <p:sp>
          <p:nvSpPr>
            <p:cNvPr name="Freeform 49" id="49"/>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0" id="50"/>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Bubble sort</a:t>
              </a:r>
            </a:p>
          </p:txBody>
        </p:sp>
      </p:grpSp>
      <p:grpSp>
        <p:nvGrpSpPr>
          <p:cNvPr name="Group 51" id="51"/>
          <p:cNvGrpSpPr/>
          <p:nvPr/>
        </p:nvGrpSpPr>
        <p:grpSpPr>
          <a:xfrm rot="0">
            <a:off x="15737186" y="9683496"/>
            <a:ext cx="1723282" cy="384048"/>
            <a:chOff x="0" y="0"/>
            <a:chExt cx="2297709" cy="512064"/>
          </a:xfrm>
        </p:grpSpPr>
        <p:sp>
          <p:nvSpPr>
            <p:cNvPr name="Freeform 52" id="52"/>
            <p:cNvSpPr/>
            <p:nvPr/>
          </p:nvSpPr>
          <p:spPr>
            <a:xfrm flipH="false" flipV="false" rot="0">
              <a:off x="0" y="0"/>
              <a:ext cx="2297684" cy="512064"/>
            </a:xfrm>
            <a:custGeom>
              <a:avLst/>
              <a:gdLst/>
              <a:ahLst/>
              <a:cxnLst/>
              <a:rect r="r" b="b" t="t" l="l"/>
              <a:pathLst>
                <a:path h="512064" w="2297684">
                  <a:moveTo>
                    <a:pt x="0" y="107569"/>
                  </a:moveTo>
                  <a:cubicBezTo>
                    <a:pt x="0" y="48133"/>
                    <a:pt x="48133" y="0"/>
                    <a:pt x="107569" y="0"/>
                  </a:cubicBezTo>
                  <a:lnTo>
                    <a:pt x="2190115" y="0"/>
                  </a:lnTo>
                  <a:cubicBezTo>
                    <a:pt x="2249551" y="0"/>
                    <a:pt x="2297684" y="48133"/>
                    <a:pt x="2297684" y="107569"/>
                  </a:cubicBezTo>
                  <a:lnTo>
                    <a:pt x="2297684" y="404495"/>
                  </a:lnTo>
                  <a:cubicBezTo>
                    <a:pt x="2297684" y="463931"/>
                    <a:pt x="2249551" y="512064"/>
                    <a:pt x="2190115"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5737186" y="9683496"/>
            <a:ext cx="1723282" cy="384048"/>
            <a:chOff x="0" y="0"/>
            <a:chExt cx="2297709" cy="512064"/>
          </a:xfrm>
        </p:grpSpPr>
        <p:sp>
          <p:nvSpPr>
            <p:cNvPr name="Freeform 54" id="54"/>
            <p:cNvSpPr/>
            <p:nvPr/>
          </p:nvSpPr>
          <p:spPr>
            <a:xfrm flipH="false" flipV="false" rot="0">
              <a:off x="0" y="0"/>
              <a:ext cx="2297704" cy="512064"/>
            </a:xfrm>
            <a:custGeom>
              <a:avLst/>
              <a:gdLst/>
              <a:ahLst/>
              <a:cxnLst/>
              <a:rect r="r" b="b" t="t" l="l"/>
              <a:pathLst>
                <a:path h="512064" w="2297704">
                  <a:moveTo>
                    <a:pt x="0" y="0"/>
                  </a:moveTo>
                  <a:lnTo>
                    <a:pt x="2297704" y="0"/>
                  </a:lnTo>
                  <a:lnTo>
                    <a:pt x="2297704" y="512064"/>
                  </a:lnTo>
                  <a:lnTo>
                    <a:pt x="0" y="512064"/>
                  </a:lnTo>
                  <a:close/>
                </a:path>
              </a:pathLst>
            </a:custGeom>
            <a:blipFill>
              <a:blip r:embed="rId3">
                <a:alphaModFix amt="0"/>
              </a:blip>
              <a:stretch>
                <a:fillRect l="0" t="-37432" r="0" b="-37432"/>
              </a:stretch>
            </a:blipFill>
          </p:spPr>
        </p:sp>
        <p:sp>
          <p:nvSpPr>
            <p:cNvPr name="TextBox 55" id="55"/>
            <p:cNvSpPr txBox="true"/>
            <p:nvPr/>
          </p:nvSpPr>
          <p:spPr>
            <a:xfrm>
              <a:off x="0" y="-38100"/>
              <a:ext cx="2297709"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Selection sort</a:t>
              </a:r>
            </a:p>
          </p:txBody>
        </p:sp>
      </p:grpSp>
      <p:grpSp>
        <p:nvGrpSpPr>
          <p:cNvPr name="Group 56" id="56"/>
          <p:cNvGrpSpPr/>
          <p:nvPr/>
        </p:nvGrpSpPr>
        <p:grpSpPr>
          <a:xfrm rot="0">
            <a:off x="1947062" y="3892048"/>
            <a:ext cx="14393418" cy="4793466"/>
            <a:chOff x="0" y="0"/>
            <a:chExt cx="19191224" cy="6391288"/>
          </a:xfrm>
        </p:grpSpPr>
        <p:sp>
          <p:nvSpPr>
            <p:cNvPr name="Freeform 57" id="57"/>
            <p:cNvSpPr/>
            <p:nvPr/>
          </p:nvSpPr>
          <p:spPr>
            <a:xfrm flipH="false" flipV="false" rot="0">
              <a:off x="0" y="0"/>
              <a:ext cx="19191224" cy="6391275"/>
            </a:xfrm>
            <a:custGeom>
              <a:avLst/>
              <a:gdLst/>
              <a:ahLst/>
              <a:cxnLst/>
              <a:rect r="r" b="b" t="t" l="l"/>
              <a:pathLst>
                <a:path h="6391275" w="19191224">
                  <a:moveTo>
                    <a:pt x="0" y="165227"/>
                  </a:moveTo>
                  <a:cubicBezTo>
                    <a:pt x="0" y="73914"/>
                    <a:pt x="73914" y="0"/>
                    <a:pt x="165227" y="0"/>
                  </a:cubicBezTo>
                  <a:lnTo>
                    <a:pt x="19025997" y="0"/>
                  </a:lnTo>
                  <a:cubicBezTo>
                    <a:pt x="19117183" y="0"/>
                    <a:pt x="19191224" y="73914"/>
                    <a:pt x="19191224" y="165227"/>
                  </a:cubicBezTo>
                  <a:lnTo>
                    <a:pt x="19191224" y="6226048"/>
                  </a:lnTo>
                  <a:cubicBezTo>
                    <a:pt x="19191224" y="6317234"/>
                    <a:pt x="19117309" y="6391275"/>
                    <a:pt x="19025997" y="6391275"/>
                  </a:cubicBezTo>
                  <a:lnTo>
                    <a:pt x="165227" y="6391275"/>
                  </a:lnTo>
                  <a:cubicBezTo>
                    <a:pt x="73914" y="6391275"/>
                    <a:pt x="0" y="6317361"/>
                    <a:pt x="0" y="6226048"/>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2230907" y="4107313"/>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2505227" y="4107313"/>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2779547" y="4107313"/>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3136163" y="3983869"/>
            <a:ext cx="13002768" cy="411480"/>
            <a:chOff x="0" y="0"/>
            <a:chExt cx="17337024" cy="548640"/>
          </a:xfrm>
        </p:grpSpPr>
        <p:sp>
          <p:nvSpPr>
            <p:cNvPr name="Freeform 65" id="65"/>
            <p:cNvSpPr/>
            <p:nvPr/>
          </p:nvSpPr>
          <p:spPr>
            <a:xfrm flipH="false" flipV="false" rot="0">
              <a:off x="0" y="0"/>
              <a:ext cx="17337024" cy="548640"/>
            </a:xfrm>
            <a:custGeom>
              <a:avLst/>
              <a:gdLst/>
              <a:ahLst/>
              <a:cxnLst/>
              <a:rect r="r" b="b" t="t" l="l"/>
              <a:pathLst>
                <a:path h="548640" w="17337024">
                  <a:moveTo>
                    <a:pt x="0" y="0"/>
                  </a:moveTo>
                  <a:lnTo>
                    <a:pt x="17337024" y="0"/>
                  </a:lnTo>
                  <a:lnTo>
                    <a:pt x="17337024" y="548640"/>
                  </a:lnTo>
                  <a:lnTo>
                    <a:pt x="0" y="548640"/>
                  </a:lnTo>
                  <a:close/>
                </a:path>
              </a:pathLst>
            </a:custGeom>
            <a:blipFill>
              <a:blip r:embed="rId3">
                <a:alphaModFix amt="0"/>
              </a:blip>
              <a:stretch>
                <a:fillRect l="0" t="-565727" r="0" b="-565727"/>
              </a:stretch>
            </a:blipFill>
          </p:spPr>
        </p:sp>
        <p:sp>
          <p:nvSpPr>
            <p:cNvPr name="TextBox 66" id="66"/>
            <p:cNvSpPr txBox="true"/>
            <p:nvPr/>
          </p:nvSpPr>
          <p:spPr>
            <a:xfrm>
              <a:off x="0" y="-38100"/>
              <a:ext cx="1733702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6 · sort places</a:t>
              </a:r>
            </a:p>
          </p:txBody>
        </p:sp>
      </p:grpSp>
      <p:grpSp>
        <p:nvGrpSpPr>
          <p:cNvPr name="Group 67" id="67"/>
          <p:cNvGrpSpPr/>
          <p:nvPr/>
        </p:nvGrpSpPr>
        <p:grpSpPr>
          <a:xfrm rot="0">
            <a:off x="2148611" y="4450213"/>
            <a:ext cx="13990320" cy="4033752"/>
            <a:chOff x="0" y="0"/>
            <a:chExt cx="18653760" cy="5378336"/>
          </a:xfrm>
        </p:grpSpPr>
        <p:sp>
          <p:nvSpPr>
            <p:cNvPr name="Freeform 68" id="68" descr="Screenshot_19.jpg"/>
            <p:cNvSpPr/>
            <p:nvPr/>
          </p:nvSpPr>
          <p:spPr>
            <a:xfrm flipH="false" flipV="false" rot="0">
              <a:off x="0" y="0"/>
              <a:ext cx="18653761" cy="5378323"/>
            </a:xfrm>
            <a:custGeom>
              <a:avLst/>
              <a:gdLst/>
              <a:ahLst/>
              <a:cxnLst/>
              <a:rect r="r" b="b" t="t" l="l"/>
              <a:pathLst>
                <a:path h="5378323" w="18653761">
                  <a:moveTo>
                    <a:pt x="0" y="0"/>
                  </a:moveTo>
                  <a:lnTo>
                    <a:pt x="18653761" y="0"/>
                  </a:lnTo>
                  <a:lnTo>
                    <a:pt x="18653761" y="5378323"/>
                  </a:lnTo>
                  <a:lnTo>
                    <a:pt x="0" y="5378323"/>
                  </a:lnTo>
                  <a:lnTo>
                    <a:pt x="0" y="0"/>
                  </a:lnTo>
                  <a:close/>
                </a:path>
              </a:pathLst>
            </a:custGeom>
            <a:blipFill>
              <a:blip r:embed="rId5"/>
              <a:stretch>
                <a:fillRect l="0" t="0" r="0" b="0"/>
              </a:stretch>
            </a:blipFill>
          </p:spPr>
        </p:sp>
      </p:grpSp>
    </p:spTree>
  </p:cSld>
  <p:clrMapOvr>
    <a:masterClrMapping/>
  </p:clrMapOvr>
  <p:transition spd="fast">
    <p:fade/>
  </p:transition>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12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Where am I?</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Shows the place you are at with its coordinates, and lets you set or copy your location.</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6940">
            <a:off x="11984765" y="950595"/>
            <a:ext cx="4257999"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66542" y="884682"/>
            <a:ext cx="150876" cy="150876"/>
            <a:chOff x="0" y="0"/>
            <a:chExt cx="201168" cy="201168"/>
          </a:xfrm>
        </p:grpSpPr>
        <p:sp>
          <p:nvSpPr>
            <p:cNvPr name="Freeform 32" id="3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3" id="33"/>
          <p:cNvGrpSpPr/>
          <p:nvPr/>
        </p:nvGrpSpPr>
        <p:grpSpPr>
          <a:xfrm rot="0">
            <a:off x="16150590" y="884682"/>
            <a:ext cx="150876" cy="150876"/>
            <a:chOff x="0" y="0"/>
            <a:chExt cx="201168" cy="201168"/>
          </a:xfrm>
        </p:grpSpPr>
        <p:sp>
          <p:nvSpPr>
            <p:cNvPr name="Freeform 34" id="3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5" id="35"/>
          <p:cNvGrpSpPr/>
          <p:nvPr/>
        </p:nvGrpSpPr>
        <p:grpSpPr>
          <a:xfrm rot="0">
            <a:off x="16548354" y="898398"/>
            <a:ext cx="123444" cy="123444"/>
            <a:chOff x="0" y="0"/>
            <a:chExt cx="164592" cy="164592"/>
          </a:xfrm>
        </p:grpSpPr>
        <p:sp>
          <p:nvSpPr>
            <p:cNvPr name="Freeform 36" id="36"/>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6054578"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2890297"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4700809" y="9683496"/>
            <a:ext cx="1225391" cy="384048"/>
            <a:chOff x="0" y="0"/>
            <a:chExt cx="1633855" cy="512064"/>
          </a:xfrm>
        </p:grpSpPr>
        <p:sp>
          <p:nvSpPr>
            <p:cNvPr name="Freeform 47" id="47"/>
            <p:cNvSpPr/>
            <p:nvPr/>
          </p:nvSpPr>
          <p:spPr>
            <a:xfrm flipH="false" flipV="false" rot="0">
              <a:off x="0" y="0"/>
              <a:ext cx="1633855" cy="512064"/>
            </a:xfrm>
            <a:custGeom>
              <a:avLst/>
              <a:gdLst/>
              <a:ahLst/>
              <a:cxnLst/>
              <a:rect r="r" b="b" t="t" l="l"/>
              <a:pathLst>
                <a:path h="512064" w="1633855">
                  <a:moveTo>
                    <a:pt x="0" y="107569"/>
                  </a:moveTo>
                  <a:cubicBezTo>
                    <a:pt x="0" y="48133"/>
                    <a:pt x="48133" y="0"/>
                    <a:pt x="107569" y="0"/>
                  </a:cubicBezTo>
                  <a:lnTo>
                    <a:pt x="1526286" y="0"/>
                  </a:lnTo>
                  <a:cubicBezTo>
                    <a:pt x="1585722" y="0"/>
                    <a:pt x="1633855" y="48133"/>
                    <a:pt x="1633855" y="107569"/>
                  </a:cubicBezTo>
                  <a:lnTo>
                    <a:pt x="1633855" y="404495"/>
                  </a:lnTo>
                  <a:cubicBezTo>
                    <a:pt x="1633855" y="463931"/>
                    <a:pt x="1585722" y="512064"/>
                    <a:pt x="1526286"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4700809" y="9683496"/>
            <a:ext cx="1225391" cy="384048"/>
            <a:chOff x="0" y="0"/>
            <a:chExt cx="1633855" cy="512064"/>
          </a:xfrm>
        </p:grpSpPr>
        <p:sp>
          <p:nvSpPr>
            <p:cNvPr name="Freeform 49" id="49"/>
            <p:cNvSpPr/>
            <p:nvPr/>
          </p:nvSpPr>
          <p:spPr>
            <a:xfrm flipH="false" flipV="false" rot="0">
              <a:off x="0" y="0"/>
              <a:ext cx="1633850" cy="512064"/>
            </a:xfrm>
            <a:custGeom>
              <a:avLst/>
              <a:gdLst/>
              <a:ahLst/>
              <a:cxnLst/>
              <a:rect r="r" b="b" t="t" l="l"/>
              <a:pathLst>
                <a:path h="512064" w="1633850">
                  <a:moveTo>
                    <a:pt x="0" y="0"/>
                  </a:moveTo>
                  <a:lnTo>
                    <a:pt x="1633850" y="0"/>
                  </a:lnTo>
                  <a:lnTo>
                    <a:pt x="1633850" y="512064"/>
                  </a:lnTo>
                  <a:lnTo>
                    <a:pt x="0" y="512064"/>
                  </a:lnTo>
                  <a:close/>
                </a:path>
              </a:pathLst>
            </a:custGeom>
            <a:blipFill>
              <a:blip r:embed="rId3">
                <a:alphaModFix amt="0"/>
              </a:blip>
              <a:stretch>
                <a:fillRect l="0" t="-12171" r="0" b="-12171"/>
              </a:stretch>
            </a:blipFill>
          </p:spPr>
        </p:sp>
        <p:sp>
          <p:nvSpPr>
            <p:cNvPr name="TextBox 50" id="50"/>
            <p:cNvSpPr txBox="true"/>
            <p:nvPr/>
          </p:nvSpPr>
          <p:spPr>
            <a:xfrm>
              <a:off x="0" y="-38100"/>
              <a:ext cx="1633855"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Haversine</a:t>
              </a:r>
            </a:p>
          </p:txBody>
        </p:sp>
      </p:grpSp>
      <p:grpSp>
        <p:nvGrpSpPr>
          <p:cNvPr name="Group 51" id="51"/>
          <p:cNvGrpSpPr/>
          <p:nvPr/>
        </p:nvGrpSpPr>
        <p:grpSpPr>
          <a:xfrm rot="0">
            <a:off x="16035928" y="9683496"/>
            <a:ext cx="1424540" cy="384048"/>
            <a:chOff x="0" y="0"/>
            <a:chExt cx="1899387" cy="512064"/>
          </a:xfrm>
        </p:grpSpPr>
        <p:sp>
          <p:nvSpPr>
            <p:cNvPr name="Freeform 52" id="52"/>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53" id="53"/>
          <p:cNvGrpSpPr/>
          <p:nvPr/>
        </p:nvGrpSpPr>
        <p:grpSpPr>
          <a:xfrm rot="0">
            <a:off x="16035928" y="9683496"/>
            <a:ext cx="1424540" cy="384048"/>
            <a:chOff x="0" y="0"/>
            <a:chExt cx="1899387" cy="512064"/>
          </a:xfrm>
        </p:grpSpPr>
        <p:sp>
          <p:nvSpPr>
            <p:cNvPr name="Freeform 54" id="54"/>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5" id="55"/>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Linear scan</a:t>
              </a:r>
            </a:p>
          </p:txBody>
        </p:sp>
      </p:grpSp>
      <p:grpSp>
        <p:nvGrpSpPr>
          <p:cNvPr name="Group 56" id="56"/>
          <p:cNvGrpSpPr/>
          <p:nvPr/>
        </p:nvGrpSpPr>
        <p:grpSpPr>
          <a:xfrm rot="0">
            <a:off x="2563406" y="3350895"/>
            <a:ext cx="13160721" cy="5875782"/>
            <a:chOff x="0" y="0"/>
            <a:chExt cx="17547628" cy="7834376"/>
          </a:xfrm>
        </p:grpSpPr>
        <p:sp>
          <p:nvSpPr>
            <p:cNvPr name="Freeform 57" id="57"/>
            <p:cNvSpPr/>
            <p:nvPr/>
          </p:nvSpPr>
          <p:spPr>
            <a:xfrm flipH="false" flipV="false" rot="0">
              <a:off x="0" y="0"/>
              <a:ext cx="17547717" cy="7834376"/>
            </a:xfrm>
            <a:custGeom>
              <a:avLst/>
              <a:gdLst/>
              <a:ahLst/>
              <a:cxnLst/>
              <a:rect r="r" b="b" t="t" l="l"/>
              <a:pathLst>
                <a:path h="7834376" w="17547717">
                  <a:moveTo>
                    <a:pt x="0" y="165100"/>
                  </a:moveTo>
                  <a:cubicBezTo>
                    <a:pt x="0" y="73914"/>
                    <a:pt x="73914" y="0"/>
                    <a:pt x="165100" y="0"/>
                  </a:cubicBezTo>
                  <a:lnTo>
                    <a:pt x="17382617" y="0"/>
                  </a:lnTo>
                  <a:cubicBezTo>
                    <a:pt x="17473803" y="0"/>
                    <a:pt x="17547717" y="73914"/>
                    <a:pt x="17547717" y="165100"/>
                  </a:cubicBezTo>
                  <a:lnTo>
                    <a:pt x="17547717" y="7669276"/>
                  </a:lnTo>
                  <a:cubicBezTo>
                    <a:pt x="17547717" y="7760462"/>
                    <a:pt x="17473803" y="7834376"/>
                    <a:pt x="17382617" y="7834376"/>
                  </a:cubicBezTo>
                  <a:lnTo>
                    <a:pt x="165100" y="7834376"/>
                  </a:lnTo>
                  <a:cubicBezTo>
                    <a:pt x="73914" y="7834376"/>
                    <a:pt x="0" y="7760462"/>
                    <a:pt x="0" y="7669276"/>
                  </a:cubicBezTo>
                  <a:close/>
                </a:path>
              </a:pathLst>
            </a:custGeom>
            <a:solidFill>
              <a:srgbClr val="000000"/>
            </a:solidFill>
            <a:ln w="19050" cap="sq">
              <a:solidFill>
                <a:srgbClr val="2C2F38"/>
              </a:solidFill>
              <a:prstDash val="solid"/>
              <a:miter/>
            </a:ln>
          </p:spPr>
        </p:sp>
      </p:grpSp>
      <p:grpSp>
        <p:nvGrpSpPr>
          <p:cNvPr name="Group 58" id="58"/>
          <p:cNvGrpSpPr/>
          <p:nvPr/>
        </p:nvGrpSpPr>
        <p:grpSpPr>
          <a:xfrm rot="0">
            <a:off x="2847251" y="3566160"/>
            <a:ext cx="164592" cy="164592"/>
            <a:chOff x="0" y="0"/>
            <a:chExt cx="219456" cy="219456"/>
          </a:xfrm>
        </p:grpSpPr>
        <p:sp>
          <p:nvSpPr>
            <p:cNvPr name="Freeform 59" id="59"/>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0" id="60"/>
          <p:cNvGrpSpPr/>
          <p:nvPr/>
        </p:nvGrpSpPr>
        <p:grpSpPr>
          <a:xfrm rot="0">
            <a:off x="3121571" y="3566160"/>
            <a:ext cx="164592" cy="164592"/>
            <a:chOff x="0" y="0"/>
            <a:chExt cx="219456" cy="219456"/>
          </a:xfrm>
        </p:grpSpPr>
        <p:sp>
          <p:nvSpPr>
            <p:cNvPr name="Freeform 61" id="61"/>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62" id="62"/>
          <p:cNvGrpSpPr/>
          <p:nvPr/>
        </p:nvGrpSpPr>
        <p:grpSpPr>
          <a:xfrm rot="0">
            <a:off x="3395891" y="3566160"/>
            <a:ext cx="164592" cy="164592"/>
            <a:chOff x="0" y="0"/>
            <a:chExt cx="219456" cy="219456"/>
          </a:xfrm>
        </p:grpSpPr>
        <p:sp>
          <p:nvSpPr>
            <p:cNvPr name="Freeform 63" id="63"/>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64" id="64"/>
          <p:cNvGrpSpPr/>
          <p:nvPr/>
        </p:nvGrpSpPr>
        <p:grpSpPr>
          <a:xfrm rot="0">
            <a:off x="3752507" y="3442716"/>
            <a:ext cx="11770071" cy="411480"/>
            <a:chOff x="0" y="0"/>
            <a:chExt cx="15693428" cy="548640"/>
          </a:xfrm>
        </p:grpSpPr>
        <p:sp>
          <p:nvSpPr>
            <p:cNvPr name="Freeform 65" id="65"/>
            <p:cNvSpPr/>
            <p:nvPr/>
          </p:nvSpPr>
          <p:spPr>
            <a:xfrm flipH="false" flipV="false" rot="0">
              <a:off x="0" y="0"/>
              <a:ext cx="15693430" cy="548640"/>
            </a:xfrm>
            <a:custGeom>
              <a:avLst/>
              <a:gdLst/>
              <a:ahLst/>
              <a:cxnLst/>
              <a:rect r="r" b="b" t="t" l="l"/>
              <a:pathLst>
                <a:path h="548640" w="15693430">
                  <a:moveTo>
                    <a:pt x="0" y="0"/>
                  </a:moveTo>
                  <a:lnTo>
                    <a:pt x="15693430" y="0"/>
                  </a:lnTo>
                  <a:lnTo>
                    <a:pt x="15693430" y="548640"/>
                  </a:lnTo>
                  <a:lnTo>
                    <a:pt x="0" y="548640"/>
                  </a:lnTo>
                  <a:close/>
                </a:path>
              </a:pathLst>
            </a:custGeom>
            <a:blipFill>
              <a:blip r:embed="rId3">
                <a:alphaModFix amt="0"/>
              </a:blip>
              <a:stretch>
                <a:fillRect l="0" t="-507354" r="0" b="-507354"/>
              </a:stretch>
            </a:blipFill>
          </p:spPr>
        </p:sp>
        <p:sp>
          <p:nvSpPr>
            <p:cNvPr name="TextBox 66" id="66"/>
            <p:cNvSpPr txBox="true"/>
            <p:nvPr/>
          </p:nvSpPr>
          <p:spPr>
            <a:xfrm>
              <a:off x="0" y="-38100"/>
              <a:ext cx="15693428"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7 · where am I?</a:t>
              </a:r>
            </a:p>
          </p:txBody>
        </p:sp>
      </p:grpSp>
      <p:grpSp>
        <p:nvGrpSpPr>
          <p:cNvPr name="Group 67" id="67"/>
          <p:cNvGrpSpPr/>
          <p:nvPr/>
        </p:nvGrpSpPr>
        <p:grpSpPr>
          <a:xfrm rot="0">
            <a:off x="2764955" y="3909060"/>
            <a:ext cx="12757623" cy="5116068"/>
            <a:chOff x="0" y="0"/>
            <a:chExt cx="17010164" cy="6821424"/>
          </a:xfrm>
        </p:grpSpPr>
        <p:sp>
          <p:nvSpPr>
            <p:cNvPr name="Freeform 68" id="68" descr="Screenshot_20.jpg"/>
            <p:cNvSpPr/>
            <p:nvPr/>
          </p:nvSpPr>
          <p:spPr>
            <a:xfrm flipH="false" flipV="false" rot="0">
              <a:off x="0" y="0"/>
              <a:ext cx="17010126" cy="6821424"/>
            </a:xfrm>
            <a:custGeom>
              <a:avLst/>
              <a:gdLst/>
              <a:ahLst/>
              <a:cxnLst/>
              <a:rect r="r" b="b" t="t" l="l"/>
              <a:pathLst>
                <a:path h="6821424" w="17010126">
                  <a:moveTo>
                    <a:pt x="0" y="0"/>
                  </a:moveTo>
                  <a:lnTo>
                    <a:pt x="17010126" y="0"/>
                  </a:lnTo>
                  <a:lnTo>
                    <a:pt x="17010126" y="6821424"/>
                  </a:lnTo>
                  <a:lnTo>
                    <a:pt x="0" y="6821424"/>
                  </a:lnTo>
                  <a:lnTo>
                    <a:pt x="0" y="0"/>
                  </a:lnTo>
                  <a:close/>
                </a:path>
              </a:pathLst>
            </a:custGeom>
            <a:blipFill>
              <a:blip r:embed="rId5"/>
              <a:stretch>
                <a:fillRect l="0" t="0" r="0" b="-254"/>
              </a:stretch>
            </a:blipFill>
          </p:spPr>
        </p:sp>
      </p:grpSp>
    </p:spTree>
  </p:cSld>
  <p:clrMapOvr>
    <a:masterClrMapping/>
  </p:clrMapOvr>
  <p:transition spd="fast">
    <p:fade/>
  </p:transition>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13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Trip history</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Every trip is pushed on a stack, and Back pops the top to take you where you were.</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4660">
            <a:off x="11984774" y="950595"/>
            <a:ext cx="4642037"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66542" y="884682"/>
            <a:ext cx="150876" cy="150876"/>
            <a:chOff x="0" y="0"/>
            <a:chExt cx="201168" cy="201168"/>
          </a:xfrm>
        </p:grpSpPr>
        <p:sp>
          <p:nvSpPr>
            <p:cNvPr name="Freeform 32" id="3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3" id="33"/>
          <p:cNvGrpSpPr/>
          <p:nvPr/>
        </p:nvGrpSpPr>
        <p:grpSpPr>
          <a:xfrm rot="0">
            <a:off x="16150590" y="884682"/>
            <a:ext cx="150876" cy="150876"/>
            <a:chOff x="0" y="0"/>
            <a:chExt cx="201168" cy="201168"/>
          </a:xfrm>
        </p:grpSpPr>
        <p:sp>
          <p:nvSpPr>
            <p:cNvPr name="Freeform 34" id="3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5" id="35"/>
          <p:cNvGrpSpPr/>
          <p:nvPr/>
        </p:nvGrpSpPr>
        <p:grpSpPr>
          <a:xfrm rot="0">
            <a:off x="16534638" y="884682"/>
            <a:ext cx="150876" cy="150876"/>
            <a:chOff x="0" y="0"/>
            <a:chExt cx="201168" cy="201168"/>
          </a:xfrm>
        </p:grpSpPr>
        <p:sp>
          <p:nvSpPr>
            <p:cNvPr name="Freeform 36" id="3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7" id="37"/>
          <p:cNvGrpSpPr/>
          <p:nvPr/>
        </p:nvGrpSpPr>
        <p:grpSpPr>
          <a:xfrm rot="0">
            <a:off x="16932402" y="898398"/>
            <a:ext cx="123444" cy="123444"/>
            <a:chOff x="0" y="0"/>
            <a:chExt cx="164592" cy="164592"/>
          </a:xfrm>
        </p:grpSpPr>
        <p:sp>
          <p:nvSpPr>
            <p:cNvPr name="Freeform 38" id="38"/>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6438626"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4822881"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6633393" y="9683496"/>
            <a:ext cx="827075" cy="384048"/>
            <a:chOff x="0" y="0"/>
            <a:chExt cx="1102766" cy="512064"/>
          </a:xfrm>
        </p:grpSpPr>
        <p:sp>
          <p:nvSpPr>
            <p:cNvPr name="Freeform 47" id="47"/>
            <p:cNvSpPr/>
            <p:nvPr/>
          </p:nvSpPr>
          <p:spPr>
            <a:xfrm flipH="false" flipV="false" rot="0">
              <a:off x="0" y="0"/>
              <a:ext cx="1102868" cy="512064"/>
            </a:xfrm>
            <a:custGeom>
              <a:avLst/>
              <a:gdLst/>
              <a:ahLst/>
              <a:cxnLst/>
              <a:rect r="r" b="b" t="t" l="l"/>
              <a:pathLst>
                <a:path h="512064" w="1102868">
                  <a:moveTo>
                    <a:pt x="0" y="107569"/>
                  </a:moveTo>
                  <a:cubicBezTo>
                    <a:pt x="0" y="48133"/>
                    <a:pt x="48133" y="0"/>
                    <a:pt x="107569" y="0"/>
                  </a:cubicBezTo>
                  <a:lnTo>
                    <a:pt x="995299" y="0"/>
                  </a:lnTo>
                  <a:cubicBezTo>
                    <a:pt x="1054735" y="0"/>
                    <a:pt x="1102868" y="48133"/>
                    <a:pt x="1102868" y="107569"/>
                  </a:cubicBezTo>
                  <a:lnTo>
                    <a:pt x="1102868" y="404495"/>
                  </a:lnTo>
                  <a:cubicBezTo>
                    <a:pt x="1102868" y="463931"/>
                    <a:pt x="1054735" y="512064"/>
                    <a:pt x="995299"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6633393" y="9683496"/>
            <a:ext cx="827075" cy="384048"/>
            <a:chOff x="0" y="0"/>
            <a:chExt cx="1102766" cy="512064"/>
          </a:xfrm>
        </p:grpSpPr>
        <p:sp>
          <p:nvSpPr>
            <p:cNvPr name="Freeform 49" id="49"/>
            <p:cNvSpPr/>
            <p:nvPr/>
          </p:nvSpPr>
          <p:spPr>
            <a:xfrm flipH="false" flipV="false" rot="0">
              <a:off x="0" y="0"/>
              <a:ext cx="1102766" cy="512064"/>
            </a:xfrm>
            <a:custGeom>
              <a:avLst/>
              <a:gdLst/>
              <a:ahLst/>
              <a:cxnLst/>
              <a:rect r="r" b="b" t="t" l="l"/>
              <a:pathLst>
                <a:path h="512064" w="1102766">
                  <a:moveTo>
                    <a:pt x="0" y="0"/>
                  </a:moveTo>
                  <a:lnTo>
                    <a:pt x="1102766" y="0"/>
                  </a:lnTo>
                  <a:lnTo>
                    <a:pt x="1102766" y="512064"/>
                  </a:lnTo>
                  <a:lnTo>
                    <a:pt x="0" y="512064"/>
                  </a:lnTo>
                  <a:close/>
                </a:path>
              </a:pathLst>
            </a:custGeom>
            <a:blipFill>
              <a:blip r:embed="rId3">
                <a:alphaModFix amt="0"/>
              </a:blip>
              <a:stretch>
                <a:fillRect l="-9577" t="0" r="-9577" b="0"/>
              </a:stretch>
            </a:blipFill>
          </p:spPr>
        </p:sp>
        <p:sp>
          <p:nvSpPr>
            <p:cNvPr name="TextBox 50" id="50"/>
            <p:cNvSpPr txBox="true"/>
            <p:nvPr/>
          </p:nvSpPr>
          <p:spPr>
            <a:xfrm>
              <a:off x="0" y="-38100"/>
              <a:ext cx="1102766"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Stack</a:t>
              </a:r>
            </a:p>
          </p:txBody>
        </p:sp>
      </p:grpSp>
      <p:grpSp>
        <p:nvGrpSpPr>
          <p:cNvPr name="Group 51" id="51"/>
          <p:cNvGrpSpPr/>
          <p:nvPr/>
        </p:nvGrpSpPr>
        <p:grpSpPr>
          <a:xfrm rot="0">
            <a:off x="815492" y="4513393"/>
            <a:ext cx="8420662" cy="3550787"/>
            <a:chOff x="0" y="0"/>
            <a:chExt cx="11227549" cy="4734382"/>
          </a:xfrm>
        </p:grpSpPr>
        <p:sp>
          <p:nvSpPr>
            <p:cNvPr name="Freeform 52" id="52"/>
            <p:cNvSpPr/>
            <p:nvPr/>
          </p:nvSpPr>
          <p:spPr>
            <a:xfrm flipH="false" flipV="false" rot="0">
              <a:off x="0" y="0"/>
              <a:ext cx="11227562" cy="4734433"/>
            </a:xfrm>
            <a:custGeom>
              <a:avLst/>
              <a:gdLst/>
              <a:ahLst/>
              <a:cxnLst/>
              <a:rect r="r" b="b" t="t" l="l"/>
              <a:pathLst>
                <a:path h="4734433" w="11227562">
                  <a:moveTo>
                    <a:pt x="0" y="165481"/>
                  </a:moveTo>
                  <a:cubicBezTo>
                    <a:pt x="0" y="74041"/>
                    <a:pt x="74041" y="0"/>
                    <a:pt x="165481" y="0"/>
                  </a:cubicBezTo>
                  <a:lnTo>
                    <a:pt x="11062081" y="0"/>
                  </a:lnTo>
                  <a:cubicBezTo>
                    <a:pt x="11153521" y="0"/>
                    <a:pt x="11227562" y="74041"/>
                    <a:pt x="11227562" y="165481"/>
                  </a:cubicBezTo>
                  <a:lnTo>
                    <a:pt x="11227562" y="4568952"/>
                  </a:lnTo>
                  <a:cubicBezTo>
                    <a:pt x="11227562" y="4660392"/>
                    <a:pt x="11153521" y="4734433"/>
                    <a:pt x="11062081" y="4734433"/>
                  </a:cubicBezTo>
                  <a:lnTo>
                    <a:pt x="165481" y="4734433"/>
                  </a:lnTo>
                  <a:cubicBezTo>
                    <a:pt x="74041" y="4734433"/>
                    <a:pt x="0" y="4660265"/>
                    <a:pt x="0" y="4568952"/>
                  </a:cubicBezTo>
                  <a:close/>
                </a:path>
              </a:pathLst>
            </a:custGeom>
            <a:solidFill>
              <a:srgbClr val="000000"/>
            </a:solidFill>
            <a:ln w="19050" cap="sq">
              <a:solidFill>
                <a:srgbClr val="2C2F38"/>
              </a:solidFill>
              <a:prstDash val="solid"/>
              <a:miter/>
            </a:ln>
          </p:spPr>
        </p:sp>
      </p:grpSp>
      <p:grpSp>
        <p:nvGrpSpPr>
          <p:cNvPr name="Group 53" id="53"/>
          <p:cNvGrpSpPr/>
          <p:nvPr/>
        </p:nvGrpSpPr>
        <p:grpSpPr>
          <a:xfrm rot="0">
            <a:off x="1099337" y="4728658"/>
            <a:ext cx="164592" cy="164592"/>
            <a:chOff x="0" y="0"/>
            <a:chExt cx="219456" cy="219456"/>
          </a:xfrm>
        </p:grpSpPr>
        <p:sp>
          <p:nvSpPr>
            <p:cNvPr name="Freeform 54" id="5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55" id="55"/>
          <p:cNvGrpSpPr/>
          <p:nvPr/>
        </p:nvGrpSpPr>
        <p:grpSpPr>
          <a:xfrm rot="0">
            <a:off x="1373657" y="4728658"/>
            <a:ext cx="164592" cy="164592"/>
            <a:chOff x="0" y="0"/>
            <a:chExt cx="219456" cy="219456"/>
          </a:xfrm>
        </p:grpSpPr>
        <p:sp>
          <p:nvSpPr>
            <p:cNvPr name="Freeform 56" id="5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57" id="57"/>
          <p:cNvGrpSpPr/>
          <p:nvPr/>
        </p:nvGrpSpPr>
        <p:grpSpPr>
          <a:xfrm rot="0">
            <a:off x="1647977" y="4728658"/>
            <a:ext cx="164592" cy="164592"/>
            <a:chOff x="0" y="0"/>
            <a:chExt cx="219456" cy="219456"/>
          </a:xfrm>
        </p:grpSpPr>
        <p:sp>
          <p:nvSpPr>
            <p:cNvPr name="Freeform 58" id="5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59" id="59"/>
          <p:cNvGrpSpPr/>
          <p:nvPr/>
        </p:nvGrpSpPr>
        <p:grpSpPr>
          <a:xfrm rot="0">
            <a:off x="2004593" y="4605214"/>
            <a:ext cx="7030012" cy="411480"/>
            <a:chOff x="0" y="0"/>
            <a:chExt cx="9373349" cy="548640"/>
          </a:xfrm>
        </p:grpSpPr>
        <p:sp>
          <p:nvSpPr>
            <p:cNvPr name="Freeform 60" id="60"/>
            <p:cNvSpPr/>
            <p:nvPr/>
          </p:nvSpPr>
          <p:spPr>
            <a:xfrm flipH="false" flipV="false" rot="0">
              <a:off x="0" y="0"/>
              <a:ext cx="9373344" cy="548640"/>
            </a:xfrm>
            <a:custGeom>
              <a:avLst/>
              <a:gdLst/>
              <a:ahLst/>
              <a:cxnLst/>
              <a:rect r="r" b="b" t="t" l="l"/>
              <a:pathLst>
                <a:path h="548640" w="9373344">
                  <a:moveTo>
                    <a:pt x="0" y="0"/>
                  </a:moveTo>
                  <a:lnTo>
                    <a:pt x="9373344" y="0"/>
                  </a:lnTo>
                  <a:lnTo>
                    <a:pt x="9373344" y="548640"/>
                  </a:lnTo>
                  <a:lnTo>
                    <a:pt x="0" y="548640"/>
                  </a:lnTo>
                  <a:close/>
                </a:path>
              </a:pathLst>
            </a:custGeom>
            <a:blipFill>
              <a:blip r:embed="rId3">
                <a:alphaModFix amt="0"/>
              </a:blip>
              <a:stretch>
                <a:fillRect l="0" t="-282896" r="0" b="-282896"/>
              </a:stretch>
            </a:blipFill>
          </p:spPr>
        </p:sp>
        <p:sp>
          <p:nvSpPr>
            <p:cNvPr name="TextBox 61" id="61"/>
            <p:cNvSpPr txBox="true"/>
            <p:nvPr/>
          </p:nvSpPr>
          <p:spPr>
            <a:xfrm>
              <a:off x="0" y="-38100"/>
              <a:ext cx="9373349"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8 · trip history</a:t>
              </a:r>
            </a:p>
          </p:txBody>
        </p:sp>
      </p:grpSp>
      <p:grpSp>
        <p:nvGrpSpPr>
          <p:cNvPr name="Group 62" id="62"/>
          <p:cNvGrpSpPr/>
          <p:nvPr/>
        </p:nvGrpSpPr>
        <p:grpSpPr>
          <a:xfrm rot="0">
            <a:off x="1017041" y="5071558"/>
            <a:ext cx="8017564" cy="2791073"/>
            <a:chOff x="0" y="0"/>
            <a:chExt cx="10690085" cy="3721430"/>
          </a:xfrm>
        </p:grpSpPr>
        <p:sp>
          <p:nvSpPr>
            <p:cNvPr name="Freeform 63" id="63" descr="Screenshot_21.jpg"/>
            <p:cNvSpPr/>
            <p:nvPr/>
          </p:nvSpPr>
          <p:spPr>
            <a:xfrm flipH="false" flipV="false" rot="0">
              <a:off x="0" y="0"/>
              <a:ext cx="10690098" cy="3721481"/>
            </a:xfrm>
            <a:custGeom>
              <a:avLst/>
              <a:gdLst/>
              <a:ahLst/>
              <a:cxnLst/>
              <a:rect r="r" b="b" t="t" l="l"/>
              <a:pathLst>
                <a:path h="3721481" w="10690098">
                  <a:moveTo>
                    <a:pt x="0" y="0"/>
                  </a:moveTo>
                  <a:lnTo>
                    <a:pt x="10690098" y="0"/>
                  </a:lnTo>
                  <a:lnTo>
                    <a:pt x="10690098" y="3721481"/>
                  </a:lnTo>
                  <a:lnTo>
                    <a:pt x="0" y="3721481"/>
                  </a:lnTo>
                  <a:lnTo>
                    <a:pt x="0" y="0"/>
                  </a:lnTo>
                  <a:close/>
                </a:path>
              </a:pathLst>
            </a:custGeom>
            <a:blipFill>
              <a:blip r:embed="rId5"/>
              <a:stretch>
                <a:fillRect l="0" t="0" r="0" b="-275"/>
              </a:stretch>
            </a:blipFill>
          </p:spPr>
        </p:sp>
      </p:grpSp>
      <p:sp>
        <p:nvSpPr>
          <p:cNvPr name="AutoShape 64" id="64"/>
          <p:cNvSpPr/>
          <p:nvPr/>
        </p:nvSpPr>
        <p:spPr>
          <a:xfrm rot="305040">
            <a:off x="9327690" y="6279261"/>
            <a:ext cx="483680" cy="0"/>
          </a:xfrm>
          <a:prstGeom prst="line">
            <a:avLst/>
          </a:prstGeom>
          <a:ln cap="rnd" w="19050">
            <a:solidFill>
              <a:srgbClr val="D9B100"/>
            </a:solidFill>
            <a:prstDash val="solid"/>
            <a:headEnd type="none" len="sm" w="sm"/>
            <a:tailEnd type="triangle" len="med" w="lg"/>
          </a:ln>
        </p:spPr>
      </p:sp>
      <p:grpSp>
        <p:nvGrpSpPr>
          <p:cNvPr name="Group 65" id="65"/>
          <p:cNvGrpSpPr/>
          <p:nvPr/>
        </p:nvGrpSpPr>
        <p:grpSpPr>
          <a:xfrm rot="0">
            <a:off x="9902904" y="3371593"/>
            <a:ext cx="7569146" cy="5834386"/>
            <a:chOff x="0" y="0"/>
            <a:chExt cx="10092195" cy="7779182"/>
          </a:xfrm>
        </p:grpSpPr>
        <p:sp>
          <p:nvSpPr>
            <p:cNvPr name="Freeform 66" id="66"/>
            <p:cNvSpPr/>
            <p:nvPr/>
          </p:nvSpPr>
          <p:spPr>
            <a:xfrm flipH="false" flipV="false" rot="0">
              <a:off x="0" y="0"/>
              <a:ext cx="10092182" cy="7779258"/>
            </a:xfrm>
            <a:custGeom>
              <a:avLst/>
              <a:gdLst/>
              <a:ahLst/>
              <a:cxnLst/>
              <a:rect r="r" b="b" t="t" l="l"/>
              <a:pathLst>
                <a:path h="7779258" w="10092182">
                  <a:moveTo>
                    <a:pt x="0" y="165100"/>
                  </a:moveTo>
                  <a:cubicBezTo>
                    <a:pt x="0" y="73914"/>
                    <a:pt x="73914" y="0"/>
                    <a:pt x="165100" y="0"/>
                  </a:cubicBezTo>
                  <a:lnTo>
                    <a:pt x="9927082" y="0"/>
                  </a:lnTo>
                  <a:cubicBezTo>
                    <a:pt x="10018268" y="0"/>
                    <a:pt x="10092182" y="73914"/>
                    <a:pt x="10092182" y="165100"/>
                  </a:cubicBezTo>
                  <a:lnTo>
                    <a:pt x="10092182" y="7614158"/>
                  </a:lnTo>
                  <a:cubicBezTo>
                    <a:pt x="10092182" y="7705344"/>
                    <a:pt x="10018268" y="7779258"/>
                    <a:pt x="9927082" y="7779258"/>
                  </a:cubicBezTo>
                  <a:lnTo>
                    <a:pt x="165100" y="7779258"/>
                  </a:lnTo>
                  <a:cubicBezTo>
                    <a:pt x="73914" y="7779258"/>
                    <a:pt x="0" y="7705344"/>
                    <a:pt x="0" y="7614158"/>
                  </a:cubicBezTo>
                  <a:close/>
                </a:path>
              </a:pathLst>
            </a:custGeom>
            <a:solidFill>
              <a:srgbClr val="000000"/>
            </a:solidFill>
            <a:ln w="19050" cap="sq">
              <a:solidFill>
                <a:srgbClr val="2C2F38"/>
              </a:solidFill>
              <a:prstDash val="solid"/>
              <a:miter/>
            </a:ln>
          </p:spPr>
        </p:sp>
      </p:grpSp>
      <p:grpSp>
        <p:nvGrpSpPr>
          <p:cNvPr name="Group 67" id="67"/>
          <p:cNvGrpSpPr/>
          <p:nvPr/>
        </p:nvGrpSpPr>
        <p:grpSpPr>
          <a:xfrm rot="0">
            <a:off x="10186749" y="3586858"/>
            <a:ext cx="164592" cy="164592"/>
            <a:chOff x="0" y="0"/>
            <a:chExt cx="219456" cy="219456"/>
          </a:xfrm>
        </p:grpSpPr>
        <p:sp>
          <p:nvSpPr>
            <p:cNvPr name="Freeform 68" id="6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9" id="69"/>
          <p:cNvGrpSpPr/>
          <p:nvPr/>
        </p:nvGrpSpPr>
        <p:grpSpPr>
          <a:xfrm rot="0">
            <a:off x="10461069" y="3586858"/>
            <a:ext cx="164592" cy="164592"/>
            <a:chOff x="0" y="0"/>
            <a:chExt cx="219456" cy="219456"/>
          </a:xfrm>
        </p:grpSpPr>
        <p:sp>
          <p:nvSpPr>
            <p:cNvPr name="Freeform 70" id="7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1" id="71"/>
          <p:cNvGrpSpPr/>
          <p:nvPr/>
        </p:nvGrpSpPr>
        <p:grpSpPr>
          <a:xfrm rot="0">
            <a:off x="10735389" y="3586858"/>
            <a:ext cx="164592" cy="164592"/>
            <a:chOff x="0" y="0"/>
            <a:chExt cx="219456" cy="219456"/>
          </a:xfrm>
        </p:grpSpPr>
        <p:sp>
          <p:nvSpPr>
            <p:cNvPr name="Freeform 72" id="7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3" id="73"/>
          <p:cNvGrpSpPr/>
          <p:nvPr/>
        </p:nvGrpSpPr>
        <p:grpSpPr>
          <a:xfrm rot="0">
            <a:off x="11092005" y="3463414"/>
            <a:ext cx="6178496" cy="411480"/>
            <a:chOff x="0" y="0"/>
            <a:chExt cx="8237995" cy="548640"/>
          </a:xfrm>
        </p:grpSpPr>
        <p:sp>
          <p:nvSpPr>
            <p:cNvPr name="Freeform 74" id="74"/>
            <p:cNvSpPr/>
            <p:nvPr/>
          </p:nvSpPr>
          <p:spPr>
            <a:xfrm flipH="false" flipV="false" rot="0">
              <a:off x="0" y="0"/>
              <a:ext cx="8238000" cy="548640"/>
            </a:xfrm>
            <a:custGeom>
              <a:avLst/>
              <a:gdLst/>
              <a:ahLst/>
              <a:cxnLst/>
              <a:rect r="r" b="b" t="t" l="l"/>
              <a:pathLst>
                <a:path h="548640" w="8238000">
                  <a:moveTo>
                    <a:pt x="0" y="0"/>
                  </a:moveTo>
                  <a:lnTo>
                    <a:pt x="8238000" y="0"/>
                  </a:lnTo>
                  <a:lnTo>
                    <a:pt x="8238000" y="548640"/>
                  </a:lnTo>
                  <a:lnTo>
                    <a:pt x="0" y="548640"/>
                  </a:lnTo>
                  <a:close/>
                </a:path>
              </a:pathLst>
            </a:custGeom>
            <a:blipFill>
              <a:blip r:embed="rId3">
                <a:alphaModFix amt="0"/>
              </a:blip>
              <a:stretch>
                <a:fillRect l="0" t="-242573" r="0" b="-242573"/>
              </a:stretch>
            </a:blipFill>
          </p:spPr>
        </p:sp>
        <p:sp>
          <p:nvSpPr>
            <p:cNvPr name="TextBox 75" id="75"/>
            <p:cNvSpPr txBox="true"/>
            <p:nvPr/>
          </p:nvSpPr>
          <p:spPr>
            <a:xfrm>
              <a:off x="0" y="-38100"/>
              <a:ext cx="8237995"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Back, twice</a:t>
              </a:r>
            </a:p>
          </p:txBody>
        </p:sp>
      </p:grpSp>
      <p:grpSp>
        <p:nvGrpSpPr>
          <p:cNvPr name="Group 76" id="76"/>
          <p:cNvGrpSpPr/>
          <p:nvPr/>
        </p:nvGrpSpPr>
        <p:grpSpPr>
          <a:xfrm rot="0">
            <a:off x="10104453" y="3929758"/>
            <a:ext cx="7166048" cy="5074672"/>
            <a:chOff x="0" y="0"/>
            <a:chExt cx="9554731" cy="6766230"/>
          </a:xfrm>
        </p:grpSpPr>
        <p:sp>
          <p:nvSpPr>
            <p:cNvPr name="Freeform 77" id="77" descr="Screenshot_22.jpg"/>
            <p:cNvSpPr/>
            <p:nvPr/>
          </p:nvSpPr>
          <p:spPr>
            <a:xfrm flipH="false" flipV="false" rot="0">
              <a:off x="0" y="0"/>
              <a:ext cx="9554718" cy="6766179"/>
            </a:xfrm>
            <a:custGeom>
              <a:avLst/>
              <a:gdLst/>
              <a:ahLst/>
              <a:cxnLst/>
              <a:rect r="r" b="b" t="t" l="l"/>
              <a:pathLst>
                <a:path h="6766179" w="9554718">
                  <a:moveTo>
                    <a:pt x="0" y="0"/>
                  </a:moveTo>
                  <a:lnTo>
                    <a:pt x="9554718" y="0"/>
                  </a:lnTo>
                  <a:lnTo>
                    <a:pt x="9554718" y="6766179"/>
                  </a:lnTo>
                  <a:lnTo>
                    <a:pt x="0" y="6766179"/>
                  </a:lnTo>
                  <a:lnTo>
                    <a:pt x="0" y="0"/>
                  </a:lnTo>
                  <a:close/>
                </a:path>
              </a:pathLst>
            </a:custGeom>
            <a:blipFill>
              <a:blip r:embed="rId6"/>
              <a:stretch>
                <a:fillRect l="0" t="0" r="0" b="0"/>
              </a:stretch>
            </a:blipFill>
          </p:spPr>
        </p:sp>
      </p:grpSp>
    </p:spTree>
  </p:cSld>
  <p:clrMapOvr>
    <a:masterClrMapping/>
  </p:clrMapOvr>
  <p:transition spd="fast">
    <p:fade/>
  </p:transition>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14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Favorites</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Star a place from its page and it is saved to your account, ready under menu 10.</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2800">
            <a:off x="11984774" y="950595"/>
            <a:ext cx="5026076"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66542" y="884682"/>
            <a:ext cx="150876" cy="150876"/>
            <a:chOff x="0" y="0"/>
            <a:chExt cx="201168" cy="201168"/>
          </a:xfrm>
        </p:grpSpPr>
        <p:sp>
          <p:nvSpPr>
            <p:cNvPr name="Freeform 32" id="3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3" id="33"/>
          <p:cNvGrpSpPr/>
          <p:nvPr/>
        </p:nvGrpSpPr>
        <p:grpSpPr>
          <a:xfrm rot="0">
            <a:off x="16150590" y="884682"/>
            <a:ext cx="150876" cy="150876"/>
            <a:chOff x="0" y="0"/>
            <a:chExt cx="201168" cy="201168"/>
          </a:xfrm>
        </p:grpSpPr>
        <p:sp>
          <p:nvSpPr>
            <p:cNvPr name="Freeform 34" id="3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5" id="35"/>
          <p:cNvGrpSpPr/>
          <p:nvPr/>
        </p:nvGrpSpPr>
        <p:grpSpPr>
          <a:xfrm rot="0">
            <a:off x="16534638" y="884682"/>
            <a:ext cx="150876" cy="150876"/>
            <a:chOff x="0" y="0"/>
            <a:chExt cx="201168" cy="201168"/>
          </a:xfrm>
        </p:grpSpPr>
        <p:sp>
          <p:nvSpPr>
            <p:cNvPr name="Freeform 36" id="3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7" id="37"/>
          <p:cNvGrpSpPr/>
          <p:nvPr/>
        </p:nvGrpSpPr>
        <p:grpSpPr>
          <a:xfrm rot="0">
            <a:off x="16918686" y="884682"/>
            <a:ext cx="150876" cy="150876"/>
            <a:chOff x="0" y="0"/>
            <a:chExt cx="201168" cy="201168"/>
          </a:xfrm>
        </p:grpSpPr>
        <p:sp>
          <p:nvSpPr>
            <p:cNvPr name="Freeform 38" id="3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9" id="39"/>
          <p:cNvGrpSpPr/>
          <p:nvPr/>
        </p:nvGrpSpPr>
        <p:grpSpPr>
          <a:xfrm rot="0">
            <a:off x="17316450" y="898398"/>
            <a:ext cx="123444" cy="123444"/>
            <a:chOff x="0" y="0"/>
            <a:chExt cx="164592" cy="164592"/>
          </a:xfrm>
        </p:grpSpPr>
        <p:sp>
          <p:nvSpPr>
            <p:cNvPr name="Freeform 40" id="40"/>
            <p:cNvSpPr/>
            <p:nvPr/>
          </p:nvSpPr>
          <p:spPr>
            <a:xfrm flipH="false" flipV="false" rot="0">
              <a:off x="0" y="0"/>
              <a:ext cx="164592" cy="164592"/>
            </a:xfrm>
            <a:custGeom>
              <a:avLst/>
              <a:gdLst/>
              <a:ahLst/>
              <a:cxnLst/>
              <a:rect r="r" b="b" t="t" l="l"/>
              <a:pathLst>
                <a:path h="164592" w="164592">
                  <a:moveTo>
                    <a:pt x="0" y="82296"/>
                  </a:moveTo>
                  <a:cubicBezTo>
                    <a:pt x="0" y="36830"/>
                    <a:pt x="36830" y="0"/>
                    <a:pt x="82296" y="0"/>
                  </a:cubicBezTo>
                  <a:cubicBezTo>
                    <a:pt x="127762" y="0"/>
                    <a:pt x="164592" y="36830"/>
                    <a:pt x="164592" y="82296"/>
                  </a:cubicBezTo>
                  <a:cubicBezTo>
                    <a:pt x="164592" y="127762"/>
                    <a:pt x="127762" y="164592"/>
                    <a:pt x="82296" y="164592"/>
                  </a:cubicBezTo>
                  <a:cubicBezTo>
                    <a:pt x="36830" y="164592"/>
                    <a:pt x="0" y="127762"/>
                    <a:pt x="0" y="82296"/>
                  </a:cubicBezTo>
                  <a:close/>
                </a:path>
              </a:pathLst>
            </a:custGeom>
            <a:solidFill>
              <a:srgbClr val="D7D8DC"/>
            </a:solidFill>
          </p:spPr>
        </p:sp>
      </p:grpSp>
      <p:grpSp>
        <p:nvGrpSpPr>
          <p:cNvPr name="Group 41" id="41"/>
          <p:cNvGrpSpPr/>
          <p:nvPr/>
        </p:nvGrpSpPr>
        <p:grpSpPr>
          <a:xfrm rot="0">
            <a:off x="16822674"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14225416" y="9683496"/>
            <a:ext cx="1645920" cy="384048"/>
            <a:chOff x="0" y="0"/>
            <a:chExt cx="2194560" cy="512064"/>
          </a:xfrm>
        </p:grpSpPr>
        <p:sp>
          <p:nvSpPr>
            <p:cNvPr name="Freeform 44" id="44"/>
            <p:cNvSpPr/>
            <p:nvPr/>
          </p:nvSpPr>
          <p:spPr>
            <a:xfrm flipH="false" flipV="false" rot="0">
              <a:off x="0" y="0"/>
              <a:ext cx="2194560" cy="512064"/>
            </a:xfrm>
            <a:custGeom>
              <a:avLst/>
              <a:gdLst/>
              <a:ahLst/>
              <a:cxnLst/>
              <a:rect r="r" b="b" t="t" l="l"/>
              <a:pathLst>
                <a:path h="512064" w="2194560">
                  <a:moveTo>
                    <a:pt x="0" y="0"/>
                  </a:moveTo>
                  <a:lnTo>
                    <a:pt x="2194560" y="0"/>
                  </a:lnTo>
                  <a:lnTo>
                    <a:pt x="2194560" y="512064"/>
                  </a:lnTo>
                  <a:lnTo>
                    <a:pt x="0" y="512064"/>
                  </a:lnTo>
                  <a:close/>
                </a:path>
              </a:pathLst>
            </a:custGeom>
            <a:blipFill>
              <a:blip r:embed="rId3">
                <a:alphaModFix amt="0"/>
              </a:blip>
              <a:stretch>
                <a:fillRect l="0" t="-33507" r="0" b="-33507"/>
              </a:stretch>
            </a:blipFill>
          </p:spPr>
        </p:sp>
        <p:sp>
          <p:nvSpPr>
            <p:cNvPr name="TextBox 45" id="45"/>
            <p:cNvSpPr txBox="true"/>
            <p:nvPr/>
          </p:nvSpPr>
          <p:spPr>
            <a:xfrm>
              <a:off x="0" y="-19050"/>
              <a:ext cx="2194560" cy="531114"/>
            </a:xfrm>
            <a:prstGeom prst="rect">
              <a:avLst/>
            </a:prstGeom>
          </p:spPr>
          <p:txBody>
            <a:bodyPr anchor="ctr" rtlCol="false" tIns="0" lIns="0" bIns="0" rIns="0"/>
            <a:lstStyle/>
            <a:p>
              <a:pPr algn="r">
                <a:lnSpc>
                  <a:spcPts val="1439"/>
                </a:lnSpc>
              </a:pPr>
              <a:r>
                <a:rPr lang="en-US" b="true" sz="1200" spc="300">
                  <a:solidFill>
                    <a:srgbClr val="9A9CA6"/>
                  </a:solidFill>
                  <a:latin typeface="Arial Bold"/>
                  <a:ea typeface="Arial Bold"/>
                  <a:cs typeface="Arial Bold"/>
                  <a:sym typeface="Arial Bold"/>
                </a:rPr>
                <a:t>BUILT ON</a:t>
              </a:r>
            </a:p>
          </p:txBody>
        </p:sp>
      </p:grpSp>
      <p:grpSp>
        <p:nvGrpSpPr>
          <p:cNvPr name="Group 46" id="46"/>
          <p:cNvGrpSpPr/>
          <p:nvPr/>
        </p:nvGrpSpPr>
        <p:grpSpPr>
          <a:xfrm rot="0">
            <a:off x="16035928" y="9683496"/>
            <a:ext cx="1424540" cy="384048"/>
            <a:chOff x="0" y="0"/>
            <a:chExt cx="1899387" cy="512064"/>
          </a:xfrm>
        </p:grpSpPr>
        <p:sp>
          <p:nvSpPr>
            <p:cNvPr name="Freeform 47" id="47"/>
            <p:cNvSpPr/>
            <p:nvPr/>
          </p:nvSpPr>
          <p:spPr>
            <a:xfrm flipH="false" flipV="false" rot="0">
              <a:off x="0" y="0"/>
              <a:ext cx="1899412" cy="512064"/>
            </a:xfrm>
            <a:custGeom>
              <a:avLst/>
              <a:gdLst/>
              <a:ahLst/>
              <a:cxnLst/>
              <a:rect r="r" b="b" t="t" l="l"/>
              <a:pathLst>
                <a:path h="512064" w="1899412">
                  <a:moveTo>
                    <a:pt x="0" y="107569"/>
                  </a:moveTo>
                  <a:cubicBezTo>
                    <a:pt x="0" y="48133"/>
                    <a:pt x="48133" y="0"/>
                    <a:pt x="107569" y="0"/>
                  </a:cubicBezTo>
                  <a:lnTo>
                    <a:pt x="1791843" y="0"/>
                  </a:lnTo>
                  <a:cubicBezTo>
                    <a:pt x="1851279" y="0"/>
                    <a:pt x="1899412" y="48133"/>
                    <a:pt x="1899412" y="107569"/>
                  </a:cubicBezTo>
                  <a:lnTo>
                    <a:pt x="1899412" y="404495"/>
                  </a:lnTo>
                  <a:cubicBezTo>
                    <a:pt x="1899412" y="463931"/>
                    <a:pt x="1851279" y="512064"/>
                    <a:pt x="1791843" y="512064"/>
                  </a:cubicBezTo>
                  <a:lnTo>
                    <a:pt x="107569" y="512064"/>
                  </a:lnTo>
                  <a:cubicBezTo>
                    <a:pt x="48133" y="512064"/>
                    <a:pt x="0" y="463931"/>
                    <a:pt x="0" y="404495"/>
                  </a:cubicBezTo>
                  <a:close/>
                </a:path>
              </a:pathLst>
            </a:custGeom>
            <a:solidFill>
              <a:srgbClr val="FBF4D2"/>
            </a:solidFill>
          </p:spPr>
        </p:sp>
      </p:grpSp>
      <p:grpSp>
        <p:nvGrpSpPr>
          <p:cNvPr name="Group 48" id="48"/>
          <p:cNvGrpSpPr/>
          <p:nvPr/>
        </p:nvGrpSpPr>
        <p:grpSpPr>
          <a:xfrm rot="0">
            <a:off x="16035928" y="9683496"/>
            <a:ext cx="1424540" cy="384048"/>
            <a:chOff x="0" y="0"/>
            <a:chExt cx="1899387" cy="512064"/>
          </a:xfrm>
        </p:grpSpPr>
        <p:sp>
          <p:nvSpPr>
            <p:cNvPr name="Freeform 49" id="49"/>
            <p:cNvSpPr/>
            <p:nvPr/>
          </p:nvSpPr>
          <p:spPr>
            <a:xfrm flipH="false" flipV="false" rot="0">
              <a:off x="0" y="0"/>
              <a:ext cx="1899392" cy="512064"/>
            </a:xfrm>
            <a:custGeom>
              <a:avLst/>
              <a:gdLst/>
              <a:ahLst/>
              <a:cxnLst/>
              <a:rect r="r" b="b" t="t" l="l"/>
              <a:pathLst>
                <a:path h="512064" w="1899392">
                  <a:moveTo>
                    <a:pt x="0" y="0"/>
                  </a:moveTo>
                  <a:lnTo>
                    <a:pt x="1899392" y="0"/>
                  </a:lnTo>
                  <a:lnTo>
                    <a:pt x="1899392" y="512064"/>
                  </a:lnTo>
                  <a:lnTo>
                    <a:pt x="0" y="512064"/>
                  </a:lnTo>
                  <a:close/>
                </a:path>
              </a:pathLst>
            </a:custGeom>
            <a:blipFill>
              <a:blip r:embed="rId3">
                <a:alphaModFix amt="0"/>
              </a:blip>
              <a:stretch>
                <a:fillRect l="0" t="-22275" r="0" b="-22275"/>
              </a:stretch>
            </a:blipFill>
          </p:spPr>
        </p:sp>
        <p:sp>
          <p:nvSpPr>
            <p:cNvPr name="TextBox 50" id="50"/>
            <p:cNvSpPr txBox="true"/>
            <p:nvPr/>
          </p:nvSpPr>
          <p:spPr>
            <a:xfrm>
              <a:off x="0" y="-38100"/>
              <a:ext cx="1899387" cy="550164"/>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Linked list</a:t>
              </a:r>
            </a:p>
          </p:txBody>
        </p:sp>
      </p:grpSp>
      <p:grpSp>
        <p:nvGrpSpPr>
          <p:cNvPr name="Group 51" id="51"/>
          <p:cNvGrpSpPr/>
          <p:nvPr/>
        </p:nvGrpSpPr>
        <p:grpSpPr>
          <a:xfrm rot="0">
            <a:off x="815492" y="3908631"/>
            <a:ext cx="9006916" cy="4760309"/>
            <a:chOff x="0" y="0"/>
            <a:chExt cx="12009222" cy="6347079"/>
          </a:xfrm>
        </p:grpSpPr>
        <p:sp>
          <p:nvSpPr>
            <p:cNvPr name="Freeform 52" id="52"/>
            <p:cNvSpPr/>
            <p:nvPr/>
          </p:nvSpPr>
          <p:spPr>
            <a:xfrm flipH="false" flipV="false" rot="0">
              <a:off x="0" y="0"/>
              <a:ext cx="12009247" cy="6347079"/>
            </a:xfrm>
            <a:custGeom>
              <a:avLst/>
              <a:gdLst/>
              <a:ahLst/>
              <a:cxnLst/>
              <a:rect r="r" b="b" t="t" l="l"/>
              <a:pathLst>
                <a:path h="6347079" w="12009247">
                  <a:moveTo>
                    <a:pt x="0" y="165227"/>
                  </a:moveTo>
                  <a:cubicBezTo>
                    <a:pt x="0" y="73914"/>
                    <a:pt x="73914" y="0"/>
                    <a:pt x="165227" y="0"/>
                  </a:cubicBezTo>
                  <a:lnTo>
                    <a:pt x="11844020" y="0"/>
                  </a:lnTo>
                  <a:cubicBezTo>
                    <a:pt x="11935206" y="0"/>
                    <a:pt x="12009247" y="73914"/>
                    <a:pt x="12009247" y="165227"/>
                  </a:cubicBezTo>
                  <a:lnTo>
                    <a:pt x="12009247" y="6181852"/>
                  </a:lnTo>
                  <a:cubicBezTo>
                    <a:pt x="12009247" y="6273038"/>
                    <a:pt x="11935333" y="6347079"/>
                    <a:pt x="11844020" y="6347079"/>
                  </a:cubicBezTo>
                  <a:lnTo>
                    <a:pt x="165227" y="6347079"/>
                  </a:lnTo>
                  <a:cubicBezTo>
                    <a:pt x="73914" y="6347079"/>
                    <a:pt x="0" y="6273165"/>
                    <a:pt x="0" y="6181852"/>
                  </a:cubicBezTo>
                  <a:close/>
                </a:path>
              </a:pathLst>
            </a:custGeom>
            <a:solidFill>
              <a:srgbClr val="000000"/>
            </a:solidFill>
            <a:ln w="19050" cap="sq">
              <a:solidFill>
                <a:srgbClr val="2C2F38"/>
              </a:solidFill>
              <a:prstDash val="solid"/>
              <a:miter/>
            </a:ln>
          </p:spPr>
        </p:sp>
      </p:grpSp>
      <p:grpSp>
        <p:nvGrpSpPr>
          <p:cNvPr name="Group 53" id="53"/>
          <p:cNvGrpSpPr/>
          <p:nvPr/>
        </p:nvGrpSpPr>
        <p:grpSpPr>
          <a:xfrm rot="0">
            <a:off x="1099337" y="4123896"/>
            <a:ext cx="164592" cy="164592"/>
            <a:chOff x="0" y="0"/>
            <a:chExt cx="219456" cy="219456"/>
          </a:xfrm>
        </p:grpSpPr>
        <p:sp>
          <p:nvSpPr>
            <p:cNvPr name="Freeform 54" id="54"/>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55" id="55"/>
          <p:cNvGrpSpPr/>
          <p:nvPr/>
        </p:nvGrpSpPr>
        <p:grpSpPr>
          <a:xfrm rot="0">
            <a:off x="1373657" y="4123896"/>
            <a:ext cx="164592" cy="164592"/>
            <a:chOff x="0" y="0"/>
            <a:chExt cx="219456" cy="219456"/>
          </a:xfrm>
        </p:grpSpPr>
        <p:sp>
          <p:nvSpPr>
            <p:cNvPr name="Freeform 56" id="5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57" id="57"/>
          <p:cNvGrpSpPr/>
          <p:nvPr/>
        </p:nvGrpSpPr>
        <p:grpSpPr>
          <a:xfrm rot="0">
            <a:off x="1647977" y="4123896"/>
            <a:ext cx="164592" cy="164592"/>
            <a:chOff x="0" y="0"/>
            <a:chExt cx="219456" cy="219456"/>
          </a:xfrm>
        </p:grpSpPr>
        <p:sp>
          <p:nvSpPr>
            <p:cNvPr name="Freeform 58" id="5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59" id="59"/>
          <p:cNvGrpSpPr/>
          <p:nvPr/>
        </p:nvGrpSpPr>
        <p:grpSpPr>
          <a:xfrm rot="0">
            <a:off x="2004593" y="4000452"/>
            <a:ext cx="7616266" cy="411480"/>
            <a:chOff x="0" y="0"/>
            <a:chExt cx="10155022" cy="548640"/>
          </a:xfrm>
        </p:grpSpPr>
        <p:sp>
          <p:nvSpPr>
            <p:cNvPr name="Freeform 60" id="60"/>
            <p:cNvSpPr/>
            <p:nvPr/>
          </p:nvSpPr>
          <p:spPr>
            <a:xfrm flipH="false" flipV="false" rot="0">
              <a:off x="0" y="0"/>
              <a:ext cx="10155016" cy="548640"/>
            </a:xfrm>
            <a:custGeom>
              <a:avLst/>
              <a:gdLst/>
              <a:ahLst/>
              <a:cxnLst/>
              <a:rect r="r" b="b" t="t" l="l"/>
              <a:pathLst>
                <a:path h="548640" w="10155016">
                  <a:moveTo>
                    <a:pt x="0" y="0"/>
                  </a:moveTo>
                  <a:lnTo>
                    <a:pt x="10155016" y="0"/>
                  </a:lnTo>
                  <a:lnTo>
                    <a:pt x="10155016" y="548640"/>
                  </a:lnTo>
                  <a:lnTo>
                    <a:pt x="0" y="548640"/>
                  </a:lnTo>
                  <a:close/>
                </a:path>
              </a:pathLst>
            </a:custGeom>
            <a:blipFill>
              <a:blip r:embed="rId3">
                <a:alphaModFix amt="0"/>
              </a:blip>
              <a:stretch>
                <a:fillRect l="0" t="-310657" r="0" b="-310657"/>
              </a:stretch>
            </a:blipFill>
          </p:spPr>
        </p:sp>
        <p:sp>
          <p:nvSpPr>
            <p:cNvPr name="TextBox 61" id="61"/>
            <p:cNvSpPr txBox="true"/>
            <p:nvPr/>
          </p:nvSpPr>
          <p:spPr>
            <a:xfrm>
              <a:off x="0" y="-38100"/>
              <a:ext cx="10155022"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place page · 3 add to favorites</a:t>
              </a:r>
            </a:p>
          </p:txBody>
        </p:sp>
      </p:grpSp>
      <p:grpSp>
        <p:nvGrpSpPr>
          <p:cNvPr name="Group 62" id="62"/>
          <p:cNvGrpSpPr/>
          <p:nvPr/>
        </p:nvGrpSpPr>
        <p:grpSpPr>
          <a:xfrm rot="0">
            <a:off x="1017041" y="4466796"/>
            <a:ext cx="8603818" cy="4000595"/>
            <a:chOff x="0" y="0"/>
            <a:chExt cx="11471758" cy="5334127"/>
          </a:xfrm>
        </p:grpSpPr>
        <p:sp>
          <p:nvSpPr>
            <p:cNvPr name="Freeform 63" id="63" descr="Screenshot_14.jpg"/>
            <p:cNvSpPr/>
            <p:nvPr/>
          </p:nvSpPr>
          <p:spPr>
            <a:xfrm flipH="false" flipV="false" rot="0">
              <a:off x="0" y="0"/>
              <a:ext cx="11471783" cy="5334127"/>
            </a:xfrm>
            <a:custGeom>
              <a:avLst/>
              <a:gdLst/>
              <a:ahLst/>
              <a:cxnLst/>
              <a:rect r="r" b="b" t="t" l="l"/>
              <a:pathLst>
                <a:path h="5334127" w="11471783">
                  <a:moveTo>
                    <a:pt x="0" y="0"/>
                  </a:moveTo>
                  <a:lnTo>
                    <a:pt x="11471783" y="0"/>
                  </a:lnTo>
                  <a:lnTo>
                    <a:pt x="11471783" y="5334127"/>
                  </a:lnTo>
                  <a:lnTo>
                    <a:pt x="0" y="5334127"/>
                  </a:lnTo>
                  <a:lnTo>
                    <a:pt x="0" y="0"/>
                  </a:lnTo>
                  <a:close/>
                </a:path>
              </a:pathLst>
            </a:custGeom>
            <a:blipFill>
              <a:blip r:embed="rId5"/>
              <a:stretch>
                <a:fillRect l="0" t="0" r="0" b="-181"/>
              </a:stretch>
            </a:blipFill>
          </p:spPr>
        </p:sp>
      </p:grpSp>
      <p:sp>
        <p:nvSpPr>
          <p:cNvPr name="AutoShape 64" id="64"/>
          <p:cNvSpPr/>
          <p:nvPr/>
        </p:nvSpPr>
        <p:spPr>
          <a:xfrm rot="305040">
            <a:off x="9913944" y="6279261"/>
            <a:ext cx="483680" cy="0"/>
          </a:xfrm>
          <a:prstGeom prst="line">
            <a:avLst/>
          </a:prstGeom>
          <a:ln cap="rnd" w="19050">
            <a:solidFill>
              <a:srgbClr val="D9B100"/>
            </a:solidFill>
            <a:prstDash val="solid"/>
            <a:headEnd type="none" len="sm" w="sm"/>
            <a:tailEnd type="triangle" len="med" w="lg"/>
          </a:ln>
        </p:spPr>
      </p:sp>
      <p:grpSp>
        <p:nvGrpSpPr>
          <p:cNvPr name="Group 65" id="65"/>
          <p:cNvGrpSpPr/>
          <p:nvPr/>
        </p:nvGrpSpPr>
        <p:grpSpPr>
          <a:xfrm rot="0">
            <a:off x="10489159" y="4948790"/>
            <a:ext cx="6982892" cy="2680002"/>
            <a:chOff x="0" y="0"/>
            <a:chExt cx="9310522" cy="3573336"/>
          </a:xfrm>
        </p:grpSpPr>
        <p:sp>
          <p:nvSpPr>
            <p:cNvPr name="Freeform 66" id="66"/>
            <p:cNvSpPr/>
            <p:nvPr/>
          </p:nvSpPr>
          <p:spPr>
            <a:xfrm flipH="false" flipV="false" rot="0">
              <a:off x="0" y="0"/>
              <a:ext cx="9310497" cy="3573272"/>
            </a:xfrm>
            <a:custGeom>
              <a:avLst/>
              <a:gdLst/>
              <a:ahLst/>
              <a:cxnLst/>
              <a:rect r="r" b="b" t="t" l="l"/>
              <a:pathLst>
                <a:path h="3573272" w="9310497">
                  <a:moveTo>
                    <a:pt x="0" y="165735"/>
                  </a:moveTo>
                  <a:cubicBezTo>
                    <a:pt x="0" y="74168"/>
                    <a:pt x="74168" y="0"/>
                    <a:pt x="165735" y="0"/>
                  </a:cubicBezTo>
                  <a:lnTo>
                    <a:pt x="9144762" y="0"/>
                  </a:lnTo>
                  <a:cubicBezTo>
                    <a:pt x="9236329" y="0"/>
                    <a:pt x="9310497" y="74168"/>
                    <a:pt x="9310497" y="165735"/>
                  </a:cubicBezTo>
                  <a:lnTo>
                    <a:pt x="9310497" y="3407537"/>
                  </a:lnTo>
                  <a:cubicBezTo>
                    <a:pt x="9310497" y="3499104"/>
                    <a:pt x="9236329" y="3573272"/>
                    <a:pt x="9144762" y="3573272"/>
                  </a:cubicBezTo>
                  <a:lnTo>
                    <a:pt x="165735" y="3573272"/>
                  </a:lnTo>
                  <a:cubicBezTo>
                    <a:pt x="74168" y="3573272"/>
                    <a:pt x="0" y="3499104"/>
                    <a:pt x="0" y="3407537"/>
                  </a:cubicBezTo>
                  <a:close/>
                </a:path>
              </a:pathLst>
            </a:custGeom>
            <a:solidFill>
              <a:srgbClr val="000000"/>
            </a:solidFill>
            <a:ln w="19050" cap="sq">
              <a:solidFill>
                <a:srgbClr val="2C2F38"/>
              </a:solidFill>
              <a:prstDash val="solid"/>
              <a:miter/>
            </a:ln>
          </p:spPr>
        </p:sp>
      </p:grpSp>
      <p:grpSp>
        <p:nvGrpSpPr>
          <p:cNvPr name="Group 67" id="67"/>
          <p:cNvGrpSpPr/>
          <p:nvPr/>
        </p:nvGrpSpPr>
        <p:grpSpPr>
          <a:xfrm rot="0">
            <a:off x="10773004" y="5164055"/>
            <a:ext cx="164592" cy="164592"/>
            <a:chOff x="0" y="0"/>
            <a:chExt cx="219456" cy="219456"/>
          </a:xfrm>
        </p:grpSpPr>
        <p:sp>
          <p:nvSpPr>
            <p:cNvPr name="Freeform 68" id="6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69" id="69"/>
          <p:cNvGrpSpPr/>
          <p:nvPr/>
        </p:nvGrpSpPr>
        <p:grpSpPr>
          <a:xfrm rot="0">
            <a:off x="11047324" y="5164055"/>
            <a:ext cx="164592" cy="164592"/>
            <a:chOff x="0" y="0"/>
            <a:chExt cx="219456" cy="219456"/>
          </a:xfrm>
        </p:grpSpPr>
        <p:sp>
          <p:nvSpPr>
            <p:cNvPr name="Freeform 70" id="7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71" id="71"/>
          <p:cNvGrpSpPr/>
          <p:nvPr/>
        </p:nvGrpSpPr>
        <p:grpSpPr>
          <a:xfrm rot="0">
            <a:off x="11321644" y="5164055"/>
            <a:ext cx="164592" cy="164592"/>
            <a:chOff x="0" y="0"/>
            <a:chExt cx="219456" cy="219456"/>
          </a:xfrm>
        </p:grpSpPr>
        <p:sp>
          <p:nvSpPr>
            <p:cNvPr name="Freeform 72" id="72"/>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73" id="73"/>
          <p:cNvGrpSpPr/>
          <p:nvPr/>
        </p:nvGrpSpPr>
        <p:grpSpPr>
          <a:xfrm rot="0">
            <a:off x="11678260" y="5040611"/>
            <a:ext cx="5592242" cy="411480"/>
            <a:chOff x="0" y="0"/>
            <a:chExt cx="7456322" cy="548640"/>
          </a:xfrm>
        </p:grpSpPr>
        <p:sp>
          <p:nvSpPr>
            <p:cNvPr name="Freeform 74" id="74"/>
            <p:cNvSpPr/>
            <p:nvPr/>
          </p:nvSpPr>
          <p:spPr>
            <a:xfrm flipH="false" flipV="false" rot="0">
              <a:off x="0" y="0"/>
              <a:ext cx="7456328" cy="548640"/>
            </a:xfrm>
            <a:custGeom>
              <a:avLst/>
              <a:gdLst/>
              <a:ahLst/>
              <a:cxnLst/>
              <a:rect r="r" b="b" t="t" l="l"/>
              <a:pathLst>
                <a:path h="548640" w="7456328">
                  <a:moveTo>
                    <a:pt x="0" y="0"/>
                  </a:moveTo>
                  <a:lnTo>
                    <a:pt x="7456328" y="0"/>
                  </a:lnTo>
                  <a:lnTo>
                    <a:pt x="7456328" y="548640"/>
                  </a:lnTo>
                  <a:lnTo>
                    <a:pt x="0" y="548640"/>
                  </a:lnTo>
                  <a:close/>
                </a:path>
              </a:pathLst>
            </a:custGeom>
            <a:blipFill>
              <a:blip r:embed="rId3">
                <a:alphaModFix amt="0"/>
              </a:blip>
              <a:stretch>
                <a:fillRect l="0" t="-214812" r="0" b="-214812"/>
              </a:stretch>
            </a:blipFill>
          </p:spPr>
        </p:sp>
        <p:sp>
          <p:nvSpPr>
            <p:cNvPr name="TextBox 75" id="75"/>
            <p:cNvSpPr txBox="true"/>
            <p:nvPr/>
          </p:nvSpPr>
          <p:spPr>
            <a:xfrm>
              <a:off x="0" y="-38100"/>
              <a:ext cx="7456322"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10 · favorites</a:t>
              </a:r>
            </a:p>
          </p:txBody>
        </p:sp>
      </p:grpSp>
      <p:grpSp>
        <p:nvGrpSpPr>
          <p:cNvPr name="Group 76" id="76"/>
          <p:cNvGrpSpPr/>
          <p:nvPr/>
        </p:nvGrpSpPr>
        <p:grpSpPr>
          <a:xfrm rot="0">
            <a:off x="10690708" y="5506955"/>
            <a:ext cx="6579794" cy="1920288"/>
            <a:chOff x="0" y="0"/>
            <a:chExt cx="8773058" cy="2560384"/>
          </a:xfrm>
        </p:grpSpPr>
        <p:sp>
          <p:nvSpPr>
            <p:cNvPr name="Freeform 77" id="77" descr="Screenshot_23.jpg"/>
            <p:cNvSpPr/>
            <p:nvPr/>
          </p:nvSpPr>
          <p:spPr>
            <a:xfrm flipH="false" flipV="false" rot="0">
              <a:off x="0" y="0"/>
              <a:ext cx="8773033" cy="2560320"/>
            </a:xfrm>
            <a:custGeom>
              <a:avLst/>
              <a:gdLst/>
              <a:ahLst/>
              <a:cxnLst/>
              <a:rect r="r" b="b" t="t" l="l"/>
              <a:pathLst>
                <a:path h="2560320" w="8773033">
                  <a:moveTo>
                    <a:pt x="0" y="0"/>
                  </a:moveTo>
                  <a:lnTo>
                    <a:pt x="8773033" y="0"/>
                  </a:lnTo>
                  <a:lnTo>
                    <a:pt x="8773033" y="2560320"/>
                  </a:lnTo>
                  <a:lnTo>
                    <a:pt x="0" y="2560320"/>
                  </a:lnTo>
                  <a:lnTo>
                    <a:pt x="0" y="0"/>
                  </a:lnTo>
                  <a:close/>
                </a:path>
              </a:pathLst>
            </a:custGeom>
            <a:blipFill>
              <a:blip r:embed="rId6"/>
              <a:stretch>
                <a:fillRect l="0" t="0" r="0" b="-2"/>
              </a:stretch>
            </a:blipFill>
          </p:spPr>
        </p:sp>
      </p:grpSp>
    </p:spTree>
  </p:cSld>
  <p:clrMapOvr>
    <a:masterClrMapping/>
  </p:clrMapOvr>
  <p:transition spd="fast">
    <p:fade/>
  </p:transition>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0424160" cy="411480"/>
            <a:chOff x="0" y="0"/>
            <a:chExt cx="13898880" cy="548640"/>
          </a:xfrm>
        </p:grpSpPr>
        <p:sp>
          <p:nvSpPr>
            <p:cNvPr name="Freeform 3" id="3"/>
            <p:cNvSpPr/>
            <p:nvPr/>
          </p:nvSpPr>
          <p:spPr>
            <a:xfrm flipH="false" flipV="false" rot="0">
              <a:off x="0" y="0"/>
              <a:ext cx="13898880" cy="548640"/>
            </a:xfrm>
            <a:custGeom>
              <a:avLst/>
              <a:gdLst/>
              <a:ahLst/>
              <a:cxnLst/>
              <a:rect r="r" b="b" t="t" l="l"/>
              <a:pathLst>
                <a:path h="548640" w="13898880">
                  <a:moveTo>
                    <a:pt x="0" y="0"/>
                  </a:moveTo>
                  <a:lnTo>
                    <a:pt x="13898880" y="0"/>
                  </a:lnTo>
                  <a:lnTo>
                    <a:pt x="13898880" y="548640"/>
                  </a:lnTo>
                  <a:lnTo>
                    <a:pt x="0" y="548640"/>
                  </a:lnTo>
                  <a:close/>
                </a:path>
              </a:pathLst>
            </a:custGeom>
            <a:blipFill>
              <a:blip r:embed="rId3">
                <a:alphaModFix amt="0"/>
              </a:blip>
              <a:stretch>
                <a:fillRect l="0" t="-443620" r="0" b="-443620"/>
              </a:stretch>
            </a:blipFill>
          </p:spPr>
        </p:sp>
        <p:sp>
          <p:nvSpPr>
            <p:cNvPr name="TextBox 4" id="4"/>
            <p:cNvSpPr txBox="true"/>
            <p:nvPr/>
          </p:nvSpPr>
          <p:spPr>
            <a:xfrm>
              <a:off x="0" y="-19050"/>
              <a:ext cx="1389888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APP IN ACTION · STEP 15 OF 15</a:t>
              </a:r>
            </a:p>
          </p:txBody>
        </p:sp>
      </p:grpSp>
      <p:sp>
        <p:nvSpPr>
          <p:cNvPr name="TextBox 5" id="5"/>
          <p:cNvSpPr txBox="true"/>
          <p:nvPr/>
        </p:nvSpPr>
        <p:spPr>
          <a:xfrm rot="0">
            <a:off x="822960" y="1178433"/>
            <a:ext cx="16637508" cy="1057275"/>
          </a:xfrm>
          <a:prstGeom prst="rect">
            <a:avLst/>
          </a:prstGeom>
        </p:spPr>
        <p:txBody>
          <a:bodyPr anchor="t" rtlCol="false" tIns="0" lIns="0" bIns="0" rIns="0">
            <a:spAutoFit/>
          </a:bodyPr>
          <a:lstStyle/>
          <a:p>
            <a:pPr algn="l">
              <a:lnSpc>
                <a:spcPts val="7200"/>
              </a:lnSpc>
            </a:pPr>
            <a:r>
              <a:rPr lang="en-US" sz="6000" b="true">
                <a:solidFill>
                  <a:srgbClr val="16171B"/>
                </a:solidFill>
                <a:latin typeface="Arial Bold"/>
                <a:ea typeface="Arial Bold"/>
                <a:cs typeface="Arial Bold"/>
                <a:sym typeface="Arial Bold"/>
              </a:rPr>
              <a:t>Exit</a:t>
            </a:r>
          </a:p>
        </p:txBody>
      </p:sp>
      <p:grpSp>
        <p:nvGrpSpPr>
          <p:cNvPr name="Group 6" id="6"/>
          <p:cNvGrpSpPr/>
          <p:nvPr/>
        </p:nvGrpSpPr>
        <p:grpSpPr>
          <a:xfrm rot="0">
            <a:off x="822960" y="2331720"/>
            <a:ext cx="16637508" cy="493776"/>
            <a:chOff x="0" y="0"/>
            <a:chExt cx="22183344" cy="658368"/>
          </a:xfrm>
        </p:grpSpPr>
        <p:sp>
          <p:nvSpPr>
            <p:cNvPr name="Freeform 7" id="7"/>
            <p:cNvSpPr/>
            <p:nvPr/>
          </p:nvSpPr>
          <p:spPr>
            <a:xfrm flipH="false" flipV="false" rot="0">
              <a:off x="0" y="0"/>
              <a:ext cx="22183344" cy="658368"/>
            </a:xfrm>
            <a:custGeom>
              <a:avLst/>
              <a:gdLst/>
              <a:ahLst/>
              <a:cxnLst/>
              <a:rect r="r" b="b" t="t" l="l"/>
              <a:pathLst>
                <a:path h="658368" w="22183344">
                  <a:moveTo>
                    <a:pt x="0" y="0"/>
                  </a:moveTo>
                  <a:lnTo>
                    <a:pt x="22183344" y="0"/>
                  </a:lnTo>
                  <a:lnTo>
                    <a:pt x="22183344" y="658368"/>
                  </a:lnTo>
                  <a:lnTo>
                    <a:pt x="0" y="658368"/>
                  </a:lnTo>
                  <a:close/>
                </a:path>
              </a:pathLst>
            </a:custGeom>
            <a:blipFill>
              <a:blip r:embed="rId3">
                <a:alphaModFix amt="0"/>
              </a:blip>
              <a:stretch>
                <a:fillRect l="0" t="-606537" r="0" b="-606537"/>
              </a:stretch>
            </a:blipFill>
          </p:spPr>
        </p:sp>
        <p:sp>
          <p:nvSpPr>
            <p:cNvPr name="TextBox 8" id="8"/>
            <p:cNvSpPr txBox="true"/>
            <p:nvPr/>
          </p:nvSpPr>
          <p:spPr>
            <a:xfrm>
              <a:off x="0" y="-38100"/>
              <a:ext cx="22183344" cy="696468"/>
            </a:xfrm>
            <a:prstGeom prst="rect">
              <a:avLst/>
            </a:prstGeom>
          </p:spPr>
          <p:txBody>
            <a:bodyPr anchor="ctr" rtlCol="false" tIns="0" lIns="0" bIns="0" rIns="0"/>
            <a:lstStyle/>
            <a:p>
              <a:pPr algn="l">
                <a:lnSpc>
                  <a:spcPts val="2879"/>
                </a:lnSpc>
              </a:pPr>
              <a:r>
                <a:rPr lang="en-US" sz="2400">
                  <a:solidFill>
                    <a:srgbClr val="5F626B"/>
                  </a:solidFill>
                  <a:latin typeface="Calibri (MS)"/>
                  <a:ea typeface="Calibri (MS)"/>
                  <a:cs typeface="Calibri (MS)"/>
                  <a:sym typeface="Calibri (MS)"/>
                </a:rPr>
                <a:t>Back at the welcome screen, 0 closes the app with a goodbye.</a:t>
              </a:r>
            </a:p>
          </p:txBody>
        </p:sp>
      </p:grpSp>
      <p:sp>
        <p:nvSpPr>
          <p:cNvPr name="AutoShape 9" id="9"/>
          <p:cNvSpPr/>
          <p:nvPr/>
        </p:nvSpPr>
        <p:spPr>
          <a:xfrm rot="12120">
            <a:off x="11991956" y="955357"/>
            <a:ext cx="5395760" cy="0"/>
          </a:xfrm>
          <a:prstGeom prst="line">
            <a:avLst/>
          </a:prstGeom>
          <a:ln cap="rnd" w="9525">
            <a:solidFill>
              <a:srgbClr val="D7D8DC"/>
            </a:solidFill>
            <a:prstDash val="solid"/>
            <a:headEnd type="none" len="sm" w="sm"/>
            <a:tailEnd type="none" len="sm" w="sm"/>
          </a:ln>
        </p:spPr>
      </p:sp>
      <p:sp>
        <p:nvSpPr>
          <p:cNvPr name="AutoShape 10" id="10"/>
          <p:cNvSpPr/>
          <p:nvPr/>
        </p:nvSpPr>
        <p:spPr>
          <a:xfrm rot="21180">
            <a:off x="11984784" y="950595"/>
            <a:ext cx="5410114" cy="0"/>
          </a:xfrm>
          <a:prstGeom prst="line">
            <a:avLst/>
          </a:prstGeom>
          <a:ln cap="rnd" w="19050">
            <a:solidFill>
              <a:srgbClr val="D9B100"/>
            </a:solidFill>
            <a:prstDash val="solid"/>
            <a:headEnd type="none" len="sm" w="sm"/>
            <a:tailEnd type="none" len="sm" w="sm"/>
          </a:ln>
        </p:spPr>
      </p:sp>
      <p:grpSp>
        <p:nvGrpSpPr>
          <p:cNvPr name="Group 11" id="11"/>
          <p:cNvGrpSpPr/>
          <p:nvPr/>
        </p:nvGrpSpPr>
        <p:grpSpPr>
          <a:xfrm rot="0">
            <a:off x="11926062" y="884682"/>
            <a:ext cx="150876" cy="150876"/>
            <a:chOff x="0" y="0"/>
            <a:chExt cx="201168" cy="201168"/>
          </a:xfrm>
        </p:grpSpPr>
        <p:sp>
          <p:nvSpPr>
            <p:cNvPr name="Freeform 12" id="1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3" id="13"/>
          <p:cNvGrpSpPr/>
          <p:nvPr/>
        </p:nvGrpSpPr>
        <p:grpSpPr>
          <a:xfrm rot="0">
            <a:off x="12310110" y="884682"/>
            <a:ext cx="150876" cy="150876"/>
            <a:chOff x="0" y="0"/>
            <a:chExt cx="201168" cy="201168"/>
          </a:xfrm>
        </p:grpSpPr>
        <p:sp>
          <p:nvSpPr>
            <p:cNvPr name="Freeform 14" id="1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5" id="15"/>
          <p:cNvGrpSpPr/>
          <p:nvPr/>
        </p:nvGrpSpPr>
        <p:grpSpPr>
          <a:xfrm rot="0">
            <a:off x="12694158" y="884682"/>
            <a:ext cx="150876" cy="150876"/>
            <a:chOff x="0" y="0"/>
            <a:chExt cx="201168" cy="201168"/>
          </a:xfrm>
        </p:grpSpPr>
        <p:sp>
          <p:nvSpPr>
            <p:cNvPr name="Freeform 16" id="1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7" id="17"/>
          <p:cNvGrpSpPr/>
          <p:nvPr/>
        </p:nvGrpSpPr>
        <p:grpSpPr>
          <a:xfrm rot="0">
            <a:off x="13078206" y="884682"/>
            <a:ext cx="150876" cy="150876"/>
            <a:chOff x="0" y="0"/>
            <a:chExt cx="201168" cy="201168"/>
          </a:xfrm>
        </p:grpSpPr>
        <p:sp>
          <p:nvSpPr>
            <p:cNvPr name="Freeform 18" id="1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19" id="19"/>
          <p:cNvGrpSpPr/>
          <p:nvPr/>
        </p:nvGrpSpPr>
        <p:grpSpPr>
          <a:xfrm rot="0">
            <a:off x="13462254" y="884682"/>
            <a:ext cx="150876" cy="150876"/>
            <a:chOff x="0" y="0"/>
            <a:chExt cx="201168" cy="201168"/>
          </a:xfrm>
        </p:grpSpPr>
        <p:sp>
          <p:nvSpPr>
            <p:cNvPr name="Freeform 20" id="2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1" id="21"/>
          <p:cNvGrpSpPr/>
          <p:nvPr/>
        </p:nvGrpSpPr>
        <p:grpSpPr>
          <a:xfrm rot="0">
            <a:off x="13846302" y="884682"/>
            <a:ext cx="150876" cy="150876"/>
            <a:chOff x="0" y="0"/>
            <a:chExt cx="201168" cy="201168"/>
          </a:xfrm>
        </p:grpSpPr>
        <p:sp>
          <p:nvSpPr>
            <p:cNvPr name="Freeform 22" id="2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3" id="23"/>
          <p:cNvGrpSpPr/>
          <p:nvPr/>
        </p:nvGrpSpPr>
        <p:grpSpPr>
          <a:xfrm rot="0">
            <a:off x="14230350" y="884682"/>
            <a:ext cx="150876" cy="150876"/>
            <a:chOff x="0" y="0"/>
            <a:chExt cx="201168" cy="201168"/>
          </a:xfrm>
        </p:grpSpPr>
        <p:sp>
          <p:nvSpPr>
            <p:cNvPr name="Freeform 24" id="2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5" id="25"/>
          <p:cNvGrpSpPr/>
          <p:nvPr/>
        </p:nvGrpSpPr>
        <p:grpSpPr>
          <a:xfrm rot="0">
            <a:off x="14614398" y="884682"/>
            <a:ext cx="150876" cy="150876"/>
            <a:chOff x="0" y="0"/>
            <a:chExt cx="201168" cy="201168"/>
          </a:xfrm>
        </p:grpSpPr>
        <p:sp>
          <p:nvSpPr>
            <p:cNvPr name="Freeform 26" id="2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7" id="27"/>
          <p:cNvGrpSpPr/>
          <p:nvPr/>
        </p:nvGrpSpPr>
        <p:grpSpPr>
          <a:xfrm rot="0">
            <a:off x="14998446" y="884682"/>
            <a:ext cx="150876" cy="150876"/>
            <a:chOff x="0" y="0"/>
            <a:chExt cx="201168" cy="201168"/>
          </a:xfrm>
        </p:grpSpPr>
        <p:sp>
          <p:nvSpPr>
            <p:cNvPr name="Freeform 28" id="2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29" id="29"/>
          <p:cNvGrpSpPr/>
          <p:nvPr/>
        </p:nvGrpSpPr>
        <p:grpSpPr>
          <a:xfrm rot="0">
            <a:off x="15382494" y="884682"/>
            <a:ext cx="150876" cy="150876"/>
            <a:chOff x="0" y="0"/>
            <a:chExt cx="201168" cy="201168"/>
          </a:xfrm>
        </p:grpSpPr>
        <p:sp>
          <p:nvSpPr>
            <p:cNvPr name="Freeform 30" id="3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1" id="31"/>
          <p:cNvGrpSpPr/>
          <p:nvPr/>
        </p:nvGrpSpPr>
        <p:grpSpPr>
          <a:xfrm rot="0">
            <a:off x="15766542" y="884682"/>
            <a:ext cx="150876" cy="150876"/>
            <a:chOff x="0" y="0"/>
            <a:chExt cx="201168" cy="201168"/>
          </a:xfrm>
        </p:grpSpPr>
        <p:sp>
          <p:nvSpPr>
            <p:cNvPr name="Freeform 32" id="32"/>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3" id="33"/>
          <p:cNvGrpSpPr/>
          <p:nvPr/>
        </p:nvGrpSpPr>
        <p:grpSpPr>
          <a:xfrm rot="0">
            <a:off x="16150590" y="884682"/>
            <a:ext cx="150876" cy="150876"/>
            <a:chOff x="0" y="0"/>
            <a:chExt cx="201168" cy="201168"/>
          </a:xfrm>
        </p:grpSpPr>
        <p:sp>
          <p:nvSpPr>
            <p:cNvPr name="Freeform 34" id="34"/>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5" id="35"/>
          <p:cNvGrpSpPr/>
          <p:nvPr/>
        </p:nvGrpSpPr>
        <p:grpSpPr>
          <a:xfrm rot="0">
            <a:off x="16534638" y="884682"/>
            <a:ext cx="150876" cy="150876"/>
            <a:chOff x="0" y="0"/>
            <a:chExt cx="201168" cy="201168"/>
          </a:xfrm>
        </p:grpSpPr>
        <p:sp>
          <p:nvSpPr>
            <p:cNvPr name="Freeform 36" id="36"/>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7" id="37"/>
          <p:cNvGrpSpPr/>
          <p:nvPr/>
        </p:nvGrpSpPr>
        <p:grpSpPr>
          <a:xfrm rot="0">
            <a:off x="16918686" y="884682"/>
            <a:ext cx="150876" cy="150876"/>
            <a:chOff x="0" y="0"/>
            <a:chExt cx="201168" cy="201168"/>
          </a:xfrm>
        </p:grpSpPr>
        <p:sp>
          <p:nvSpPr>
            <p:cNvPr name="Freeform 38" id="38"/>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39" id="39"/>
          <p:cNvGrpSpPr/>
          <p:nvPr/>
        </p:nvGrpSpPr>
        <p:grpSpPr>
          <a:xfrm rot="0">
            <a:off x="17302734" y="884682"/>
            <a:ext cx="150876" cy="150876"/>
            <a:chOff x="0" y="0"/>
            <a:chExt cx="201168" cy="201168"/>
          </a:xfrm>
        </p:grpSpPr>
        <p:sp>
          <p:nvSpPr>
            <p:cNvPr name="Freeform 40" id="40"/>
            <p:cNvSpPr/>
            <p:nvPr/>
          </p:nvSpPr>
          <p:spPr>
            <a:xfrm flipH="false" flipV="false" rot="0">
              <a:off x="0" y="0"/>
              <a:ext cx="201168" cy="201168"/>
            </a:xfrm>
            <a:custGeom>
              <a:avLst/>
              <a:gdLst/>
              <a:ahLst/>
              <a:cxnLst/>
              <a:rect r="r" b="b" t="t" l="l"/>
              <a:pathLst>
                <a:path h="201168" w="201168">
                  <a:moveTo>
                    <a:pt x="0" y="100584"/>
                  </a:moveTo>
                  <a:cubicBezTo>
                    <a:pt x="0" y="45085"/>
                    <a:pt x="45085" y="0"/>
                    <a:pt x="100584" y="0"/>
                  </a:cubicBezTo>
                  <a:cubicBezTo>
                    <a:pt x="156083" y="0"/>
                    <a:pt x="201168" y="45085"/>
                    <a:pt x="201168" y="100584"/>
                  </a:cubicBezTo>
                  <a:cubicBezTo>
                    <a:pt x="201168" y="156083"/>
                    <a:pt x="156083" y="201168"/>
                    <a:pt x="100584" y="201168"/>
                  </a:cubicBezTo>
                  <a:cubicBezTo>
                    <a:pt x="45085" y="201168"/>
                    <a:pt x="0" y="156083"/>
                    <a:pt x="0" y="100584"/>
                  </a:cubicBezTo>
                  <a:close/>
                </a:path>
              </a:pathLst>
            </a:custGeom>
            <a:solidFill>
              <a:srgbClr val="D9B100"/>
            </a:solidFill>
          </p:spPr>
        </p:sp>
      </p:grpSp>
      <p:grpSp>
        <p:nvGrpSpPr>
          <p:cNvPr name="Group 41" id="41"/>
          <p:cNvGrpSpPr/>
          <p:nvPr/>
        </p:nvGrpSpPr>
        <p:grpSpPr>
          <a:xfrm rot="0">
            <a:off x="17206722" y="427882"/>
            <a:ext cx="342900" cy="429368"/>
            <a:chOff x="0" y="0"/>
            <a:chExt cx="457200" cy="572491"/>
          </a:xfrm>
        </p:grpSpPr>
        <p:sp>
          <p:nvSpPr>
            <p:cNvPr name="Freeform 42" id="42" descr="pin_mark.png"/>
            <p:cNvSpPr/>
            <p:nvPr/>
          </p:nvSpPr>
          <p:spPr>
            <a:xfrm flipH="false" flipV="false" rot="0">
              <a:off x="0" y="0"/>
              <a:ext cx="457200" cy="572516"/>
            </a:xfrm>
            <a:custGeom>
              <a:avLst/>
              <a:gdLst/>
              <a:ahLst/>
              <a:cxnLst/>
              <a:rect r="r" b="b" t="t" l="l"/>
              <a:pathLst>
                <a:path h="572516" w="457200">
                  <a:moveTo>
                    <a:pt x="0" y="0"/>
                  </a:moveTo>
                  <a:lnTo>
                    <a:pt x="457200" y="0"/>
                  </a:lnTo>
                  <a:lnTo>
                    <a:pt x="457200" y="572516"/>
                  </a:lnTo>
                  <a:lnTo>
                    <a:pt x="0" y="572516"/>
                  </a:lnTo>
                  <a:lnTo>
                    <a:pt x="0" y="0"/>
                  </a:lnTo>
                  <a:close/>
                </a:path>
              </a:pathLst>
            </a:custGeom>
            <a:blipFill>
              <a:blip r:embed="rId4"/>
              <a:stretch>
                <a:fillRect l="0" t="0" r="0" b="4"/>
              </a:stretch>
            </a:blipFill>
          </p:spPr>
        </p:sp>
      </p:grpSp>
      <p:grpSp>
        <p:nvGrpSpPr>
          <p:cNvPr name="Group 43" id="43"/>
          <p:cNvGrpSpPr/>
          <p:nvPr/>
        </p:nvGrpSpPr>
        <p:grpSpPr>
          <a:xfrm rot="0">
            <a:off x="3935882" y="3865093"/>
            <a:ext cx="10415778" cy="4847396"/>
            <a:chOff x="0" y="0"/>
            <a:chExt cx="13887704" cy="6463195"/>
          </a:xfrm>
        </p:grpSpPr>
        <p:sp>
          <p:nvSpPr>
            <p:cNvPr name="Freeform 44" id="44"/>
            <p:cNvSpPr/>
            <p:nvPr/>
          </p:nvSpPr>
          <p:spPr>
            <a:xfrm flipH="false" flipV="false" rot="0">
              <a:off x="0" y="0"/>
              <a:ext cx="13887704" cy="6463157"/>
            </a:xfrm>
            <a:custGeom>
              <a:avLst/>
              <a:gdLst/>
              <a:ahLst/>
              <a:cxnLst/>
              <a:rect r="r" b="b" t="t" l="l"/>
              <a:pathLst>
                <a:path h="6463157" w="13887704">
                  <a:moveTo>
                    <a:pt x="0" y="165227"/>
                  </a:moveTo>
                  <a:cubicBezTo>
                    <a:pt x="0" y="73914"/>
                    <a:pt x="73914" y="0"/>
                    <a:pt x="165227" y="0"/>
                  </a:cubicBezTo>
                  <a:lnTo>
                    <a:pt x="13722477" y="0"/>
                  </a:lnTo>
                  <a:cubicBezTo>
                    <a:pt x="13813664" y="0"/>
                    <a:pt x="13887704" y="73914"/>
                    <a:pt x="13887704" y="165227"/>
                  </a:cubicBezTo>
                  <a:lnTo>
                    <a:pt x="13887704" y="6297930"/>
                  </a:lnTo>
                  <a:cubicBezTo>
                    <a:pt x="13887704" y="6389116"/>
                    <a:pt x="13813789" y="6463157"/>
                    <a:pt x="13722477" y="6463157"/>
                  </a:cubicBezTo>
                  <a:lnTo>
                    <a:pt x="165227" y="6463157"/>
                  </a:lnTo>
                  <a:cubicBezTo>
                    <a:pt x="73914" y="6463157"/>
                    <a:pt x="0" y="6389243"/>
                    <a:pt x="0" y="6297930"/>
                  </a:cubicBezTo>
                  <a:close/>
                </a:path>
              </a:pathLst>
            </a:custGeom>
            <a:solidFill>
              <a:srgbClr val="000000"/>
            </a:solidFill>
            <a:ln w="19050" cap="sq">
              <a:solidFill>
                <a:srgbClr val="2C2F38"/>
              </a:solidFill>
              <a:prstDash val="solid"/>
              <a:miter/>
            </a:ln>
          </p:spPr>
        </p:sp>
      </p:grpSp>
      <p:grpSp>
        <p:nvGrpSpPr>
          <p:cNvPr name="Group 45" id="45"/>
          <p:cNvGrpSpPr/>
          <p:nvPr/>
        </p:nvGrpSpPr>
        <p:grpSpPr>
          <a:xfrm rot="0">
            <a:off x="4219727" y="4080358"/>
            <a:ext cx="164592" cy="164592"/>
            <a:chOff x="0" y="0"/>
            <a:chExt cx="219456" cy="219456"/>
          </a:xfrm>
        </p:grpSpPr>
        <p:sp>
          <p:nvSpPr>
            <p:cNvPr name="Freeform 46" id="46"/>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F5F57"/>
            </a:solidFill>
          </p:spPr>
        </p:sp>
      </p:grpSp>
      <p:grpSp>
        <p:nvGrpSpPr>
          <p:cNvPr name="Group 47" id="47"/>
          <p:cNvGrpSpPr/>
          <p:nvPr/>
        </p:nvGrpSpPr>
        <p:grpSpPr>
          <a:xfrm rot="0">
            <a:off x="4494047" y="4080358"/>
            <a:ext cx="164592" cy="164592"/>
            <a:chOff x="0" y="0"/>
            <a:chExt cx="219456" cy="219456"/>
          </a:xfrm>
        </p:grpSpPr>
        <p:sp>
          <p:nvSpPr>
            <p:cNvPr name="Freeform 48" id="48"/>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FEBC2E"/>
            </a:solidFill>
          </p:spPr>
        </p:sp>
      </p:grpSp>
      <p:grpSp>
        <p:nvGrpSpPr>
          <p:cNvPr name="Group 49" id="49"/>
          <p:cNvGrpSpPr/>
          <p:nvPr/>
        </p:nvGrpSpPr>
        <p:grpSpPr>
          <a:xfrm rot="0">
            <a:off x="4768367" y="4080358"/>
            <a:ext cx="164592" cy="164592"/>
            <a:chOff x="0" y="0"/>
            <a:chExt cx="219456" cy="219456"/>
          </a:xfrm>
        </p:grpSpPr>
        <p:sp>
          <p:nvSpPr>
            <p:cNvPr name="Freeform 50" id="50"/>
            <p:cNvSpPr/>
            <p:nvPr/>
          </p:nvSpPr>
          <p:spPr>
            <a:xfrm flipH="false" flipV="false" rot="0">
              <a:off x="0" y="0"/>
              <a:ext cx="219456" cy="219456"/>
            </a:xfrm>
            <a:custGeom>
              <a:avLst/>
              <a:gdLst/>
              <a:ahLst/>
              <a:cxnLst/>
              <a:rect r="r" b="b" t="t" l="l"/>
              <a:pathLst>
                <a:path h="219456" w="219456">
                  <a:moveTo>
                    <a:pt x="0" y="109728"/>
                  </a:moveTo>
                  <a:cubicBezTo>
                    <a:pt x="0" y="49149"/>
                    <a:pt x="49149" y="0"/>
                    <a:pt x="109728" y="0"/>
                  </a:cubicBezTo>
                  <a:cubicBezTo>
                    <a:pt x="170307" y="0"/>
                    <a:pt x="219456" y="49149"/>
                    <a:pt x="219456" y="109728"/>
                  </a:cubicBezTo>
                  <a:cubicBezTo>
                    <a:pt x="219456" y="170307"/>
                    <a:pt x="170307" y="219456"/>
                    <a:pt x="109728" y="219456"/>
                  </a:cubicBezTo>
                  <a:cubicBezTo>
                    <a:pt x="49149" y="219456"/>
                    <a:pt x="0" y="170307"/>
                    <a:pt x="0" y="109728"/>
                  </a:cubicBezTo>
                  <a:close/>
                </a:path>
              </a:pathLst>
            </a:custGeom>
            <a:solidFill>
              <a:srgbClr val="28C840"/>
            </a:solidFill>
          </p:spPr>
        </p:sp>
      </p:grpSp>
      <p:grpSp>
        <p:nvGrpSpPr>
          <p:cNvPr name="Group 51" id="51"/>
          <p:cNvGrpSpPr/>
          <p:nvPr/>
        </p:nvGrpSpPr>
        <p:grpSpPr>
          <a:xfrm rot="0">
            <a:off x="5124983" y="3956914"/>
            <a:ext cx="9025128" cy="411480"/>
            <a:chOff x="0" y="0"/>
            <a:chExt cx="12033504" cy="548640"/>
          </a:xfrm>
        </p:grpSpPr>
        <p:sp>
          <p:nvSpPr>
            <p:cNvPr name="Freeform 52" id="52"/>
            <p:cNvSpPr/>
            <p:nvPr/>
          </p:nvSpPr>
          <p:spPr>
            <a:xfrm flipH="false" flipV="false" rot="0">
              <a:off x="0" y="0"/>
              <a:ext cx="12033504" cy="548640"/>
            </a:xfrm>
            <a:custGeom>
              <a:avLst/>
              <a:gdLst/>
              <a:ahLst/>
              <a:cxnLst/>
              <a:rect r="r" b="b" t="t" l="l"/>
              <a:pathLst>
                <a:path h="548640" w="12033504">
                  <a:moveTo>
                    <a:pt x="0" y="0"/>
                  </a:moveTo>
                  <a:lnTo>
                    <a:pt x="12033504" y="0"/>
                  </a:lnTo>
                  <a:lnTo>
                    <a:pt x="12033504" y="548640"/>
                  </a:lnTo>
                  <a:lnTo>
                    <a:pt x="0" y="548640"/>
                  </a:lnTo>
                  <a:close/>
                </a:path>
              </a:pathLst>
            </a:custGeom>
            <a:blipFill>
              <a:blip r:embed="rId3">
                <a:alphaModFix amt="0"/>
              </a:blip>
              <a:stretch>
                <a:fillRect l="0" t="-377371" r="0" b="-377371"/>
              </a:stretch>
            </a:blipFill>
          </p:spPr>
        </p:sp>
        <p:sp>
          <p:nvSpPr>
            <p:cNvPr name="TextBox 53" id="53"/>
            <p:cNvSpPr txBox="true"/>
            <p:nvPr/>
          </p:nvSpPr>
          <p:spPr>
            <a:xfrm>
              <a:off x="0" y="-38100"/>
              <a:ext cx="12033504" cy="586740"/>
            </a:xfrm>
            <a:prstGeom prst="rect">
              <a:avLst/>
            </a:prstGeom>
          </p:spPr>
          <p:txBody>
            <a:bodyPr anchor="ctr" rtlCol="false" tIns="0" lIns="0" bIns="0" rIns="0"/>
            <a:lstStyle/>
            <a:p>
              <a:pPr algn="l">
                <a:lnSpc>
                  <a:spcPts val="1800"/>
                </a:lnSpc>
              </a:pPr>
              <a:r>
                <a:rPr lang="en-US" sz="1500">
                  <a:solidFill>
                    <a:srgbClr val="8A8C95"/>
                  </a:solidFill>
                  <a:latin typeface="Consolas"/>
                  <a:ea typeface="Consolas"/>
                  <a:cs typeface="Consolas"/>
                  <a:sym typeface="Consolas"/>
                </a:rPr>
                <a:t>0 · exit</a:t>
              </a:r>
            </a:p>
          </p:txBody>
        </p:sp>
      </p:grpSp>
      <p:grpSp>
        <p:nvGrpSpPr>
          <p:cNvPr name="Group 54" id="54"/>
          <p:cNvGrpSpPr/>
          <p:nvPr/>
        </p:nvGrpSpPr>
        <p:grpSpPr>
          <a:xfrm rot="0">
            <a:off x="4137431" y="4423258"/>
            <a:ext cx="10012680" cy="4087682"/>
            <a:chOff x="0" y="0"/>
            <a:chExt cx="13350240" cy="5450243"/>
          </a:xfrm>
        </p:grpSpPr>
        <p:sp>
          <p:nvSpPr>
            <p:cNvPr name="Freeform 55" id="55" descr="Screenshot_24.jpg"/>
            <p:cNvSpPr/>
            <p:nvPr/>
          </p:nvSpPr>
          <p:spPr>
            <a:xfrm flipH="false" flipV="false" rot="0">
              <a:off x="0" y="0"/>
              <a:ext cx="13350239" cy="5450205"/>
            </a:xfrm>
            <a:custGeom>
              <a:avLst/>
              <a:gdLst/>
              <a:ahLst/>
              <a:cxnLst/>
              <a:rect r="r" b="b" t="t" l="l"/>
              <a:pathLst>
                <a:path h="5450205" w="13350239">
                  <a:moveTo>
                    <a:pt x="0" y="0"/>
                  </a:moveTo>
                  <a:lnTo>
                    <a:pt x="13350239" y="0"/>
                  </a:lnTo>
                  <a:lnTo>
                    <a:pt x="13350239" y="5450205"/>
                  </a:lnTo>
                  <a:lnTo>
                    <a:pt x="0" y="5450205"/>
                  </a:lnTo>
                  <a:lnTo>
                    <a:pt x="0" y="0"/>
                  </a:lnTo>
                  <a:close/>
                </a:path>
              </a:pathLst>
            </a:custGeom>
            <a:blipFill>
              <a:blip r:embed="rId5"/>
              <a:stretch>
                <a:fillRect l="0" t="0" r="0" b="0"/>
              </a:stretch>
            </a:blipFill>
          </p:spPr>
        </p:sp>
      </p:grpSp>
    </p:spTree>
  </p:cSld>
  <p:clrMapOvr>
    <a:masterClrMapping/>
  </p:clrMapOvr>
  <p:transition spd="fast">
    <p:fade/>
  </p:transition>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THE ONLINE VERSION</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FFFFFF"/>
                </a:solidFill>
                <a:latin typeface="Arial Bold"/>
                <a:ea typeface="Arial Bold"/>
                <a:cs typeface="Arial Bold"/>
                <a:sym typeface="Arial Bold"/>
              </a:rPr>
              <a:t>Open CholoKUET in any browser</a:t>
            </a:r>
          </a:p>
        </p:txBody>
      </p:sp>
      <p:grpSp>
        <p:nvGrpSpPr>
          <p:cNvPr name="Group 6" id="6"/>
          <p:cNvGrpSpPr/>
          <p:nvPr/>
        </p:nvGrpSpPr>
        <p:grpSpPr>
          <a:xfrm rot="0">
            <a:off x="822960" y="2331720"/>
            <a:ext cx="9601200" cy="548640"/>
            <a:chOff x="0" y="0"/>
            <a:chExt cx="12801600" cy="731520"/>
          </a:xfrm>
        </p:grpSpPr>
        <p:sp>
          <p:nvSpPr>
            <p:cNvPr name="Freeform 7" id="7"/>
            <p:cNvSpPr/>
            <p:nvPr/>
          </p:nvSpPr>
          <p:spPr>
            <a:xfrm flipH="false" flipV="false" rot="0">
              <a:off x="0" y="0"/>
              <a:ext cx="12801600" cy="731520"/>
            </a:xfrm>
            <a:custGeom>
              <a:avLst/>
              <a:gdLst/>
              <a:ahLst/>
              <a:cxnLst/>
              <a:rect r="r" b="b" t="t" l="l"/>
              <a:pathLst>
                <a:path h="731520" w="12801600">
                  <a:moveTo>
                    <a:pt x="0" y="0"/>
                  </a:moveTo>
                  <a:lnTo>
                    <a:pt x="12801600" y="0"/>
                  </a:lnTo>
                  <a:lnTo>
                    <a:pt x="12801600" y="731520"/>
                  </a:lnTo>
                  <a:lnTo>
                    <a:pt x="0" y="731520"/>
                  </a:lnTo>
                  <a:close/>
                </a:path>
              </a:pathLst>
            </a:custGeom>
            <a:blipFill>
              <a:blip r:embed="rId3">
                <a:alphaModFix amt="0"/>
              </a:blip>
              <a:stretch>
                <a:fillRect l="0" t="-290988" r="0" b="-290988"/>
              </a:stretch>
            </a:blipFill>
          </p:spPr>
        </p:sp>
        <p:sp>
          <p:nvSpPr>
            <p:cNvPr name="TextBox 8" id="8"/>
            <p:cNvSpPr txBox="true"/>
            <p:nvPr/>
          </p:nvSpPr>
          <p:spPr>
            <a:xfrm>
              <a:off x="0" y="-57150"/>
              <a:ext cx="12801600" cy="788670"/>
            </a:xfrm>
            <a:prstGeom prst="rect">
              <a:avLst/>
            </a:prstGeom>
          </p:spPr>
          <p:txBody>
            <a:bodyPr anchor="ctr" rtlCol="false" tIns="0" lIns="0" bIns="0" rIns="0"/>
            <a:lstStyle/>
            <a:p>
              <a:pPr algn="l">
                <a:lnSpc>
                  <a:spcPts val="3060"/>
                </a:lnSpc>
              </a:pPr>
              <a:r>
                <a:rPr lang="en-US" b="true" sz="2550" u="sng">
                  <a:solidFill>
                    <a:srgbClr val="D9B100"/>
                  </a:solidFill>
                  <a:latin typeface="Consolas Bold"/>
                  <a:ea typeface="Consolas Bold"/>
                  <a:cs typeface="Consolas Bold"/>
                  <a:sym typeface="Consolas Bold"/>
                  <a:hlinkClick r:id="rId4" tooltip="https://ettisafxrup.github.io/CholoKUET/"/>
                </a:rPr>
                <a:t>ettisafxrup.github.io/CholoKUET</a:t>
              </a:r>
            </a:p>
          </p:txBody>
        </p:sp>
      </p:grpSp>
      <p:grpSp>
        <p:nvGrpSpPr>
          <p:cNvPr name="Group 9" id="9"/>
          <p:cNvGrpSpPr/>
          <p:nvPr/>
        </p:nvGrpSpPr>
        <p:grpSpPr>
          <a:xfrm rot="0">
            <a:off x="7612380" y="3223260"/>
            <a:ext cx="9875520" cy="6172200"/>
            <a:chOff x="0" y="0"/>
            <a:chExt cx="13167360" cy="8229600"/>
          </a:xfrm>
        </p:grpSpPr>
        <p:sp>
          <p:nvSpPr>
            <p:cNvPr name="Freeform 10" id="10" descr="C:\Users\rup\AppData\Local\Temp\claude\d--Codes-CholoKUET\2a005a77-40ea-402f-8f1e-eba05e0da9d5\scratchpad\deck\img\web-hero.png"/>
            <p:cNvSpPr/>
            <p:nvPr/>
          </p:nvSpPr>
          <p:spPr>
            <a:xfrm flipH="false" flipV="false" rot="0">
              <a:off x="0" y="0"/>
              <a:ext cx="13167361" cy="8229600"/>
            </a:xfrm>
            <a:custGeom>
              <a:avLst/>
              <a:gdLst/>
              <a:ahLst/>
              <a:cxnLst/>
              <a:rect r="r" b="b" t="t" l="l"/>
              <a:pathLst>
                <a:path h="8229600" w="13167361">
                  <a:moveTo>
                    <a:pt x="0" y="0"/>
                  </a:moveTo>
                  <a:lnTo>
                    <a:pt x="13167361" y="0"/>
                  </a:lnTo>
                  <a:lnTo>
                    <a:pt x="13167361" y="8229600"/>
                  </a:lnTo>
                  <a:lnTo>
                    <a:pt x="0" y="8229600"/>
                  </a:lnTo>
                  <a:lnTo>
                    <a:pt x="0" y="0"/>
                  </a:lnTo>
                  <a:close/>
                </a:path>
              </a:pathLst>
            </a:custGeom>
            <a:blipFill>
              <a:blip r:embed="rId5"/>
              <a:stretch>
                <a:fillRect l="0" t="0" r="0" b="0"/>
              </a:stretch>
            </a:blipFill>
          </p:spPr>
        </p:sp>
      </p:grpSp>
      <p:grpSp>
        <p:nvGrpSpPr>
          <p:cNvPr name="Group 11" id="11"/>
          <p:cNvGrpSpPr/>
          <p:nvPr/>
        </p:nvGrpSpPr>
        <p:grpSpPr>
          <a:xfrm rot="0">
            <a:off x="7602855" y="3213735"/>
            <a:ext cx="9894570" cy="6191250"/>
            <a:chOff x="0" y="0"/>
            <a:chExt cx="13192760" cy="8255000"/>
          </a:xfrm>
        </p:grpSpPr>
        <p:sp>
          <p:nvSpPr>
            <p:cNvPr name="Freeform 12" id="12"/>
            <p:cNvSpPr/>
            <p:nvPr/>
          </p:nvSpPr>
          <p:spPr>
            <a:xfrm flipH="false" flipV="false" rot="0">
              <a:off x="0" y="0"/>
              <a:ext cx="13192761" cy="8255000"/>
            </a:xfrm>
            <a:custGeom>
              <a:avLst/>
              <a:gdLst/>
              <a:ahLst/>
              <a:cxnLst/>
              <a:rect r="r" b="b" t="t" l="l"/>
              <a:pathLst>
                <a:path h="8255000" w="13192761">
                  <a:moveTo>
                    <a:pt x="0" y="0"/>
                  </a:moveTo>
                  <a:lnTo>
                    <a:pt x="13192761" y="0"/>
                  </a:lnTo>
                  <a:lnTo>
                    <a:pt x="13192761" y="8255000"/>
                  </a:lnTo>
                  <a:lnTo>
                    <a:pt x="0" y="8255000"/>
                  </a:lnTo>
                  <a:close/>
                </a:path>
              </a:pathLst>
            </a:custGeom>
            <a:blipFill>
              <a:blip r:embed="rId3">
                <a:alphaModFix amt="0"/>
              </a:blip>
              <a:stretch>
                <a:fillRect l="-30282" t="0" r="-30282" b="0"/>
              </a:stretch>
            </a:blipFill>
            <a:ln w="19050" cap="sq">
              <a:solidFill>
                <a:srgbClr val="2C2F38"/>
              </a:solidFill>
              <a:prstDash val="solid"/>
              <a:miter/>
            </a:ln>
          </p:spPr>
        </p:sp>
      </p:grpSp>
      <p:grpSp>
        <p:nvGrpSpPr>
          <p:cNvPr name="Group 13" id="13"/>
          <p:cNvGrpSpPr/>
          <p:nvPr/>
        </p:nvGrpSpPr>
        <p:grpSpPr>
          <a:xfrm rot="0">
            <a:off x="813435" y="3282315"/>
            <a:ext cx="787146" cy="787146"/>
            <a:chOff x="0" y="0"/>
            <a:chExt cx="1049528" cy="1049528"/>
          </a:xfrm>
        </p:grpSpPr>
        <p:sp>
          <p:nvSpPr>
            <p:cNvPr name="Freeform 14" id="14"/>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2A2410"/>
            </a:solidFill>
            <a:ln w="19050" cap="sq">
              <a:solidFill>
                <a:srgbClr val="2A2410"/>
              </a:solidFill>
              <a:prstDash val="solid"/>
              <a:miter/>
            </a:ln>
          </p:spPr>
        </p:sp>
      </p:grpSp>
      <p:grpSp>
        <p:nvGrpSpPr>
          <p:cNvPr name="Group 15" id="15"/>
          <p:cNvGrpSpPr/>
          <p:nvPr/>
        </p:nvGrpSpPr>
        <p:grpSpPr>
          <a:xfrm rot="0">
            <a:off x="991943" y="3460823"/>
            <a:ext cx="430130" cy="430130"/>
            <a:chOff x="0" y="0"/>
            <a:chExt cx="573507" cy="573507"/>
          </a:xfrm>
        </p:grpSpPr>
        <p:sp>
          <p:nvSpPr>
            <p:cNvPr name="Freeform 16" id="16" descr="preencoded.png"/>
            <p:cNvSpPr/>
            <p:nvPr/>
          </p:nvSpPr>
          <p:spPr>
            <a:xfrm flipH="false" flipV="false" rot="0">
              <a:off x="0" y="0"/>
              <a:ext cx="573532" cy="573532"/>
            </a:xfrm>
            <a:custGeom>
              <a:avLst/>
              <a:gdLst/>
              <a:ahLst/>
              <a:cxnLst/>
              <a:rect r="r" b="b" t="t" l="l"/>
              <a:pathLst>
                <a:path h="573532" w="573532">
                  <a:moveTo>
                    <a:pt x="0" y="0"/>
                  </a:moveTo>
                  <a:lnTo>
                    <a:pt x="573532" y="0"/>
                  </a:lnTo>
                  <a:lnTo>
                    <a:pt x="573532" y="573532"/>
                  </a:lnTo>
                  <a:lnTo>
                    <a:pt x="0" y="573532"/>
                  </a:lnTo>
                  <a:lnTo>
                    <a:pt x="0" y="0"/>
                  </a:lnTo>
                  <a:close/>
                </a:path>
              </a:pathLst>
            </a:custGeom>
            <a:blipFill>
              <a:blip r:embed="rId6"/>
              <a:stretch>
                <a:fillRect l="0" t="0" r="4" b="4"/>
              </a:stretch>
            </a:blipFill>
          </p:spPr>
        </p:sp>
      </p:grpSp>
      <p:sp>
        <p:nvSpPr>
          <p:cNvPr name="TextBox 17" id="17"/>
          <p:cNvSpPr txBox="true"/>
          <p:nvPr/>
        </p:nvSpPr>
        <p:spPr>
          <a:xfrm rot="0">
            <a:off x="1851660" y="3226308"/>
            <a:ext cx="5486400" cy="1066800"/>
          </a:xfrm>
          <a:prstGeom prst="rect">
            <a:avLst/>
          </a:prstGeom>
        </p:spPr>
        <p:txBody>
          <a:bodyPr anchor="t" rtlCol="false" tIns="0" lIns="0" bIns="0" rIns="0">
            <a:spAutoFit/>
          </a:bodyPr>
          <a:lstStyle/>
          <a:p>
            <a:pPr algn="l">
              <a:lnSpc>
                <a:spcPts val="2879"/>
              </a:lnSpc>
            </a:pPr>
            <a:r>
              <a:rPr lang="en-US" sz="2400" b="true">
                <a:solidFill>
                  <a:srgbClr val="FFFFFF"/>
                </a:solidFill>
                <a:latin typeface="Calibri (MS) Bold"/>
                <a:ea typeface="Calibri (MS) Bold"/>
                <a:cs typeface="Calibri (MS) Bold"/>
                <a:sym typeface="Calibri (MS) Bold"/>
              </a:rPr>
              <a:t>Live route finder</a:t>
            </a:r>
          </a:p>
          <a:p>
            <a:pPr algn="l">
              <a:lnSpc>
                <a:spcPts val="2250"/>
              </a:lnSpc>
            </a:pPr>
            <a:r>
              <a:rPr lang="en-US" sz="1875">
                <a:solidFill>
                  <a:srgbClr val="B5B7BE"/>
                </a:solidFill>
                <a:latin typeface="Calibri (MS)"/>
                <a:ea typeface="Calibri (MS)"/>
                <a:cs typeface="Calibri (MS)"/>
                <a:sym typeface="Calibri (MS)"/>
              </a:rPr>
              <a:t>BFS and DFS on the real campus graph</a:t>
            </a:r>
          </a:p>
        </p:txBody>
      </p:sp>
      <p:grpSp>
        <p:nvGrpSpPr>
          <p:cNvPr name="Group 18" id="18"/>
          <p:cNvGrpSpPr/>
          <p:nvPr/>
        </p:nvGrpSpPr>
        <p:grpSpPr>
          <a:xfrm rot="0">
            <a:off x="813435" y="4489323"/>
            <a:ext cx="787146" cy="787146"/>
            <a:chOff x="0" y="0"/>
            <a:chExt cx="1049528" cy="1049528"/>
          </a:xfrm>
        </p:grpSpPr>
        <p:sp>
          <p:nvSpPr>
            <p:cNvPr name="Freeform 19" id="19"/>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2A2410"/>
            </a:solidFill>
            <a:ln w="19050" cap="sq">
              <a:solidFill>
                <a:srgbClr val="2A2410"/>
              </a:solidFill>
              <a:prstDash val="solid"/>
              <a:miter/>
            </a:ln>
          </p:spPr>
        </p:sp>
      </p:grpSp>
      <p:grpSp>
        <p:nvGrpSpPr>
          <p:cNvPr name="Group 20" id="20"/>
          <p:cNvGrpSpPr/>
          <p:nvPr/>
        </p:nvGrpSpPr>
        <p:grpSpPr>
          <a:xfrm rot="0">
            <a:off x="991943" y="4667831"/>
            <a:ext cx="430130" cy="430130"/>
            <a:chOff x="0" y="0"/>
            <a:chExt cx="573507" cy="573507"/>
          </a:xfrm>
        </p:grpSpPr>
        <p:sp>
          <p:nvSpPr>
            <p:cNvPr name="Freeform 21" id="21" descr="preencoded.png"/>
            <p:cNvSpPr/>
            <p:nvPr/>
          </p:nvSpPr>
          <p:spPr>
            <a:xfrm flipH="false" flipV="false" rot="0">
              <a:off x="0" y="0"/>
              <a:ext cx="573532" cy="573532"/>
            </a:xfrm>
            <a:custGeom>
              <a:avLst/>
              <a:gdLst/>
              <a:ahLst/>
              <a:cxnLst/>
              <a:rect r="r" b="b" t="t" l="l"/>
              <a:pathLst>
                <a:path h="573532" w="573532">
                  <a:moveTo>
                    <a:pt x="0" y="0"/>
                  </a:moveTo>
                  <a:lnTo>
                    <a:pt x="573532" y="0"/>
                  </a:lnTo>
                  <a:lnTo>
                    <a:pt x="573532" y="573532"/>
                  </a:lnTo>
                  <a:lnTo>
                    <a:pt x="0" y="573532"/>
                  </a:lnTo>
                  <a:lnTo>
                    <a:pt x="0" y="0"/>
                  </a:lnTo>
                  <a:close/>
                </a:path>
              </a:pathLst>
            </a:custGeom>
            <a:blipFill>
              <a:blip r:embed="rId7"/>
              <a:stretch>
                <a:fillRect l="0" t="0" r="4" b="4"/>
              </a:stretch>
            </a:blipFill>
          </p:spPr>
        </p:sp>
      </p:grpSp>
      <p:sp>
        <p:nvSpPr>
          <p:cNvPr name="TextBox 22" id="22"/>
          <p:cNvSpPr txBox="true"/>
          <p:nvPr/>
        </p:nvSpPr>
        <p:spPr>
          <a:xfrm rot="0">
            <a:off x="1851660" y="4433316"/>
            <a:ext cx="5486400" cy="1066800"/>
          </a:xfrm>
          <a:prstGeom prst="rect">
            <a:avLst/>
          </a:prstGeom>
        </p:spPr>
        <p:txBody>
          <a:bodyPr anchor="t" rtlCol="false" tIns="0" lIns="0" bIns="0" rIns="0">
            <a:spAutoFit/>
          </a:bodyPr>
          <a:lstStyle/>
          <a:p>
            <a:pPr algn="l">
              <a:lnSpc>
                <a:spcPts val="2879"/>
              </a:lnSpc>
            </a:pPr>
            <a:r>
              <a:rPr lang="en-US" sz="2400" b="true">
                <a:solidFill>
                  <a:srgbClr val="FFFFFF"/>
                </a:solidFill>
                <a:latin typeface="Calibri (MS) Bold"/>
                <a:ea typeface="Calibri (MS) Bold"/>
                <a:cs typeface="Calibri (MS) Bold"/>
                <a:sym typeface="Calibri (MS) Bold"/>
              </a:rPr>
              <a:t>Data structure playground</a:t>
            </a:r>
          </a:p>
          <a:p>
            <a:pPr algn="l">
              <a:lnSpc>
                <a:spcPts val="2250"/>
              </a:lnSpc>
            </a:pPr>
            <a:r>
              <a:rPr lang="en-US" sz="1875">
                <a:solidFill>
                  <a:srgbClr val="B5B7BE"/>
                </a:solidFill>
                <a:latin typeface="Calibri (MS)"/>
                <a:ea typeface="Calibri (MS)"/>
                <a:cs typeface="Calibri (MS)"/>
                <a:sym typeface="Calibri (MS)"/>
              </a:rPr>
              <a:t>push, pop, enqueue, wrap around</a:t>
            </a:r>
          </a:p>
        </p:txBody>
      </p:sp>
      <p:grpSp>
        <p:nvGrpSpPr>
          <p:cNvPr name="Group 23" id="23"/>
          <p:cNvGrpSpPr/>
          <p:nvPr/>
        </p:nvGrpSpPr>
        <p:grpSpPr>
          <a:xfrm rot="0">
            <a:off x="813435" y="5696331"/>
            <a:ext cx="787146" cy="787146"/>
            <a:chOff x="0" y="0"/>
            <a:chExt cx="1049528" cy="1049528"/>
          </a:xfrm>
        </p:grpSpPr>
        <p:sp>
          <p:nvSpPr>
            <p:cNvPr name="Freeform 24" id="24"/>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2A2410"/>
            </a:solidFill>
            <a:ln w="19050" cap="sq">
              <a:solidFill>
                <a:srgbClr val="2A2410"/>
              </a:solidFill>
              <a:prstDash val="solid"/>
              <a:miter/>
            </a:ln>
          </p:spPr>
        </p:sp>
      </p:grpSp>
      <p:grpSp>
        <p:nvGrpSpPr>
          <p:cNvPr name="Group 25" id="25"/>
          <p:cNvGrpSpPr/>
          <p:nvPr/>
        </p:nvGrpSpPr>
        <p:grpSpPr>
          <a:xfrm rot="0">
            <a:off x="991943" y="5874839"/>
            <a:ext cx="430130" cy="430130"/>
            <a:chOff x="0" y="0"/>
            <a:chExt cx="573507" cy="573507"/>
          </a:xfrm>
        </p:grpSpPr>
        <p:sp>
          <p:nvSpPr>
            <p:cNvPr name="Freeform 26" id="26" descr="preencoded.png"/>
            <p:cNvSpPr/>
            <p:nvPr/>
          </p:nvSpPr>
          <p:spPr>
            <a:xfrm flipH="false" flipV="false" rot="0">
              <a:off x="0" y="0"/>
              <a:ext cx="573532" cy="573532"/>
            </a:xfrm>
            <a:custGeom>
              <a:avLst/>
              <a:gdLst/>
              <a:ahLst/>
              <a:cxnLst/>
              <a:rect r="r" b="b" t="t" l="l"/>
              <a:pathLst>
                <a:path h="573532" w="573532">
                  <a:moveTo>
                    <a:pt x="0" y="0"/>
                  </a:moveTo>
                  <a:lnTo>
                    <a:pt x="573532" y="0"/>
                  </a:lnTo>
                  <a:lnTo>
                    <a:pt x="573532" y="573532"/>
                  </a:lnTo>
                  <a:lnTo>
                    <a:pt x="0" y="573532"/>
                  </a:lnTo>
                  <a:lnTo>
                    <a:pt x="0" y="0"/>
                  </a:lnTo>
                  <a:close/>
                </a:path>
              </a:pathLst>
            </a:custGeom>
            <a:blipFill>
              <a:blip r:embed="rId8"/>
              <a:stretch>
                <a:fillRect l="0" t="0" r="4" b="4"/>
              </a:stretch>
            </a:blipFill>
          </p:spPr>
        </p:sp>
      </p:grpSp>
      <p:sp>
        <p:nvSpPr>
          <p:cNvPr name="TextBox 27" id="27"/>
          <p:cNvSpPr txBox="true"/>
          <p:nvPr/>
        </p:nvSpPr>
        <p:spPr>
          <a:xfrm rot="0">
            <a:off x="1851660" y="5640324"/>
            <a:ext cx="5486400" cy="1066800"/>
          </a:xfrm>
          <a:prstGeom prst="rect">
            <a:avLst/>
          </a:prstGeom>
        </p:spPr>
        <p:txBody>
          <a:bodyPr anchor="t" rtlCol="false" tIns="0" lIns="0" bIns="0" rIns="0">
            <a:spAutoFit/>
          </a:bodyPr>
          <a:lstStyle/>
          <a:p>
            <a:pPr algn="l">
              <a:lnSpc>
                <a:spcPts val="2879"/>
              </a:lnSpc>
            </a:pPr>
            <a:r>
              <a:rPr lang="en-US" sz="2400" b="true">
                <a:solidFill>
                  <a:srgbClr val="FFFFFF"/>
                </a:solidFill>
                <a:latin typeface="Calibri (MS) Bold"/>
                <a:ea typeface="Calibri (MS) Bold"/>
                <a:cs typeface="Calibri (MS) Bold"/>
                <a:sym typeface="Calibri (MS) Bold"/>
              </a:rPr>
              <a:t>Sort race</a:t>
            </a:r>
          </a:p>
          <a:p>
            <a:pPr algn="l">
              <a:lnSpc>
                <a:spcPts val="2250"/>
              </a:lnSpc>
            </a:pPr>
            <a:r>
              <a:rPr lang="en-US" sz="1875">
                <a:solidFill>
                  <a:srgbClr val="B5B7BE"/>
                </a:solidFill>
                <a:latin typeface="Calibri (MS)"/>
                <a:ea typeface="Calibri (MS)"/>
                <a:cs typeface="Calibri (MS)"/>
                <a:sym typeface="Calibri (MS)"/>
              </a:rPr>
              <a:t>bubble vs selection, with live counts</a:t>
            </a:r>
          </a:p>
        </p:txBody>
      </p:sp>
      <p:grpSp>
        <p:nvGrpSpPr>
          <p:cNvPr name="Group 28" id="28"/>
          <p:cNvGrpSpPr/>
          <p:nvPr/>
        </p:nvGrpSpPr>
        <p:grpSpPr>
          <a:xfrm rot="0">
            <a:off x="813435" y="6903339"/>
            <a:ext cx="787146" cy="787146"/>
            <a:chOff x="0" y="0"/>
            <a:chExt cx="1049528" cy="1049528"/>
          </a:xfrm>
        </p:grpSpPr>
        <p:sp>
          <p:nvSpPr>
            <p:cNvPr name="Freeform 29" id="29"/>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2A2410"/>
            </a:solidFill>
            <a:ln w="19050" cap="sq">
              <a:solidFill>
                <a:srgbClr val="2A2410"/>
              </a:solidFill>
              <a:prstDash val="solid"/>
              <a:miter/>
            </a:ln>
          </p:spPr>
        </p:sp>
      </p:grpSp>
      <p:grpSp>
        <p:nvGrpSpPr>
          <p:cNvPr name="Group 30" id="30"/>
          <p:cNvGrpSpPr/>
          <p:nvPr/>
        </p:nvGrpSpPr>
        <p:grpSpPr>
          <a:xfrm rot="0">
            <a:off x="991943" y="7081847"/>
            <a:ext cx="430130" cy="430130"/>
            <a:chOff x="0" y="0"/>
            <a:chExt cx="573507" cy="573507"/>
          </a:xfrm>
        </p:grpSpPr>
        <p:sp>
          <p:nvSpPr>
            <p:cNvPr name="Freeform 31" id="31" descr="preencoded.png"/>
            <p:cNvSpPr/>
            <p:nvPr/>
          </p:nvSpPr>
          <p:spPr>
            <a:xfrm flipH="false" flipV="false" rot="0">
              <a:off x="0" y="0"/>
              <a:ext cx="573532" cy="573532"/>
            </a:xfrm>
            <a:custGeom>
              <a:avLst/>
              <a:gdLst/>
              <a:ahLst/>
              <a:cxnLst/>
              <a:rect r="r" b="b" t="t" l="l"/>
              <a:pathLst>
                <a:path h="573532" w="573532">
                  <a:moveTo>
                    <a:pt x="0" y="0"/>
                  </a:moveTo>
                  <a:lnTo>
                    <a:pt x="573532" y="0"/>
                  </a:lnTo>
                  <a:lnTo>
                    <a:pt x="573532" y="573532"/>
                  </a:lnTo>
                  <a:lnTo>
                    <a:pt x="0" y="573532"/>
                  </a:lnTo>
                  <a:lnTo>
                    <a:pt x="0" y="0"/>
                  </a:lnTo>
                  <a:close/>
                </a:path>
              </a:pathLst>
            </a:custGeom>
            <a:blipFill>
              <a:blip r:embed="rId9"/>
              <a:stretch>
                <a:fillRect l="0" t="0" r="4" b="4"/>
              </a:stretch>
            </a:blipFill>
          </p:spPr>
        </p:sp>
      </p:grpSp>
      <p:sp>
        <p:nvSpPr>
          <p:cNvPr name="TextBox 32" id="32"/>
          <p:cNvSpPr txBox="true"/>
          <p:nvPr/>
        </p:nvSpPr>
        <p:spPr>
          <a:xfrm rot="0">
            <a:off x="1851660" y="6847332"/>
            <a:ext cx="5486400" cy="1066800"/>
          </a:xfrm>
          <a:prstGeom prst="rect">
            <a:avLst/>
          </a:prstGeom>
        </p:spPr>
        <p:txBody>
          <a:bodyPr anchor="t" rtlCol="false" tIns="0" lIns="0" bIns="0" rIns="0">
            <a:spAutoFit/>
          </a:bodyPr>
          <a:lstStyle/>
          <a:p>
            <a:pPr algn="l">
              <a:lnSpc>
                <a:spcPts val="2879"/>
              </a:lnSpc>
            </a:pPr>
            <a:r>
              <a:rPr lang="en-US" sz="2400" b="true">
                <a:solidFill>
                  <a:srgbClr val="FFFFFF"/>
                </a:solidFill>
                <a:latin typeface="Calibri (MS) Bold"/>
                <a:ea typeface="Calibri (MS) Bold"/>
                <a:cs typeface="Calibri (MS) Bold"/>
                <a:sym typeface="Calibri (MS) Bold"/>
              </a:rPr>
              <a:t>The full report</a:t>
            </a:r>
          </a:p>
          <a:p>
            <a:pPr algn="l">
              <a:lnSpc>
                <a:spcPts val="2250"/>
              </a:lnSpc>
            </a:pPr>
            <a:r>
              <a:rPr lang="en-US" sz="1875">
                <a:solidFill>
                  <a:srgbClr val="B5B7BE"/>
                </a:solidFill>
                <a:latin typeface="Calibri (MS)"/>
                <a:ea typeface="Calibri (MS)"/>
                <a:cs typeface="Calibri (MS)"/>
                <a:sym typeface="Calibri (MS)"/>
              </a:rPr>
              <a:t>readable and printable online</a:t>
            </a:r>
          </a:p>
        </p:txBody>
      </p:sp>
      <p:grpSp>
        <p:nvGrpSpPr>
          <p:cNvPr name="Group 33" id="33"/>
          <p:cNvGrpSpPr/>
          <p:nvPr/>
        </p:nvGrpSpPr>
        <p:grpSpPr>
          <a:xfrm rot="0">
            <a:off x="813435" y="8110347"/>
            <a:ext cx="787146" cy="787146"/>
            <a:chOff x="0" y="0"/>
            <a:chExt cx="1049528" cy="1049528"/>
          </a:xfrm>
        </p:grpSpPr>
        <p:sp>
          <p:nvSpPr>
            <p:cNvPr name="Freeform 34" id="34"/>
            <p:cNvSpPr/>
            <p:nvPr/>
          </p:nvSpPr>
          <p:spPr>
            <a:xfrm flipH="false" flipV="false" rot="0">
              <a:off x="0" y="0"/>
              <a:ext cx="1049528" cy="1049528"/>
            </a:xfrm>
            <a:custGeom>
              <a:avLst/>
              <a:gdLst/>
              <a:ahLst/>
              <a:cxnLst/>
              <a:rect r="r" b="b" t="t" l="l"/>
              <a:pathLst>
                <a:path h="1049528" w="1049528">
                  <a:moveTo>
                    <a:pt x="0" y="524764"/>
                  </a:moveTo>
                  <a:cubicBezTo>
                    <a:pt x="0" y="234950"/>
                    <a:pt x="234950" y="0"/>
                    <a:pt x="524764" y="0"/>
                  </a:cubicBezTo>
                  <a:cubicBezTo>
                    <a:pt x="814578" y="0"/>
                    <a:pt x="1049528" y="234950"/>
                    <a:pt x="1049528" y="524764"/>
                  </a:cubicBezTo>
                  <a:cubicBezTo>
                    <a:pt x="1049528" y="814578"/>
                    <a:pt x="814578" y="1049528"/>
                    <a:pt x="524764" y="1049528"/>
                  </a:cubicBezTo>
                  <a:cubicBezTo>
                    <a:pt x="234950" y="1049528"/>
                    <a:pt x="0" y="814578"/>
                    <a:pt x="0" y="524764"/>
                  </a:cubicBezTo>
                  <a:close/>
                </a:path>
              </a:pathLst>
            </a:custGeom>
            <a:solidFill>
              <a:srgbClr val="2A2410"/>
            </a:solidFill>
            <a:ln w="19050" cap="sq">
              <a:solidFill>
                <a:srgbClr val="2A2410"/>
              </a:solidFill>
              <a:prstDash val="solid"/>
              <a:miter/>
            </a:ln>
          </p:spPr>
        </p:sp>
      </p:grpSp>
      <p:grpSp>
        <p:nvGrpSpPr>
          <p:cNvPr name="Group 35" id="35"/>
          <p:cNvGrpSpPr/>
          <p:nvPr/>
        </p:nvGrpSpPr>
        <p:grpSpPr>
          <a:xfrm rot="0">
            <a:off x="991943" y="8288855"/>
            <a:ext cx="430130" cy="430130"/>
            <a:chOff x="0" y="0"/>
            <a:chExt cx="573507" cy="573507"/>
          </a:xfrm>
        </p:grpSpPr>
        <p:sp>
          <p:nvSpPr>
            <p:cNvPr name="Freeform 36" id="36" descr="preencoded.png"/>
            <p:cNvSpPr/>
            <p:nvPr/>
          </p:nvSpPr>
          <p:spPr>
            <a:xfrm flipH="false" flipV="false" rot="0">
              <a:off x="0" y="0"/>
              <a:ext cx="573532" cy="573532"/>
            </a:xfrm>
            <a:custGeom>
              <a:avLst/>
              <a:gdLst/>
              <a:ahLst/>
              <a:cxnLst/>
              <a:rect r="r" b="b" t="t" l="l"/>
              <a:pathLst>
                <a:path h="573532" w="573532">
                  <a:moveTo>
                    <a:pt x="0" y="0"/>
                  </a:moveTo>
                  <a:lnTo>
                    <a:pt x="573532" y="0"/>
                  </a:lnTo>
                  <a:lnTo>
                    <a:pt x="573532" y="573532"/>
                  </a:lnTo>
                  <a:lnTo>
                    <a:pt x="0" y="573532"/>
                  </a:lnTo>
                  <a:lnTo>
                    <a:pt x="0" y="0"/>
                  </a:lnTo>
                  <a:close/>
                </a:path>
              </a:pathLst>
            </a:custGeom>
            <a:blipFill>
              <a:blip r:embed="rId10"/>
              <a:stretch>
                <a:fillRect l="0" t="0" r="4" b="4"/>
              </a:stretch>
            </a:blipFill>
          </p:spPr>
        </p:sp>
      </p:grpSp>
      <p:sp>
        <p:nvSpPr>
          <p:cNvPr name="TextBox 37" id="37"/>
          <p:cNvSpPr txBox="true"/>
          <p:nvPr/>
        </p:nvSpPr>
        <p:spPr>
          <a:xfrm rot="0">
            <a:off x="1851660" y="8054340"/>
            <a:ext cx="5486400" cy="1066800"/>
          </a:xfrm>
          <a:prstGeom prst="rect">
            <a:avLst/>
          </a:prstGeom>
        </p:spPr>
        <p:txBody>
          <a:bodyPr anchor="t" rtlCol="false" tIns="0" lIns="0" bIns="0" rIns="0">
            <a:spAutoFit/>
          </a:bodyPr>
          <a:lstStyle/>
          <a:p>
            <a:pPr algn="l">
              <a:lnSpc>
                <a:spcPts val="2879"/>
              </a:lnSpc>
            </a:pPr>
            <a:r>
              <a:rPr lang="en-US" sz="2400" b="true">
                <a:solidFill>
                  <a:srgbClr val="FFFFFF"/>
                </a:solidFill>
                <a:latin typeface="Calibri (MS) Bold"/>
                <a:ea typeface="Calibri (MS) Bold"/>
                <a:cs typeface="Calibri (MS) Bold"/>
                <a:sym typeface="Calibri (MS) Bold"/>
              </a:rPr>
              <a:t>Nothing to install</a:t>
            </a:r>
          </a:p>
          <a:p>
            <a:pPr algn="l">
              <a:lnSpc>
                <a:spcPts val="2250"/>
              </a:lnSpc>
            </a:pPr>
            <a:r>
              <a:rPr lang="en-US" sz="1875">
                <a:solidFill>
                  <a:srgbClr val="B5B7BE"/>
                </a:solidFill>
                <a:latin typeface="Calibri (MS)"/>
                <a:ea typeface="Calibri (MS)"/>
                <a:cs typeface="Calibri (MS)"/>
                <a:sym typeface="Calibri (MS)"/>
              </a:rPr>
              <a:t>hosted free on GitHub Pages</a:t>
            </a:r>
          </a:p>
        </p:txBody>
      </p:sp>
    </p:spTree>
  </p:cSld>
  <p:clrMapOvr>
    <a:masterClrMapping/>
  </p:clrMapOvr>
  <p:transition spd="fast">
    <p:fade/>
  </p:transition>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THE ONLINE VERSION · LIVE ROUTE FINDER</a:t>
              </a:r>
            </a:p>
          </p:txBody>
        </p:sp>
      </p:grpSp>
      <p:sp>
        <p:nvSpPr>
          <p:cNvPr name="TextBox 5" id="5"/>
          <p:cNvSpPr txBox="true"/>
          <p:nvPr/>
        </p:nvSpPr>
        <p:spPr>
          <a:xfrm rot="0">
            <a:off x="822960" y="1251585"/>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The same BFS, running in the browser</a:t>
            </a:r>
          </a:p>
        </p:txBody>
      </p:sp>
      <p:grpSp>
        <p:nvGrpSpPr>
          <p:cNvPr name="Group 6" id="6"/>
          <p:cNvGrpSpPr/>
          <p:nvPr/>
        </p:nvGrpSpPr>
        <p:grpSpPr>
          <a:xfrm rot="0">
            <a:off x="822960" y="2537460"/>
            <a:ext cx="8915400" cy="6981444"/>
            <a:chOff x="0" y="0"/>
            <a:chExt cx="11887200" cy="9308592"/>
          </a:xfrm>
        </p:grpSpPr>
        <p:sp>
          <p:nvSpPr>
            <p:cNvPr name="Freeform 7" id="7" descr="C:\Users\rup\AppData\Local\Temp\claude\d--Codes-CholoKUET\2a005a77-40ea-402f-8f1e-eba05e0da9d5\scratchpad\deck\img\web-live.png"/>
            <p:cNvSpPr/>
            <p:nvPr/>
          </p:nvSpPr>
          <p:spPr>
            <a:xfrm flipH="false" flipV="false" rot="0">
              <a:off x="0" y="0"/>
              <a:ext cx="11887200" cy="9308592"/>
            </a:xfrm>
            <a:custGeom>
              <a:avLst/>
              <a:gdLst/>
              <a:ahLst/>
              <a:cxnLst/>
              <a:rect r="r" b="b" t="t" l="l"/>
              <a:pathLst>
                <a:path h="9308592" w="11887200">
                  <a:moveTo>
                    <a:pt x="0" y="0"/>
                  </a:moveTo>
                  <a:lnTo>
                    <a:pt x="11887200" y="0"/>
                  </a:lnTo>
                  <a:lnTo>
                    <a:pt x="11887200" y="9308592"/>
                  </a:lnTo>
                  <a:lnTo>
                    <a:pt x="0" y="9308592"/>
                  </a:lnTo>
                  <a:lnTo>
                    <a:pt x="0" y="0"/>
                  </a:lnTo>
                  <a:close/>
                </a:path>
              </a:pathLst>
            </a:custGeom>
            <a:blipFill>
              <a:blip r:embed="rId4"/>
              <a:stretch>
                <a:fillRect l="0" t="-16" r="0" b="-16"/>
              </a:stretch>
            </a:blipFill>
          </p:spPr>
        </p:sp>
      </p:grpSp>
      <p:grpSp>
        <p:nvGrpSpPr>
          <p:cNvPr name="Group 8" id="8"/>
          <p:cNvGrpSpPr/>
          <p:nvPr/>
        </p:nvGrpSpPr>
        <p:grpSpPr>
          <a:xfrm rot="0">
            <a:off x="813435" y="2527935"/>
            <a:ext cx="8934450" cy="7000494"/>
            <a:chOff x="0" y="0"/>
            <a:chExt cx="11912600" cy="9333992"/>
          </a:xfrm>
        </p:grpSpPr>
        <p:sp>
          <p:nvSpPr>
            <p:cNvPr name="Freeform 9" id="9"/>
            <p:cNvSpPr/>
            <p:nvPr/>
          </p:nvSpPr>
          <p:spPr>
            <a:xfrm flipH="false" flipV="false" rot="0">
              <a:off x="0" y="0"/>
              <a:ext cx="11912600" cy="9333992"/>
            </a:xfrm>
            <a:custGeom>
              <a:avLst/>
              <a:gdLst/>
              <a:ahLst/>
              <a:cxnLst/>
              <a:rect r="r" b="b" t="t" l="l"/>
              <a:pathLst>
                <a:path h="9333992" w="11912600">
                  <a:moveTo>
                    <a:pt x="0" y="0"/>
                  </a:moveTo>
                  <a:lnTo>
                    <a:pt x="11912600" y="0"/>
                  </a:lnTo>
                  <a:lnTo>
                    <a:pt x="11912600" y="9333992"/>
                  </a:lnTo>
                  <a:lnTo>
                    <a:pt x="0" y="9333992"/>
                  </a:lnTo>
                  <a:close/>
                </a:path>
              </a:pathLst>
            </a:custGeom>
            <a:blipFill>
              <a:blip r:embed="rId3">
                <a:alphaModFix amt="0"/>
              </a:blip>
              <a:stretch>
                <a:fillRect l="-50530" t="0" r="-50530" b="0"/>
              </a:stretch>
            </a:blipFill>
            <a:ln w="19050" cap="sq">
              <a:solidFill>
                <a:srgbClr val="E3E4E8"/>
              </a:solidFill>
              <a:prstDash val="solid"/>
              <a:miter/>
            </a:ln>
          </p:spPr>
        </p:sp>
      </p:grpSp>
      <p:grpSp>
        <p:nvGrpSpPr>
          <p:cNvPr name="Group 10" id="10"/>
          <p:cNvGrpSpPr/>
          <p:nvPr/>
        </p:nvGrpSpPr>
        <p:grpSpPr>
          <a:xfrm rot="0">
            <a:off x="10757535" y="2706243"/>
            <a:ext cx="512826" cy="512826"/>
            <a:chOff x="0" y="0"/>
            <a:chExt cx="683768" cy="683768"/>
          </a:xfrm>
        </p:grpSpPr>
        <p:sp>
          <p:nvSpPr>
            <p:cNvPr name="Freeform 11" id="11"/>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12" id="12"/>
          <p:cNvGrpSpPr/>
          <p:nvPr/>
        </p:nvGrpSpPr>
        <p:grpSpPr>
          <a:xfrm rot="0">
            <a:off x="10767060" y="2715768"/>
            <a:ext cx="493776" cy="493776"/>
            <a:chOff x="0" y="0"/>
            <a:chExt cx="658368" cy="658368"/>
          </a:xfrm>
        </p:grpSpPr>
        <p:sp>
          <p:nvSpPr>
            <p:cNvPr name="Freeform 13" id="13"/>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14" id="14"/>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1</a:t>
              </a:r>
            </a:p>
          </p:txBody>
        </p:sp>
      </p:grpSp>
      <p:sp>
        <p:nvSpPr>
          <p:cNvPr name="TextBox 15" id="15"/>
          <p:cNvSpPr txBox="true"/>
          <p:nvPr/>
        </p:nvSpPr>
        <p:spPr>
          <a:xfrm rot="0">
            <a:off x="11521440" y="2636520"/>
            <a:ext cx="5966460" cy="1615440"/>
          </a:xfrm>
          <a:prstGeom prst="rect">
            <a:avLst/>
          </a:prstGeom>
        </p:spPr>
        <p:txBody>
          <a:bodyPr anchor="t" rtlCol="false" tIns="0" lIns="0" bIns="0" rIns="0">
            <a:spAutoFit/>
          </a:bodyPr>
          <a:lstStyle/>
          <a:p>
            <a:pPr algn="l">
              <a:lnSpc>
                <a:spcPts val="2879"/>
              </a:lnSpc>
            </a:pPr>
            <a:r>
              <a:rPr lang="en-US" sz="2400" b="true">
                <a:solidFill>
                  <a:srgbClr val="16171B"/>
                </a:solidFill>
                <a:latin typeface="Calibri (MS) Bold"/>
                <a:ea typeface="Calibri (MS) Bold"/>
                <a:cs typeface="Calibri (MS) Bold"/>
                <a:sym typeface="Calibri (MS) Bold"/>
              </a:rPr>
              <a:t>Real data</a:t>
            </a:r>
          </a:p>
          <a:p>
            <a:pPr algn="l">
              <a:lnSpc>
                <a:spcPts val="2340"/>
              </a:lnSpc>
            </a:pPr>
            <a:r>
              <a:rPr lang="en-US" sz="1950">
                <a:solidFill>
                  <a:srgbClr val="5F626B"/>
                </a:solidFill>
                <a:latin typeface="Calibri (MS)"/>
                <a:ea typeface="Calibri (MS)"/>
                <a:cs typeface="Calibri (MS)"/>
                <a:sym typeface="Calibri (MS)"/>
              </a:rPr>
              <a:t>The 44 places and 56 walkways from data/, drawn at their true positions.</a:t>
            </a:r>
          </a:p>
        </p:txBody>
      </p:sp>
      <p:grpSp>
        <p:nvGrpSpPr>
          <p:cNvPr name="Group 16" id="16"/>
          <p:cNvGrpSpPr/>
          <p:nvPr/>
        </p:nvGrpSpPr>
        <p:grpSpPr>
          <a:xfrm rot="0">
            <a:off x="10757535" y="4461891"/>
            <a:ext cx="512826" cy="512826"/>
            <a:chOff x="0" y="0"/>
            <a:chExt cx="683768" cy="683768"/>
          </a:xfrm>
        </p:grpSpPr>
        <p:sp>
          <p:nvSpPr>
            <p:cNvPr name="Freeform 17" id="17"/>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18" id="18"/>
          <p:cNvGrpSpPr/>
          <p:nvPr/>
        </p:nvGrpSpPr>
        <p:grpSpPr>
          <a:xfrm rot="0">
            <a:off x="10767060" y="4471416"/>
            <a:ext cx="493776" cy="493776"/>
            <a:chOff x="0" y="0"/>
            <a:chExt cx="658368" cy="658368"/>
          </a:xfrm>
        </p:grpSpPr>
        <p:sp>
          <p:nvSpPr>
            <p:cNvPr name="Freeform 19" id="19"/>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20" id="20"/>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2</a:t>
              </a:r>
            </a:p>
          </p:txBody>
        </p:sp>
      </p:grpSp>
      <p:sp>
        <p:nvSpPr>
          <p:cNvPr name="TextBox 21" id="21"/>
          <p:cNvSpPr txBox="true"/>
          <p:nvPr/>
        </p:nvSpPr>
        <p:spPr>
          <a:xfrm rot="0">
            <a:off x="11521440" y="4392168"/>
            <a:ext cx="5966460" cy="1615440"/>
          </a:xfrm>
          <a:prstGeom prst="rect">
            <a:avLst/>
          </a:prstGeom>
        </p:spPr>
        <p:txBody>
          <a:bodyPr anchor="t" rtlCol="false" tIns="0" lIns="0" bIns="0" rIns="0">
            <a:spAutoFit/>
          </a:bodyPr>
          <a:lstStyle/>
          <a:p>
            <a:pPr algn="l">
              <a:lnSpc>
                <a:spcPts val="2879"/>
              </a:lnSpc>
            </a:pPr>
            <a:r>
              <a:rPr lang="en-US" sz="2400" b="true">
                <a:solidFill>
                  <a:srgbClr val="16171B"/>
                </a:solidFill>
                <a:latin typeface="Calibri (MS) Bold"/>
                <a:ea typeface="Calibri (MS) Bold"/>
                <a:cs typeface="Calibri (MS) Bold"/>
                <a:sym typeface="Calibri (MS) Bold"/>
              </a:rPr>
              <a:t>Pick or click</a:t>
            </a:r>
          </a:p>
          <a:p>
            <a:pPr algn="l">
              <a:lnSpc>
                <a:spcPts val="2340"/>
              </a:lnSpc>
            </a:pPr>
            <a:r>
              <a:rPr lang="en-US" sz="1950">
                <a:solidFill>
                  <a:srgbClr val="5F626B"/>
                </a:solidFill>
                <a:latin typeface="Calibri (MS)"/>
                <a:ea typeface="Calibri (MS)"/>
                <a:cs typeface="Calibri (MS)"/>
                <a:sym typeface="Calibri (MS)"/>
              </a:rPr>
              <a:t>Choose two places from the lists or click them on the map.</a:t>
            </a:r>
          </a:p>
        </p:txBody>
      </p:sp>
      <p:grpSp>
        <p:nvGrpSpPr>
          <p:cNvPr name="Group 22" id="22"/>
          <p:cNvGrpSpPr/>
          <p:nvPr/>
        </p:nvGrpSpPr>
        <p:grpSpPr>
          <a:xfrm rot="0">
            <a:off x="10757535" y="6217539"/>
            <a:ext cx="512826" cy="512826"/>
            <a:chOff x="0" y="0"/>
            <a:chExt cx="683768" cy="683768"/>
          </a:xfrm>
        </p:grpSpPr>
        <p:sp>
          <p:nvSpPr>
            <p:cNvPr name="Freeform 23" id="23"/>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24" id="24"/>
          <p:cNvGrpSpPr/>
          <p:nvPr/>
        </p:nvGrpSpPr>
        <p:grpSpPr>
          <a:xfrm rot="0">
            <a:off x="10767060" y="6227064"/>
            <a:ext cx="493776" cy="493776"/>
            <a:chOff x="0" y="0"/>
            <a:chExt cx="658368" cy="658368"/>
          </a:xfrm>
        </p:grpSpPr>
        <p:sp>
          <p:nvSpPr>
            <p:cNvPr name="Freeform 25" id="25"/>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26" id="26"/>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3</a:t>
              </a:r>
            </a:p>
          </p:txBody>
        </p:sp>
      </p:grpSp>
      <p:sp>
        <p:nvSpPr>
          <p:cNvPr name="TextBox 27" id="27"/>
          <p:cNvSpPr txBox="true"/>
          <p:nvPr/>
        </p:nvSpPr>
        <p:spPr>
          <a:xfrm rot="0">
            <a:off x="11521440" y="6147816"/>
            <a:ext cx="5966460" cy="1615440"/>
          </a:xfrm>
          <a:prstGeom prst="rect">
            <a:avLst/>
          </a:prstGeom>
        </p:spPr>
        <p:txBody>
          <a:bodyPr anchor="t" rtlCol="false" tIns="0" lIns="0" bIns="0" rIns="0">
            <a:spAutoFit/>
          </a:bodyPr>
          <a:lstStyle/>
          <a:p>
            <a:pPr algn="l">
              <a:lnSpc>
                <a:spcPts val="2879"/>
              </a:lnSpc>
            </a:pPr>
            <a:r>
              <a:rPr lang="en-US" sz="2400" b="true">
                <a:solidFill>
                  <a:srgbClr val="16171B"/>
                </a:solidFill>
                <a:latin typeface="Calibri (MS) Bold"/>
                <a:ea typeface="Calibri (MS) Bold"/>
                <a:cs typeface="Calibri (MS) Bold"/>
                <a:sym typeface="Calibri (MS) Bold"/>
              </a:rPr>
              <a:t>Watch it work</a:t>
            </a:r>
          </a:p>
          <a:p>
            <a:pPr algn="l">
              <a:lnSpc>
                <a:spcPts val="2340"/>
              </a:lnSpc>
            </a:pPr>
            <a:r>
              <a:rPr lang="en-US" sz="1950">
                <a:solidFill>
                  <a:srgbClr val="5F626B"/>
                </a:solidFill>
                <a:latin typeface="Calibri (MS)"/>
                <a:ea typeface="Calibri (MS)"/>
                <a:cs typeface="Calibri (MS)"/>
                <a:sym typeface="Calibri (MS)"/>
              </a:rPr>
              <a:t>The queue (BFS) or stack (DFS) fills and empties step by step, with a trace.</a:t>
            </a:r>
          </a:p>
        </p:txBody>
      </p:sp>
      <p:grpSp>
        <p:nvGrpSpPr>
          <p:cNvPr name="Group 28" id="28"/>
          <p:cNvGrpSpPr/>
          <p:nvPr/>
        </p:nvGrpSpPr>
        <p:grpSpPr>
          <a:xfrm rot="0">
            <a:off x="10757535" y="7973187"/>
            <a:ext cx="512826" cy="512826"/>
            <a:chOff x="0" y="0"/>
            <a:chExt cx="683768" cy="683768"/>
          </a:xfrm>
        </p:grpSpPr>
        <p:sp>
          <p:nvSpPr>
            <p:cNvPr name="Freeform 29" id="29"/>
            <p:cNvSpPr/>
            <p:nvPr/>
          </p:nvSpPr>
          <p:spPr>
            <a:xfrm flipH="false" flipV="false" rot="0">
              <a:off x="0" y="0"/>
              <a:ext cx="683768" cy="683768"/>
            </a:xfrm>
            <a:custGeom>
              <a:avLst/>
              <a:gdLst/>
              <a:ahLst/>
              <a:cxnLst/>
              <a:rect r="r" b="b" t="t" l="l"/>
              <a:pathLst>
                <a:path h="683768" w="683768">
                  <a:moveTo>
                    <a:pt x="0" y="341884"/>
                  </a:moveTo>
                  <a:cubicBezTo>
                    <a:pt x="0" y="153035"/>
                    <a:pt x="153035" y="0"/>
                    <a:pt x="341884" y="0"/>
                  </a:cubicBezTo>
                  <a:cubicBezTo>
                    <a:pt x="530733" y="0"/>
                    <a:pt x="683768" y="153035"/>
                    <a:pt x="683768" y="341884"/>
                  </a:cubicBezTo>
                  <a:cubicBezTo>
                    <a:pt x="683768" y="530733"/>
                    <a:pt x="530733" y="683768"/>
                    <a:pt x="341884" y="683768"/>
                  </a:cubicBezTo>
                  <a:cubicBezTo>
                    <a:pt x="153035" y="683768"/>
                    <a:pt x="0" y="530733"/>
                    <a:pt x="0" y="341884"/>
                  </a:cubicBezTo>
                  <a:close/>
                </a:path>
              </a:pathLst>
            </a:custGeom>
            <a:solidFill>
              <a:srgbClr val="D9B100"/>
            </a:solidFill>
            <a:ln w="19050" cap="sq">
              <a:solidFill>
                <a:srgbClr val="D9B100"/>
              </a:solidFill>
              <a:prstDash val="solid"/>
              <a:miter/>
            </a:ln>
          </p:spPr>
        </p:sp>
      </p:grpSp>
      <p:grpSp>
        <p:nvGrpSpPr>
          <p:cNvPr name="Group 30" id="30"/>
          <p:cNvGrpSpPr/>
          <p:nvPr/>
        </p:nvGrpSpPr>
        <p:grpSpPr>
          <a:xfrm rot="0">
            <a:off x="10767060" y="7982712"/>
            <a:ext cx="493776" cy="493776"/>
            <a:chOff x="0" y="0"/>
            <a:chExt cx="658368" cy="658368"/>
          </a:xfrm>
        </p:grpSpPr>
        <p:sp>
          <p:nvSpPr>
            <p:cNvPr name="Freeform 31" id="31"/>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close/>
                </a:path>
              </a:pathLst>
            </a:custGeom>
            <a:blipFill>
              <a:blip r:embed="rId3">
                <a:alphaModFix amt="0"/>
              </a:blip>
              <a:stretch>
                <a:fillRect l="-78303" t="0" r="-78303" b="0"/>
              </a:stretch>
            </a:blipFill>
          </p:spPr>
        </p:sp>
        <p:sp>
          <p:nvSpPr>
            <p:cNvPr name="TextBox 32" id="32"/>
            <p:cNvSpPr txBox="true"/>
            <p:nvPr/>
          </p:nvSpPr>
          <p:spPr>
            <a:xfrm>
              <a:off x="0" y="-19050"/>
              <a:ext cx="658368" cy="677418"/>
            </a:xfrm>
            <a:prstGeom prst="rect">
              <a:avLst/>
            </a:prstGeom>
          </p:spPr>
          <p:txBody>
            <a:bodyPr anchor="ctr" rtlCol="false" tIns="0" lIns="0" bIns="0" rIns="0"/>
            <a:lstStyle/>
            <a:p>
              <a:pPr algn="ctr">
                <a:lnSpc>
                  <a:spcPts val="2160"/>
                </a:lnSpc>
              </a:pPr>
              <a:r>
                <a:rPr lang="en-US" sz="1800" b="true">
                  <a:solidFill>
                    <a:srgbClr val="16171B"/>
                  </a:solidFill>
                  <a:latin typeface="Arial Bold"/>
                  <a:ea typeface="Arial Bold"/>
                  <a:cs typeface="Arial Bold"/>
                  <a:sym typeface="Arial Bold"/>
                </a:rPr>
                <a:t>4</a:t>
              </a:r>
            </a:p>
          </p:txBody>
        </p:sp>
      </p:grpSp>
      <p:sp>
        <p:nvSpPr>
          <p:cNvPr name="TextBox 33" id="33"/>
          <p:cNvSpPr txBox="true"/>
          <p:nvPr/>
        </p:nvSpPr>
        <p:spPr>
          <a:xfrm rot="0">
            <a:off x="11521440" y="7903464"/>
            <a:ext cx="5966460" cy="1615440"/>
          </a:xfrm>
          <a:prstGeom prst="rect">
            <a:avLst/>
          </a:prstGeom>
        </p:spPr>
        <p:txBody>
          <a:bodyPr anchor="t" rtlCol="false" tIns="0" lIns="0" bIns="0" rIns="0">
            <a:spAutoFit/>
          </a:bodyPr>
          <a:lstStyle/>
          <a:p>
            <a:pPr algn="l">
              <a:lnSpc>
                <a:spcPts val="2879"/>
              </a:lnSpc>
            </a:pPr>
            <a:r>
              <a:rPr lang="en-US" sz="2400" b="true">
                <a:solidFill>
                  <a:srgbClr val="16171B"/>
                </a:solidFill>
                <a:latin typeface="Calibri (MS) Bold"/>
                <a:ea typeface="Calibri (MS) Bold"/>
                <a:cs typeface="Calibri (MS) Bold"/>
                <a:sym typeface="Calibri (MS) Bold"/>
              </a:rPr>
              <a:t>Same answer as the app</a:t>
            </a:r>
          </a:p>
          <a:p>
            <a:pPr algn="l">
              <a:lnSpc>
                <a:spcPts val="2340"/>
              </a:lnSpc>
            </a:pPr>
            <a:r>
              <a:rPr lang="en-US" sz="1950">
                <a:solidFill>
                  <a:srgbClr val="5F626B"/>
                </a:solidFill>
                <a:latin typeface="Calibri (MS)"/>
                <a:ea typeface="Calibri (MS)"/>
                <a:cs typeface="Calibri (MS)"/>
                <a:sym typeface="Calibri (MS)"/>
              </a:rPr>
              <a:t>Library to Main Gate: 707 m, about 10 min, Library Lane → Hall Road → KUET Road.</a:t>
            </a:r>
          </a:p>
        </p:txBody>
      </p:sp>
    </p:spTree>
  </p:cSld>
  <p:clrMapOvr>
    <a:masterClrMapping/>
  </p:clrMapOvr>
  <p:transition spd="fast">
    <p:fade/>
  </p:transition>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1659636"/>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THE CAMPUS DATA</a:t>
              </a:r>
            </a:p>
          </p:txBody>
        </p:sp>
      </p:grpSp>
      <p:sp>
        <p:nvSpPr>
          <p:cNvPr name="TextBox 5" id="5"/>
          <p:cNvSpPr txBox="true"/>
          <p:nvPr/>
        </p:nvSpPr>
        <p:spPr>
          <a:xfrm rot="0">
            <a:off x="822960" y="2333244"/>
            <a:ext cx="7132320" cy="1802130"/>
          </a:xfrm>
          <a:prstGeom prst="rect">
            <a:avLst/>
          </a:prstGeom>
        </p:spPr>
        <p:txBody>
          <a:bodyPr anchor="t" rtlCol="false" tIns="0" lIns="0" bIns="0" rIns="0">
            <a:spAutoFit/>
          </a:bodyPr>
          <a:lstStyle/>
          <a:p>
            <a:pPr algn="l">
              <a:lnSpc>
                <a:spcPts val="5759"/>
              </a:lnSpc>
            </a:pPr>
            <a:r>
              <a:rPr lang="en-US" sz="4800" b="true">
                <a:solidFill>
                  <a:srgbClr val="FFFFFF"/>
                </a:solidFill>
                <a:latin typeface="Arial Bold"/>
                <a:ea typeface="Arial Bold"/>
                <a:cs typeface="Arial Bold"/>
                <a:sym typeface="Arial Bold"/>
              </a:rPr>
              <a:t>Real coordinates, not guesses</a:t>
            </a:r>
          </a:p>
        </p:txBody>
      </p:sp>
      <p:sp>
        <p:nvSpPr>
          <p:cNvPr name="TextBox 6" id="6"/>
          <p:cNvSpPr txBox="true"/>
          <p:nvPr/>
        </p:nvSpPr>
        <p:spPr>
          <a:xfrm rot="0">
            <a:off x="800100" y="4071366"/>
            <a:ext cx="6720840" cy="2251710"/>
          </a:xfrm>
          <a:prstGeom prst="rect">
            <a:avLst/>
          </a:prstGeom>
        </p:spPr>
        <p:txBody>
          <a:bodyPr anchor="t" rtlCol="false" tIns="0" lIns="0" bIns="0" rIns="0">
            <a:spAutoFit/>
          </a:bodyPr>
          <a:lstStyle/>
          <a:p>
            <a:pPr algn="l">
              <a:lnSpc>
                <a:spcPts val="2700"/>
              </a:lnSpc>
            </a:pPr>
            <a:r>
              <a:rPr lang="en-US" sz="2250">
                <a:solidFill>
                  <a:srgbClr val="C9CAD0"/>
                </a:solidFill>
                <a:latin typeface="Calibri (MS)"/>
                <a:ea typeface="Calibri (MS)"/>
                <a:cs typeface="Calibri (MS)"/>
                <a:sym typeface="Calibri (MS)"/>
              </a:rPr>
              <a:t>38 places use surveyed OpenStreetMap coordinates. The other 6 (including Kodom Tola) were measured off the KUET master plan, fitted to OSM with least squares on 18 shared buildings.</a:t>
            </a:r>
          </a:p>
        </p:txBody>
      </p:sp>
      <p:grpSp>
        <p:nvGrpSpPr>
          <p:cNvPr name="Group 7" id="7"/>
          <p:cNvGrpSpPr/>
          <p:nvPr/>
        </p:nvGrpSpPr>
        <p:grpSpPr>
          <a:xfrm rot="0">
            <a:off x="800100" y="6947154"/>
            <a:ext cx="2194560" cy="960120"/>
            <a:chOff x="0" y="0"/>
            <a:chExt cx="2926080" cy="1280160"/>
          </a:xfrm>
        </p:grpSpPr>
        <p:sp>
          <p:nvSpPr>
            <p:cNvPr name="Freeform 8" id="8"/>
            <p:cNvSpPr/>
            <p:nvPr/>
          </p:nvSpPr>
          <p:spPr>
            <a:xfrm flipH="false" flipV="false" rot="0">
              <a:off x="0" y="0"/>
              <a:ext cx="2926080" cy="1280160"/>
            </a:xfrm>
            <a:custGeom>
              <a:avLst/>
              <a:gdLst/>
              <a:ahLst/>
              <a:cxnLst/>
              <a:rect r="r" b="b" t="t" l="l"/>
              <a:pathLst>
                <a:path h="1280160" w="2926080">
                  <a:moveTo>
                    <a:pt x="0" y="0"/>
                  </a:moveTo>
                  <a:lnTo>
                    <a:pt x="2926080" y="0"/>
                  </a:lnTo>
                  <a:lnTo>
                    <a:pt x="2926080" y="1280160"/>
                  </a:lnTo>
                  <a:lnTo>
                    <a:pt x="0" y="1280160"/>
                  </a:lnTo>
                  <a:close/>
                </a:path>
              </a:pathLst>
            </a:custGeom>
            <a:blipFill>
              <a:blip r:embed="rId3">
                <a:alphaModFix amt="0"/>
              </a:blip>
              <a:stretch>
                <a:fillRect l="-6132" t="0" r="-6132" b="0"/>
              </a:stretch>
            </a:blipFill>
          </p:spPr>
        </p:sp>
        <p:sp>
          <p:nvSpPr>
            <p:cNvPr name="TextBox 9" id="9"/>
            <p:cNvSpPr txBox="true"/>
            <p:nvPr/>
          </p:nvSpPr>
          <p:spPr>
            <a:xfrm>
              <a:off x="0" y="-28575"/>
              <a:ext cx="2926080" cy="1308735"/>
            </a:xfrm>
            <a:prstGeom prst="rect">
              <a:avLst/>
            </a:prstGeom>
          </p:spPr>
          <p:txBody>
            <a:bodyPr anchor="ctr" rtlCol="false" tIns="0" lIns="0" bIns="0" rIns="0"/>
            <a:lstStyle/>
            <a:p>
              <a:pPr algn="l">
                <a:lnSpc>
                  <a:spcPts val="6120"/>
                </a:lnSpc>
              </a:pPr>
              <a:r>
                <a:rPr lang="en-US" sz="5100" b="true">
                  <a:solidFill>
                    <a:srgbClr val="D9B100"/>
                  </a:solidFill>
                  <a:latin typeface="Arial Bold"/>
                  <a:ea typeface="Arial Bold"/>
                  <a:cs typeface="Arial Bold"/>
                  <a:sym typeface="Arial Bold"/>
                </a:rPr>
                <a:t>44</a:t>
              </a:r>
            </a:p>
          </p:txBody>
        </p:sp>
      </p:grpSp>
      <p:grpSp>
        <p:nvGrpSpPr>
          <p:cNvPr name="Group 10" id="10"/>
          <p:cNvGrpSpPr/>
          <p:nvPr/>
        </p:nvGrpSpPr>
        <p:grpSpPr>
          <a:xfrm rot="0">
            <a:off x="960120" y="7927848"/>
            <a:ext cx="2194560" cy="411480"/>
            <a:chOff x="0" y="0"/>
            <a:chExt cx="2926080" cy="548640"/>
          </a:xfrm>
        </p:grpSpPr>
        <p:sp>
          <p:nvSpPr>
            <p:cNvPr name="Freeform 11" id="11"/>
            <p:cNvSpPr/>
            <p:nvPr/>
          </p:nvSpPr>
          <p:spPr>
            <a:xfrm flipH="false" flipV="false" rot="0">
              <a:off x="0" y="0"/>
              <a:ext cx="2926080" cy="548640"/>
            </a:xfrm>
            <a:custGeom>
              <a:avLst/>
              <a:gdLst/>
              <a:ahLst/>
              <a:cxnLst/>
              <a:rect r="r" b="b" t="t" l="l"/>
              <a:pathLst>
                <a:path h="548640" w="2926080">
                  <a:moveTo>
                    <a:pt x="0" y="0"/>
                  </a:moveTo>
                  <a:lnTo>
                    <a:pt x="2926080" y="0"/>
                  </a:lnTo>
                  <a:lnTo>
                    <a:pt x="2926080" y="548640"/>
                  </a:lnTo>
                  <a:lnTo>
                    <a:pt x="0" y="548640"/>
                  </a:lnTo>
                  <a:close/>
                </a:path>
              </a:pathLst>
            </a:custGeom>
            <a:blipFill>
              <a:blip r:embed="rId3">
                <a:alphaModFix amt="0"/>
              </a:blip>
              <a:stretch>
                <a:fillRect l="0" t="-53920" r="0" b="-53920"/>
              </a:stretch>
            </a:blipFill>
          </p:spPr>
        </p:sp>
        <p:sp>
          <p:nvSpPr>
            <p:cNvPr name="TextBox 12" id="12"/>
            <p:cNvSpPr txBox="true"/>
            <p:nvPr/>
          </p:nvSpPr>
          <p:spPr>
            <a:xfrm>
              <a:off x="0" y="-38100"/>
              <a:ext cx="2926080" cy="586740"/>
            </a:xfrm>
            <a:prstGeom prst="rect">
              <a:avLst/>
            </a:prstGeom>
          </p:spPr>
          <p:txBody>
            <a:bodyPr anchor="ctr" rtlCol="false" tIns="0" lIns="0" bIns="0" rIns="0"/>
            <a:lstStyle/>
            <a:p>
              <a:pPr algn="l">
                <a:lnSpc>
                  <a:spcPts val="2160"/>
                </a:lnSpc>
              </a:pPr>
              <a:r>
                <a:rPr lang="en-US" sz="1800">
                  <a:solidFill>
                    <a:srgbClr val="A6A7AD"/>
                  </a:solidFill>
                  <a:latin typeface="Calibri (MS)"/>
                  <a:ea typeface="Calibri (MS)"/>
                  <a:cs typeface="Calibri (MS)"/>
                  <a:sym typeface="Calibri (MS)"/>
                </a:rPr>
                <a:t>places</a:t>
              </a:r>
            </a:p>
          </p:txBody>
        </p:sp>
      </p:grpSp>
      <p:grpSp>
        <p:nvGrpSpPr>
          <p:cNvPr name="Group 13" id="13"/>
          <p:cNvGrpSpPr/>
          <p:nvPr/>
        </p:nvGrpSpPr>
        <p:grpSpPr>
          <a:xfrm rot="0">
            <a:off x="3086100" y="6947154"/>
            <a:ext cx="2194560" cy="960120"/>
            <a:chOff x="0" y="0"/>
            <a:chExt cx="2926080" cy="1280160"/>
          </a:xfrm>
        </p:grpSpPr>
        <p:sp>
          <p:nvSpPr>
            <p:cNvPr name="Freeform 14" id="14"/>
            <p:cNvSpPr/>
            <p:nvPr/>
          </p:nvSpPr>
          <p:spPr>
            <a:xfrm flipH="false" flipV="false" rot="0">
              <a:off x="0" y="0"/>
              <a:ext cx="2926080" cy="1280160"/>
            </a:xfrm>
            <a:custGeom>
              <a:avLst/>
              <a:gdLst/>
              <a:ahLst/>
              <a:cxnLst/>
              <a:rect r="r" b="b" t="t" l="l"/>
              <a:pathLst>
                <a:path h="1280160" w="2926080">
                  <a:moveTo>
                    <a:pt x="0" y="0"/>
                  </a:moveTo>
                  <a:lnTo>
                    <a:pt x="2926080" y="0"/>
                  </a:lnTo>
                  <a:lnTo>
                    <a:pt x="2926080" y="1280160"/>
                  </a:lnTo>
                  <a:lnTo>
                    <a:pt x="0" y="1280160"/>
                  </a:lnTo>
                  <a:close/>
                </a:path>
              </a:pathLst>
            </a:custGeom>
            <a:blipFill>
              <a:blip r:embed="rId3">
                <a:alphaModFix amt="0"/>
              </a:blip>
              <a:stretch>
                <a:fillRect l="-6132" t="0" r="-6132" b="0"/>
              </a:stretch>
            </a:blipFill>
          </p:spPr>
        </p:sp>
        <p:sp>
          <p:nvSpPr>
            <p:cNvPr name="TextBox 15" id="15"/>
            <p:cNvSpPr txBox="true"/>
            <p:nvPr/>
          </p:nvSpPr>
          <p:spPr>
            <a:xfrm>
              <a:off x="0" y="-28575"/>
              <a:ext cx="2926080" cy="1308735"/>
            </a:xfrm>
            <a:prstGeom prst="rect">
              <a:avLst/>
            </a:prstGeom>
          </p:spPr>
          <p:txBody>
            <a:bodyPr anchor="ctr" rtlCol="false" tIns="0" lIns="0" bIns="0" rIns="0"/>
            <a:lstStyle/>
            <a:p>
              <a:pPr algn="l">
                <a:lnSpc>
                  <a:spcPts val="6120"/>
                </a:lnSpc>
              </a:pPr>
              <a:r>
                <a:rPr lang="en-US" sz="5100" b="true">
                  <a:solidFill>
                    <a:srgbClr val="D9B100"/>
                  </a:solidFill>
                  <a:latin typeface="Arial Bold"/>
                  <a:ea typeface="Arial Bold"/>
                  <a:cs typeface="Arial Bold"/>
                  <a:sym typeface="Arial Bold"/>
                </a:rPr>
                <a:t>56</a:t>
              </a:r>
            </a:p>
          </p:txBody>
        </p:sp>
      </p:grpSp>
      <p:grpSp>
        <p:nvGrpSpPr>
          <p:cNvPr name="Group 16" id="16"/>
          <p:cNvGrpSpPr/>
          <p:nvPr/>
        </p:nvGrpSpPr>
        <p:grpSpPr>
          <a:xfrm rot="0">
            <a:off x="3086100" y="7907274"/>
            <a:ext cx="2194560" cy="411480"/>
            <a:chOff x="0" y="0"/>
            <a:chExt cx="2926080" cy="548640"/>
          </a:xfrm>
        </p:grpSpPr>
        <p:sp>
          <p:nvSpPr>
            <p:cNvPr name="Freeform 17" id="17"/>
            <p:cNvSpPr/>
            <p:nvPr/>
          </p:nvSpPr>
          <p:spPr>
            <a:xfrm flipH="false" flipV="false" rot="0">
              <a:off x="0" y="0"/>
              <a:ext cx="2926080" cy="548640"/>
            </a:xfrm>
            <a:custGeom>
              <a:avLst/>
              <a:gdLst/>
              <a:ahLst/>
              <a:cxnLst/>
              <a:rect r="r" b="b" t="t" l="l"/>
              <a:pathLst>
                <a:path h="548640" w="2926080">
                  <a:moveTo>
                    <a:pt x="0" y="0"/>
                  </a:moveTo>
                  <a:lnTo>
                    <a:pt x="2926080" y="0"/>
                  </a:lnTo>
                  <a:lnTo>
                    <a:pt x="2926080" y="548640"/>
                  </a:lnTo>
                  <a:lnTo>
                    <a:pt x="0" y="548640"/>
                  </a:lnTo>
                  <a:close/>
                </a:path>
              </a:pathLst>
            </a:custGeom>
            <a:blipFill>
              <a:blip r:embed="rId3">
                <a:alphaModFix amt="0"/>
              </a:blip>
              <a:stretch>
                <a:fillRect l="0" t="-53920" r="0" b="-53920"/>
              </a:stretch>
            </a:blipFill>
          </p:spPr>
        </p:sp>
        <p:sp>
          <p:nvSpPr>
            <p:cNvPr name="TextBox 18" id="18"/>
            <p:cNvSpPr txBox="true"/>
            <p:nvPr/>
          </p:nvSpPr>
          <p:spPr>
            <a:xfrm>
              <a:off x="0" y="-38100"/>
              <a:ext cx="2926080" cy="586740"/>
            </a:xfrm>
            <a:prstGeom prst="rect">
              <a:avLst/>
            </a:prstGeom>
          </p:spPr>
          <p:txBody>
            <a:bodyPr anchor="ctr" rtlCol="false" tIns="0" lIns="0" bIns="0" rIns="0"/>
            <a:lstStyle/>
            <a:p>
              <a:pPr algn="l">
                <a:lnSpc>
                  <a:spcPts val="2160"/>
                </a:lnSpc>
              </a:pPr>
              <a:r>
                <a:rPr lang="en-US" sz="1800">
                  <a:solidFill>
                    <a:srgbClr val="A6A7AD"/>
                  </a:solidFill>
                  <a:latin typeface="Calibri (MS)"/>
                  <a:ea typeface="Calibri (MS)"/>
                  <a:cs typeface="Calibri (MS)"/>
                  <a:sym typeface="Calibri (MS)"/>
                </a:rPr>
                <a:t>walkways</a:t>
              </a:r>
            </a:p>
          </p:txBody>
        </p:sp>
      </p:grpSp>
      <p:grpSp>
        <p:nvGrpSpPr>
          <p:cNvPr name="Group 19" id="19"/>
          <p:cNvGrpSpPr/>
          <p:nvPr/>
        </p:nvGrpSpPr>
        <p:grpSpPr>
          <a:xfrm rot="0">
            <a:off x="5088636" y="6888861"/>
            <a:ext cx="2194560" cy="960120"/>
            <a:chOff x="0" y="0"/>
            <a:chExt cx="2926080" cy="1280160"/>
          </a:xfrm>
        </p:grpSpPr>
        <p:sp>
          <p:nvSpPr>
            <p:cNvPr name="Freeform 20" id="20"/>
            <p:cNvSpPr/>
            <p:nvPr/>
          </p:nvSpPr>
          <p:spPr>
            <a:xfrm flipH="false" flipV="false" rot="0">
              <a:off x="0" y="0"/>
              <a:ext cx="2926080" cy="1280160"/>
            </a:xfrm>
            <a:custGeom>
              <a:avLst/>
              <a:gdLst/>
              <a:ahLst/>
              <a:cxnLst/>
              <a:rect r="r" b="b" t="t" l="l"/>
              <a:pathLst>
                <a:path h="1280160" w="2926080">
                  <a:moveTo>
                    <a:pt x="0" y="0"/>
                  </a:moveTo>
                  <a:lnTo>
                    <a:pt x="2926080" y="0"/>
                  </a:lnTo>
                  <a:lnTo>
                    <a:pt x="2926080" y="1280160"/>
                  </a:lnTo>
                  <a:lnTo>
                    <a:pt x="0" y="1280160"/>
                  </a:lnTo>
                  <a:close/>
                </a:path>
              </a:pathLst>
            </a:custGeom>
            <a:blipFill>
              <a:blip r:embed="rId3">
                <a:alphaModFix amt="0"/>
              </a:blip>
              <a:stretch>
                <a:fillRect l="-6132" t="0" r="-6132" b="0"/>
              </a:stretch>
            </a:blipFill>
          </p:spPr>
        </p:sp>
        <p:sp>
          <p:nvSpPr>
            <p:cNvPr name="TextBox 21" id="21"/>
            <p:cNvSpPr txBox="true"/>
            <p:nvPr/>
          </p:nvSpPr>
          <p:spPr>
            <a:xfrm>
              <a:off x="0" y="-28575"/>
              <a:ext cx="2926080" cy="1308735"/>
            </a:xfrm>
            <a:prstGeom prst="rect">
              <a:avLst/>
            </a:prstGeom>
          </p:spPr>
          <p:txBody>
            <a:bodyPr anchor="ctr" rtlCol="false" tIns="0" lIns="0" bIns="0" rIns="0"/>
            <a:lstStyle/>
            <a:p>
              <a:pPr algn="l">
                <a:lnSpc>
                  <a:spcPts val="6120"/>
                </a:lnSpc>
              </a:pPr>
              <a:r>
                <a:rPr lang="en-US" sz="5100" b="true">
                  <a:solidFill>
                    <a:srgbClr val="D9B100"/>
                  </a:solidFill>
                  <a:latin typeface="Arial Bold"/>
                  <a:ea typeface="Arial Bold"/>
                  <a:cs typeface="Arial Bold"/>
                  <a:sym typeface="Arial Bold"/>
                </a:rPr>
                <a:t>27 m</a:t>
              </a:r>
            </a:p>
          </p:txBody>
        </p:sp>
      </p:grpSp>
      <p:grpSp>
        <p:nvGrpSpPr>
          <p:cNvPr name="Group 22" id="22"/>
          <p:cNvGrpSpPr/>
          <p:nvPr/>
        </p:nvGrpSpPr>
        <p:grpSpPr>
          <a:xfrm rot="0">
            <a:off x="5212080" y="7927848"/>
            <a:ext cx="2194560" cy="411480"/>
            <a:chOff x="0" y="0"/>
            <a:chExt cx="2926080" cy="548640"/>
          </a:xfrm>
        </p:grpSpPr>
        <p:sp>
          <p:nvSpPr>
            <p:cNvPr name="Freeform 23" id="23"/>
            <p:cNvSpPr/>
            <p:nvPr/>
          </p:nvSpPr>
          <p:spPr>
            <a:xfrm flipH="false" flipV="false" rot="0">
              <a:off x="0" y="0"/>
              <a:ext cx="2926080" cy="548640"/>
            </a:xfrm>
            <a:custGeom>
              <a:avLst/>
              <a:gdLst/>
              <a:ahLst/>
              <a:cxnLst/>
              <a:rect r="r" b="b" t="t" l="l"/>
              <a:pathLst>
                <a:path h="548640" w="2926080">
                  <a:moveTo>
                    <a:pt x="0" y="0"/>
                  </a:moveTo>
                  <a:lnTo>
                    <a:pt x="2926080" y="0"/>
                  </a:lnTo>
                  <a:lnTo>
                    <a:pt x="2926080" y="548640"/>
                  </a:lnTo>
                  <a:lnTo>
                    <a:pt x="0" y="548640"/>
                  </a:lnTo>
                  <a:close/>
                </a:path>
              </a:pathLst>
            </a:custGeom>
            <a:blipFill>
              <a:blip r:embed="rId3">
                <a:alphaModFix amt="0"/>
              </a:blip>
              <a:stretch>
                <a:fillRect l="0" t="-53920" r="0" b="-53920"/>
              </a:stretch>
            </a:blipFill>
          </p:spPr>
        </p:sp>
        <p:sp>
          <p:nvSpPr>
            <p:cNvPr name="TextBox 24" id="24"/>
            <p:cNvSpPr txBox="true"/>
            <p:nvPr/>
          </p:nvSpPr>
          <p:spPr>
            <a:xfrm>
              <a:off x="0" y="-38100"/>
              <a:ext cx="2926080" cy="586740"/>
            </a:xfrm>
            <a:prstGeom prst="rect">
              <a:avLst/>
            </a:prstGeom>
          </p:spPr>
          <p:txBody>
            <a:bodyPr anchor="ctr" rtlCol="false" tIns="0" lIns="0" bIns="0" rIns="0"/>
            <a:lstStyle/>
            <a:p>
              <a:pPr algn="l">
                <a:lnSpc>
                  <a:spcPts val="2160"/>
                </a:lnSpc>
              </a:pPr>
              <a:r>
                <a:rPr lang="en-US" sz="1800">
                  <a:solidFill>
                    <a:srgbClr val="A6A7AD"/>
                  </a:solidFill>
                  <a:latin typeface="Calibri (MS)"/>
                  <a:ea typeface="Calibri (MS)"/>
                  <a:cs typeface="Calibri (MS)"/>
                  <a:sym typeface="Calibri (MS)"/>
                </a:rPr>
                <a:t>avg. fit error</a:t>
              </a:r>
            </a:p>
          </p:txBody>
        </p:sp>
      </p:grpSp>
      <p:grpSp>
        <p:nvGrpSpPr>
          <p:cNvPr name="Group 25" id="25"/>
          <p:cNvGrpSpPr/>
          <p:nvPr/>
        </p:nvGrpSpPr>
        <p:grpSpPr>
          <a:xfrm rot="0">
            <a:off x="8092440" y="1659636"/>
            <a:ext cx="9395460" cy="6761988"/>
            <a:chOff x="0" y="0"/>
            <a:chExt cx="12527280" cy="9015984"/>
          </a:xfrm>
        </p:grpSpPr>
        <p:sp>
          <p:nvSpPr>
            <p:cNvPr name="Freeform 26" id="26" descr="C:\Users\rup\AppData\Local\Temp\claude\d--Codes-CholoKUET\2a005a77-40ea-402f-8f1e-eba05e0da9d5\scratchpad\deck\img\campus-map.png"/>
            <p:cNvSpPr/>
            <p:nvPr/>
          </p:nvSpPr>
          <p:spPr>
            <a:xfrm flipH="false" flipV="false" rot="0">
              <a:off x="0" y="0"/>
              <a:ext cx="12527280" cy="9015984"/>
            </a:xfrm>
            <a:custGeom>
              <a:avLst/>
              <a:gdLst/>
              <a:ahLst/>
              <a:cxnLst/>
              <a:rect r="r" b="b" t="t" l="l"/>
              <a:pathLst>
                <a:path h="9015984" w="12527280">
                  <a:moveTo>
                    <a:pt x="0" y="0"/>
                  </a:moveTo>
                  <a:lnTo>
                    <a:pt x="12527280" y="0"/>
                  </a:lnTo>
                  <a:lnTo>
                    <a:pt x="12527280" y="9015984"/>
                  </a:lnTo>
                  <a:lnTo>
                    <a:pt x="0" y="9015984"/>
                  </a:lnTo>
                  <a:lnTo>
                    <a:pt x="0" y="0"/>
                  </a:lnTo>
                  <a:close/>
                </a:path>
              </a:pathLst>
            </a:custGeom>
            <a:blipFill>
              <a:blip r:embed="rId4"/>
              <a:stretch>
                <a:fillRect l="0" t="0" r="-11114" b="0"/>
              </a:stretch>
            </a:blipFill>
          </p:spPr>
        </p:sp>
      </p:grpSp>
    </p:spTree>
  </p:cSld>
  <p:clrMapOvr>
    <a:masterClrMapping/>
  </p:clrMapOvr>
  <p:transition spd="fast">
    <p:fade/>
  </p:transition>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HOW IT'S ORGANISED</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Three layers, each with one job</a:t>
            </a:r>
          </a:p>
        </p:txBody>
      </p:sp>
      <p:grpSp>
        <p:nvGrpSpPr>
          <p:cNvPr name="Group 6" id="6"/>
          <p:cNvGrpSpPr/>
          <p:nvPr/>
        </p:nvGrpSpPr>
        <p:grpSpPr>
          <a:xfrm rot="0">
            <a:off x="813435" y="2665095"/>
            <a:ext cx="10168890" cy="1390650"/>
            <a:chOff x="0" y="0"/>
            <a:chExt cx="13558520" cy="1854200"/>
          </a:xfrm>
        </p:grpSpPr>
        <p:sp>
          <p:nvSpPr>
            <p:cNvPr name="Freeform 7" id="7"/>
            <p:cNvSpPr/>
            <p:nvPr/>
          </p:nvSpPr>
          <p:spPr>
            <a:xfrm flipH="false" flipV="false" rot="0">
              <a:off x="0" y="0"/>
              <a:ext cx="13558520" cy="1854200"/>
            </a:xfrm>
            <a:custGeom>
              <a:avLst/>
              <a:gdLst/>
              <a:ahLst/>
              <a:cxnLst/>
              <a:rect r="r" b="b" t="t" l="l"/>
              <a:pathLst>
                <a:path h="1854200" w="13558520">
                  <a:moveTo>
                    <a:pt x="0" y="185420"/>
                  </a:moveTo>
                  <a:cubicBezTo>
                    <a:pt x="0" y="83058"/>
                    <a:pt x="83058" y="0"/>
                    <a:pt x="185420" y="0"/>
                  </a:cubicBezTo>
                  <a:lnTo>
                    <a:pt x="13373100" y="0"/>
                  </a:lnTo>
                  <a:cubicBezTo>
                    <a:pt x="13475463" y="0"/>
                    <a:pt x="13558520" y="83058"/>
                    <a:pt x="13558520" y="185420"/>
                  </a:cubicBezTo>
                  <a:lnTo>
                    <a:pt x="13558520" y="1668780"/>
                  </a:lnTo>
                  <a:cubicBezTo>
                    <a:pt x="13558520" y="1771142"/>
                    <a:pt x="13475463" y="1854200"/>
                    <a:pt x="13373100" y="1854200"/>
                  </a:cubicBezTo>
                  <a:lnTo>
                    <a:pt x="185420" y="1854200"/>
                  </a:lnTo>
                  <a:cubicBezTo>
                    <a:pt x="83058" y="1854200"/>
                    <a:pt x="0" y="1771142"/>
                    <a:pt x="0" y="1668780"/>
                  </a:cubicBezTo>
                  <a:close/>
                </a:path>
              </a:pathLst>
            </a:custGeom>
            <a:solidFill>
              <a:srgbClr val="101114"/>
            </a:solidFill>
            <a:ln w="19050" cap="sq">
              <a:solidFill>
                <a:srgbClr val="101114"/>
              </a:solidFill>
              <a:prstDash val="solid"/>
              <a:miter/>
            </a:ln>
          </p:spPr>
        </p:sp>
      </p:grpSp>
      <p:grpSp>
        <p:nvGrpSpPr>
          <p:cNvPr name="Group 8" id="8"/>
          <p:cNvGrpSpPr/>
          <p:nvPr/>
        </p:nvGrpSpPr>
        <p:grpSpPr>
          <a:xfrm rot="0">
            <a:off x="1234440" y="2674620"/>
            <a:ext cx="2743200" cy="1371600"/>
            <a:chOff x="0" y="0"/>
            <a:chExt cx="3657600" cy="1828800"/>
          </a:xfrm>
        </p:grpSpPr>
        <p:sp>
          <p:nvSpPr>
            <p:cNvPr name="Freeform 9" id="9"/>
            <p:cNvSpPr/>
            <p:nvPr/>
          </p:nvSpPr>
          <p:spPr>
            <a:xfrm flipH="false" flipV="false" rot="0">
              <a:off x="0" y="0"/>
              <a:ext cx="3657600" cy="1828800"/>
            </a:xfrm>
            <a:custGeom>
              <a:avLst/>
              <a:gdLst/>
              <a:ahLst/>
              <a:cxnLst/>
              <a:rect r="r" b="b" t="t" l="l"/>
              <a:pathLst>
                <a:path h="1828800" w="3657600">
                  <a:moveTo>
                    <a:pt x="0" y="0"/>
                  </a:moveTo>
                  <a:lnTo>
                    <a:pt x="3657600" y="0"/>
                  </a:lnTo>
                  <a:lnTo>
                    <a:pt x="3657600" y="1828800"/>
                  </a:lnTo>
                  <a:lnTo>
                    <a:pt x="0" y="1828800"/>
                  </a:lnTo>
                  <a:close/>
                </a:path>
              </a:pathLst>
            </a:custGeom>
            <a:blipFill>
              <a:blip r:embed="rId3">
                <a:alphaModFix amt="0"/>
              </a:blip>
              <a:stretch>
                <a:fillRect l="-14151" t="0" r="-14151" b="0"/>
              </a:stretch>
            </a:blipFill>
          </p:spPr>
        </p:sp>
        <p:sp>
          <p:nvSpPr>
            <p:cNvPr name="TextBox 10" id="10"/>
            <p:cNvSpPr txBox="true"/>
            <p:nvPr/>
          </p:nvSpPr>
          <p:spPr>
            <a:xfrm>
              <a:off x="0" y="-9525"/>
              <a:ext cx="3657600" cy="1838325"/>
            </a:xfrm>
            <a:prstGeom prst="rect">
              <a:avLst/>
            </a:prstGeom>
          </p:spPr>
          <p:txBody>
            <a:bodyPr anchor="ctr" rtlCol="false" tIns="0" lIns="0" bIns="0" rIns="0"/>
            <a:lstStyle/>
            <a:p>
              <a:pPr algn="l">
                <a:lnSpc>
                  <a:spcPts val="3060"/>
                </a:lnSpc>
              </a:pPr>
              <a:r>
                <a:rPr lang="en-US" sz="2550" b="true">
                  <a:solidFill>
                    <a:srgbClr val="D9B100"/>
                  </a:solidFill>
                  <a:latin typeface="Arial Bold"/>
                  <a:ea typeface="Arial Bold"/>
                  <a:cs typeface="Arial Bold"/>
                  <a:sym typeface="Arial Bold"/>
                </a:rPr>
                <a:t>Navigator</a:t>
              </a:r>
            </a:p>
          </p:txBody>
        </p:sp>
      </p:grpSp>
      <p:grpSp>
        <p:nvGrpSpPr>
          <p:cNvPr name="Group 11" id="11"/>
          <p:cNvGrpSpPr/>
          <p:nvPr/>
        </p:nvGrpSpPr>
        <p:grpSpPr>
          <a:xfrm rot="0">
            <a:off x="4114800" y="2674620"/>
            <a:ext cx="6583680" cy="1371600"/>
            <a:chOff x="0" y="0"/>
            <a:chExt cx="8778240" cy="1828800"/>
          </a:xfrm>
        </p:grpSpPr>
        <p:sp>
          <p:nvSpPr>
            <p:cNvPr name="Freeform 12" id="12"/>
            <p:cNvSpPr/>
            <p:nvPr/>
          </p:nvSpPr>
          <p:spPr>
            <a:xfrm flipH="false" flipV="false" rot="0">
              <a:off x="0" y="0"/>
              <a:ext cx="8778240" cy="1828800"/>
            </a:xfrm>
            <a:custGeom>
              <a:avLst/>
              <a:gdLst/>
              <a:ahLst/>
              <a:cxnLst/>
              <a:rect r="r" b="b" t="t" l="l"/>
              <a:pathLst>
                <a:path h="1828800" w="8778240">
                  <a:moveTo>
                    <a:pt x="0" y="0"/>
                  </a:moveTo>
                  <a:lnTo>
                    <a:pt x="8778240" y="0"/>
                  </a:lnTo>
                  <a:lnTo>
                    <a:pt x="8778240" y="1828800"/>
                  </a:lnTo>
                  <a:lnTo>
                    <a:pt x="0" y="1828800"/>
                  </a:lnTo>
                  <a:close/>
                </a:path>
              </a:pathLst>
            </a:custGeom>
            <a:blipFill>
              <a:blip r:embed="rId3">
                <a:alphaModFix amt="0"/>
              </a:blip>
              <a:stretch>
                <a:fillRect l="0" t="-43528" r="0" b="-43528"/>
              </a:stretch>
            </a:blipFill>
          </p:spPr>
        </p:sp>
        <p:sp>
          <p:nvSpPr>
            <p:cNvPr name="TextBox 13" id="13"/>
            <p:cNvSpPr txBox="true"/>
            <p:nvPr/>
          </p:nvSpPr>
          <p:spPr>
            <a:xfrm>
              <a:off x="0" y="-38100"/>
              <a:ext cx="8778240" cy="1866900"/>
            </a:xfrm>
            <a:prstGeom prst="rect">
              <a:avLst/>
            </a:prstGeom>
          </p:spPr>
          <p:txBody>
            <a:bodyPr anchor="ctr" rtlCol="false" tIns="0" lIns="0" bIns="0" rIns="0"/>
            <a:lstStyle/>
            <a:p>
              <a:pPr algn="l">
                <a:lnSpc>
                  <a:spcPts val="2430"/>
                </a:lnSpc>
              </a:pPr>
              <a:r>
                <a:rPr lang="en-US" sz="2025">
                  <a:solidFill>
                    <a:srgbClr val="C9CAD0"/>
                  </a:solidFill>
                  <a:latin typeface="Calibri (MS)"/>
                  <a:ea typeface="Calibri (MS)"/>
                  <a:cs typeface="Calibri (MS)"/>
                  <a:sym typeface="Calibri (MS)"/>
                </a:rPr>
                <a:t>Menus: login, trips, places, admin. Talks to the user only.</a:t>
              </a:r>
            </a:p>
          </p:txBody>
        </p:sp>
      </p:grpSp>
      <p:grpSp>
        <p:nvGrpSpPr>
          <p:cNvPr name="Group 14" id="14"/>
          <p:cNvGrpSpPr/>
          <p:nvPr/>
        </p:nvGrpSpPr>
        <p:grpSpPr>
          <a:xfrm rot="0">
            <a:off x="813435" y="4283583"/>
            <a:ext cx="10168890" cy="1390650"/>
            <a:chOff x="0" y="0"/>
            <a:chExt cx="13558520" cy="1854200"/>
          </a:xfrm>
        </p:grpSpPr>
        <p:sp>
          <p:nvSpPr>
            <p:cNvPr name="Freeform 15" id="15"/>
            <p:cNvSpPr/>
            <p:nvPr/>
          </p:nvSpPr>
          <p:spPr>
            <a:xfrm flipH="false" flipV="false" rot="0">
              <a:off x="0" y="0"/>
              <a:ext cx="13558520" cy="1854200"/>
            </a:xfrm>
            <a:custGeom>
              <a:avLst/>
              <a:gdLst/>
              <a:ahLst/>
              <a:cxnLst/>
              <a:rect r="r" b="b" t="t" l="l"/>
              <a:pathLst>
                <a:path h="1854200" w="13558520">
                  <a:moveTo>
                    <a:pt x="0" y="185420"/>
                  </a:moveTo>
                  <a:cubicBezTo>
                    <a:pt x="0" y="83058"/>
                    <a:pt x="83058" y="0"/>
                    <a:pt x="185420" y="0"/>
                  </a:cubicBezTo>
                  <a:lnTo>
                    <a:pt x="13373100" y="0"/>
                  </a:lnTo>
                  <a:cubicBezTo>
                    <a:pt x="13475463" y="0"/>
                    <a:pt x="13558520" y="83058"/>
                    <a:pt x="13558520" y="185420"/>
                  </a:cubicBezTo>
                  <a:lnTo>
                    <a:pt x="13558520" y="1668780"/>
                  </a:lnTo>
                  <a:cubicBezTo>
                    <a:pt x="13558520" y="1771142"/>
                    <a:pt x="13475463" y="1854200"/>
                    <a:pt x="13373100" y="1854200"/>
                  </a:cubicBezTo>
                  <a:lnTo>
                    <a:pt x="185420" y="1854200"/>
                  </a:lnTo>
                  <a:cubicBezTo>
                    <a:pt x="83058" y="1854200"/>
                    <a:pt x="0" y="1771142"/>
                    <a:pt x="0" y="1668780"/>
                  </a:cubicBezTo>
                  <a:close/>
                </a:path>
              </a:pathLst>
            </a:custGeom>
            <a:solidFill>
              <a:srgbClr val="F3F4F6"/>
            </a:solidFill>
            <a:ln w="19050" cap="sq">
              <a:solidFill>
                <a:srgbClr val="F3F4F6"/>
              </a:solidFill>
              <a:prstDash val="solid"/>
              <a:miter/>
            </a:ln>
          </p:spPr>
        </p:sp>
      </p:grpSp>
      <p:grpSp>
        <p:nvGrpSpPr>
          <p:cNvPr name="Group 16" id="16"/>
          <p:cNvGrpSpPr/>
          <p:nvPr/>
        </p:nvGrpSpPr>
        <p:grpSpPr>
          <a:xfrm rot="0">
            <a:off x="1234440" y="4293108"/>
            <a:ext cx="2743200" cy="1371600"/>
            <a:chOff x="0" y="0"/>
            <a:chExt cx="3657600" cy="1828800"/>
          </a:xfrm>
        </p:grpSpPr>
        <p:sp>
          <p:nvSpPr>
            <p:cNvPr name="Freeform 17" id="17"/>
            <p:cNvSpPr/>
            <p:nvPr/>
          </p:nvSpPr>
          <p:spPr>
            <a:xfrm flipH="false" flipV="false" rot="0">
              <a:off x="0" y="0"/>
              <a:ext cx="3657600" cy="1828800"/>
            </a:xfrm>
            <a:custGeom>
              <a:avLst/>
              <a:gdLst/>
              <a:ahLst/>
              <a:cxnLst/>
              <a:rect r="r" b="b" t="t" l="l"/>
              <a:pathLst>
                <a:path h="1828800" w="3657600">
                  <a:moveTo>
                    <a:pt x="0" y="0"/>
                  </a:moveTo>
                  <a:lnTo>
                    <a:pt x="3657600" y="0"/>
                  </a:lnTo>
                  <a:lnTo>
                    <a:pt x="3657600" y="1828800"/>
                  </a:lnTo>
                  <a:lnTo>
                    <a:pt x="0" y="1828800"/>
                  </a:lnTo>
                  <a:close/>
                </a:path>
              </a:pathLst>
            </a:custGeom>
            <a:blipFill>
              <a:blip r:embed="rId3">
                <a:alphaModFix amt="0"/>
              </a:blip>
              <a:stretch>
                <a:fillRect l="-14151" t="0" r="-14151" b="0"/>
              </a:stretch>
            </a:blipFill>
          </p:spPr>
        </p:sp>
        <p:sp>
          <p:nvSpPr>
            <p:cNvPr name="TextBox 18" id="18"/>
            <p:cNvSpPr txBox="true"/>
            <p:nvPr/>
          </p:nvSpPr>
          <p:spPr>
            <a:xfrm>
              <a:off x="0" y="-9525"/>
              <a:ext cx="3657600" cy="1838325"/>
            </a:xfrm>
            <a:prstGeom prst="rect">
              <a:avLst/>
            </a:prstGeom>
          </p:spPr>
          <p:txBody>
            <a:bodyPr anchor="ctr" rtlCol="false" tIns="0" lIns="0" bIns="0" rIns="0"/>
            <a:lstStyle/>
            <a:p>
              <a:pPr algn="l">
                <a:lnSpc>
                  <a:spcPts val="3060"/>
                </a:lnSpc>
              </a:pPr>
              <a:r>
                <a:rPr lang="en-US" sz="2550" b="true">
                  <a:solidFill>
                    <a:srgbClr val="8F7200"/>
                  </a:solidFill>
                  <a:latin typeface="Arial Bold"/>
                  <a:ea typeface="Arial Bold"/>
                  <a:cs typeface="Arial Bold"/>
                  <a:sym typeface="Arial Bold"/>
                </a:rPr>
                <a:t>Campus</a:t>
              </a:r>
            </a:p>
          </p:txBody>
        </p:sp>
      </p:grpSp>
      <p:grpSp>
        <p:nvGrpSpPr>
          <p:cNvPr name="Group 19" id="19"/>
          <p:cNvGrpSpPr/>
          <p:nvPr/>
        </p:nvGrpSpPr>
        <p:grpSpPr>
          <a:xfrm rot="0">
            <a:off x="4114800" y="4293108"/>
            <a:ext cx="6583680" cy="1371600"/>
            <a:chOff x="0" y="0"/>
            <a:chExt cx="8778240" cy="1828800"/>
          </a:xfrm>
        </p:grpSpPr>
        <p:sp>
          <p:nvSpPr>
            <p:cNvPr name="Freeform 20" id="20"/>
            <p:cNvSpPr/>
            <p:nvPr/>
          </p:nvSpPr>
          <p:spPr>
            <a:xfrm flipH="false" flipV="false" rot="0">
              <a:off x="0" y="0"/>
              <a:ext cx="8778240" cy="1828800"/>
            </a:xfrm>
            <a:custGeom>
              <a:avLst/>
              <a:gdLst/>
              <a:ahLst/>
              <a:cxnLst/>
              <a:rect r="r" b="b" t="t" l="l"/>
              <a:pathLst>
                <a:path h="1828800" w="8778240">
                  <a:moveTo>
                    <a:pt x="0" y="0"/>
                  </a:moveTo>
                  <a:lnTo>
                    <a:pt x="8778240" y="0"/>
                  </a:lnTo>
                  <a:lnTo>
                    <a:pt x="8778240" y="1828800"/>
                  </a:lnTo>
                  <a:lnTo>
                    <a:pt x="0" y="1828800"/>
                  </a:lnTo>
                  <a:close/>
                </a:path>
              </a:pathLst>
            </a:custGeom>
            <a:blipFill>
              <a:blip r:embed="rId3">
                <a:alphaModFix amt="0"/>
              </a:blip>
              <a:stretch>
                <a:fillRect l="0" t="-43528" r="0" b="-43528"/>
              </a:stretch>
            </a:blipFill>
          </p:spPr>
        </p:sp>
        <p:sp>
          <p:nvSpPr>
            <p:cNvPr name="TextBox 21" id="21"/>
            <p:cNvSpPr txBox="true"/>
            <p:nvPr/>
          </p:nvSpPr>
          <p:spPr>
            <a:xfrm>
              <a:off x="0" y="-38100"/>
              <a:ext cx="8778240" cy="1866900"/>
            </a:xfrm>
            <a:prstGeom prst="rect">
              <a:avLst/>
            </a:prstGeom>
          </p:spPr>
          <p:txBody>
            <a:bodyPr anchor="ctr" rtlCol="false" tIns="0" lIns="0" bIns="0" rIns="0"/>
            <a:lstStyle/>
            <a:p>
              <a:pPr algn="l">
                <a:lnSpc>
                  <a:spcPts val="2430"/>
                </a:lnSpc>
              </a:pPr>
              <a:r>
                <a:rPr lang="en-US" sz="2025">
                  <a:solidFill>
                    <a:srgbClr val="5F626B"/>
                  </a:solidFill>
                  <a:latin typeface="Calibri (MS)"/>
                  <a:ea typeface="Calibri (MS)"/>
                  <a:cs typeface="Calibri (MS)"/>
                  <a:sym typeface="Calibri (MS)"/>
                </a:rPr>
                <a:t>Places (array), categories and the walkway graph. The only code that touches files.</a:t>
              </a:r>
            </a:p>
          </p:txBody>
        </p:sp>
      </p:grpSp>
      <p:grpSp>
        <p:nvGrpSpPr>
          <p:cNvPr name="Group 22" id="22"/>
          <p:cNvGrpSpPr/>
          <p:nvPr/>
        </p:nvGrpSpPr>
        <p:grpSpPr>
          <a:xfrm rot="0">
            <a:off x="813435" y="5902071"/>
            <a:ext cx="10168890" cy="1390650"/>
            <a:chOff x="0" y="0"/>
            <a:chExt cx="13558520" cy="1854200"/>
          </a:xfrm>
        </p:grpSpPr>
        <p:sp>
          <p:nvSpPr>
            <p:cNvPr name="Freeform 23" id="23"/>
            <p:cNvSpPr/>
            <p:nvPr/>
          </p:nvSpPr>
          <p:spPr>
            <a:xfrm flipH="false" flipV="false" rot="0">
              <a:off x="0" y="0"/>
              <a:ext cx="13558520" cy="1854200"/>
            </a:xfrm>
            <a:custGeom>
              <a:avLst/>
              <a:gdLst/>
              <a:ahLst/>
              <a:cxnLst/>
              <a:rect r="r" b="b" t="t" l="l"/>
              <a:pathLst>
                <a:path h="1854200" w="13558520">
                  <a:moveTo>
                    <a:pt x="0" y="185420"/>
                  </a:moveTo>
                  <a:cubicBezTo>
                    <a:pt x="0" y="83058"/>
                    <a:pt x="83058" y="0"/>
                    <a:pt x="185420" y="0"/>
                  </a:cubicBezTo>
                  <a:lnTo>
                    <a:pt x="13373100" y="0"/>
                  </a:lnTo>
                  <a:cubicBezTo>
                    <a:pt x="13475463" y="0"/>
                    <a:pt x="13558520" y="83058"/>
                    <a:pt x="13558520" y="185420"/>
                  </a:cubicBezTo>
                  <a:lnTo>
                    <a:pt x="13558520" y="1668780"/>
                  </a:lnTo>
                  <a:cubicBezTo>
                    <a:pt x="13558520" y="1771142"/>
                    <a:pt x="13475463" y="1854200"/>
                    <a:pt x="13373100" y="1854200"/>
                  </a:cubicBezTo>
                  <a:lnTo>
                    <a:pt x="185420" y="1854200"/>
                  </a:lnTo>
                  <a:cubicBezTo>
                    <a:pt x="83058" y="1854200"/>
                    <a:pt x="0" y="1771142"/>
                    <a:pt x="0" y="1668780"/>
                  </a:cubicBezTo>
                  <a:close/>
                </a:path>
              </a:pathLst>
            </a:custGeom>
            <a:solidFill>
              <a:srgbClr val="FBF4D2"/>
            </a:solidFill>
            <a:ln w="19050" cap="sq">
              <a:solidFill>
                <a:srgbClr val="FBF4D2"/>
              </a:solidFill>
              <a:prstDash val="solid"/>
              <a:miter/>
            </a:ln>
          </p:spPr>
        </p:sp>
      </p:grpSp>
      <p:grpSp>
        <p:nvGrpSpPr>
          <p:cNvPr name="Group 24" id="24"/>
          <p:cNvGrpSpPr/>
          <p:nvPr/>
        </p:nvGrpSpPr>
        <p:grpSpPr>
          <a:xfrm rot="0">
            <a:off x="1234440" y="5911596"/>
            <a:ext cx="2743200" cy="1371600"/>
            <a:chOff x="0" y="0"/>
            <a:chExt cx="3657600" cy="1828800"/>
          </a:xfrm>
        </p:grpSpPr>
        <p:sp>
          <p:nvSpPr>
            <p:cNvPr name="Freeform 25" id="25"/>
            <p:cNvSpPr/>
            <p:nvPr/>
          </p:nvSpPr>
          <p:spPr>
            <a:xfrm flipH="false" flipV="false" rot="0">
              <a:off x="0" y="0"/>
              <a:ext cx="3657600" cy="1828800"/>
            </a:xfrm>
            <a:custGeom>
              <a:avLst/>
              <a:gdLst/>
              <a:ahLst/>
              <a:cxnLst/>
              <a:rect r="r" b="b" t="t" l="l"/>
              <a:pathLst>
                <a:path h="1828800" w="3657600">
                  <a:moveTo>
                    <a:pt x="0" y="0"/>
                  </a:moveTo>
                  <a:lnTo>
                    <a:pt x="3657600" y="0"/>
                  </a:lnTo>
                  <a:lnTo>
                    <a:pt x="3657600" y="1828800"/>
                  </a:lnTo>
                  <a:lnTo>
                    <a:pt x="0" y="1828800"/>
                  </a:lnTo>
                  <a:close/>
                </a:path>
              </a:pathLst>
            </a:custGeom>
            <a:blipFill>
              <a:blip r:embed="rId3">
                <a:alphaModFix amt="0"/>
              </a:blip>
              <a:stretch>
                <a:fillRect l="-14151" t="0" r="-14151" b="0"/>
              </a:stretch>
            </a:blipFill>
          </p:spPr>
        </p:sp>
        <p:sp>
          <p:nvSpPr>
            <p:cNvPr name="TextBox 26" id="26"/>
            <p:cNvSpPr txBox="true"/>
            <p:nvPr/>
          </p:nvSpPr>
          <p:spPr>
            <a:xfrm>
              <a:off x="0" y="-9525"/>
              <a:ext cx="3657600" cy="1838325"/>
            </a:xfrm>
            <a:prstGeom prst="rect">
              <a:avLst/>
            </a:prstGeom>
          </p:spPr>
          <p:txBody>
            <a:bodyPr anchor="ctr" rtlCol="false" tIns="0" lIns="0" bIns="0" rIns="0"/>
            <a:lstStyle/>
            <a:p>
              <a:pPr algn="l">
                <a:lnSpc>
                  <a:spcPts val="3060"/>
                </a:lnSpc>
              </a:pPr>
              <a:r>
                <a:rPr lang="en-US" sz="2550" b="true">
                  <a:solidFill>
                    <a:srgbClr val="8F7200"/>
                  </a:solidFill>
                  <a:latin typeface="Arial Bold"/>
                  <a:ea typeface="Arial Bold"/>
                  <a:cs typeface="Arial Bold"/>
                  <a:sym typeface="Arial Bold"/>
                </a:rPr>
                <a:t>DSA core</a:t>
              </a:r>
            </a:p>
          </p:txBody>
        </p:sp>
      </p:grpSp>
      <p:grpSp>
        <p:nvGrpSpPr>
          <p:cNvPr name="Group 27" id="27"/>
          <p:cNvGrpSpPr/>
          <p:nvPr/>
        </p:nvGrpSpPr>
        <p:grpSpPr>
          <a:xfrm rot="0">
            <a:off x="4114800" y="5911596"/>
            <a:ext cx="6583680" cy="1371600"/>
            <a:chOff x="0" y="0"/>
            <a:chExt cx="8778240" cy="1828800"/>
          </a:xfrm>
        </p:grpSpPr>
        <p:sp>
          <p:nvSpPr>
            <p:cNvPr name="Freeform 28" id="28"/>
            <p:cNvSpPr/>
            <p:nvPr/>
          </p:nvSpPr>
          <p:spPr>
            <a:xfrm flipH="false" flipV="false" rot="0">
              <a:off x="0" y="0"/>
              <a:ext cx="8778240" cy="1828800"/>
            </a:xfrm>
            <a:custGeom>
              <a:avLst/>
              <a:gdLst/>
              <a:ahLst/>
              <a:cxnLst/>
              <a:rect r="r" b="b" t="t" l="l"/>
              <a:pathLst>
                <a:path h="1828800" w="8778240">
                  <a:moveTo>
                    <a:pt x="0" y="0"/>
                  </a:moveTo>
                  <a:lnTo>
                    <a:pt x="8778240" y="0"/>
                  </a:lnTo>
                  <a:lnTo>
                    <a:pt x="8778240" y="1828800"/>
                  </a:lnTo>
                  <a:lnTo>
                    <a:pt x="0" y="1828800"/>
                  </a:lnTo>
                  <a:close/>
                </a:path>
              </a:pathLst>
            </a:custGeom>
            <a:blipFill>
              <a:blip r:embed="rId3">
                <a:alphaModFix amt="0"/>
              </a:blip>
              <a:stretch>
                <a:fillRect l="0" t="-43528" r="0" b="-43528"/>
              </a:stretch>
            </a:blipFill>
          </p:spPr>
        </p:sp>
        <p:sp>
          <p:nvSpPr>
            <p:cNvPr name="TextBox 29" id="29"/>
            <p:cNvSpPr txBox="true"/>
            <p:nvPr/>
          </p:nvSpPr>
          <p:spPr>
            <a:xfrm>
              <a:off x="0" y="-38100"/>
              <a:ext cx="8778240" cy="1866900"/>
            </a:xfrm>
            <a:prstGeom prst="rect">
              <a:avLst/>
            </a:prstGeom>
          </p:spPr>
          <p:txBody>
            <a:bodyPr anchor="ctr" rtlCol="false" tIns="0" lIns="0" bIns="0" rIns="0"/>
            <a:lstStyle/>
            <a:p>
              <a:pPr algn="l">
                <a:lnSpc>
                  <a:spcPts val="2430"/>
                </a:lnSpc>
              </a:pPr>
              <a:r>
                <a:rPr lang="en-US" sz="2025">
                  <a:solidFill>
                    <a:srgbClr val="5F626B"/>
                  </a:solidFill>
                  <a:latin typeface="Calibri (MS)"/>
                  <a:ea typeface="Calibri (MS)"/>
                  <a:cs typeface="Calibri (MS)"/>
                  <a:sym typeface="Calibri (MS)"/>
                </a:rPr>
                <a:t>Stack · Queue · Graph (BFS, DFS) · Tree · Search · Sort · Trip. No menus, no I/O.</a:t>
              </a:r>
            </a:p>
          </p:txBody>
        </p:sp>
      </p:grpSp>
      <p:grpSp>
        <p:nvGrpSpPr>
          <p:cNvPr name="Group 30" id="30"/>
          <p:cNvGrpSpPr/>
          <p:nvPr/>
        </p:nvGrpSpPr>
        <p:grpSpPr>
          <a:xfrm rot="0">
            <a:off x="813435" y="7520559"/>
            <a:ext cx="10168890" cy="1390650"/>
            <a:chOff x="0" y="0"/>
            <a:chExt cx="13558520" cy="1854200"/>
          </a:xfrm>
        </p:grpSpPr>
        <p:sp>
          <p:nvSpPr>
            <p:cNvPr name="Freeform 31" id="31"/>
            <p:cNvSpPr/>
            <p:nvPr/>
          </p:nvSpPr>
          <p:spPr>
            <a:xfrm flipH="false" flipV="false" rot="0">
              <a:off x="0" y="0"/>
              <a:ext cx="13558520" cy="1854200"/>
            </a:xfrm>
            <a:custGeom>
              <a:avLst/>
              <a:gdLst/>
              <a:ahLst/>
              <a:cxnLst/>
              <a:rect r="r" b="b" t="t" l="l"/>
              <a:pathLst>
                <a:path h="1854200" w="13558520">
                  <a:moveTo>
                    <a:pt x="0" y="185420"/>
                  </a:moveTo>
                  <a:cubicBezTo>
                    <a:pt x="0" y="83058"/>
                    <a:pt x="83058" y="0"/>
                    <a:pt x="185420" y="0"/>
                  </a:cubicBezTo>
                  <a:lnTo>
                    <a:pt x="13373100" y="0"/>
                  </a:lnTo>
                  <a:cubicBezTo>
                    <a:pt x="13475463" y="0"/>
                    <a:pt x="13558520" y="83058"/>
                    <a:pt x="13558520" y="185420"/>
                  </a:cubicBezTo>
                  <a:lnTo>
                    <a:pt x="13558520" y="1668780"/>
                  </a:lnTo>
                  <a:cubicBezTo>
                    <a:pt x="13558520" y="1771142"/>
                    <a:pt x="13475463" y="1854200"/>
                    <a:pt x="13373100" y="1854200"/>
                  </a:cubicBezTo>
                  <a:lnTo>
                    <a:pt x="185420" y="1854200"/>
                  </a:lnTo>
                  <a:cubicBezTo>
                    <a:pt x="83058" y="1854200"/>
                    <a:pt x="0" y="1771142"/>
                    <a:pt x="0" y="1668780"/>
                  </a:cubicBezTo>
                  <a:close/>
                </a:path>
              </a:pathLst>
            </a:custGeom>
            <a:solidFill>
              <a:srgbClr val="FFFFFF"/>
            </a:solidFill>
            <a:ln w="19050" cap="sq">
              <a:solidFill>
                <a:srgbClr val="E3E4E8"/>
              </a:solidFill>
              <a:prstDash val="solid"/>
              <a:miter/>
            </a:ln>
          </p:spPr>
        </p:sp>
      </p:grpSp>
      <p:grpSp>
        <p:nvGrpSpPr>
          <p:cNvPr name="Group 32" id="32"/>
          <p:cNvGrpSpPr/>
          <p:nvPr/>
        </p:nvGrpSpPr>
        <p:grpSpPr>
          <a:xfrm rot="0">
            <a:off x="1234440" y="7530084"/>
            <a:ext cx="2743200" cy="1371600"/>
            <a:chOff x="0" y="0"/>
            <a:chExt cx="3657600" cy="1828800"/>
          </a:xfrm>
        </p:grpSpPr>
        <p:sp>
          <p:nvSpPr>
            <p:cNvPr name="Freeform 33" id="33"/>
            <p:cNvSpPr/>
            <p:nvPr/>
          </p:nvSpPr>
          <p:spPr>
            <a:xfrm flipH="false" flipV="false" rot="0">
              <a:off x="0" y="0"/>
              <a:ext cx="3657600" cy="1828800"/>
            </a:xfrm>
            <a:custGeom>
              <a:avLst/>
              <a:gdLst/>
              <a:ahLst/>
              <a:cxnLst/>
              <a:rect r="r" b="b" t="t" l="l"/>
              <a:pathLst>
                <a:path h="1828800" w="3657600">
                  <a:moveTo>
                    <a:pt x="0" y="0"/>
                  </a:moveTo>
                  <a:lnTo>
                    <a:pt x="3657600" y="0"/>
                  </a:lnTo>
                  <a:lnTo>
                    <a:pt x="3657600" y="1828800"/>
                  </a:lnTo>
                  <a:lnTo>
                    <a:pt x="0" y="1828800"/>
                  </a:lnTo>
                  <a:close/>
                </a:path>
              </a:pathLst>
            </a:custGeom>
            <a:blipFill>
              <a:blip r:embed="rId3">
                <a:alphaModFix amt="0"/>
              </a:blip>
              <a:stretch>
                <a:fillRect l="-14151" t="0" r="-14151" b="0"/>
              </a:stretch>
            </a:blipFill>
          </p:spPr>
        </p:sp>
        <p:sp>
          <p:nvSpPr>
            <p:cNvPr name="TextBox 34" id="34"/>
            <p:cNvSpPr txBox="true"/>
            <p:nvPr/>
          </p:nvSpPr>
          <p:spPr>
            <a:xfrm>
              <a:off x="0" y="-9525"/>
              <a:ext cx="3657600" cy="1838325"/>
            </a:xfrm>
            <a:prstGeom prst="rect">
              <a:avLst/>
            </a:prstGeom>
          </p:spPr>
          <p:txBody>
            <a:bodyPr anchor="ctr" rtlCol="false" tIns="0" lIns="0" bIns="0" rIns="0"/>
            <a:lstStyle/>
            <a:p>
              <a:pPr algn="l">
                <a:lnSpc>
                  <a:spcPts val="3060"/>
                </a:lnSpc>
              </a:pPr>
              <a:r>
                <a:rPr lang="en-US" sz="2550" b="true">
                  <a:solidFill>
                    <a:srgbClr val="5F626B"/>
                  </a:solidFill>
                  <a:latin typeface="Arial Bold"/>
                  <a:ea typeface="Arial Bold"/>
                  <a:cs typeface="Arial Bold"/>
                  <a:sym typeface="Arial Bold"/>
                </a:rPr>
                <a:t>data/*.txt</a:t>
              </a:r>
            </a:p>
          </p:txBody>
        </p:sp>
      </p:grpSp>
      <p:grpSp>
        <p:nvGrpSpPr>
          <p:cNvPr name="Group 35" id="35"/>
          <p:cNvGrpSpPr/>
          <p:nvPr/>
        </p:nvGrpSpPr>
        <p:grpSpPr>
          <a:xfrm rot="0">
            <a:off x="4114800" y="7530084"/>
            <a:ext cx="6583680" cy="1371600"/>
            <a:chOff x="0" y="0"/>
            <a:chExt cx="8778240" cy="1828800"/>
          </a:xfrm>
        </p:grpSpPr>
        <p:sp>
          <p:nvSpPr>
            <p:cNvPr name="Freeform 36" id="36"/>
            <p:cNvSpPr/>
            <p:nvPr/>
          </p:nvSpPr>
          <p:spPr>
            <a:xfrm flipH="false" flipV="false" rot="0">
              <a:off x="0" y="0"/>
              <a:ext cx="8778240" cy="1828800"/>
            </a:xfrm>
            <a:custGeom>
              <a:avLst/>
              <a:gdLst/>
              <a:ahLst/>
              <a:cxnLst/>
              <a:rect r="r" b="b" t="t" l="l"/>
              <a:pathLst>
                <a:path h="1828800" w="8778240">
                  <a:moveTo>
                    <a:pt x="0" y="0"/>
                  </a:moveTo>
                  <a:lnTo>
                    <a:pt x="8778240" y="0"/>
                  </a:lnTo>
                  <a:lnTo>
                    <a:pt x="8778240" y="1828800"/>
                  </a:lnTo>
                  <a:lnTo>
                    <a:pt x="0" y="1828800"/>
                  </a:lnTo>
                  <a:close/>
                </a:path>
              </a:pathLst>
            </a:custGeom>
            <a:blipFill>
              <a:blip r:embed="rId3">
                <a:alphaModFix amt="0"/>
              </a:blip>
              <a:stretch>
                <a:fillRect l="0" t="-43528" r="0" b="-43528"/>
              </a:stretch>
            </a:blipFill>
          </p:spPr>
        </p:sp>
        <p:sp>
          <p:nvSpPr>
            <p:cNvPr name="TextBox 37" id="37"/>
            <p:cNvSpPr txBox="true"/>
            <p:nvPr/>
          </p:nvSpPr>
          <p:spPr>
            <a:xfrm>
              <a:off x="0" y="-38100"/>
              <a:ext cx="8778240" cy="1866900"/>
            </a:xfrm>
            <a:prstGeom prst="rect">
              <a:avLst/>
            </a:prstGeom>
          </p:spPr>
          <p:txBody>
            <a:bodyPr anchor="ctr" rtlCol="false" tIns="0" lIns="0" bIns="0" rIns="0"/>
            <a:lstStyle/>
            <a:p>
              <a:pPr algn="l">
                <a:lnSpc>
                  <a:spcPts val="2430"/>
                </a:lnSpc>
              </a:pPr>
              <a:r>
                <a:rPr lang="en-US" sz="2025">
                  <a:solidFill>
                    <a:srgbClr val="5F626B"/>
                  </a:solidFill>
                  <a:latin typeface="Calibri (MS)"/>
                  <a:ea typeface="Calibri (MS)"/>
                  <a:cs typeface="Calibri (MS)"/>
                  <a:sym typeface="Calibri (MS)"/>
                </a:rPr>
                <a:t>Plain text: locations, paths, categories, users, favorites. Plus logs/application.log.</a:t>
              </a:r>
            </a:p>
          </p:txBody>
        </p:sp>
      </p:grpSp>
      <p:grpSp>
        <p:nvGrpSpPr>
          <p:cNvPr name="Group 38" id="38"/>
          <p:cNvGrpSpPr/>
          <p:nvPr/>
        </p:nvGrpSpPr>
        <p:grpSpPr>
          <a:xfrm rot="0">
            <a:off x="11727180" y="2674620"/>
            <a:ext cx="5760720" cy="548640"/>
            <a:chOff x="0" y="0"/>
            <a:chExt cx="7680960" cy="731520"/>
          </a:xfrm>
        </p:grpSpPr>
        <p:sp>
          <p:nvSpPr>
            <p:cNvPr name="Freeform 39" id="39"/>
            <p:cNvSpPr/>
            <p:nvPr/>
          </p:nvSpPr>
          <p:spPr>
            <a:xfrm flipH="false" flipV="false" rot="0">
              <a:off x="0" y="0"/>
              <a:ext cx="7680960" cy="731520"/>
            </a:xfrm>
            <a:custGeom>
              <a:avLst/>
              <a:gdLst/>
              <a:ahLst/>
              <a:cxnLst/>
              <a:rect r="r" b="b" t="t" l="l"/>
              <a:pathLst>
                <a:path h="731520" w="7680960">
                  <a:moveTo>
                    <a:pt x="0" y="0"/>
                  </a:moveTo>
                  <a:lnTo>
                    <a:pt x="7680960" y="0"/>
                  </a:lnTo>
                  <a:lnTo>
                    <a:pt x="7680960" y="731520"/>
                  </a:lnTo>
                  <a:lnTo>
                    <a:pt x="0" y="731520"/>
                  </a:lnTo>
                  <a:close/>
                </a:path>
              </a:pathLst>
            </a:custGeom>
            <a:blipFill>
              <a:blip r:embed="rId3">
                <a:alphaModFix amt="0"/>
              </a:blip>
              <a:stretch>
                <a:fillRect l="0" t="-154592" r="0" b="-154592"/>
              </a:stretch>
            </a:blipFill>
          </p:spPr>
        </p:sp>
        <p:sp>
          <p:nvSpPr>
            <p:cNvPr name="TextBox 40" id="40"/>
            <p:cNvSpPr txBox="true"/>
            <p:nvPr/>
          </p:nvSpPr>
          <p:spPr>
            <a:xfrm>
              <a:off x="0" y="-19050"/>
              <a:ext cx="7680960" cy="750570"/>
            </a:xfrm>
            <a:prstGeom prst="rect">
              <a:avLst/>
            </a:prstGeom>
          </p:spPr>
          <p:txBody>
            <a:bodyPr anchor="ctr" rtlCol="false" tIns="0" lIns="0" bIns="0" rIns="0"/>
            <a:lstStyle/>
            <a:p>
              <a:pPr algn="l">
                <a:lnSpc>
                  <a:spcPts val="3240"/>
                </a:lnSpc>
              </a:pPr>
              <a:r>
                <a:rPr lang="en-US" sz="2700" b="true">
                  <a:solidFill>
                    <a:srgbClr val="16171B"/>
                  </a:solidFill>
                  <a:latin typeface="Arial Bold"/>
                  <a:ea typeface="Arial Bold"/>
                  <a:cs typeface="Arial Bold"/>
                  <a:sym typeface="Arial Bold"/>
                </a:rPr>
                <a:t>Why it matters</a:t>
              </a:r>
            </a:p>
          </p:txBody>
        </p:sp>
      </p:grpSp>
      <p:sp>
        <p:nvSpPr>
          <p:cNvPr name="TextBox 41" id="41"/>
          <p:cNvSpPr txBox="true"/>
          <p:nvPr/>
        </p:nvSpPr>
        <p:spPr>
          <a:xfrm rot="0">
            <a:off x="11727180" y="3312795"/>
            <a:ext cx="5760720" cy="3888105"/>
          </a:xfrm>
          <a:prstGeom prst="rect">
            <a:avLst/>
          </a:prstGeom>
        </p:spPr>
        <p:txBody>
          <a:bodyPr anchor="t" rtlCol="false" tIns="0" lIns="0" bIns="0" rIns="0">
            <a:spAutoFit/>
          </a:bodyPr>
          <a:lstStyle/>
          <a:p>
            <a:pPr algn="l" marL="380048" indent="-190024" lvl="1">
              <a:lnSpc>
                <a:spcPts val="2520"/>
              </a:lnSpc>
              <a:buFont typeface="Arial"/>
              <a:buChar char="•"/>
            </a:pPr>
            <a:r>
              <a:rPr lang="en-US" sz="2100">
                <a:solidFill>
                  <a:srgbClr val="5F626B"/>
                </a:solidFill>
                <a:latin typeface="Calibri (MS)"/>
                <a:ea typeface="Calibri (MS)"/>
                <a:cs typeface="Calibri (MS)"/>
                <a:sym typeface="Calibri (MS)"/>
              </a:rPr>
              <a:t>The stack can be opened and explained on its own (dsa/stack).</a:t>
            </a:r>
          </a:p>
          <a:p>
            <a:pPr algn="l" marL="380048" indent="-190024" lvl="1">
              <a:lnSpc>
                <a:spcPts val="2520"/>
              </a:lnSpc>
              <a:buFont typeface="Arial"/>
              <a:buChar char="•"/>
            </a:pPr>
            <a:r>
              <a:rPr lang="en-US" sz="2100">
                <a:solidFill>
                  <a:srgbClr val="5F626B"/>
                </a:solidFill>
                <a:latin typeface="Calibri (MS)"/>
                <a:ea typeface="Calibri (MS)"/>
                <a:cs typeface="Calibri (MS)"/>
                <a:sym typeface="Calibri (MS)"/>
              </a:rPr>
              <a:t>Each structure has its own test program.</a:t>
            </a:r>
          </a:p>
          <a:p>
            <a:pPr algn="l" marL="380048" indent="-190024" lvl="1">
              <a:lnSpc>
                <a:spcPts val="2520"/>
              </a:lnSpc>
              <a:buFont typeface="Arial"/>
              <a:buChar char="•"/>
            </a:pPr>
            <a:r>
              <a:rPr lang="en-US" sz="2100">
                <a:solidFill>
                  <a:srgbClr val="5F626B"/>
                </a:solidFill>
                <a:latin typeface="Calibri (MS)"/>
                <a:ea typeface="Calibri (MS)"/>
                <a:cs typeface="Calibri (MS)"/>
                <a:sym typeface="Calibri (MS)"/>
              </a:rPr>
              <a:t>The same core could sit under a graphical app, just as the online version reuses the data.</a:t>
            </a:r>
          </a:p>
        </p:txBody>
      </p:sp>
    </p:spTree>
  </p:cSld>
  <p:clrMapOvr>
    <a:masterClrMapping/>
  </p:clrMapOvr>
  <p:transition spd="fast">
    <p:fade/>
  </p:transition>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UNDER THE HOOD</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How one trip request moves through the code</a:t>
            </a:r>
          </a:p>
        </p:txBody>
      </p:sp>
      <p:grpSp>
        <p:nvGrpSpPr>
          <p:cNvPr name="Group 6" id="6"/>
          <p:cNvGrpSpPr/>
          <p:nvPr/>
        </p:nvGrpSpPr>
        <p:grpSpPr>
          <a:xfrm rot="0">
            <a:off x="822960" y="2606040"/>
            <a:ext cx="16596360" cy="7104888"/>
            <a:chOff x="0" y="0"/>
            <a:chExt cx="22128480" cy="9473184"/>
          </a:xfrm>
        </p:grpSpPr>
        <p:sp>
          <p:nvSpPr>
            <p:cNvPr name="Freeform 7" id="7" descr="C:\Users\rup\AppData\Local\Temp\claude\d--Codes-CholoKUET\2a005a77-40ea-402f-8f1e-eba05e0da9d5\scratchpad\deck\img\trip-flow.png"/>
            <p:cNvSpPr/>
            <p:nvPr/>
          </p:nvSpPr>
          <p:spPr>
            <a:xfrm flipH="false" flipV="false" rot="0">
              <a:off x="0" y="0"/>
              <a:ext cx="22128480" cy="9473184"/>
            </a:xfrm>
            <a:custGeom>
              <a:avLst/>
              <a:gdLst/>
              <a:ahLst/>
              <a:cxnLst/>
              <a:rect r="r" b="b" t="t" l="l"/>
              <a:pathLst>
                <a:path h="9473184" w="22128480">
                  <a:moveTo>
                    <a:pt x="0" y="0"/>
                  </a:moveTo>
                  <a:lnTo>
                    <a:pt x="22128480" y="0"/>
                  </a:lnTo>
                  <a:lnTo>
                    <a:pt x="22128480" y="9473184"/>
                  </a:lnTo>
                  <a:lnTo>
                    <a:pt x="0" y="9473184"/>
                  </a:lnTo>
                  <a:lnTo>
                    <a:pt x="0" y="0"/>
                  </a:lnTo>
                  <a:close/>
                </a:path>
              </a:pathLst>
            </a:custGeom>
            <a:blipFill>
              <a:blip r:embed="rId4"/>
              <a:stretch>
                <a:fillRect l="0" t="0" r="0" b="-2195"/>
              </a:stretch>
            </a:blipFill>
          </p:spPr>
        </p:sp>
      </p:grpSp>
    </p:spTree>
  </p:cSld>
  <p:clrMapOvr>
    <a:masterClrMapping/>
  </p:clrMapOvr>
  <p:transition spd="fast">
    <p:fade/>
  </p:transition>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WHERE EACH STRUCTURE LIVES</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Every structure does real work</a:t>
            </a:r>
          </a:p>
        </p:txBody>
      </p:sp>
      <p:graphicFrame>
        <p:nvGraphicFramePr>
          <p:cNvPr name="Table 6" id="6"/>
          <p:cNvGraphicFramePr>
            <a:graphicFrameLocks noGrp="true"/>
          </p:cNvGraphicFramePr>
          <p:nvPr/>
        </p:nvGraphicFramePr>
        <p:xfrm>
          <a:off x="822960" y="2606040"/>
          <a:ext cx="16573500" cy="6096000"/>
        </p:xfrm>
        <a:graphic>
          <a:graphicData uri="http://schemas.openxmlformats.org/drawingml/2006/table">
            <a:tbl>
              <a:tblPr/>
              <a:tblGrid>
                <a:gridCol w="3162535"/>
                <a:gridCol w="6296681"/>
                <a:gridCol w="7114284"/>
              </a:tblGrid>
              <a:tr h="762000">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Structure</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101114"/>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Built as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101114"/>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Used for</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101114"/>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Stack</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Hand-written array, top = -1 when empty</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DFS, the Back button, reversing BFS routes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Queue</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Hand-written circular array</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BFS for every route</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BF4D2"/>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Array</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160"/>
                        </a:lnSpc>
                        <a:defRPr/>
                      </a:pPr>
                      <a:r>
                        <a:rPr lang="en-US" sz="1800">
                          <a:solidFill>
                            <a:srgbClr val="16171B"/>
                          </a:solidFill>
                          <a:latin typeface="Consolas"/>
                          <a:ea typeface="Consolas"/>
                          <a:cs typeface="Consolas"/>
                          <a:sym typeface="Consolas"/>
                        </a:rPr>
                        <a:t>std::vector&lt;Location&gt;</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The list of all 44 places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Linked list</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160"/>
                        </a:lnSpc>
                        <a:defRPr/>
                      </a:pPr>
                      <a:r>
                        <a:rPr lang="en-US" sz="1800">
                          <a:solidFill>
                            <a:srgbClr val="16171B"/>
                          </a:solidFill>
                          <a:latin typeface="Consolas"/>
                          <a:ea typeface="Consolas"/>
                          <a:cs typeface="Consolas"/>
                          <a:sym typeface="Consolas"/>
                        </a:rPr>
                        <a:t>std::list&lt;int&gt;</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Recent searches, favorites, BFS routes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Tree</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160"/>
                        </a:lnSpc>
                        <a:defRPr/>
                      </a:pPr>
                      <a:r>
                        <a:rPr lang="en-US" sz="1800">
                          <a:solidFill>
                            <a:srgbClr val="16171B"/>
                          </a:solidFill>
                          <a:latin typeface="Consolas"/>
                          <a:ea typeface="Consolas"/>
                          <a:cs typeface="Consolas"/>
                          <a:sym typeface="Consolas"/>
                        </a:rPr>
                        <a:t>General tree, children in a vector</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Browse by category</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Graph</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160"/>
                        </a:lnSpc>
                        <a:defRPr/>
                      </a:pPr>
                      <a:r>
                        <a:rPr lang="en-US" sz="1800">
                          <a:solidFill>
                            <a:srgbClr val="16171B"/>
                          </a:solidFill>
                          <a:latin typeface="Consolas"/>
                          <a:ea typeface="Consolas"/>
                          <a:cs typeface="Consolas"/>
                          <a:sym typeface="Consolas"/>
                        </a:rPr>
                        <a:t>Adjacency list with meters and road names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Walkways between places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r>
              <a:tr h="762000">
                <a:tc>
                  <a:txBody>
                    <a:bodyPr anchor="t" rtlCol="false"/>
                    <a:lstStyle/>
                    <a:p>
                      <a:pPr algn="l">
                        <a:lnSpc>
                          <a:spcPts val="2430"/>
                        </a:lnSpc>
                        <a:defRPr/>
                      </a:pPr>
                      <a:r>
                        <a:rPr lang="en-US" sz="2025" b="true">
                          <a:solidFill>
                            <a:srgbClr val="16171B"/>
                          </a:solidFill>
                          <a:latin typeface="Calibri (MS) Bold"/>
                          <a:ea typeface="Calibri (MS) Bold"/>
                          <a:cs typeface="Calibri (MS) Bold"/>
                          <a:sym typeface="Calibri (MS) Bold"/>
                        </a:rPr>
                        <a:t>Search, sort</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160"/>
                        </a:lnSpc>
                        <a:defRPr/>
                      </a:pPr>
                      <a:r>
                        <a:rPr lang="en-US" sz="1800">
                          <a:solidFill>
                            <a:srgbClr val="16171B"/>
                          </a:solidFill>
                          <a:latin typeface="Consolas"/>
                          <a:ea typeface="Consolas"/>
                          <a:cs typeface="Consolas"/>
                          <a:sym typeface="Consolas"/>
                        </a:rPr>
                        <a:t>Our own code, counting steps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c>
                  <a:txBody>
                    <a:bodyPr anchor="t" rtlCol="false"/>
                    <a:lstStyle/>
                    <a:p>
                      <a:pPr algn="l">
                        <a:lnSpc>
                          <a:spcPts val="2430"/>
                        </a:lnSpc>
                        <a:defRPr/>
                      </a:pPr>
                      <a:r>
                        <a:rPr lang="en-US" sz="2025">
                          <a:solidFill>
                            <a:srgbClr val="16171B"/>
                          </a:solidFill>
                          <a:latin typeface="Calibri (MS)"/>
                          <a:ea typeface="Calibri (MS)"/>
                          <a:cs typeface="Calibri (MS)"/>
                          <a:sym typeface="Calibri (MS)"/>
                        </a:rPr>
                        <a:t>Finding and ordering places</a:t>
                      </a:r>
                      <a:endParaRPr lang="en-US" sz="1100"/>
                    </a:p>
                  </a:txBody>
                  <a:tcPr marL="137160" marR="137160" marT="137160" marB="137160" anchor="ctr">
                    <a:lnL cmpd="sng" algn="ctr" cap="flat" w="9525">
                      <a:solidFill>
                        <a:srgbClr val="E3E4E8"/>
                      </a:solidFill>
                      <a:prstDash val="solid"/>
                      <a:round/>
                      <a:headEnd type="none" w="med" len="med"/>
                      <a:tailEnd type="none" w="med" len="med"/>
                    </a:lnL>
                    <a:lnR cmpd="sng" algn="ctr" cap="flat" w="9525">
                      <a:solidFill>
                        <a:srgbClr val="E3E4E8"/>
                      </a:solidFill>
                      <a:prstDash val="solid"/>
                      <a:round/>
                      <a:headEnd type="none" w="med" len="med"/>
                      <a:tailEnd type="none" w="med" len="med"/>
                    </a:lnR>
                    <a:lnT cmpd="sng" algn="ctr" cap="flat" w="9525">
                      <a:solidFill>
                        <a:srgbClr val="E3E4E8"/>
                      </a:solidFill>
                      <a:prstDash val="solid"/>
                      <a:round/>
                      <a:headEnd type="none" w="med" len="med"/>
                      <a:tailEnd type="none" w="med" len="med"/>
                    </a:lnT>
                    <a:lnB cmpd="sng" algn="ctr" cap="flat" w="9525">
                      <a:solidFill>
                        <a:srgbClr val="E3E4E8"/>
                      </a:solidFill>
                      <a:prstDash val="solid"/>
                      <a:round/>
                      <a:headEnd type="none" w="med" len="med"/>
                      <a:tailEnd type="none" w="med" len="med"/>
                    </a:lnB>
                    <a:solidFill>
                      <a:srgbClr val="FFFFFF"/>
                    </a:solidFill>
                  </a:tcPr>
                </a:tc>
              </a:tr>
            </a:tbl>
          </a:graphicData>
        </a:graphic>
      </p:graphicFrame>
      <p:grpSp>
        <p:nvGrpSpPr>
          <p:cNvPr name="Group 7" id="7"/>
          <p:cNvGrpSpPr/>
          <p:nvPr/>
        </p:nvGrpSpPr>
        <p:grpSpPr>
          <a:xfrm rot="0">
            <a:off x="822960" y="8983980"/>
            <a:ext cx="16459200" cy="480060"/>
            <a:chOff x="0" y="0"/>
            <a:chExt cx="21945600" cy="640080"/>
          </a:xfrm>
        </p:grpSpPr>
        <p:sp>
          <p:nvSpPr>
            <p:cNvPr name="Freeform 8" id="8"/>
            <p:cNvSpPr/>
            <p:nvPr/>
          </p:nvSpPr>
          <p:spPr>
            <a:xfrm flipH="false" flipV="false" rot="0">
              <a:off x="0" y="0"/>
              <a:ext cx="21945600" cy="640080"/>
            </a:xfrm>
            <a:custGeom>
              <a:avLst/>
              <a:gdLst/>
              <a:ahLst/>
              <a:cxnLst/>
              <a:rect r="r" b="b" t="t" l="l"/>
              <a:pathLst>
                <a:path h="640080" w="21945600">
                  <a:moveTo>
                    <a:pt x="0" y="0"/>
                  </a:moveTo>
                  <a:lnTo>
                    <a:pt x="21945600" y="0"/>
                  </a:lnTo>
                  <a:lnTo>
                    <a:pt x="21945600" y="640080"/>
                  </a:lnTo>
                  <a:lnTo>
                    <a:pt x="0" y="640080"/>
                  </a:lnTo>
                  <a:close/>
                </a:path>
              </a:pathLst>
            </a:custGeom>
            <a:blipFill>
              <a:blip r:embed="rId3">
                <a:alphaModFix amt="0"/>
              </a:blip>
              <a:stretch>
                <a:fillRect l="0" t="-618058" r="0" b="-618058"/>
              </a:stretch>
            </a:blipFill>
          </p:spPr>
        </p:sp>
        <p:sp>
          <p:nvSpPr>
            <p:cNvPr name="TextBox 9" id="9"/>
            <p:cNvSpPr txBox="true"/>
            <p:nvPr/>
          </p:nvSpPr>
          <p:spPr>
            <a:xfrm>
              <a:off x="0" y="-47625"/>
              <a:ext cx="21945600" cy="687705"/>
            </a:xfrm>
            <a:prstGeom prst="rect">
              <a:avLst/>
            </a:prstGeom>
          </p:spPr>
          <p:txBody>
            <a:bodyPr anchor="ctr" rtlCol="false" tIns="0" lIns="0" bIns="0" rIns="0"/>
            <a:lstStyle/>
            <a:p>
              <a:pPr algn="l">
                <a:lnSpc>
                  <a:spcPts val="2340"/>
                </a:lnSpc>
              </a:pPr>
              <a:r>
                <a:rPr lang="en-US" sz="1950" i="true">
                  <a:solidFill>
                    <a:srgbClr val="5F626B"/>
                  </a:solidFill>
                  <a:latin typeface="Calibri (MS) Italics"/>
                  <a:ea typeface="Calibri (MS) Italics"/>
                  <a:cs typeface="Calibri (MS) Italics"/>
                  <a:sym typeface="Calibri (MS) Italics"/>
                </a:rPr>
                <a:t>Highlighted rows are written from scratch. make check-manual proves std::stack, std::queue and std::sort are never used.</a:t>
              </a:r>
            </a:p>
          </p:txBody>
        </p:sp>
      </p:grpSp>
    </p:spTree>
  </p:cSld>
  <p:clrMapOvr>
    <a:masterClrMapping/>
  </p:clrMapOvr>
  <p:transition spd="fast">
    <p:fade/>
  </p:transition>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HAND-WRITTEN · DSA/STACK AND DSA/QUEUE</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Last in, first out. First in, first out, and it wraps</a:t>
            </a:r>
          </a:p>
        </p:txBody>
      </p:sp>
      <p:grpSp>
        <p:nvGrpSpPr>
          <p:cNvPr name="Group 6" id="6"/>
          <p:cNvGrpSpPr/>
          <p:nvPr/>
        </p:nvGrpSpPr>
        <p:grpSpPr>
          <a:xfrm rot="0">
            <a:off x="813435" y="2665095"/>
            <a:ext cx="8111490" cy="3722370"/>
            <a:chOff x="0" y="0"/>
            <a:chExt cx="10815320" cy="4963160"/>
          </a:xfrm>
        </p:grpSpPr>
        <p:sp>
          <p:nvSpPr>
            <p:cNvPr name="Freeform 7" id="7"/>
            <p:cNvSpPr/>
            <p:nvPr/>
          </p:nvSpPr>
          <p:spPr>
            <a:xfrm flipH="false" flipV="false" rot="0">
              <a:off x="0" y="0"/>
              <a:ext cx="10815320" cy="4963160"/>
            </a:xfrm>
            <a:custGeom>
              <a:avLst/>
              <a:gdLst/>
              <a:ahLst/>
              <a:cxnLst/>
              <a:rect r="r" b="b" t="t" l="l"/>
              <a:pathLst>
                <a:path h="4963160" w="10815320">
                  <a:moveTo>
                    <a:pt x="0" y="183896"/>
                  </a:moveTo>
                  <a:cubicBezTo>
                    <a:pt x="0" y="82296"/>
                    <a:pt x="82296" y="0"/>
                    <a:pt x="183896" y="0"/>
                  </a:cubicBezTo>
                  <a:lnTo>
                    <a:pt x="10631424" y="0"/>
                  </a:lnTo>
                  <a:cubicBezTo>
                    <a:pt x="10732897" y="0"/>
                    <a:pt x="10815320" y="82296"/>
                    <a:pt x="10815320" y="183896"/>
                  </a:cubicBezTo>
                  <a:lnTo>
                    <a:pt x="10815320" y="4779264"/>
                  </a:lnTo>
                  <a:cubicBezTo>
                    <a:pt x="10815320" y="4880737"/>
                    <a:pt x="10733024" y="4963160"/>
                    <a:pt x="10631424" y="4963160"/>
                  </a:cubicBezTo>
                  <a:lnTo>
                    <a:pt x="183896" y="4963160"/>
                  </a:lnTo>
                  <a:cubicBezTo>
                    <a:pt x="82296" y="4963160"/>
                    <a:pt x="0" y="4880864"/>
                    <a:pt x="0" y="4779264"/>
                  </a:cubicBezTo>
                  <a:close/>
                </a:path>
              </a:pathLst>
            </a:custGeom>
            <a:solidFill>
              <a:srgbClr val="07080A"/>
            </a:solidFill>
            <a:ln w="19050" cap="sq">
              <a:solidFill>
                <a:srgbClr val="2C2F38"/>
              </a:solidFill>
              <a:prstDash val="solid"/>
              <a:miter/>
            </a:ln>
          </p:spPr>
        </p:sp>
      </p:grpSp>
      <p:grpSp>
        <p:nvGrpSpPr>
          <p:cNvPr name="Group 8" id="8"/>
          <p:cNvGrpSpPr/>
          <p:nvPr/>
        </p:nvGrpSpPr>
        <p:grpSpPr>
          <a:xfrm rot="0">
            <a:off x="1087755" y="2898267"/>
            <a:ext cx="183642" cy="183642"/>
            <a:chOff x="0" y="0"/>
            <a:chExt cx="244856" cy="244856"/>
          </a:xfrm>
        </p:grpSpPr>
        <p:sp>
          <p:nvSpPr>
            <p:cNvPr name="Freeform 9" id="9"/>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10" id="10"/>
          <p:cNvGrpSpPr/>
          <p:nvPr/>
        </p:nvGrpSpPr>
        <p:grpSpPr>
          <a:xfrm rot="0">
            <a:off x="1362075" y="2898267"/>
            <a:ext cx="183642" cy="183642"/>
            <a:chOff x="0" y="0"/>
            <a:chExt cx="244856" cy="244856"/>
          </a:xfrm>
        </p:grpSpPr>
        <p:sp>
          <p:nvSpPr>
            <p:cNvPr name="Freeform 11" id="11"/>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12" id="12"/>
          <p:cNvGrpSpPr/>
          <p:nvPr/>
        </p:nvGrpSpPr>
        <p:grpSpPr>
          <a:xfrm rot="0">
            <a:off x="1636395" y="2898267"/>
            <a:ext cx="183642" cy="183642"/>
            <a:chOff x="0" y="0"/>
            <a:chExt cx="244856" cy="244856"/>
          </a:xfrm>
        </p:grpSpPr>
        <p:sp>
          <p:nvSpPr>
            <p:cNvPr name="Freeform 13" id="13"/>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14" id="14"/>
          <p:cNvSpPr txBox="true"/>
          <p:nvPr/>
        </p:nvSpPr>
        <p:spPr>
          <a:xfrm rot="0">
            <a:off x="1124712" y="3244215"/>
            <a:ext cx="7488936" cy="2927985"/>
          </a:xfrm>
          <a:prstGeom prst="rect">
            <a:avLst/>
          </a:prstGeom>
        </p:spPr>
        <p:txBody>
          <a:bodyPr anchor="t" rtlCol="false" tIns="0" lIns="0" bIns="0" rIns="0">
            <a:spAutoFit/>
          </a:bodyPr>
          <a:lstStyle/>
          <a:p>
            <a:pPr algn="l">
              <a:lnSpc>
                <a:spcPts val="2268"/>
              </a:lnSpc>
            </a:pPr>
            <a:r>
              <a:rPr lang="en-US" sz="1800">
                <a:solidFill>
                  <a:srgbClr val="D9B100"/>
                </a:solidFill>
                <a:latin typeface="Consolas"/>
                <a:ea typeface="Consolas"/>
                <a:cs typeface="Consolas"/>
                <a:sym typeface="Consolas"/>
              </a:rPr>
              <a:t>bool </a:t>
            </a:r>
            <a:r>
              <a:rPr lang="en-US" sz="1800">
                <a:solidFill>
                  <a:srgbClr val="FFFFFF"/>
                </a:solidFill>
                <a:latin typeface="Consolas"/>
                <a:ea typeface="Consolas"/>
                <a:cs typeface="Consolas"/>
                <a:sym typeface="Consolas"/>
              </a:rPr>
              <a:t>Stack::push(</a:t>
            </a:r>
            <a:r>
              <a:rPr lang="en-US" sz="1800">
                <a:solidFill>
                  <a:srgbClr val="D9B100"/>
                </a:solidFill>
                <a:latin typeface="Consolas"/>
                <a:ea typeface="Consolas"/>
                <a:cs typeface="Consolas"/>
                <a:sym typeface="Consolas"/>
              </a:rPr>
              <a:t>int</a:t>
            </a:r>
            <a:r>
              <a:rPr lang="en-US" sz="1800">
                <a:solidFill>
                  <a:srgbClr val="FFFFFF"/>
                </a:solidFill>
                <a:latin typeface="Consolas"/>
                <a:ea typeface="Consolas"/>
                <a:cs typeface="Consolas"/>
                <a:sym typeface="Consolas"/>
              </a:rPr>
              <a:t> value)</a:t>
            </a:r>
          </a:p>
          <a:p>
            <a:pPr algn="l">
              <a:lnSpc>
                <a:spcPts val="2268"/>
              </a:lnSpc>
            </a:pPr>
            <a:r>
              <a:rPr lang="en-US" sz="1800">
                <a:solidFill>
                  <a:srgbClr val="FFFFFF"/>
                </a:solidFill>
                <a:latin typeface="Consolas"/>
                <a:ea typeface="Consolas"/>
                <a:cs typeface="Consolas"/>
                <a:sym typeface="Consolas"/>
              </a:rPr>
              <a:t>{</a:t>
            </a:r>
          </a:p>
          <a:p>
            <a:pPr algn="l">
              <a:lnSpc>
                <a:spcPts val="2268"/>
              </a:lnSpc>
            </a:pPr>
            <a:r>
              <a:rPr lang="en-US" sz="1800">
                <a:solidFill>
                  <a:srgbClr val="D9B100"/>
                </a:solidFill>
                <a:latin typeface="Consolas"/>
                <a:ea typeface="Consolas"/>
                <a:cs typeface="Consolas"/>
                <a:sym typeface="Consolas"/>
              </a:rPr>
              <a:t>    if</a:t>
            </a:r>
            <a:r>
              <a:rPr lang="en-US" sz="1800">
                <a:solidFill>
                  <a:srgbClr val="FFFFFF"/>
                </a:solidFill>
                <a:latin typeface="Consolas"/>
                <a:ea typeface="Consolas"/>
                <a:cs typeface="Consolas"/>
                <a:sym typeface="Consolas"/>
              </a:rPr>
              <a:t> (isFull())</a:t>
            </a:r>
          </a:p>
          <a:p>
            <a:pPr algn="l">
              <a:lnSpc>
                <a:spcPts val="2268"/>
              </a:lnSpc>
            </a:pPr>
            <a:r>
              <a:rPr lang="en-US" sz="1800">
                <a:solidFill>
                  <a:srgbClr val="D9B100"/>
                </a:solidFill>
                <a:latin typeface="Consolas"/>
                <a:ea typeface="Consolas"/>
                <a:cs typeface="Consolas"/>
                <a:sym typeface="Consolas"/>
              </a:rPr>
              <a:t>        return </a:t>
            </a:r>
            <a:r>
              <a:rPr lang="en-US" sz="1800">
                <a:solidFill>
                  <a:srgbClr val="FFFFFF"/>
                </a:solidFill>
                <a:latin typeface="Consolas"/>
                <a:ea typeface="Consolas"/>
                <a:cs typeface="Consolas"/>
                <a:sym typeface="Consolas"/>
              </a:rPr>
              <a:t>false</a:t>
            </a:r>
            <a:r>
              <a:rPr lang="en-US" sz="1800">
                <a:solidFill>
                  <a:srgbClr val="7C7F89"/>
                </a:solidFill>
                <a:latin typeface="Consolas"/>
                <a:ea typeface="Consolas"/>
                <a:cs typeface="Consolas"/>
                <a:sym typeface="Consolas"/>
              </a:rPr>
              <a:t>;   // overflow</a:t>
            </a:r>
          </a:p>
          <a:p>
            <a:pPr algn="l">
              <a:lnSpc>
                <a:spcPts val="2268"/>
              </a:lnSpc>
            </a:pPr>
            <a:r>
              <a:rPr lang="en-US" sz="1800">
                <a:solidFill>
                  <a:srgbClr val="FFFFFF"/>
                </a:solidFill>
                <a:latin typeface="Consolas"/>
                <a:ea typeface="Consolas"/>
                <a:cs typeface="Consolas"/>
                <a:sym typeface="Consolas"/>
              </a:rPr>
              <a:t>    data[++top] = value;</a:t>
            </a:r>
          </a:p>
          <a:p>
            <a:pPr algn="l">
              <a:lnSpc>
                <a:spcPts val="2268"/>
              </a:lnSpc>
            </a:pPr>
            <a:r>
              <a:rPr lang="en-US" sz="1800">
                <a:solidFill>
                  <a:srgbClr val="D9B100"/>
                </a:solidFill>
                <a:latin typeface="Consolas"/>
                <a:ea typeface="Consolas"/>
                <a:cs typeface="Consolas"/>
                <a:sym typeface="Consolas"/>
              </a:rPr>
              <a:t>    return </a:t>
            </a:r>
            <a:r>
              <a:rPr lang="en-US" sz="1800">
                <a:solidFill>
                  <a:srgbClr val="FFFFFF"/>
                </a:solidFill>
                <a:latin typeface="Consolas"/>
                <a:ea typeface="Consolas"/>
                <a:cs typeface="Consolas"/>
                <a:sym typeface="Consolas"/>
              </a:rPr>
              <a:t>true;</a:t>
            </a:r>
          </a:p>
          <a:p>
            <a:pPr algn="l">
              <a:lnSpc>
                <a:spcPts val="2268"/>
              </a:lnSpc>
            </a:pPr>
            <a:r>
              <a:rPr lang="en-US" sz="1800">
                <a:solidFill>
                  <a:srgbClr val="FFFFFF"/>
                </a:solidFill>
                <a:latin typeface="Consolas"/>
                <a:ea typeface="Consolas"/>
                <a:cs typeface="Consolas"/>
                <a:sym typeface="Consolas"/>
              </a:rPr>
              <a:t>}</a:t>
            </a:r>
          </a:p>
        </p:txBody>
      </p:sp>
      <p:grpSp>
        <p:nvGrpSpPr>
          <p:cNvPr name="Group 15" id="15"/>
          <p:cNvGrpSpPr/>
          <p:nvPr/>
        </p:nvGrpSpPr>
        <p:grpSpPr>
          <a:xfrm rot="0">
            <a:off x="9385935" y="2665095"/>
            <a:ext cx="8111490" cy="3722370"/>
            <a:chOff x="0" y="0"/>
            <a:chExt cx="10815320" cy="4963160"/>
          </a:xfrm>
        </p:grpSpPr>
        <p:sp>
          <p:nvSpPr>
            <p:cNvPr name="Freeform 16" id="16"/>
            <p:cNvSpPr/>
            <p:nvPr/>
          </p:nvSpPr>
          <p:spPr>
            <a:xfrm flipH="false" flipV="false" rot="0">
              <a:off x="0" y="0"/>
              <a:ext cx="10815320" cy="4963160"/>
            </a:xfrm>
            <a:custGeom>
              <a:avLst/>
              <a:gdLst/>
              <a:ahLst/>
              <a:cxnLst/>
              <a:rect r="r" b="b" t="t" l="l"/>
              <a:pathLst>
                <a:path h="4963160" w="10815320">
                  <a:moveTo>
                    <a:pt x="0" y="183896"/>
                  </a:moveTo>
                  <a:cubicBezTo>
                    <a:pt x="0" y="82296"/>
                    <a:pt x="82296" y="0"/>
                    <a:pt x="183896" y="0"/>
                  </a:cubicBezTo>
                  <a:lnTo>
                    <a:pt x="10631424" y="0"/>
                  </a:lnTo>
                  <a:cubicBezTo>
                    <a:pt x="10732897" y="0"/>
                    <a:pt x="10815320" y="82296"/>
                    <a:pt x="10815320" y="183896"/>
                  </a:cubicBezTo>
                  <a:lnTo>
                    <a:pt x="10815320" y="4779264"/>
                  </a:lnTo>
                  <a:cubicBezTo>
                    <a:pt x="10815320" y="4880737"/>
                    <a:pt x="10733024" y="4963160"/>
                    <a:pt x="10631424" y="4963160"/>
                  </a:cubicBezTo>
                  <a:lnTo>
                    <a:pt x="183896" y="4963160"/>
                  </a:lnTo>
                  <a:cubicBezTo>
                    <a:pt x="82296" y="4963160"/>
                    <a:pt x="0" y="4880864"/>
                    <a:pt x="0" y="4779264"/>
                  </a:cubicBezTo>
                  <a:close/>
                </a:path>
              </a:pathLst>
            </a:custGeom>
            <a:solidFill>
              <a:srgbClr val="07080A"/>
            </a:solidFill>
            <a:ln w="19050" cap="sq">
              <a:solidFill>
                <a:srgbClr val="2C2F38"/>
              </a:solidFill>
              <a:prstDash val="solid"/>
              <a:miter/>
            </a:ln>
          </p:spPr>
        </p:sp>
      </p:grpSp>
      <p:grpSp>
        <p:nvGrpSpPr>
          <p:cNvPr name="Group 17" id="17"/>
          <p:cNvGrpSpPr/>
          <p:nvPr/>
        </p:nvGrpSpPr>
        <p:grpSpPr>
          <a:xfrm rot="0">
            <a:off x="9660255" y="2898267"/>
            <a:ext cx="183642" cy="183642"/>
            <a:chOff x="0" y="0"/>
            <a:chExt cx="244856" cy="244856"/>
          </a:xfrm>
        </p:grpSpPr>
        <p:sp>
          <p:nvSpPr>
            <p:cNvPr name="Freeform 18" id="18"/>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19" id="19"/>
          <p:cNvGrpSpPr/>
          <p:nvPr/>
        </p:nvGrpSpPr>
        <p:grpSpPr>
          <a:xfrm rot="0">
            <a:off x="9934575" y="2898267"/>
            <a:ext cx="183642" cy="183642"/>
            <a:chOff x="0" y="0"/>
            <a:chExt cx="244856" cy="244856"/>
          </a:xfrm>
        </p:grpSpPr>
        <p:sp>
          <p:nvSpPr>
            <p:cNvPr name="Freeform 20" id="20"/>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21" id="21"/>
          <p:cNvGrpSpPr/>
          <p:nvPr/>
        </p:nvGrpSpPr>
        <p:grpSpPr>
          <a:xfrm rot="0">
            <a:off x="10208895" y="2898267"/>
            <a:ext cx="183642" cy="183642"/>
            <a:chOff x="0" y="0"/>
            <a:chExt cx="244856" cy="244856"/>
          </a:xfrm>
        </p:grpSpPr>
        <p:sp>
          <p:nvSpPr>
            <p:cNvPr name="Freeform 22" id="22"/>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23" id="23"/>
          <p:cNvSpPr txBox="true"/>
          <p:nvPr/>
        </p:nvSpPr>
        <p:spPr>
          <a:xfrm rot="0">
            <a:off x="9697212" y="3244215"/>
            <a:ext cx="7488936" cy="2927985"/>
          </a:xfrm>
          <a:prstGeom prst="rect">
            <a:avLst/>
          </a:prstGeom>
        </p:spPr>
        <p:txBody>
          <a:bodyPr anchor="t" rtlCol="false" tIns="0" lIns="0" bIns="0" rIns="0">
            <a:spAutoFit/>
          </a:bodyPr>
          <a:lstStyle/>
          <a:p>
            <a:pPr algn="l">
              <a:lnSpc>
                <a:spcPts val="2268"/>
              </a:lnSpc>
            </a:pPr>
            <a:r>
              <a:rPr lang="en-US" sz="1800">
                <a:solidFill>
                  <a:srgbClr val="D9B100"/>
                </a:solidFill>
                <a:latin typeface="Consolas"/>
                <a:ea typeface="Consolas"/>
                <a:cs typeface="Consolas"/>
                <a:sym typeface="Consolas"/>
              </a:rPr>
              <a:t>bool </a:t>
            </a:r>
            <a:r>
              <a:rPr lang="en-US" sz="1800">
                <a:solidFill>
                  <a:srgbClr val="FFFFFF"/>
                </a:solidFill>
                <a:latin typeface="Consolas"/>
                <a:ea typeface="Consolas"/>
                <a:cs typeface="Consolas"/>
                <a:sym typeface="Consolas"/>
              </a:rPr>
              <a:t>Queue::enqueue(</a:t>
            </a:r>
            <a:r>
              <a:rPr lang="en-US" sz="1800">
                <a:solidFill>
                  <a:srgbClr val="D9B100"/>
                </a:solidFill>
                <a:latin typeface="Consolas"/>
                <a:ea typeface="Consolas"/>
                <a:cs typeface="Consolas"/>
                <a:sym typeface="Consolas"/>
              </a:rPr>
              <a:t>int</a:t>
            </a:r>
            <a:r>
              <a:rPr lang="en-US" sz="1800">
                <a:solidFill>
                  <a:srgbClr val="FFFFFF"/>
                </a:solidFill>
                <a:latin typeface="Consolas"/>
                <a:ea typeface="Consolas"/>
                <a:cs typeface="Consolas"/>
                <a:sym typeface="Consolas"/>
              </a:rPr>
              <a:t> value)</a:t>
            </a:r>
          </a:p>
          <a:p>
            <a:pPr algn="l">
              <a:lnSpc>
                <a:spcPts val="2268"/>
              </a:lnSpc>
            </a:pPr>
            <a:r>
              <a:rPr lang="en-US" sz="1800">
                <a:solidFill>
                  <a:srgbClr val="FFFFFF"/>
                </a:solidFill>
                <a:latin typeface="Consolas"/>
                <a:ea typeface="Consolas"/>
                <a:cs typeface="Consolas"/>
                <a:sym typeface="Consolas"/>
              </a:rPr>
              <a:t>{</a:t>
            </a:r>
          </a:p>
          <a:p>
            <a:pPr algn="l">
              <a:lnSpc>
                <a:spcPts val="2268"/>
              </a:lnSpc>
            </a:pPr>
            <a:r>
              <a:rPr lang="en-US" sz="1800">
                <a:solidFill>
                  <a:srgbClr val="D9B100"/>
                </a:solidFill>
                <a:latin typeface="Consolas"/>
                <a:ea typeface="Consolas"/>
                <a:cs typeface="Consolas"/>
                <a:sym typeface="Consolas"/>
              </a:rPr>
              <a:t>    if</a:t>
            </a:r>
            <a:r>
              <a:rPr lang="en-US" sz="1800">
                <a:solidFill>
                  <a:srgbClr val="FFFFFF"/>
                </a:solidFill>
                <a:latin typeface="Consolas"/>
                <a:ea typeface="Consolas"/>
                <a:cs typeface="Consolas"/>
                <a:sym typeface="Consolas"/>
              </a:rPr>
              <a:t> (isFull()) </a:t>
            </a:r>
            <a:r>
              <a:rPr lang="en-US" sz="1800">
                <a:solidFill>
                  <a:srgbClr val="D9B100"/>
                </a:solidFill>
                <a:latin typeface="Consolas"/>
                <a:ea typeface="Consolas"/>
                <a:cs typeface="Consolas"/>
                <a:sym typeface="Consolas"/>
              </a:rPr>
              <a:t>return </a:t>
            </a:r>
            <a:r>
              <a:rPr lang="en-US" sz="1800">
                <a:solidFill>
                  <a:srgbClr val="FFFFFF"/>
                </a:solidFill>
                <a:latin typeface="Consolas"/>
                <a:ea typeface="Consolas"/>
                <a:cs typeface="Consolas"/>
                <a:sym typeface="Consolas"/>
              </a:rPr>
              <a:t>false;</a:t>
            </a:r>
          </a:p>
          <a:p>
            <a:pPr algn="l">
              <a:lnSpc>
                <a:spcPts val="2268"/>
              </a:lnSpc>
            </a:pPr>
            <a:r>
              <a:rPr lang="en-US" sz="1800">
                <a:solidFill>
                  <a:srgbClr val="FFFFFF"/>
                </a:solidFill>
                <a:latin typeface="Consolas"/>
                <a:ea typeface="Consolas"/>
                <a:cs typeface="Consolas"/>
                <a:sym typeface="Consolas"/>
              </a:rPr>
              <a:t>    rear = (rear + 1) % CAPACITY;</a:t>
            </a:r>
          </a:p>
          <a:p>
            <a:pPr algn="l">
              <a:lnSpc>
                <a:spcPts val="2268"/>
              </a:lnSpc>
            </a:pPr>
            <a:r>
              <a:rPr lang="en-US" sz="1800">
                <a:solidFill>
                  <a:srgbClr val="FFFFFF"/>
                </a:solidFill>
                <a:latin typeface="Consolas"/>
                <a:ea typeface="Consolas"/>
                <a:cs typeface="Consolas"/>
                <a:sym typeface="Consolas"/>
              </a:rPr>
              <a:t>    data[rear] = value;</a:t>
            </a:r>
          </a:p>
          <a:p>
            <a:pPr algn="l">
              <a:lnSpc>
                <a:spcPts val="2268"/>
              </a:lnSpc>
            </a:pPr>
            <a:r>
              <a:rPr lang="en-US" sz="1800">
                <a:solidFill>
                  <a:srgbClr val="FFFFFF"/>
                </a:solidFill>
                <a:latin typeface="Consolas"/>
                <a:ea typeface="Consolas"/>
                <a:cs typeface="Consolas"/>
                <a:sym typeface="Consolas"/>
              </a:rPr>
              <a:t>    count++;  </a:t>
            </a:r>
            <a:r>
              <a:rPr lang="en-US" sz="1800">
                <a:solidFill>
                  <a:srgbClr val="7C7F89"/>
                </a:solidFill>
                <a:latin typeface="Consolas"/>
                <a:ea typeface="Consolas"/>
                <a:cs typeface="Consolas"/>
                <a:sym typeface="Consolas"/>
              </a:rPr>
              <a:t>// tells full from empty</a:t>
            </a:r>
          </a:p>
          <a:p>
            <a:pPr algn="l">
              <a:lnSpc>
                <a:spcPts val="2268"/>
              </a:lnSpc>
            </a:pPr>
            <a:r>
              <a:rPr lang="en-US" sz="1800">
                <a:solidFill>
                  <a:srgbClr val="FFFFFF"/>
                </a:solidFill>
                <a:latin typeface="Consolas"/>
                <a:ea typeface="Consolas"/>
                <a:cs typeface="Consolas"/>
                <a:sym typeface="Consolas"/>
              </a:rPr>
              <a:t>}</a:t>
            </a:r>
          </a:p>
        </p:txBody>
      </p:sp>
      <p:grpSp>
        <p:nvGrpSpPr>
          <p:cNvPr name="Group 24" id="24"/>
          <p:cNvGrpSpPr/>
          <p:nvPr/>
        </p:nvGrpSpPr>
        <p:grpSpPr>
          <a:xfrm rot="0">
            <a:off x="813435" y="8178927"/>
            <a:ext cx="4133850" cy="485394"/>
            <a:chOff x="0" y="0"/>
            <a:chExt cx="5511800" cy="647192"/>
          </a:xfrm>
        </p:grpSpPr>
        <p:sp>
          <p:nvSpPr>
            <p:cNvPr name="Freeform 25" id="25"/>
            <p:cNvSpPr/>
            <p:nvPr/>
          </p:nvSpPr>
          <p:spPr>
            <a:xfrm flipH="false" flipV="false" rot="0">
              <a:off x="0" y="0"/>
              <a:ext cx="5511800" cy="647192"/>
            </a:xfrm>
            <a:custGeom>
              <a:avLst/>
              <a:gdLst/>
              <a:ahLst/>
              <a:cxnLst/>
              <a:rect r="r" b="b" t="t" l="l"/>
              <a:pathLst>
                <a:path h="647192" w="5511800">
                  <a:moveTo>
                    <a:pt x="0" y="0"/>
                  </a:moveTo>
                  <a:lnTo>
                    <a:pt x="5511800" y="0"/>
                  </a:lnTo>
                  <a:lnTo>
                    <a:pt x="5511800" y="647192"/>
                  </a:lnTo>
                  <a:lnTo>
                    <a:pt x="0" y="647192"/>
                  </a:lnTo>
                  <a:close/>
                </a:path>
              </a:pathLst>
            </a:custGeom>
            <a:solidFill>
              <a:srgbClr val="F3F4F6"/>
            </a:solidFill>
            <a:ln w="19050" cap="sq">
              <a:solidFill>
                <a:srgbClr val="E3E4E8"/>
              </a:solidFill>
              <a:prstDash val="solid"/>
              <a:miter/>
            </a:ln>
          </p:spPr>
        </p:sp>
      </p:grpSp>
      <p:grpSp>
        <p:nvGrpSpPr>
          <p:cNvPr name="Group 26" id="26"/>
          <p:cNvGrpSpPr/>
          <p:nvPr/>
        </p:nvGrpSpPr>
        <p:grpSpPr>
          <a:xfrm rot="0">
            <a:off x="987552" y="8188452"/>
            <a:ext cx="3840480" cy="466344"/>
            <a:chOff x="0" y="0"/>
            <a:chExt cx="5120640" cy="621792"/>
          </a:xfrm>
        </p:grpSpPr>
        <p:sp>
          <p:nvSpPr>
            <p:cNvPr name="Freeform 27" id="27"/>
            <p:cNvSpPr/>
            <p:nvPr/>
          </p:nvSpPr>
          <p:spPr>
            <a:xfrm flipH="false" flipV="false" rot="0">
              <a:off x="0" y="0"/>
              <a:ext cx="5120640" cy="621792"/>
            </a:xfrm>
            <a:custGeom>
              <a:avLst/>
              <a:gdLst/>
              <a:ahLst/>
              <a:cxnLst/>
              <a:rect r="r" b="b" t="t" l="l"/>
              <a:pathLst>
                <a:path h="621792" w="5120640">
                  <a:moveTo>
                    <a:pt x="0" y="0"/>
                  </a:moveTo>
                  <a:lnTo>
                    <a:pt x="5120640" y="0"/>
                  </a:lnTo>
                  <a:lnTo>
                    <a:pt x="5120640" y="621792"/>
                  </a:lnTo>
                  <a:lnTo>
                    <a:pt x="0" y="621792"/>
                  </a:lnTo>
                  <a:close/>
                </a:path>
              </a:pathLst>
            </a:custGeom>
            <a:blipFill>
              <a:blip r:embed="rId3">
                <a:alphaModFix amt="0"/>
              </a:blip>
              <a:stretch>
                <a:fillRect l="0" t="-110465" r="0" b="-110465"/>
              </a:stretch>
            </a:blipFill>
          </p:spPr>
        </p:sp>
        <p:sp>
          <p:nvSpPr>
            <p:cNvPr name="TextBox 28" id="28"/>
            <p:cNvSpPr txBox="true"/>
            <p:nvPr/>
          </p:nvSpPr>
          <p:spPr>
            <a:xfrm>
              <a:off x="0" y="-38100"/>
              <a:ext cx="5120640" cy="659892"/>
            </a:xfrm>
            <a:prstGeom prst="rect">
              <a:avLst/>
            </a:prstGeom>
          </p:spPr>
          <p:txBody>
            <a:bodyPr anchor="ctr" rtlCol="false" tIns="0" lIns="0" bIns="0" rIns="0"/>
            <a:lstStyle/>
            <a:p>
              <a:pPr algn="l">
                <a:lnSpc>
                  <a:spcPts val="2070"/>
                </a:lnSpc>
              </a:pPr>
              <a:r>
                <a:rPr lang="en-US" sz="1725">
                  <a:solidFill>
                    <a:srgbClr val="16171B"/>
                  </a:solidFill>
                  <a:latin typeface="Calibri (MS)"/>
                  <a:ea typeface="Calibri (MS)"/>
                  <a:cs typeface="Calibri (MS)"/>
                  <a:sym typeface="Calibri (MS)"/>
                </a:rPr>
                <a:t>KUET Main Gate</a:t>
              </a:r>
            </a:p>
          </p:txBody>
        </p:sp>
      </p:grpSp>
      <p:grpSp>
        <p:nvGrpSpPr>
          <p:cNvPr name="Group 29" id="29"/>
          <p:cNvGrpSpPr/>
          <p:nvPr/>
        </p:nvGrpSpPr>
        <p:grpSpPr>
          <a:xfrm rot="0">
            <a:off x="813435" y="7657719"/>
            <a:ext cx="4133850" cy="485394"/>
            <a:chOff x="0" y="0"/>
            <a:chExt cx="5511800" cy="647192"/>
          </a:xfrm>
        </p:grpSpPr>
        <p:sp>
          <p:nvSpPr>
            <p:cNvPr name="Freeform 30" id="30"/>
            <p:cNvSpPr/>
            <p:nvPr/>
          </p:nvSpPr>
          <p:spPr>
            <a:xfrm flipH="false" flipV="false" rot="0">
              <a:off x="0" y="0"/>
              <a:ext cx="5511800" cy="647192"/>
            </a:xfrm>
            <a:custGeom>
              <a:avLst/>
              <a:gdLst/>
              <a:ahLst/>
              <a:cxnLst/>
              <a:rect r="r" b="b" t="t" l="l"/>
              <a:pathLst>
                <a:path h="647192" w="5511800">
                  <a:moveTo>
                    <a:pt x="0" y="0"/>
                  </a:moveTo>
                  <a:lnTo>
                    <a:pt x="5511800" y="0"/>
                  </a:lnTo>
                  <a:lnTo>
                    <a:pt x="5511800" y="647192"/>
                  </a:lnTo>
                  <a:lnTo>
                    <a:pt x="0" y="647192"/>
                  </a:lnTo>
                  <a:close/>
                </a:path>
              </a:pathLst>
            </a:custGeom>
            <a:solidFill>
              <a:srgbClr val="F3F4F6"/>
            </a:solidFill>
            <a:ln w="19050" cap="sq">
              <a:solidFill>
                <a:srgbClr val="E3E4E8"/>
              </a:solidFill>
              <a:prstDash val="solid"/>
              <a:miter/>
            </a:ln>
          </p:spPr>
        </p:sp>
      </p:grpSp>
      <p:grpSp>
        <p:nvGrpSpPr>
          <p:cNvPr name="Group 31" id="31"/>
          <p:cNvGrpSpPr/>
          <p:nvPr/>
        </p:nvGrpSpPr>
        <p:grpSpPr>
          <a:xfrm rot="0">
            <a:off x="987552" y="7667244"/>
            <a:ext cx="3840480" cy="466344"/>
            <a:chOff x="0" y="0"/>
            <a:chExt cx="5120640" cy="621792"/>
          </a:xfrm>
        </p:grpSpPr>
        <p:sp>
          <p:nvSpPr>
            <p:cNvPr name="Freeform 32" id="32"/>
            <p:cNvSpPr/>
            <p:nvPr/>
          </p:nvSpPr>
          <p:spPr>
            <a:xfrm flipH="false" flipV="false" rot="0">
              <a:off x="0" y="0"/>
              <a:ext cx="5120640" cy="621792"/>
            </a:xfrm>
            <a:custGeom>
              <a:avLst/>
              <a:gdLst/>
              <a:ahLst/>
              <a:cxnLst/>
              <a:rect r="r" b="b" t="t" l="l"/>
              <a:pathLst>
                <a:path h="621792" w="5120640">
                  <a:moveTo>
                    <a:pt x="0" y="0"/>
                  </a:moveTo>
                  <a:lnTo>
                    <a:pt x="5120640" y="0"/>
                  </a:lnTo>
                  <a:lnTo>
                    <a:pt x="5120640" y="621792"/>
                  </a:lnTo>
                  <a:lnTo>
                    <a:pt x="0" y="621792"/>
                  </a:lnTo>
                  <a:close/>
                </a:path>
              </a:pathLst>
            </a:custGeom>
            <a:blipFill>
              <a:blip r:embed="rId3">
                <a:alphaModFix amt="0"/>
              </a:blip>
              <a:stretch>
                <a:fillRect l="0" t="-110465" r="0" b="-110465"/>
              </a:stretch>
            </a:blipFill>
          </p:spPr>
        </p:sp>
        <p:sp>
          <p:nvSpPr>
            <p:cNvPr name="TextBox 33" id="33"/>
            <p:cNvSpPr txBox="true"/>
            <p:nvPr/>
          </p:nvSpPr>
          <p:spPr>
            <a:xfrm>
              <a:off x="0" y="-38100"/>
              <a:ext cx="5120640" cy="659892"/>
            </a:xfrm>
            <a:prstGeom prst="rect">
              <a:avLst/>
            </a:prstGeom>
          </p:spPr>
          <p:txBody>
            <a:bodyPr anchor="ctr" rtlCol="false" tIns="0" lIns="0" bIns="0" rIns="0"/>
            <a:lstStyle/>
            <a:p>
              <a:pPr algn="l">
                <a:lnSpc>
                  <a:spcPts val="2070"/>
                </a:lnSpc>
              </a:pPr>
              <a:r>
                <a:rPr lang="en-US" sz="1725">
                  <a:solidFill>
                    <a:srgbClr val="16171B"/>
                  </a:solidFill>
                  <a:latin typeface="Calibri (MS)"/>
                  <a:ea typeface="Calibri (MS)"/>
                  <a:cs typeface="Calibri (MS)"/>
                  <a:sym typeface="Calibri (MS)"/>
                </a:rPr>
                <a:t>Administrative Building</a:t>
              </a:r>
            </a:p>
          </p:txBody>
        </p:sp>
      </p:grpSp>
      <p:grpSp>
        <p:nvGrpSpPr>
          <p:cNvPr name="Group 34" id="34"/>
          <p:cNvGrpSpPr/>
          <p:nvPr/>
        </p:nvGrpSpPr>
        <p:grpSpPr>
          <a:xfrm rot="0">
            <a:off x="813435" y="7136511"/>
            <a:ext cx="4133850" cy="485394"/>
            <a:chOff x="0" y="0"/>
            <a:chExt cx="5511800" cy="647192"/>
          </a:xfrm>
        </p:grpSpPr>
        <p:sp>
          <p:nvSpPr>
            <p:cNvPr name="Freeform 35" id="35"/>
            <p:cNvSpPr/>
            <p:nvPr/>
          </p:nvSpPr>
          <p:spPr>
            <a:xfrm flipH="false" flipV="false" rot="0">
              <a:off x="0" y="0"/>
              <a:ext cx="5511800" cy="647192"/>
            </a:xfrm>
            <a:custGeom>
              <a:avLst/>
              <a:gdLst/>
              <a:ahLst/>
              <a:cxnLst/>
              <a:rect r="r" b="b" t="t" l="l"/>
              <a:pathLst>
                <a:path h="647192" w="5511800">
                  <a:moveTo>
                    <a:pt x="0" y="0"/>
                  </a:moveTo>
                  <a:lnTo>
                    <a:pt x="5511800" y="0"/>
                  </a:lnTo>
                  <a:lnTo>
                    <a:pt x="5511800" y="647192"/>
                  </a:lnTo>
                  <a:lnTo>
                    <a:pt x="0" y="647192"/>
                  </a:lnTo>
                  <a:close/>
                </a:path>
              </a:pathLst>
            </a:custGeom>
            <a:solidFill>
              <a:srgbClr val="F3F4F6"/>
            </a:solidFill>
            <a:ln w="19050" cap="sq">
              <a:solidFill>
                <a:srgbClr val="E3E4E8"/>
              </a:solidFill>
              <a:prstDash val="solid"/>
              <a:miter/>
            </a:ln>
          </p:spPr>
        </p:sp>
      </p:grpSp>
      <p:grpSp>
        <p:nvGrpSpPr>
          <p:cNvPr name="Group 36" id="36"/>
          <p:cNvGrpSpPr/>
          <p:nvPr/>
        </p:nvGrpSpPr>
        <p:grpSpPr>
          <a:xfrm rot="0">
            <a:off x="987552" y="7146036"/>
            <a:ext cx="3840480" cy="466344"/>
            <a:chOff x="0" y="0"/>
            <a:chExt cx="5120640" cy="621792"/>
          </a:xfrm>
        </p:grpSpPr>
        <p:sp>
          <p:nvSpPr>
            <p:cNvPr name="Freeform 37" id="37"/>
            <p:cNvSpPr/>
            <p:nvPr/>
          </p:nvSpPr>
          <p:spPr>
            <a:xfrm flipH="false" flipV="false" rot="0">
              <a:off x="0" y="0"/>
              <a:ext cx="5120640" cy="621792"/>
            </a:xfrm>
            <a:custGeom>
              <a:avLst/>
              <a:gdLst/>
              <a:ahLst/>
              <a:cxnLst/>
              <a:rect r="r" b="b" t="t" l="l"/>
              <a:pathLst>
                <a:path h="621792" w="5120640">
                  <a:moveTo>
                    <a:pt x="0" y="0"/>
                  </a:moveTo>
                  <a:lnTo>
                    <a:pt x="5120640" y="0"/>
                  </a:lnTo>
                  <a:lnTo>
                    <a:pt x="5120640" y="621792"/>
                  </a:lnTo>
                  <a:lnTo>
                    <a:pt x="0" y="621792"/>
                  </a:lnTo>
                  <a:close/>
                </a:path>
              </a:pathLst>
            </a:custGeom>
            <a:blipFill>
              <a:blip r:embed="rId3">
                <a:alphaModFix amt="0"/>
              </a:blip>
              <a:stretch>
                <a:fillRect l="0" t="-110465" r="0" b="-110465"/>
              </a:stretch>
            </a:blipFill>
          </p:spPr>
        </p:sp>
        <p:sp>
          <p:nvSpPr>
            <p:cNvPr name="TextBox 38" id="38"/>
            <p:cNvSpPr txBox="true"/>
            <p:nvPr/>
          </p:nvSpPr>
          <p:spPr>
            <a:xfrm>
              <a:off x="0" y="-38100"/>
              <a:ext cx="5120640" cy="659892"/>
            </a:xfrm>
            <a:prstGeom prst="rect">
              <a:avLst/>
            </a:prstGeom>
          </p:spPr>
          <p:txBody>
            <a:bodyPr anchor="ctr" rtlCol="false" tIns="0" lIns="0" bIns="0" rIns="0"/>
            <a:lstStyle/>
            <a:p>
              <a:pPr algn="l">
                <a:lnSpc>
                  <a:spcPts val="2070"/>
                </a:lnSpc>
              </a:pPr>
              <a:r>
                <a:rPr lang="en-US" sz="1725">
                  <a:solidFill>
                    <a:srgbClr val="16171B"/>
                  </a:solidFill>
                  <a:latin typeface="Calibri (MS)"/>
                  <a:ea typeface="Calibri (MS)"/>
                  <a:cs typeface="Calibri (MS)"/>
                  <a:sym typeface="Calibri (MS)"/>
                </a:rPr>
                <a:t>Mechanical Eng. Building</a:t>
              </a:r>
            </a:p>
          </p:txBody>
        </p:sp>
      </p:grpSp>
      <p:grpSp>
        <p:nvGrpSpPr>
          <p:cNvPr name="Group 39" id="39"/>
          <p:cNvGrpSpPr/>
          <p:nvPr/>
        </p:nvGrpSpPr>
        <p:grpSpPr>
          <a:xfrm rot="0">
            <a:off x="813435" y="6615303"/>
            <a:ext cx="4133850" cy="485394"/>
            <a:chOff x="0" y="0"/>
            <a:chExt cx="5511800" cy="647192"/>
          </a:xfrm>
        </p:grpSpPr>
        <p:sp>
          <p:nvSpPr>
            <p:cNvPr name="Freeform 40" id="40"/>
            <p:cNvSpPr/>
            <p:nvPr/>
          </p:nvSpPr>
          <p:spPr>
            <a:xfrm flipH="false" flipV="false" rot="0">
              <a:off x="0" y="0"/>
              <a:ext cx="5511800" cy="647192"/>
            </a:xfrm>
            <a:custGeom>
              <a:avLst/>
              <a:gdLst/>
              <a:ahLst/>
              <a:cxnLst/>
              <a:rect r="r" b="b" t="t" l="l"/>
              <a:pathLst>
                <a:path h="647192" w="5511800">
                  <a:moveTo>
                    <a:pt x="0" y="0"/>
                  </a:moveTo>
                  <a:lnTo>
                    <a:pt x="5511800" y="0"/>
                  </a:lnTo>
                  <a:lnTo>
                    <a:pt x="5511800" y="647192"/>
                  </a:lnTo>
                  <a:lnTo>
                    <a:pt x="0" y="647192"/>
                  </a:lnTo>
                  <a:close/>
                </a:path>
              </a:pathLst>
            </a:custGeom>
            <a:solidFill>
              <a:srgbClr val="D9B100"/>
            </a:solidFill>
            <a:ln w="19050" cap="sq">
              <a:solidFill>
                <a:srgbClr val="D9B100"/>
              </a:solidFill>
              <a:prstDash val="solid"/>
              <a:miter/>
            </a:ln>
          </p:spPr>
        </p:sp>
      </p:grpSp>
      <p:grpSp>
        <p:nvGrpSpPr>
          <p:cNvPr name="Group 41" id="41"/>
          <p:cNvGrpSpPr/>
          <p:nvPr/>
        </p:nvGrpSpPr>
        <p:grpSpPr>
          <a:xfrm rot="0">
            <a:off x="987552" y="6624828"/>
            <a:ext cx="3840480" cy="466344"/>
            <a:chOff x="0" y="0"/>
            <a:chExt cx="5120640" cy="621792"/>
          </a:xfrm>
        </p:grpSpPr>
        <p:sp>
          <p:nvSpPr>
            <p:cNvPr name="Freeform 42" id="42"/>
            <p:cNvSpPr/>
            <p:nvPr/>
          </p:nvSpPr>
          <p:spPr>
            <a:xfrm flipH="false" flipV="false" rot="0">
              <a:off x="0" y="0"/>
              <a:ext cx="5120640" cy="621792"/>
            </a:xfrm>
            <a:custGeom>
              <a:avLst/>
              <a:gdLst/>
              <a:ahLst/>
              <a:cxnLst/>
              <a:rect r="r" b="b" t="t" l="l"/>
              <a:pathLst>
                <a:path h="621792" w="5120640">
                  <a:moveTo>
                    <a:pt x="0" y="0"/>
                  </a:moveTo>
                  <a:lnTo>
                    <a:pt x="5120640" y="0"/>
                  </a:lnTo>
                  <a:lnTo>
                    <a:pt x="5120640" y="621792"/>
                  </a:lnTo>
                  <a:lnTo>
                    <a:pt x="0" y="621792"/>
                  </a:lnTo>
                  <a:close/>
                </a:path>
              </a:pathLst>
            </a:custGeom>
            <a:blipFill>
              <a:blip r:embed="rId3">
                <a:alphaModFix amt="0"/>
              </a:blip>
              <a:stretch>
                <a:fillRect l="0" t="-110465" r="0" b="-110465"/>
              </a:stretch>
            </a:blipFill>
          </p:spPr>
        </p:sp>
        <p:sp>
          <p:nvSpPr>
            <p:cNvPr name="TextBox 43" id="43"/>
            <p:cNvSpPr txBox="true"/>
            <p:nvPr/>
          </p:nvSpPr>
          <p:spPr>
            <a:xfrm>
              <a:off x="0" y="-38100"/>
              <a:ext cx="5120640" cy="659892"/>
            </a:xfrm>
            <a:prstGeom prst="rect">
              <a:avLst/>
            </a:prstGeom>
          </p:spPr>
          <p:txBody>
            <a:bodyPr anchor="ctr" rtlCol="false" tIns="0" lIns="0" bIns="0" rIns="0"/>
            <a:lstStyle/>
            <a:p>
              <a:pPr algn="l">
                <a:lnSpc>
                  <a:spcPts val="2070"/>
                </a:lnSpc>
              </a:pPr>
              <a:r>
                <a:rPr lang="en-US" sz="1725" b="true">
                  <a:solidFill>
                    <a:srgbClr val="16171B"/>
                  </a:solidFill>
                  <a:latin typeface="Calibri (MS) Bold"/>
                  <a:ea typeface="Calibri (MS) Bold"/>
                  <a:cs typeface="Calibri (MS) Bold"/>
                  <a:sym typeface="Calibri (MS) Bold"/>
                </a:rPr>
                <a:t>Central Library</a:t>
              </a:r>
            </a:p>
          </p:txBody>
        </p:sp>
      </p:grpSp>
      <p:grpSp>
        <p:nvGrpSpPr>
          <p:cNvPr name="Group 44" id="44"/>
          <p:cNvGrpSpPr/>
          <p:nvPr/>
        </p:nvGrpSpPr>
        <p:grpSpPr>
          <a:xfrm rot="0">
            <a:off x="5074920" y="6624828"/>
            <a:ext cx="3840480" cy="466344"/>
            <a:chOff x="0" y="0"/>
            <a:chExt cx="5120640" cy="621792"/>
          </a:xfrm>
        </p:grpSpPr>
        <p:sp>
          <p:nvSpPr>
            <p:cNvPr name="Freeform 45" id="45"/>
            <p:cNvSpPr/>
            <p:nvPr/>
          </p:nvSpPr>
          <p:spPr>
            <a:xfrm flipH="false" flipV="false" rot="0">
              <a:off x="0" y="0"/>
              <a:ext cx="5120640" cy="621792"/>
            </a:xfrm>
            <a:custGeom>
              <a:avLst/>
              <a:gdLst/>
              <a:ahLst/>
              <a:cxnLst/>
              <a:rect r="r" b="b" t="t" l="l"/>
              <a:pathLst>
                <a:path h="621792" w="5120640">
                  <a:moveTo>
                    <a:pt x="0" y="0"/>
                  </a:moveTo>
                  <a:lnTo>
                    <a:pt x="5120640" y="0"/>
                  </a:lnTo>
                  <a:lnTo>
                    <a:pt x="5120640" y="621792"/>
                  </a:lnTo>
                  <a:lnTo>
                    <a:pt x="0" y="621792"/>
                  </a:lnTo>
                  <a:close/>
                </a:path>
              </a:pathLst>
            </a:custGeom>
            <a:blipFill>
              <a:blip r:embed="rId3">
                <a:alphaModFix amt="0"/>
              </a:blip>
              <a:stretch>
                <a:fillRect l="0" t="-110465" r="0" b="-110465"/>
              </a:stretch>
            </a:blipFill>
          </p:spPr>
        </p:sp>
        <p:sp>
          <p:nvSpPr>
            <p:cNvPr name="TextBox 46" id="46"/>
            <p:cNvSpPr txBox="true"/>
            <p:nvPr/>
          </p:nvSpPr>
          <p:spPr>
            <a:xfrm>
              <a:off x="0" y="-38100"/>
              <a:ext cx="5120640" cy="659892"/>
            </a:xfrm>
            <a:prstGeom prst="rect">
              <a:avLst/>
            </a:prstGeom>
          </p:spPr>
          <p:txBody>
            <a:bodyPr anchor="ctr" rtlCol="false" tIns="0" lIns="0" bIns="0" rIns="0"/>
            <a:lstStyle/>
            <a:p>
              <a:pPr algn="l">
                <a:lnSpc>
                  <a:spcPts val="2070"/>
                </a:lnSpc>
              </a:pPr>
              <a:r>
                <a:rPr lang="en-US" sz="1725" b="true">
                  <a:solidFill>
                    <a:srgbClr val="8F7200"/>
                  </a:solidFill>
                  <a:latin typeface="Calibri (MS) Bold"/>
                  <a:ea typeface="Calibri (MS) Bold"/>
                  <a:cs typeface="Calibri (MS) Bold"/>
                  <a:sym typeface="Calibri (MS) Bold"/>
                </a:rPr>
                <a:t>← top: Back pops Central Library</a:t>
              </a:r>
            </a:p>
          </p:txBody>
        </p:sp>
      </p:grpSp>
      <p:grpSp>
        <p:nvGrpSpPr>
          <p:cNvPr name="Group 47" id="47"/>
          <p:cNvGrpSpPr/>
          <p:nvPr/>
        </p:nvGrpSpPr>
        <p:grpSpPr>
          <a:xfrm rot="0">
            <a:off x="9385935" y="6917055"/>
            <a:ext cx="979170" cy="773430"/>
            <a:chOff x="0" y="0"/>
            <a:chExt cx="1305560" cy="1031240"/>
          </a:xfrm>
        </p:grpSpPr>
        <p:sp>
          <p:nvSpPr>
            <p:cNvPr name="Freeform 48" id="48"/>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D9B100"/>
            </a:solidFill>
            <a:ln w="19050" cap="sq">
              <a:solidFill>
                <a:srgbClr val="D9B100"/>
              </a:solidFill>
              <a:prstDash val="solid"/>
              <a:miter/>
            </a:ln>
          </p:spPr>
        </p:sp>
      </p:grpSp>
      <p:grpSp>
        <p:nvGrpSpPr>
          <p:cNvPr name="Group 49" id="49"/>
          <p:cNvGrpSpPr/>
          <p:nvPr/>
        </p:nvGrpSpPr>
        <p:grpSpPr>
          <a:xfrm rot="0">
            <a:off x="9395460" y="6926580"/>
            <a:ext cx="960120" cy="754380"/>
            <a:chOff x="0" y="0"/>
            <a:chExt cx="1280160" cy="1005840"/>
          </a:xfrm>
        </p:grpSpPr>
        <p:sp>
          <p:nvSpPr>
            <p:cNvPr name="Freeform 50" id="50"/>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51" id="51"/>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b="true">
                  <a:solidFill>
                    <a:srgbClr val="16171B"/>
                  </a:solidFill>
                  <a:latin typeface="Consolas Bold"/>
                  <a:ea typeface="Consolas Bold"/>
                  <a:cs typeface="Consolas Bold"/>
                  <a:sym typeface="Consolas Bold"/>
                </a:rPr>
                <a:t>900</a:t>
              </a:r>
            </a:p>
          </p:txBody>
        </p:sp>
      </p:grpSp>
      <p:grpSp>
        <p:nvGrpSpPr>
          <p:cNvPr name="Group 52" id="52"/>
          <p:cNvGrpSpPr/>
          <p:nvPr/>
        </p:nvGrpSpPr>
        <p:grpSpPr>
          <a:xfrm rot="0">
            <a:off x="9395460" y="7708392"/>
            <a:ext cx="960120" cy="342900"/>
            <a:chOff x="0" y="0"/>
            <a:chExt cx="1280160" cy="457200"/>
          </a:xfrm>
        </p:grpSpPr>
        <p:sp>
          <p:nvSpPr>
            <p:cNvPr name="Freeform 53" id="53"/>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54" id="54"/>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0</a:t>
              </a:r>
            </a:p>
          </p:txBody>
        </p:sp>
      </p:grpSp>
      <p:grpSp>
        <p:nvGrpSpPr>
          <p:cNvPr name="Group 55" id="55"/>
          <p:cNvGrpSpPr/>
          <p:nvPr/>
        </p:nvGrpSpPr>
        <p:grpSpPr>
          <a:xfrm rot="0">
            <a:off x="10387203" y="6917055"/>
            <a:ext cx="979170" cy="773430"/>
            <a:chOff x="0" y="0"/>
            <a:chExt cx="1305560" cy="1031240"/>
          </a:xfrm>
        </p:grpSpPr>
        <p:sp>
          <p:nvSpPr>
            <p:cNvPr name="Freeform 56" id="56"/>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D9B100"/>
            </a:solidFill>
            <a:ln w="19050" cap="sq">
              <a:solidFill>
                <a:srgbClr val="D9B100"/>
              </a:solidFill>
              <a:prstDash val="solid"/>
              <a:miter/>
            </a:ln>
          </p:spPr>
        </p:sp>
      </p:grpSp>
      <p:grpSp>
        <p:nvGrpSpPr>
          <p:cNvPr name="Group 57" id="57"/>
          <p:cNvGrpSpPr/>
          <p:nvPr/>
        </p:nvGrpSpPr>
        <p:grpSpPr>
          <a:xfrm rot="0">
            <a:off x="10396728" y="6926580"/>
            <a:ext cx="960120" cy="754380"/>
            <a:chOff x="0" y="0"/>
            <a:chExt cx="1280160" cy="1005840"/>
          </a:xfrm>
        </p:grpSpPr>
        <p:sp>
          <p:nvSpPr>
            <p:cNvPr name="Freeform 58" id="58"/>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59" id="59"/>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b="true">
                  <a:solidFill>
                    <a:srgbClr val="16171B"/>
                  </a:solidFill>
                  <a:latin typeface="Consolas Bold"/>
                  <a:ea typeface="Consolas Bold"/>
                  <a:cs typeface="Consolas Bold"/>
                  <a:sym typeface="Consolas Bold"/>
                </a:rPr>
                <a:t>901</a:t>
              </a:r>
            </a:p>
          </p:txBody>
        </p:sp>
      </p:grpSp>
      <p:grpSp>
        <p:nvGrpSpPr>
          <p:cNvPr name="Group 60" id="60"/>
          <p:cNvGrpSpPr/>
          <p:nvPr/>
        </p:nvGrpSpPr>
        <p:grpSpPr>
          <a:xfrm rot="0">
            <a:off x="10396728" y="7708392"/>
            <a:ext cx="960120" cy="342900"/>
            <a:chOff x="0" y="0"/>
            <a:chExt cx="1280160" cy="457200"/>
          </a:xfrm>
        </p:grpSpPr>
        <p:sp>
          <p:nvSpPr>
            <p:cNvPr name="Freeform 61" id="61"/>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62" id="62"/>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1</a:t>
              </a:r>
            </a:p>
          </p:txBody>
        </p:sp>
      </p:grpSp>
      <p:grpSp>
        <p:nvGrpSpPr>
          <p:cNvPr name="Group 63" id="63"/>
          <p:cNvGrpSpPr/>
          <p:nvPr/>
        </p:nvGrpSpPr>
        <p:grpSpPr>
          <a:xfrm rot="0">
            <a:off x="11388471" y="6917055"/>
            <a:ext cx="979170" cy="773430"/>
            <a:chOff x="0" y="0"/>
            <a:chExt cx="1305560" cy="1031240"/>
          </a:xfrm>
        </p:grpSpPr>
        <p:sp>
          <p:nvSpPr>
            <p:cNvPr name="Freeform 64" id="64"/>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FFFFF"/>
            </a:solidFill>
            <a:ln w="19050" cap="sq">
              <a:solidFill>
                <a:srgbClr val="E3E4E8"/>
              </a:solidFill>
              <a:prstDash val="solid"/>
              <a:miter/>
            </a:ln>
          </p:spPr>
        </p:sp>
      </p:grpSp>
      <p:grpSp>
        <p:nvGrpSpPr>
          <p:cNvPr name="Group 65" id="65"/>
          <p:cNvGrpSpPr/>
          <p:nvPr/>
        </p:nvGrpSpPr>
        <p:grpSpPr>
          <a:xfrm rot="0">
            <a:off x="11397996" y="6926580"/>
            <a:ext cx="960120" cy="754380"/>
            <a:chOff x="0" y="0"/>
            <a:chExt cx="1280160" cy="1005840"/>
          </a:xfrm>
        </p:grpSpPr>
        <p:sp>
          <p:nvSpPr>
            <p:cNvPr name="Freeform 66" id="66"/>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67" id="67"/>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a:t>
              </a:r>
            </a:p>
          </p:txBody>
        </p:sp>
      </p:grpSp>
      <p:grpSp>
        <p:nvGrpSpPr>
          <p:cNvPr name="Group 68" id="68"/>
          <p:cNvGrpSpPr/>
          <p:nvPr/>
        </p:nvGrpSpPr>
        <p:grpSpPr>
          <a:xfrm rot="0">
            <a:off x="11397996" y="7708392"/>
            <a:ext cx="960120" cy="342900"/>
            <a:chOff x="0" y="0"/>
            <a:chExt cx="1280160" cy="457200"/>
          </a:xfrm>
        </p:grpSpPr>
        <p:sp>
          <p:nvSpPr>
            <p:cNvPr name="Freeform 69" id="69"/>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70" id="70"/>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2</a:t>
              </a:r>
            </a:p>
          </p:txBody>
        </p:sp>
      </p:grpSp>
      <p:grpSp>
        <p:nvGrpSpPr>
          <p:cNvPr name="Group 71" id="71"/>
          <p:cNvGrpSpPr/>
          <p:nvPr/>
        </p:nvGrpSpPr>
        <p:grpSpPr>
          <a:xfrm rot="0">
            <a:off x="12389739" y="6917055"/>
            <a:ext cx="979170" cy="773430"/>
            <a:chOff x="0" y="0"/>
            <a:chExt cx="1305560" cy="1031240"/>
          </a:xfrm>
        </p:grpSpPr>
        <p:sp>
          <p:nvSpPr>
            <p:cNvPr name="Freeform 72" id="72"/>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FFFFF"/>
            </a:solidFill>
            <a:ln w="19050" cap="sq">
              <a:solidFill>
                <a:srgbClr val="E3E4E8"/>
              </a:solidFill>
              <a:prstDash val="solid"/>
              <a:miter/>
            </a:ln>
          </p:spPr>
        </p:sp>
      </p:grpSp>
      <p:grpSp>
        <p:nvGrpSpPr>
          <p:cNvPr name="Group 73" id="73"/>
          <p:cNvGrpSpPr/>
          <p:nvPr/>
        </p:nvGrpSpPr>
        <p:grpSpPr>
          <a:xfrm rot="0">
            <a:off x="12399264" y="6926580"/>
            <a:ext cx="960120" cy="754380"/>
            <a:chOff x="0" y="0"/>
            <a:chExt cx="1280160" cy="1005840"/>
          </a:xfrm>
        </p:grpSpPr>
        <p:sp>
          <p:nvSpPr>
            <p:cNvPr name="Freeform 74" id="74"/>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75" id="75"/>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a:t>
              </a:r>
            </a:p>
          </p:txBody>
        </p:sp>
      </p:grpSp>
      <p:grpSp>
        <p:nvGrpSpPr>
          <p:cNvPr name="Group 76" id="76"/>
          <p:cNvGrpSpPr/>
          <p:nvPr/>
        </p:nvGrpSpPr>
        <p:grpSpPr>
          <a:xfrm rot="0">
            <a:off x="12399264" y="7708392"/>
            <a:ext cx="960120" cy="342900"/>
            <a:chOff x="0" y="0"/>
            <a:chExt cx="1280160" cy="457200"/>
          </a:xfrm>
        </p:grpSpPr>
        <p:sp>
          <p:nvSpPr>
            <p:cNvPr name="Freeform 77" id="77"/>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78" id="78"/>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3</a:t>
              </a:r>
            </a:p>
          </p:txBody>
        </p:sp>
      </p:grpSp>
      <p:grpSp>
        <p:nvGrpSpPr>
          <p:cNvPr name="Group 79" id="79"/>
          <p:cNvGrpSpPr/>
          <p:nvPr/>
        </p:nvGrpSpPr>
        <p:grpSpPr>
          <a:xfrm rot="0">
            <a:off x="13391007" y="6917055"/>
            <a:ext cx="979170" cy="773430"/>
            <a:chOff x="0" y="0"/>
            <a:chExt cx="1305560" cy="1031240"/>
          </a:xfrm>
        </p:grpSpPr>
        <p:sp>
          <p:nvSpPr>
            <p:cNvPr name="Freeform 80" id="80"/>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3F4F6"/>
            </a:solidFill>
            <a:ln w="19050" cap="sq">
              <a:solidFill>
                <a:srgbClr val="E3E4E8"/>
              </a:solidFill>
              <a:prstDash val="solid"/>
              <a:miter/>
            </a:ln>
          </p:spPr>
        </p:sp>
      </p:grpSp>
      <p:grpSp>
        <p:nvGrpSpPr>
          <p:cNvPr name="Group 81" id="81"/>
          <p:cNvGrpSpPr/>
          <p:nvPr/>
        </p:nvGrpSpPr>
        <p:grpSpPr>
          <a:xfrm rot="0">
            <a:off x="13400532" y="6926580"/>
            <a:ext cx="960120" cy="754380"/>
            <a:chOff x="0" y="0"/>
            <a:chExt cx="1280160" cy="1005840"/>
          </a:xfrm>
        </p:grpSpPr>
        <p:sp>
          <p:nvSpPr>
            <p:cNvPr name="Freeform 82" id="82"/>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83" id="83"/>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40</a:t>
              </a:r>
            </a:p>
          </p:txBody>
        </p:sp>
      </p:grpSp>
      <p:grpSp>
        <p:nvGrpSpPr>
          <p:cNvPr name="Group 84" id="84"/>
          <p:cNvGrpSpPr/>
          <p:nvPr/>
        </p:nvGrpSpPr>
        <p:grpSpPr>
          <a:xfrm rot="0">
            <a:off x="13400532" y="7708392"/>
            <a:ext cx="960120" cy="342900"/>
            <a:chOff x="0" y="0"/>
            <a:chExt cx="1280160" cy="457200"/>
          </a:xfrm>
        </p:grpSpPr>
        <p:sp>
          <p:nvSpPr>
            <p:cNvPr name="Freeform 85" id="85"/>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86" id="86"/>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4</a:t>
              </a:r>
            </a:p>
          </p:txBody>
        </p:sp>
      </p:grpSp>
      <p:grpSp>
        <p:nvGrpSpPr>
          <p:cNvPr name="Group 87" id="87"/>
          <p:cNvGrpSpPr/>
          <p:nvPr/>
        </p:nvGrpSpPr>
        <p:grpSpPr>
          <a:xfrm rot="0">
            <a:off x="14392275" y="6917055"/>
            <a:ext cx="979170" cy="773430"/>
            <a:chOff x="0" y="0"/>
            <a:chExt cx="1305560" cy="1031240"/>
          </a:xfrm>
        </p:grpSpPr>
        <p:sp>
          <p:nvSpPr>
            <p:cNvPr name="Freeform 88" id="88"/>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3F4F6"/>
            </a:solidFill>
            <a:ln w="19050" cap="sq">
              <a:solidFill>
                <a:srgbClr val="E3E4E8"/>
              </a:solidFill>
              <a:prstDash val="solid"/>
              <a:miter/>
            </a:ln>
          </p:spPr>
        </p:sp>
      </p:grpSp>
      <p:grpSp>
        <p:nvGrpSpPr>
          <p:cNvPr name="Group 89" id="89"/>
          <p:cNvGrpSpPr/>
          <p:nvPr/>
        </p:nvGrpSpPr>
        <p:grpSpPr>
          <a:xfrm rot="0">
            <a:off x="14401800" y="6926580"/>
            <a:ext cx="960120" cy="754380"/>
            <a:chOff x="0" y="0"/>
            <a:chExt cx="1280160" cy="1005840"/>
          </a:xfrm>
        </p:grpSpPr>
        <p:sp>
          <p:nvSpPr>
            <p:cNvPr name="Freeform 90" id="90"/>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91" id="91"/>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50</a:t>
              </a:r>
            </a:p>
          </p:txBody>
        </p:sp>
      </p:grpSp>
      <p:grpSp>
        <p:nvGrpSpPr>
          <p:cNvPr name="Group 92" id="92"/>
          <p:cNvGrpSpPr/>
          <p:nvPr/>
        </p:nvGrpSpPr>
        <p:grpSpPr>
          <a:xfrm rot="0">
            <a:off x="14401800" y="7708392"/>
            <a:ext cx="960120" cy="342900"/>
            <a:chOff x="0" y="0"/>
            <a:chExt cx="1280160" cy="457200"/>
          </a:xfrm>
        </p:grpSpPr>
        <p:sp>
          <p:nvSpPr>
            <p:cNvPr name="Freeform 93" id="93"/>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94" id="94"/>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5</a:t>
              </a:r>
            </a:p>
          </p:txBody>
        </p:sp>
      </p:grpSp>
      <p:grpSp>
        <p:nvGrpSpPr>
          <p:cNvPr name="Group 95" id="95"/>
          <p:cNvGrpSpPr/>
          <p:nvPr/>
        </p:nvGrpSpPr>
        <p:grpSpPr>
          <a:xfrm rot="0">
            <a:off x="15393543" y="6917055"/>
            <a:ext cx="979170" cy="773430"/>
            <a:chOff x="0" y="0"/>
            <a:chExt cx="1305560" cy="1031240"/>
          </a:xfrm>
        </p:grpSpPr>
        <p:sp>
          <p:nvSpPr>
            <p:cNvPr name="Freeform 96" id="96"/>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3F4F6"/>
            </a:solidFill>
            <a:ln w="19050" cap="sq">
              <a:solidFill>
                <a:srgbClr val="E3E4E8"/>
              </a:solidFill>
              <a:prstDash val="solid"/>
              <a:miter/>
            </a:ln>
          </p:spPr>
        </p:sp>
      </p:grpSp>
      <p:grpSp>
        <p:nvGrpSpPr>
          <p:cNvPr name="Group 97" id="97"/>
          <p:cNvGrpSpPr/>
          <p:nvPr/>
        </p:nvGrpSpPr>
        <p:grpSpPr>
          <a:xfrm rot="0">
            <a:off x="15403068" y="6926580"/>
            <a:ext cx="960120" cy="754380"/>
            <a:chOff x="0" y="0"/>
            <a:chExt cx="1280160" cy="1005840"/>
          </a:xfrm>
        </p:grpSpPr>
        <p:sp>
          <p:nvSpPr>
            <p:cNvPr name="Freeform 98" id="98"/>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99" id="99"/>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60</a:t>
              </a:r>
            </a:p>
          </p:txBody>
        </p:sp>
      </p:grpSp>
      <p:grpSp>
        <p:nvGrpSpPr>
          <p:cNvPr name="Group 100" id="100"/>
          <p:cNvGrpSpPr/>
          <p:nvPr/>
        </p:nvGrpSpPr>
        <p:grpSpPr>
          <a:xfrm rot="0">
            <a:off x="15403068" y="7708392"/>
            <a:ext cx="960120" cy="342900"/>
            <a:chOff x="0" y="0"/>
            <a:chExt cx="1280160" cy="457200"/>
          </a:xfrm>
        </p:grpSpPr>
        <p:sp>
          <p:nvSpPr>
            <p:cNvPr name="Freeform 101" id="101"/>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102" id="102"/>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6</a:t>
              </a:r>
            </a:p>
          </p:txBody>
        </p:sp>
      </p:grpSp>
      <p:grpSp>
        <p:nvGrpSpPr>
          <p:cNvPr name="Group 103" id="103"/>
          <p:cNvGrpSpPr/>
          <p:nvPr/>
        </p:nvGrpSpPr>
        <p:grpSpPr>
          <a:xfrm rot="0">
            <a:off x="16394811" y="6917055"/>
            <a:ext cx="979170" cy="773430"/>
            <a:chOff x="0" y="0"/>
            <a:chExt cx="1305560" cy="1031240"/>
          </a:xfrm>
        </p:grpSpPr>
        <p:sp>
          <p:nvSpPr>
            <p:cNvPr name="Freeform 104" id="104"/>
            <p:cNvSpPr/>
            <p:nvPr/>
          </p:nvSpPr>
          <p:spPr>
            <a:xfrm flipH="false" flipV="false" rot="0">
              <a:off x="0" y="0"/>
              <a:ext cx="1305560" cy="1031240"/>
            </a:xfrm>
            <a:custGeom>
              <a:avLst/>
              <a:gdLst/>
              <a:ahLst/>
              <a:cxnLst/>
              <a:rect r="r" b="b" t="t" l="l"/>
              <a:pathLst>
                <a:path h="1031240" w="1305560">
                  <a:moveTo>
                    <a:pt x="0" y="0"/>
                  </a:moveTo>
                  <a:lnTo>
                    <a:pt x="1305560" y="0"/>
                  </a:lnTo>
                  <a:lnTo>
                    <a:pt x="1305560" y="1031240"/>
                  </a:lnTo>
                  <a:lnTo>
                    <a:pt x="0" y="1031240"/>
                  </a:lnTo>
                  <a:close/>
                </a:path>
              </a:pathLst>
            </a:custGeom>
            <a:solidFill>
              <a:srgbClr val="F3F4F6"/>
            </a:solidFill>
            <a:ln w="19050" cap="sq">
              <a:solidFill>
                <a:srgbClr val="E3E4E8"/>
              </a:solidFill>
              <a:prstDash val="solid"/>
              <a:miter/>
            </a:ln>
          </p:spPr>
        </p:sp>
      </p:grpSp>
      <p:grpSp>
        <p:nvGrpSpPr>
          <p:cNvPr name="Group 105" id="105"/>
          <p:cNvGrpSpPr/>
          <p:nvPr/>
        </p:nvGrpSpPr>
        <p:grpSpPr>
          <a:xfrm rot="0">
            <a:off x="16404336" y="6926580"/>
            <a:ext cx="960120" cy="754380"/>
            <a:chOff x="0" y="0"/>
            <a:chExt cx="1280160" cy="1005840"/>
          </a:xfrm>
        </p:grpSpPr>
        <p:sp>
          <p:nvSpPr>
            <p:cNvPr name="Freeform 106" id="106"/>
            <p:cNvSpPr/>
            <p:nvPr/>
          </p:nvSpPr>
          <p:spPr>
            <a:xfrm flipH="false" flipV="false" rot="0">
              <a:off x="0" y="0"/>
              <a:ext cx="1280160" cy="1005840"/>
            </a:xfrm>
            <a:custGeom>
              <a:avLst/>
              <a:gdLst/>
              <a:ahLst/>
              <a:cxnLst/>
              <a:rect r="r" b="b" t="t" l="l"/>
              <a:pathLst>
                <a:path h="1005840" w="1280160">
                  <a:moveTo>
                    <a:pt x="0" y="0"/>
                  </a:moveTo>
                  <a:lnTo>
                    <a:pt x="1280160" y="0"/>
                  </a:lnTo>
                  <a:lnTo>
                    <a:pt x="1280160" y="1005840"/>
                  </a:lnTo>
                  <a:lnTo>
                    <a:pt x="0" y="1005840"/>
                  </a:lnTo>
                  <a:close/>
                </a:path>
              </a:pathLst>
            </a:custGeom>
            <a:blipFill>
              <a:blip r:embed="rId3">
                <a:alphaModFix amt="0"/>
              </a:blip>
              <a:stretch>
                <a:fillRect l="-50809" t="0" r="-50809" b="0"/>
              </a:stretch>
            </a:blipFill>
          </p:spPr>
        </p:sp>
        <p:sp>
          <p:nvSpPr>
            <p:cNvPr name="TextBox 107" id="107"/>
            <p:cNvSpPr txBox="true"/>
            <p:nvPr/>
          </p:nvSpPr>
          <p:spPr>
            <a:xfrm>
              <a:off x="0" y="-38100"/>
              <a:ext cx="1280160" cy="1043940"/>
            </a:xfrm>
            <a:prstGeom prst="rect">
              <a:avLst/>
            </a:prstGeom>
          </p:spPr>
          <p:txBody>
            <a:bodyPr anchor="ctr" rtlCol="false" tIns="0" lIns="0" bIns="0" rIns="0"/>
            <a:lstStyle/>
            <a:p>
              <a:pPr algn="ctr">
                <a:lnSpc>
                  <a:spcPts val="2160"/>
                </a:lnSpc>
              </a:pPr>
              <a:r>
                <a:rPr lang="en-US" sz="1800">
                  <a:solidFill>
                    <a:srgbClr val="16171B"/>
                  </a:solidFill>
                  <a:latin typeface="Consolas"/>
                  <a:ea typeface="Consolas"/>
                  <a:cs typeface="Consolas"/>
                  <a:sym typeface="Consolas"/>
                </a:rPr>
                <a:t>70</a:t>
              </a:r>
            </a:p>
          </p:txBody>
        </p:sp>
      </p:grpSp>
      <p:grpSp>
        <p:nvGrpSpPr>
          <p:cNvPr name="Group 108" id="108"/>
          <p:cNvGrpSpPr/>
          <p:nvPr/>
        </p:nvGrpSpPr>
        <p:grpSpPr>
          <a:xfrm rot="0">
            <a:off x="16404336" y="7708392"/>
            <a:ext cx="960120" cy="342900"/>
            <a:chOff x="0" y="0"/>
            <a:chExt cx="1280160" cy="457200"/>
          </a:xfrm>
        </p:grpSpPr>
        <p:sp>
          <p:nvSpPr>
            <p:cNvPr name="Freeform 109" id="109"/>
            <p:cNvSpPr/>
            <p:nvPr/>
          </p:nvSpPr>
          <p:spPr>
            <a:xfrm flipH="false" flipV="false" rot="0">
              <a:off x="0" y="0"/>
              <a:ext cx="1280160" cy="457200"/>
            </a:xfrm>
            <a:custGeom>
              <a:avLst/>
              <a:gdLst/>
              <a:ahLst/>
              <a:cxnLst/>
              <a:rect r="r" b="b" t="t" l="l"/>
              <a:pathLst>
                <a:path h="457200" w="1280160">
                  <a:moveTo>
                    <a:pt x="0" y="0"/>
                  </a:moveTo>
                  <a:lnTo>
                    <a:pt x="1280160" y="0"/>
                  </a:lnTo>
                  <a:lnTo>
                    <a:pt x="1280160" y="457200"/>
                  </a:lnTo>
                  <a:lnTo>
                    <a:pt x="0" y="457200"/>
                  </a:lnTo>
                  <a:close/>
                </a:path>
              </a:pathLst>
            </a:custGeom>
            <a:blipFill>
              <a:blip r:embed="rId3">
                <a:alphaModFix amt="0"/>
              </a:blip>
              <a:stretch>
                <a:fillRect l="0" t="-4558" r="0" b="-4558"/>
              </a:stretch>
            </a:blipFill>
          </p:spPr>
        </p:sp>
        <p:sp>
          <p:nvSpPr>
            <p:cNvPr name="TextBox 110" id="110"/>
            <p:cNvSpPr txBox="true"/>
            <p:nvPr/>
          </p:nvSpPr>
          <p:spPr>
            <a:xfrm>
              <a:off x="0" y="-28575"/>
              <a:ext cx="1280160" cy="485775"/>
            </a:xfrm>
            <a:prstGeom prst="rect">
              <a:avLst/>
            </a:prstGeom>
          </p:spPr>
          <p:txBody>
            <a:bodyPr anchor="ctr" rtlCol="false" tIns="0" lIns="0" bIns="0" rIns="0"/>
            <a:lstStyle/>
            <a:p>
              <a:pPr algn="ctr">
                <a:lnSpc>
                  <a:spcPts val="1620"/>
                </a:lnSpc>
              </a:pPr>
              <a:r>
                <a:rPr lang="en-US" sz="1350">
                  <a:solidFill>
                    <a:srgbClr val="9A9CA6"/>
                  </a:solidFill>
                  <a:latin typeface="Consolas"/>
                  <a:ea typeface="Consolas"/>
                  <a:cs typeface="Consolas"/>
                  <a:sym typeface="Consolas"/>
                </a:rPr>
                <a:t>7</a:t>
              </a:r>
            </a:p>
          </p:txBody>
        </p:sp>
      </p:grpSp>
      <p:grpSp>
        <p:nvGrpSpPr>
          <p:cNvPr name="Group 111" id="111"/>
          <p:cNvGrpSpPr/>
          <p:nvPr/>
        </p:nvGrpSpPr>
        <p:grpSpPr>
          <a:xfrm rot="0">
            <a:off x="9395460" y="8161020"/>
            <a:ext cx="8092440" cy="411480"/>
            <a:chOff x="0" y="0"/>
            <a:chExt cx="10789920" cy="548640"/>
          </a:xfrm>
        </p:grpSpPr>
        <p:sp>
          <p:nvSpPr>
            <p:cNvPr name="Freeform 112" id="112"/>
            <p:cNvSpPr/>
            <p:nvPr/>
          </p:nvSpPr>
          <p:spPr>
            <a:xfrm flipH="false" flipV="false" rot="0">
              <a:off x="0" y="0"/>
              <a:ext cx="10789920" cy="548640"/>
            </a:xfrm>
            <a:custGeom>
              <a:avLst/>
              <a:gdLst/>
              <a:ahLst/>
              <a:cxnLst/>
              <a:rect r="r" b="b" t="t" l="l"/>
              <a:pathLst>
                <a:path h="548640" w="10789920">
                  <a:moveTo>
                    <a:pt x="0" y="0"/>
                  </a:moveTo>
                  <a:lnTo>
                    <a:pt x="10789920" y="0"/>
                  </a:lnTo>
                  <a:lnTo>
                    <a:pt x="10789920" y="548640"/>
                  </a:lnTo>
                  <a:lnTo>
                    <a:pt x="0" y="548640"/>
                  </a:lnTo>
                  <a:close/>
                </a:path>
              </a:pathLst>
            </a:custGeom>
            <a:blipFill>
              <a:blip r:embed="rId3">
                <a:alphaModFix amt="0"/>
              </a:blip>
              <a:stretch>
                <a:fillRect l="0" t="-333205" r="0" b="-333205"/>
              </a:stretch>
            </a:blipFill>
          </p:spPr>
        </p:sp>
        <p:sp>
          <p:nvSpPr>
            <p:cNvPr name="TextBox 113" id="113"/>
            <p:cNvSpPr txBox="true"/>
            <p:nvPr/>
          </p:nvSpPr>
          <p:spPr>
            <a:xfrm>
              <a:off x="0" y="-38100"/>
              <a:ext cx="10789920" cy="586740"/>
            </a:xfrm>
            <a:prstGeom prst="rect">
              <a:avLst/>
            </a:prstGeom>
          </p:spPr>
          <p:txBody>
            <a:bodyPr anchor="ctr" rtlCol="false" tIns="0" lIns="0" bIns="0" rIns="0"/>
            <a:lstStyle/>
            <a:p>
              <a:pPr algn="l">
                <a:lnSpc>
                  <a:spcPts val="2160"/>
                </a:lnSpc>
              </a:pPr>
              <a:r>
                <a:rPr lang="en-US" sz="1800" b="true">
                  <a:solidFill>
                    <a:srgbClr val="8F7200"/>
                  </a:solidFill>
                  <a:latin typeface="Calibri (MS) Bold"/>
                  <a:ea typeface="Calibri (MS) Bold"/>
                  <a:cs typeface="Calibri (MS) Bold"/>
                  <a:sym typeface="Calibri (MS) Bold"/>
                </a:rPr>
                <a:t>rear wrapped round to slots 0 and 1; front is at slot 4</a:t>
              </a:r>
            </a:p>
          </p:txBody>
        </p:sp>
      </p:grpSp>
      <p:grpSp>
        <p:nvGrpSpPr>
          <p:cNvPr name="Group 114" id="114"/>
          <p:cNvGrpSpPr/>
          <p:nvPr/>
        </p:nvGrpSpPr>
        <p:grpSpPr>
          <a:xfrm rot="0">
            <a:off x="13467055" y="6528816"/>
            <a:ext cx="827075" cy="329184"/>
            <a:chOff x="0" y="0"/>
            <a:chExt cx="1102766" cy="438912"/>
          </a:xfrm>
        </p:grpSpPr>
        <p:sp>
          <p:nvSpPr>
            <p:cNvPr name="Freeform 115" id="115"/>
            <p:cNvSpPr/>
            <p:nvPr/>
          </p:nvSpPr>
          <p:spPr>
            <a:xfrm flipH="false" flipV="false" rot="0">
              <a:off x="0" y="0"/>
              <a:ext cx="1102741" cy="438912"/>
            </a:xfrm>
            <a:custGeom>
              <a:avLst/>
              <a:gdLst/>
              <a:ahLst/>
              <a:cxnLst/>
              <a:rect r="r" b="b" t="t" l="l"/>
              <a:pathLst>
                <a:path h="438912" w="1102741">
                  <a:moveTo>
                    <a:pt x="0" y="109728"/>
                  </a:moveTo>
                  <a:cubicBezTo>
                    <a:pt x="0" y="49149"/>
                    <a:pt x="49149" y="0"/>
                    <a:pt x="109728" y="0"/>
                  </a:cubicBezTo>
                  <a:lnTo>
                    <a:pt x="993013" y="0"/>
                  </a:lnTo>
                  <a:cubicBezTo>
                    <a:pt x="1053592" y="0"/>
                    <a:pt x="1102741" y="49149"/>
                    <a:pt x="1102741" y="109728"/>
                  </a:cubicBezTo>
                  <a:lnTo>
                    <a:pt x="1102741" y="329184"/>
                  </a:lnTo>
                  <a:cubicBezTo>
                    <a:pt x="1102741" y="389763"/>
                    <a:pt x="1053592" y="438912"/>
                    <a:pt x="993013" y="438912"/>
                  </a:cubicBezTo>
                  <a:lnTo>
                    <a:pt x="109728" y="438912"/>
                  </a:lnTo>
                  <a:cubicBezTo>
                    <a:pt x="49149" y="438912"/>
                    <a:pt x="0" y="389763"/>
                    <a:pt x="0" y="329184"/>
                  </a:cubicBezTo>
                  <a:close/>
                </a:path>
              </a:pathLst>
            </a:custGeom>
            <a:solidFill>
              <a:srgbClr val="FBF4D2"/>
            </a:solidFill>
          </p:spPr>
        </p:sp>
      </p:grpSp>
      <p:grpSp>
        <p:nvGrpSpPr>
          <p:cNvPr name="Group 116" id="116"/>
          <p:cNvGrpSpPr/>
          <p:nvPr/>
        </p:nvGrpSpPr>
        <p:grpSpPr>
          <a:xfrm rot="0">
            <a:off x="13467055" y="6528816"/>
            <a:ext cx="827075" cy="329184"/>
            <a:chOff x="0" y="0"/>
            <a:chExt cx="1102766" cy="438912"/>
          </a:xfrm>
        </p:grpSpPr>
        <p:sp>
          <p:nvSpPr>
            <p:cNvPr name="Freeform 117" id="117"/>
            <p:cNvSpPr/>
            <p:nvPr/>
          </p:nvSpPr>
          <p:spPr>
            <a:xfrm flipH="false" flipV="false" rot="0">
              <a:off x="0" y="0"/>
              <a:ext cx="1102766" cy="438912"/>
            </a:xfrm>
            <a:custGeom>
              <a:avLst/>
              <a:gdLst/>
              <a:ahLst/>
              <a:cxnLst/>
              <a:rect r="r" b="b" t="t" l="l"/>
              <a:pathLst>
                <a:path h="438912" w="1102766">
                  <a:moveTo>
                    <a:pt x="0" y="0"/>
                  </a:moveTo>
                  <a:lnTo>
                    <a:pt x="1102766" y="0"/>
                  </a:lnTo>
                  <a:lnTo>
                    <a:pt x="1102766" y="438912"/>
                  </a:lnTo>
                  <a:lnTo>
                    <a:pt x="0" y="438912"/>
                  </a:lnTo>
                  <a:close/>
                </a:path>
              </a:pathLst>
            </a:custGeom>
            <a:blipFill>
              <a:blip r:embed="rId3">
                <a:alphaModFix amt="0"/>
              </a:blip>
              <a:stretch>
                <a:fillRect l="-1066" t="0" r="-1066" b="0"/>
              </a:stretch>
            </a:blipFill>
          </p:spPr>
        </p:sp>
        <p:sp>
          <p:nvSpPr>
            <p:cNvPr name="TextBox 118" id="118"/>
            <p:cNvSpPr txBox="true"/>
            <p:nvPr/>
          </p:nvSpPr>
          <p:spPr>
            <a:xfrm>
              <a:off x="0" y="-38100"/>
              <a:ext cx="1102766" cy="477012"/>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front</a:t>
              </a:r>
            </a:p>
          </p:txBody>
        </p:sp>
      </p:grpSp>
      <p:grpSp>
        <p:nvGrpSpPr>
          <p:cNvPr name="Group 119" id="119"/>
          <p:cNvGrpSpPr/>
          <p:nvPr/>
        </p:nvGrpSpPr>
        <p:grpSpPr>
          <a:xfrm rot="0">
            <a:off x="10513038" y="6528816"/>
            <a:ext cx="727500" cy="329184"/>
            <a:chOff x="0" y="0"/>
            <a:chExt cx="970001" cy="438912"/>
          </a:xfrm>
        </p:grpSpPr>
        <p:sp>
          <p:nvSpPr>
            <p:cNvPr name="Freeform 120" id="120"/>
            <p:cNvSpPr/>
            <p:nvPr/>
          </p:nvSpPr>
          <p:spPr>
            <a:xfrm flipH="false" flipV="false" rot="0">
              <a:off x="0" y="0"/>
              <a:ext cx="970026" cy="438912"/>
            </a:xfrm>
            <a:custGeom>
              <a:avLst/>
              <a:gdLst/>
              <a:ahLst/>
              <a:cxnLst/>
              <a:rect r="r" b="b" t="t" l="l"/>
              <a:pathLst>
                <a:path h="438912" w="970026">
                  <a:moveTo>
                    <a:pt x="0" y="109728"/>
                  </a:moveTo>
                  <a:cubicBezTo>
                    <a:pt x="0" y="49149"/>
                    <a:pt x="49149" y="0"/>
                    <a:pt x="109728" y="0"/>
                  </a:cubicBezTo>
                  <a:lnTo>
                    <a:pt x="860298" y="0"/>
                  </a:lnTo>
                  <a:cubicBezTo>
                    <a:pt x="920877" y="0"/>
                    <a:pt x="970026" y="49149"/>
                    <a:pt x="970026" y="109728"/>
                  </a:cubicBezTo>
                  <a:lnTo>
                    <a:pt x="970026" y="329184"/>
                  </a:lnTo>
                  <a:cubicBezTo>
                    <a:pt x="970026" y="389763"/>
                    <a:pt x="920877" y="438912"/>
                    <a:pt x="860298" y="438912"/>
                  </a:cubicBezTo>
                  <a:lnTo>
                    <a:pt x="109728" y="438912"/>
                  </a:lnTo>
                  <a:cubicBezTo>
                    <a:pt x="49149" y="438912"/>
                    <a:pt x="0" y="389763"/>
                    <a:pt x="0" y="329184"/>
                  </a:cubicBezTo>
                  <a:close/>
                </a:path>
              </a:pathLst>
            </a:custGeom>
            <a:solidFill>
              <a:srgbClr val="FBF4D2"/>
            </a:solidFill>
          </p:spPr>
        </p:sp>
      </p:grpSp>
      <p:grpSp>
        <p:nvGrpSpPr>
          <p:cNvPr name="Group 121" id="121"/>
          <p:cNvGrpSpPr/>
          <p:nvPr/>
        </p:nvGrpSpPr>
        <p:grpSpPr>
          <a:xfrm rot="0">
            <a:off x="10513038" y="6528816"/>
            <a:ext cx="727500" cy="329184"/>
            <a:chOff x="0" y="0"/>
            <a:chExt cx="970001" cy="438912"/>
          </a:xfrm>
        </p:grpSpPr>
        <p:sp>
          <p:nvSpPr>
            <p:cNvPr name="Freeform 122" id="122"/>
            <p:cNvSpPr/>
            <p:nvPr/>
          </p:nvSpPr>
          <p:spPr>
            <a:xfrm flipH="false" flipV="false" rot="0">
              <a:off x="0" y="0"/>
              <a:ext cx="969996" cy="438912"/>
            </a:xfrm>
            <a:custGeom>
              <a:avLst/>
              <a:gdLst/>
              <a:ahLst/>
              <a:cxnLst/>
              <a:rect r="r" b="b" t="t" l="l"/>
              <a:pathLst>
                <a:path h="438912" w="969996">
                  <a:moveTo>
                    <a:pt x="0" y="0"/>
                  </a:moveTo>
                  <a:lnTo>
                    <a:pt x="969996" y="0"/>
                  </a:lnTo>
                  <a:lnTo>
                    <a:pt x="969996" y="438912"/>
                  </a:lnTo>
                  <a:lnTo>
                    <a:pt x="0" y="438912"/>
                  </a:lnTo>
                  <a:close/>
                </a:path>
              </a:pathLst>
            </a:custGeom>
            <a:blipFill>
              <a:blip r:embed="rId3">
                <a:alphaModFix amt="0"/>
              </a:blip>
              <a:stretch>
                <a:fillRect l="-8055" t="0" r="-8056" b="0"/>
              </a:stretch>
            </a:blipFill>
          </p:spPr>
        </p:sp>
        <p:sp>
          <p:nvSpPr>
            <p:cNvPr name="TextBox 123" id="123"/>
            <p:cNvSpPr txBox="true"/>
            <p:nvPr/>
          </p:nvSpPr>
          <p:spPr>
            <a:xfrm>
              <a:off x="0" y="-38100"/>
              <a:ext cx="970001" cy="477012"/>
            </a:xfrm>
            <a:prstGeom prst="rect">
              <a:avLst/>
            </a:prstGeom>
          </p:spPr>
          <p:txBody>
            <a:bodyPr anchor="ctr" rtlCol="false" tIns="0" lIns="0" bIns="0" rIns="0"/>
            <a:lstStyle/>
            <a:p>
              <a:pPr algn="ctr">
                <a:lnSpc>
                  <a:spcPts val="1709"/>
                </a:lnSpc>
              </a:pPr>
              <a:r>
                <a:rPr lang="en-US" sz="1425" b="true">
                  <a:solidFill>
                    <a:srgbClr val="8F7200"/>
                  </a:solidFill>
                  <a:latin typeface="Consolas Bold"/>
                  <a:ea typeface="Consolas Bold"/>
                  <a:cs typeface="Consolas Bold"/>
                  <a:sym typeface="Consolas Bold"/>
                </a:rPr>
                <a:t>rear</a:t>
              </a:r>
            </a:p>
          </p:txBody>
        </p:sp>
      </p:grpSp>
    </p:spTree>
  </p:cSld>
  <p:clrMapOvr>
    <a:masterClrMapping/>
  </p:clrMapOvr>
  <p:transition spd="fast">
    <p:fade/>
  </p:transition>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GRAPH · BFS · DFS</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Queue for the search, stack for the answer</a:t>
            </a:r>
          </a:p>
        </p:txBody>
      </p:sp>
      <p:grpSp>
        <p:nvGrpSpPr>
          <p:cNvPr name="Group 6" id="6"/>
          <p:cNvGrpSpPr/>
          <p:nvPr/>
        </p:nvGrpSpPr>
        <p:grpSpPr>
          <a:xfrm rot="0">
            <a:off x="813435" y="2665095"/>
            <a:ext cx="5299710" cy="2145030"/>
            <a:chOff x="0" y="0"/>
            <a:chExt cx="7066280" cy="2860040"/>
          </a:xfrm>
        </p:grpSpPr>
        <p:sp>
          <p:nvSpPr>
            <p:cNvPr name="Freeform 7" id="7"/>
            <p:cNvSpPr/>
            <p:nvPr/>
          </p:nvSpPr>
          <p:spPr>
            <a:xfrm flipH="false" flipV="false" rot="0">
              <a:off x="0" y="0"/>
              <a:ext cx="7066280" cy="2860040"/>
            </a:xfrm>
            <a:custGeom>
              <a:avLst/>
              <a:gdLst/>
              <a:ahLst/>
              <a:cxnLst/>
              <a:rect r="r" b="b" t="t" l="l"/>
              <a:pathLst>
                <a:path h="2860040" w="7066280">
                  <a:moveTo>
                    <a:pt x="0" y="184531"/>
                  </a:moveTo>
                  <a:cubicBezTo>
                    <a:pt x="0" y="82677"/>
                    <a:pt x="82677" y="0"/>
                    <a:pt x="184531" y="0"/>
                  </a:cubicBezTo>
                  <a:lnTo>
                    <a:pt x="6881749" y="0"/>
                  </a:lnTo>
                  <a:cubicBezTo>
                    <a:pt x="6983603" y="0"/>
                    <a:pt x="7066280" y="82677"/>
                    <a:pt x="7066280" y="184531"/>
                  </a:cubicBezTo>
                  <a:lnTo>
                    <a:pt x="7066280" y="2675509"/>
                  </a:lnTo>
                  <a:cubicBezTo>
                    <a:pt x="7066280" y="2777363"/>
                    <a:pt x="6983603" y="2860040"/>
                    <a:pt x="6881749" y="2860040"/>
                  </a:cubicBezTo>
                  <a:lnTo>
                    <a:pt x="184531" y="2860040"/>
                  </a:lnTo>
                  <a:cubicBezTo>
                    <a:pt x="82677" y="2860040"/>
                    <a:pt x="0" y="2777363"/>
                    <a:pt x="0" y="2675509"/>
                  </a:cubicBezTo>
                  <a:close/>
                </a:path>
              </a:pathLst>
            </a:custGeom>
            <a:solidFill>
              <a:srgbClr val="F3F4F6"/>
            </a:solidFill>
            <a:ln w="19050" cap="sq">
              <a:solidFill>
                <a:srgbClr val="F3F4F6"/>
              </a:solidFill>
              <a:prstDash val="solid"/>
              <a:miter/>
            </a:ln>
          </p:spPr>
        </p:sp>
      </p:grpSp>
      <p:sp>
        <p:nvSpPr>
          <p:cNvPr name="TextBox 8" id="8"/>
          <p:cNvSpPr txBox="true"/>
          <p:nvPr/>
        </p:nvSpPr>
        <p:spPr>
          <a:xfrm rot="0">
            <a:off x="1165860" y="2795778"/>
            <a:ext cx="4663440" cy="1908810"/>
          </a:xfrm>
          <a:prstGeom prst="rect">
            <a:avLst/>
          </a:prstGeom>
        </p:spPr>
        <p:txBody>
          <a:bodyPr anchor="t" rtlCol="false" tIns="0" lIns="0" bIns="0" rIns="0">
            <a:spAutoFit/>
          </a:bodyPr>
          <a:lstStyle/>
          <a:p>
            <a:pPr algn="l">
              <a:lnSpc>
                <a:spcPts val="2700"/>
              </a:lnSpc>
            </a:pPr>
            <a:r>
              <a:rPr lang="en-US" sz="2250" b="true">
                <a:solidFill>
                  <a:srgbClr val="8F7200"/>
                </a:solidFill>
                <a:latin typeface="Calibri (MS) Bold"/>
                <a:ea typeface="Calibri (MS) Bold"/>
                <a:cs typeface="Calibri (MS) Bold"/>
                <a:sym typeface="Calibri (MS) Bold"/>
              </a:rPr>
              <a:t>1 · Explore</a:t>
            </a:r>
          </a:p>
          <a:p>
            <a:pPr algn="l">
              <a:lnSpc>
                <a:spcPts val="2340"/>
              </a:lnSpc>
            </a:pPr>
            <a:r>
              <a:rPr lang="en-US" sz="1950">
                <a:solidFill>
                  <a:srgbClr val="5F626B"/>
                </a:solidFill>
                <a:latin typeface="Calibri (MS)"/>
                <a:ea typeface="Calibri (MS)"/>
                <a:cs typeface="Calibri (MS)"/>
                <a:sym typeface="Calibri (MS)"/>
              </a:rPr>
              <a:t>Dequeue a place, enqueue its unvisited neighbours, ring by ring (our Queue).</a:t>
            </a:r>
          </a:p>
        </p:txBody>
      </p:sp>
      <p:grpSp>
        <p:nvGrpSpPr>
          <p:cNvPr name="Group 9" id="9"/>
          <p:cNvGrpSpPr/>
          <p:nvPr/>
        </p:nvGrpSpPr>
        <p:grpSpPr>
          <a:xfrm rot="0">
            <a:off x="6436995" y="2665095"/>
            <a:ext cx="5299710" cy="2145030"/>
            <a:chOff x="0" y="0"/>
            <a:chExt cx="7066280" cy="2860040"/>
          </a:xfrm>
        </p:grpSpPr>
        <p:sp>
          <p:nvSpPr>
            <p:cNvPr name="Freeform 10" id="10"/>
            <p:cNvSpPr/>
            <p:nvPr/>
          </p:nvSpPr>
          <p:spPr>
            <a:xfrm flipH="false" flipV="false" rot="0">
              <a:off x="0" y="0"/>
              <a:ext cx="7066280" cy="2860040"/>
            </a:xfrm>
            <a:custGeom>
              <a:avLst/>
              <a:gdLst/>
              <a:ahLst/>
              <a:cxnLst/>
              <a:rect r="r" b="b" t="t" l="l"/>
              <a:pathLst>
                <a:path h="2860040" w="7066280">
                  <a:moveTo>
                    <a:pt x="0" y="184531"/>
                  </a:moveTo>
                  <a:cubicBezTo>
                    <a:pt x="0" y="82677"/>
                    <a:pt x="82677" y="0"/>
                    <a:pt x="184531" y="0"/>
                  </a:cubicBezTo>
                  <a:lnTo>
                    <a:pt x="6881749" y="0"/>
                  </a:lnTo>
                  <a:cubicBezTo>
                    <a:pt x="6983603" y="0"/>
                    <a:pt x="7066280" y="82677"/>
                    <a:pt x="7066280" y="184531"/>
                  </a:cubicBezTo>
                  <a:lnTo>
                    <a:pt x="7066280" y="2675509"/>
                  </a:lnTo>
                  <a:cubicBezTo>
                    <a:pt x="7066280" y="2777363"/>
                    <a:pt x="6983603" y="2860040"/>
                    <a:pt x="6881749" y="2860040"/>
                  </a:cubicBezTo>
                  <a:lnTo>
                    <a:pt x="184531" y="2860040"/>
                  </a:lnTo>
                  <a:cubicBezTo>
                    <a:pt x="82677" y="2860040"/>
                    <a:pt x="0" y="2777363"/>
                    <a:pt x="0" y="2675509"/>
                  </a:cubicBezTo>
                  <a:close/>
                </a:path>
              </a:pathLst>
            </a:custGeom>
            <a:solidFill>
              <a:srgbClr val="F3F4F6"/>
            </a:solidFill>
            <a:ln w="19050" cap="sq">
              <a:solidFill>
                <a:srgbClr val="F3F4F6"/>
              </a:solidFill>
              <a:prstDash val="solid"/>
              <a:miter/>
            </a:ln>
          </p:spPr>
        </p:sp>
      </p:grpSp>
      <p:sp>
        <p:nvSpPr>
          <p:cNvPr name="TextBox 11" id="11"/>
          <p:cNvSpPr txBox="true"/>
          <p:nvPr/>
        </p:nvSpPr>
        <p:spPr>
          <a:xfrm rot="0">
            <a:off x="6789420" y="2795778"/>
            <a:ext cx="4663440" cy="1908810"/>
          </a:xfrm>
          <a:prstGeom prst="rect">
            <a:avLst/>
          </a:prstGeom>
        </p:spPr>
        <p:txBody>
          <a:bodyPr anchor="t" rtlCol="false" tIns="0" lIns="0" bIns="0" rIns="0">
            <a:spAutoFit/>
          </a:bodyPr>
          <a:lstStyle/>
          <a:p>
            <a:pPr algn="l">
              <a:lnSpc>
                <a:spcPts val="2700"/>
              </a:lnSpc>
            </a:pPr>
            <a:r>
              <a:rPr lang="en-US" sz="2250" b="true">
                <a:solidFill>
                  <a:srgbClr val="8F7200"/>
                </a:solidFill>
                <a:latin typeface="Calibri (MS) Bold"/>
                <a:ea typeface="Calibri (MS) Bold"/>
                <a:cs typeface="Calibri (MS) Bold"/>
                <a:sym typeface="Calibri (MS) Bold"/>
              </a:rPr>
              <a:t>2 · Remember</a:t>
            </a:r>
          </a:p>
          <a:p>
            <a:pPr algn="l">
              <a:lnSpc>
                <a:spcPts val="2340"/>
              </a:lnSpc>
            </a:pPr>
            <a:r>
              <a:rPr lang="en-US" sz="1950">
                <a:solidFill>
                  <a:srgbClr val="5F626B"/>
                </a:solidFill>
                <a:latin typeface="Calibri (MS)"/>
                <a:ea typeface="Calibri (MS)"/>
                <a:cs typeface="Calibri (MS)"/>
                <a:sym typeface="Calibri (MS)"/>
              </a:rPr>
              <a:t>parent[next] = current. Mark visited when queued, so nothing is queued twice.</a:t>
            </a:r>
          </a:p>
        </p:txBody>
      </p:sp>
      <p:grpSp>
        <p:nvGrpSpPr>
          <p:cNvPr name="Group 12" id="12"/>
          <p:cNvGrpSpPr/>
          <p:nvPr/>
        </p:nvGrpSpPr>
        <p:grpSpPr>
          <a:xfrm rot="0">
            <a:off x="12060555" y="2665095"/>
            <a:ext cx="5299710" cy="2145030"/>
            <a:chOff x="0" y="0"/>
            <a:chExt cx="7066280" cy="2860040"/>
          </a:xfrm>
        </p:grpSpPr>
        <p:sp>
          <p:nvSpPr>
            <p:cNvPr name="Freeform 13" id="13"/>
            <p:cNvSpPr/>
            <p:nvPr/>
          </p:nvSpPr>
          <p:spPr>
            <a:xfrm flipH="false" flipV="false" rot="0">
              <a:off x="0" y="0"/>
              <a:ext cx="7066280" cy="2860040"/>
            </a:xfrm>
            <a:custGeom>
              <a:avLst/>
              <a:gdLst/>
              <a:ahLst/>
              <a:cxnLst/>
              <a:rect r="r" b="b" t="t" l="l"/>
              <a:pathLst>
                <a:path h="2860040" w="7066280">
                  <a:moveTo>
                    <a:pt x="0" y="184531"/>
                  </a:moveTo>
                  <a:cubicBezTo>
                    <a:pt x="0" y="82677"/>
                    <a:pt x="82677" y="0"/>
                    <a:pt x="184531" y="0"/>
                  </a:cubicBezTo>
                  <a:lnTo>
                    <a:pt x="6881749" y="0"/>
                  </a:lnTo>
                  <a:cubicBezTo>
                    <a:pt x="6983603" y="0"/>
                    <a:pt x="7066280" y="82677"/>
                    <a:pt x="7066280" y="184531"/>
                  </a:cubicBezTo>
                  <a:lnTo>
                    <a:pt x="7066280" y="2675509"/>
                  </a:lnTo>
                  <a:cubicBezTo>
                    <a:pt x="7066280" y="2777363"/>
                    <a:pt x="6983603" y="2860040"/>
                    <a:pt x="6881749" y="2860040"/>
                  </a:cubicBezTo>
                  <a:lnTo>
                    <a:pt x="184531" y="2860040"/>
                  </a:lnTo>
                  <a:cubicBezTo>
                    <a:pt x="82677" y="2860040"/>
                    <a:pt x="0" y="2777363"/>
                    <a:pt x="0" y="2675509"/>
                  </a:cubicBezTo>
                  <a:close/>
                </a:path>
              </a:pathLst>
            </a:custGeom>
            <a:solidFill>
              <a:srgbClr val="F3F4F6"/>
            </a:solidFill>
            <a:ln w="19050" cap="sq">
              <a:solidFill>
                <a:srgbClr val="F3F4F6"/>
              </a:solidFill>
              <a:prstDash val="solid"/>
              <a:miter/>
            </a:ln>
          </p:spPr>
        </p:sp>
      </p:grpSp>
      <p:sp>
        <p:nvSpPr>
          <p:cNvPr name="TextBox 14" id="14"/>
          <p:cNvSpPr txBox="true"/>
          <p:nvPr/>
        </p:nvSpPr>
        <p:spPr>
          <a:xfrm rot="0">
            <a:off x="12412980" y="2795778"/>
            <a:ext cx="4663440" cy="1908810"/>
          </a:xfrm>
          <a:prstGeom prst="rect">
            <a:avLst/>
          </a:prstGeom>
        </p:spPr>
        <p:txBody>
          <a:bodyPr anchor="t" rtlCol="false" tIns="0" lIns="0" bIns="0" rIns="0">
            <a:spAutoFit/>
          </a:bodyPr>
          <a:lstStyle/>
          <a:p>
            <a:pPr algn="l">
              <a:lnSpc>
                <a:spcPts val="2700"/>
              </a:lnSpc>
            </a:pPr>
            <a:r>
              <a:rPr lang="en-US" sz="2250" b="true">
                <a:solidFill>
                  <a:srgbClr val="8F7200"/>
                </a:solidFill>
                <a:latin typeface="Calibri (MS) Bold"/>
                <a:ea typeface="Calibri (MS) Bold"/>
                <a:cs typeface="Calibri (MS) Bold"/>
                <a:sym typeface="Calibri (MS) Bold"/>
              </a:rPr>
              <a:t>3 · Rebuild</a:t>
            </a:r>
          </a:p>
          <a:p>
            <a:pPr algn="l">
              <a:lnSpc>
                <a:spcPts val="2340"/>
              </a:lnSpc>
            </a:pPr>
            <a:r>
              <a:rPr lang="en-US" sz="1950">
                <a:solidFill>
                  <a:srgbClr val="5F626B"/>
                </a:solidFill>
                <a:latin typeface="Calibri (MS)"/>
                <a:ea typeface="Calibri (MS)"/>
                <a:cs typeface="Calibri (MS)"/>
                <a:sym typeface="Calibri (MS)"/>
              </a:rPr>
              <a:t>Walk parent[] back from the goal, push each stop, pop them in order (our Stack).</a:t>
            </a:r>
          </a:p>
        </p:txBody>
      </p:sp>
      <p:grpSp>
        <p:nvGrpSpPr>
          <p:cNvPr name="Group 15" id="15"/>
          <p:cNvGrpSpPr/>
          <p:nvPr/>
        </p:nvGrpSpPr>
        <p:grpSpPr>
          <a:xfrm rot="0">
            <a:off x="813435" y="5133975"/>
            <a:ext cx="16615410" cy="1664970"/>
            <a:chOff x="0" y="0"/>
            <a:chExt cx="22153880" cy="2219960"/>
          </a:xfrm>
        </p:grpSpPr>
        <p:sp>
          <p:nvSpPr>
            <p:cNvPr name="Freeform 16" id="16"/>
            <p:cNvSpPr/>
            <p:nvPr/>
          </p:nvSpPr>
          <p:spPr>
            <a:xfrm flipH="false" flipV="false" rot="0">
              <a:off x="0" y="0"/>
              <a:ext cx="22153879" cy="2219960"/>
            </a:xfrm>
            <a:custGeom>
              <a:avLst/>
              <a:gdLst/>
              <a:ahLst/>
              <a:cxnLst/>
              <a:rect r="r" b="b" t="t" l="l"/>
              <a:pathLst>
                <a:path h="2219960" w="22153879">
                  <a:moveTo>
                    <a:pt x="0" y="185039"/>
                  </a:moveTo>
                  <a:cubicBezTo>
                    <a:pt x="0" y="82804"/>
                    <a:pt x="82804" y="0"/>
                    <a:pt x="185039" y="0"/>
                  </a:cubicBezTo>
                  <a:lnTo>
                    <a:pt x="21968840" y="0"/>
                  </a:lnTo>
                  <a:cubicBezTo>
                    <a:pt x="22070949" y="0"/>
                    <a:pt x="22153879" y="82804"/>
                    <a:pt x="22153879" y="185039"/>
                  </a:cubicBezTo>
                  <a:lnTo>
                    <a:pt x="22153879" y="2034921"/>
                  </a:lnTo>
                  <a:cubicBezTo>
                    <a:pt x="22153879" y="2137029"/>
                    <a:pt x="22071076" y="2219960"/>
                    <a:pt x="21968840" y="2219960"/>
                  </a:cubicBezTo>
                  <a:lnTo>
                    <a:pt x="185039" y="2219960"/>
                  </a:lnTo>
                  <a:cubicBezTo>
                    <a:pt x="82804" y="2219960"/>
                    <a:pt x="0" y="2137156"/>
                    <a:pt x="0" y="2034921"/>
                  </a:cubicBezTo>
                  <a:close/>
                </a:path>
              </a:pathLst>
            </a:custGeom>
            <a:solidFill>
              <a:srgbClr val="07080A"/>
            </a:solidFill>
            <a:ln w="19050" cap="sq">
              <a:solidFill>
                <a:srgbClr val="2C2F38"/>
              </a:solidFill>
              <a:prstDash val="solid"/>
              <a:miter/>
            </a:ln>
          </p:spPr>
        </p:sp>
      </p:grpSp>
      <p:grpSp>
        <p:nvGrpSpPr>
          <p:cNvPr name="Group 17" id="17"/>
          <p:cNvGrpSpPr/>
          <p:nvPr/>
        </p:nvGrpSpPr>
        <p:grpSpPr>
          <a:xfrm rot="0">
            <a:off x="1087755" y="5367147"/>
            <a:ext cx="183642" cy="183642"/>
            <a:chOff x="0" y="0"/>
            <a:chExt cx="244856" cy="244856"/>
          </a:xfrm>
        </p:grpSpPr>
        <p:sp>
          <p:nvSpPr>
            <p:cNvPr name="Freeform 18" id="18"/>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F5F57"/>
            </a:solidFill>
            <a:ln w="19050" cap="sq">
              <a:solidFill>
                <a:srgbClr val="FF5F57"/>
              </a:solidFill>
              <a:prstDash val="solid"/>
              <a:miter/>
            </a:ln>
          </p:spPr>
        </p:sp>
      </p:grpSp>
      <p:grpSp>
        <p:nvGrpSpPr>
          <p:cNvPr name="Group 19" id="19"/>
          <p:cNvGrpSpPr/>
          <p:nvPr/>
        </p:nvGrpSpPr>
        <p:grpSpPr>
          <a:xfrm rot="0">
            <a:off x="1362075" y="5367147"/>
            <a:ext cx="183642" cy="183642"/>
            <a:chOff x="0" y="0"/>
            <a:chExt cx="244856" cy="244856"/>
          </a:xfrm>
        </p:grpSpPr>
        <p:sp>
          <p:nvSpPr>
            <p:cNvPr name="Freeform 20" id="20"/>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FEBC2E"/>
            </a:solidFill>
            <a:ln w="19050" cap="sq">
              <a:solidFill>
                <a:srgbClr val="FEBC2E"/>
              </a:solidFill>
              <a:prstDash val="solid"/>
              <a:miter/>
            </a:ln>
          </p:spPr>
        </p:sp>
      </p:grpSp>
      <p:grpSp>
        <p:nvGrpSpPr>
          <p:cNvPr name="Group 21" id="21"/>
          <p:cNvGrpSpPr/>
          <p:nvPr/>
        </p:nvGrpSpPr>
        <p:grpSpPr>
          <a:xfrm rot="0">
            <a:off x="1636395" y="5367147"/>
            <a:ext cx="183642" cy="183642"/>
            <a:chOff x="0" y="0"/>
            <a:chExt cx="244856" cy="244856"/>
          </a:xfrm>
        </p:grpSpPr>
        <p:sp>
          <p:nvSpPr>
            <p:cNvPr name="Freeform 22" id="22"/>
            <p:cNvSpPr/>
            <p:nvPr/>
          </p:nvSpPr>
          <p:spPr>
            <a:xfrm flipH="false" flipV="false" rot="0">
              <a:off x="0" y="0"/>
              <a:ext cx="244856" cy="244856"/>
            </a:xfrm>
            <a:custGeom>
              <a:avLst/>
              <a:gdLst/>
              <a:ahLst/>
              <a:cxnLst/>
              <a:rect r="r" b="b" t="t" l="l"/>
              <a:pathLst>
                <a:path h="244856" w="244856">
                  <a:moveTo>
                    <a:pt x="0" y="122428"/>
                  </a:moveTo>
                  <a:cubicBezTo>
                    <a:pt x="0" y="54864"/>
                    <a:pt x="54864" y="0"/>
                    <a:pt x="122428" y="0"/>
                  </a:cubicBezTo>
                  <a:cubicBezTo>
                    <a:pt x="189992" y="0"/>
                    <a:pt x="244856" y="54864"/>
                    <a:pt x="244856" y="122428"/>
                  </a:cubicBezTo>
                  <a:cubicBezTo>
                    <a:pt x="244856" y="189992"/>
                    <a:pt x="189992" y="244856"/>
                    <a:pt x="122428" y="244856"/>
                  </a:cubicBezTo>
                  <a:cubicBezTo>
                    <a:pt x="54864" y="244856"/>
                    <a:pt x="0" y="189992"/>
                    <a:pt x="0" y="122428"/>
                  </a:cubicBezTo>
                  <a:close/>
                </a:path>
              </a:pathLst>
            </a:custGeom>
            <a:solidFill>
              <a:srgbClr val="28C840"/>
            </a:solidFill>
            <a:ln w="19050" cap="sq">
              <a:solidFill>
                <a:srgbClr val="28C840"/>
              </a:solidFill>
              <a:prstDash val="solid"/>
              <a:miter/>
            </a:ln>
          </p:spPr>
        </p:sp>
      </p:grpSp>
      <p:sp>
        <p:nvSpPr>
          <p:cNvPr name="TextBox 23" id="23"/>
          <p:cNvSpPr txBox="true"/>
          <p:nvPr/>
        </p:nvSpPr>
        <p:spPr>
          <a:xfrm rot="0">
            <a:off x="1124712" y="5722620"/>
            <a:ext cx="15992856" cy="861060"/>
          </a:xfrm>
          <a:prstGeom prst="rect">
            <a:avLst/>
          </a:prstGeom>
        </p:spPr>
        <p:txBody>
          <a:bodyPr anchor="t" rtlCol="false" tIns="0" lIns="0" bIns="0" rIns="0">
            <a:spAutoFit/>
          </a:bodyPr>
          <a:lstStyle/>
          <a:p>
            <a:pPr algn="l">
              <a:lnSpc>
                <a:spcPts val="1984"/>
              </a:lnSpc>
            </a:pPr>
            <a:r>
              <a:rPr lang="en-US" sz="1575">
                <a:solidFill>
                  <a:srgbClr val="D7D8DC"/>
                </a:solidFill>
                <a:latin typeface="Consolas"/>
                <a:ea typeface="Consolas"/>
                <a:cs typeface="Consolas"/>
                <a:sym typeface="Consolas"/>
              </a:rPr>
              <a:t>  Library → Fazlul Haque Hall → Shaheed Smrity Hall → Rashid Hall → Cafeteria → Kodom Tola → KUET Dighi → Khan Jahan Ali Hall → </a:t>
            </a:r>
            <a:r>
              <a:rPr lang="en-US" sz="1575" b="true">
                <a:solidFill>
                  <a:srgbClr val="D9B100"/>
                </a:solidFill>
                <a:latin typeface="Consolas Bold"/>
                <a:ea typeface="Consolas Bold"/>
                <a:cs typeface="Consolas Bold"/>
                <a:sym typeface="Consolas Bold"/>
              </a:rPr>
              <a:t>Main Gate</a:t>
            </a:r>
          </a:p>
          <a:p>
            <a:pPr algn="l">
              <a:lnSpc>
                <a:spcPts val="1984"/>
              </a:lnSpc>
            </a:pPr>
            <a:r>
              <a:rPr lang="en-US" sz="1575">
                <a:solidFill>
                  <a:srgbClr val="7C7F89"/>
                </a:solidFill>
                <a:latin typeface="Consolas"/>
                <a:ea typeface="Consolas"/>
                <a:cs typeface="Consolas"/>
                <a:sym typeface="Consolas"/>
              </a:rPr>
              <a:t>  9 stops · 707 m walking · 529 m straight line · O(V + E)</a:t>
            </a:r>
          </a:p>
        </p:txBody>
      </p:sp>
      <p:sp>
        <p:nvSpPr>
          <p:cNvPr name="TextBox 24" id="24"/>
          <p:cNvSpPr txBox="true"/>
          <p:nvPr/>
        </p:nvSpPr>
        <p:spPr>
          <a:xfrm rot="0">
            <a:off x="822960" y="7084695"/>
            <a:ext cx="16596360" cy="1693545"/>
          </a:xfrm>
          <a:prstGeom prst="rect">
            <a:avLst/>
          </a:prstGeom>
        </p:spPr>
        <p:txBody>
          <a:bodyPr anchor="t" rtlCol="false" tIns="0" lIns="0" bIns="0" rIns="0">
            <a:spAutoFit/>
          </a:bodyPr>
          <a:lstStyle/>
          <a:p>
            <a:pPr algn="l">
              <a:lnSpc>
                <a:spcPts val="2520"/>
              </a:lnSpc>
            </a:pPr>
            <a:r>
              <a:rPr lang="en-US" sz="2100" b="true">
                <a:solidFill>
                  <a:srgbClr val="16171B"/>
                </a:solidFill>
                <a:latin typeface="Calibri (MS) Bold"/>
                <a:ea typeface="Calibri (MS) Bold"/>
                <a:cs typeface="Calibri (MS) Bold"/>
                <a:sym typeface="Calibri (MS) Bold"/>
              </a:rPr>
              <a:t>DFS, iterative on our stack.</a:t>
            </a:r>
          </a:p>
          <a:p>
            <a:pPr algn="l">
              <a:lnSpc>
                <a:spcPts val="2520"/>
              </a:lnSpc>
            </a:pPr>
            <a:r>
              <a:rPr lang="en-US" sz="2100">
                <a:solidFill>
                  <a:srgbClr val="5F626B"/>
                </a:solidFill>
                <a:latin typeface="Calibri (MS)"/>
                <a:ea typeface="Calibri (MS)"/>
                <a:cs typeface="Calibri (MS)"/>
                <a:sym typeface="Calibri (MS)"/>
              </a:rPr>
              <a:t>The top is the place being explored; we remember how far we got through its neighbours. Each place is pushed once, so the 200-slot stack can never overflow. The first textbook version could, and a test on a complete 200-vertex graph now guards it.</a:t>
            </a:r>
          </a:p>
        </p:txBody>
      </p:sp>
    </p:spTree>
  </p:cSld>
  <p:clrMapOvr>
    <a:masterClrMapping/>
  </p:clrMapOvr>
  <p:transition spd="fast">
    <p:fade/>
  </p:transition>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TESTING</a:t>
              </a:r>
            </a:p>
          </p:txBody>
        </p:sp>
      </p:grpSp>
      <p:sp>
        <p:nvSpPr>
          <p:cNvPr name="TextBox 5" id="5"/>
          <p:cNvSpPr txBox="true"/>
          <p:nvPr/>
        </p:nvSpPr>
        <p:spPr>
          <a:xfrm rot="0">
            <a:off x="822960" y="1178433"/>
            <a:ext cx="16641623" cy="1057275"/>
          </a:xfrm>
          <a:prstGeom prst="rect">
            <a:avLst/>
          </a:prstGeom>
        </p:spPr>
        <p:txBody>
          <a:bodyPr anchor="t" rtlCol="false" tIns="0" lIns="0" bIns="0" rIns="0">
            <a:spAutoFit/>
          </a:bodyPr>
          <a:lstStyle/>
          <a:p>
            <a:pPr algn="l">
              <a:lnSpc>
                <a:spcPts val="6120"/>
              </a:lnSpc>
            </a:pPr>
            <a:r>
              <a:rPr lang="en-US" sz="5100" b="true">
                <a:solidFill>
                  <a:srgbClr val="16171B"/>
                </a:solidFill>
                <a:latin typeface="Arial Bold"/>
                <a:ea typeface="Arial Bold"/>
                <a:cs typeface="Arial Bold"/>
                <a:sym typeface="Arial Bold"/>
              </a:rPr>
              <a:t>907 checks, 8 suites, all passing</a:t>
            </a:r>
          </a:p>
        </p:txBody>
      </p:sp>
      <p:pic>
        <p:nvPicPr>
          <p:cNvPr name="Picture 6" id="6"/>
          <p:cNvPicPr>
            <a:picLocks noChangeAspect="true"/>
          </p:cNvPicPr>
          <p:nvPr/>
        </p:nvPicPr>
        <p:blipFill>
          <a:blip r:embed="rId4"/>
          <a:stretch>
            <a:fillRect/>
          </a:stretch>
        </p:blipFill>
        <p:spPr>
          <a:xfrm rot="0">
            <a:off x="535024" y="1561471"/>
            <a:ext cx="12015216" cy="8860536"/>
          </a:xfrm>
          <a:prstGeom prst="rect">
            <a:avLst/>
          </a:prstGeom>
        </p:spPr>
      </p:pic>
      <p:sp>
        <p:nvSpPr>
          <p:cNvPr name="TextBox 7" id="7"/>
          <p:cNvSpPr txBox="true"/>
          <p:nvPr/>
        </p:nvSpPr>
        <p:spPr>
          <a:xfrm rot="0">
            <a:off x="10644733" y="2889893"/>
            <a:ext cx="7905472" cy="4668331"/>
          </a:xfrm>
          <a:prstGeom prst="rect">
            <a:avLst/>
          </a:prstGeom>
        </p:spPr>
        <p:txBody>
          <a:bodyPr anchor="t" rtlCol="false" tIns="0" lIns="0" bIns="0" rIns="0">
            <a:spAutoFit/>
          </a:bodyPr>
          <a:lstStyle/>
          <a:p>
            <a:pPr algn="l">
              <a:lnSpc>
                <a:spcPts val="3730"/>
              </a:lnSpc>
            </a:pPr>
            <a:r>
              <a:rPr lang="en-US" sz="3108" b="true">
                <a:solidFill>
                  <a:srgbClr val="16171B"/>
                </a:solidFill>
                <a:latin typeface="Calibri (MS) Bold"/>
                <a:ea typeface="Calibri (MS) Bold"/>
                <a:cs typeface="Calibri (MS) Bold"/>
                <a:sym typeface="Calibri (MS) Bold"/>
              </a:rPr>
              <a:t>Edge cases on purpose</a:t>
            </a:r>
          </a:p>
          <a:p>
            <a:pPr algn="l">
              <a:lnSpc>
                <a:spcPts val="3263"/>
              </a:lnSpc>
            </a:pPr>
            <a:r>
              <a:rPr lang="en-US" sz="2719">
                <a:solidFill>
                  <a:srgbClr val="5F626B"/>
                </a:solidFill>
                <a:latin typeface="Calibri (MS)"/>
                <a:ea typeface="Calibri (MS)"/>
                <a:cs typeface="Calibri (MS)"/>
                <a:sym typeface="Calibri (MS)"/>
              </a:rPr>
              <a:t>Overflow at 200, underflow, queue wraparound, unreachable goals, a complete 200-vertex graph, duplicates and stability.</a:t>
            </a:r>
          </a:p>
          <a:p>
            <a:pPr algn="l">
              <a:lnSpc>
                <a:spcPts val="3263"/>
              </a:lnSpc>
            </a:pPr>
          </a:p>
          <a:p>
            <a:pPr algn="l">
              <a:lnSpc>
                <a:spcPts val="3263"/>
              </a:lnSpc>
            </a:pPr>
            <a:r>
              <a:rPr lang="en-US" sz="2719">
                <a:solidFill>
                  <a:srgbClr val="000000"/>
                </a:solidFill>
                <a:latin typeface="Calibri (MS)"/>
                <a:ea typeface="Calibri (MS)"/>
                <a:cs typeface="Calibri (MS)"/>
                <a:sym typeface="Calibri (MS)"/>
              </a:rPr>
              <a:t> </a:t>
            </a:r>
          </a:p>
          <a:p>
            <a:pPr algn="l">
              <a:lnSpc>
                <a:spcPts val="3730"/>
              </a:lnSpc>
            </a:pPr>
            <a:r>
              <a:rPr lang="en-US" sz="3108" b="true">
                <a:solidFill>
                  <a:srgbClr val="16171B"/>
                </a:solidFill>
                <a:latin typeface="Calibri (MS) Bold"/>
                <a:ea typeface="Calibri (MS) Bold"/>
                <a:cs typeface="Calibri (MS) Bold"/>
                <a:sym typeface="Calibri (MS) Bold"/>
              </a:rPr>
              <a:t>The whole app, scripted</a:t>
            </a:r>
          </a:p>
          <a:p>
            <a:pPr algn="l">
              <a:lnSpc>
                <a:spcPts val="3263"/>
              </a:lnSpc>
            </a:pPr>
            <a:r>
              <a:rPr lang="en-US" sz="2719">
                <a:solidFill>
                  <a:srgbClr val="5F626B"/>
                </a:solidFill>
                <a:latin typeface="Calibri (MS)"/>
                <a:ea typeface="Calibri (MS)"/>
                <a:cs typeface="Calibri (MS)"/>
                <a:sym typeface="Calibri (MS)"/>
              </a:rPr>
              <a:t>Every menu as a student and an admin: wrong passwords, letters where numbers go, adding and deleting places. It never crashed, and no password reached the log.</a:t>
            </a:r>
          </a:p>
        </p:txBody>
      </p:sp>
      <p:grpSp>
        <p:nvGrpSpPr>
          <p:cNvPr name="Group 8" id="8"/>
          <p:cNvGrpSpPr/>
          <p:nvPr/>
        </p:nvGrpSpPr>
        <p:grpSpPr>
          <a:xfrm rot="0">
            <a:off x="2399799" y="685800"/>
            <a:ext cx="6035040" cy="548640"/>
            <a:chOff x="0" y="0"/>
            <a:chExt cx="8046720" cy="731520"/>
          </a:xfrm>
        </p:grpSpPr>
        <p:sp>
          <p:nvSpPr>
            <p:cNvPr name="Freeform 9" id="9"/>
            <p:cNvSpPr/>
            <p:nvPr/>
          </p:nvSpPr>
          <p:spPr>
            <a:xfrm flipH="false" flipV="false" rot="0">
              <a:off x="0" y="0"/>
              <a:ext cx="8046720" cy="731520"/>
            </a:xfrm>
            <a:custGeom>
              <a:avLst/>
              <a:gdLst/>
              <a:ahLst/>
              <a:cxnLst/>
              <a:rect r="r" b="b" t="t" l="l"/>
              <a:pathLst>
                <a:path h="731520" w="8046720">
                  <a:moveTo>
                    <a:pt x="0" y="0"/>
                  </a:moveTo>
                  <a:lnTo>
                    <a:pt x="8046720" y="0"/>
                  </a:lnTo>
                  <a:lnTo>
                    <a:pt x="8046720" y="731520"/>
                  </a:lnTo>
                  <a:lnTo>
                    <a:pt x="0" y="731520"/>
                  </a:lnTo>
                  <a:close/>
                </a:path>
              </a:pathLst>
            </a:custGeom>
            <a:blipFill>
              <a:blip r:embed="rId3">
                <a:alphaModFix amt="0"/>
              </a:blip>
              <a:stretch>
                <a:fillRect l="0" t="-164335" r="0" b="-164335"/>
              </a:stretch>
            </a:blipFill>
          </p:spPr>
        </p:sp>
        <p:sp>
          <p:nvSpPr>
            <p:cNvPr name="TextBox 10" id="10"/>
            <p:cNvSpPr txBox="true"/>
            <p:nvPr/>
          </p:nvSpPr>
          <p:spPr>
            <a:xfrm>
              <a:off x="0" y="-47625"/>
              <a:ext cx="8046720" cy="779145"/>
            </a:xfrm>
            <a:prstGeom prst="rect">
              <a:avLst/>
            </a:prstGeom>
          </p:spPr>
          <p:txBody>
            <a:bodyPr anchor="ctr" rtlCol="false" tIns="0" lIns="0" bIns="0" rIns="0"/>
            <a:lstStyle/>
            <a:p>
              <a:pPr algn="l">
                <a:lnSpc>
                  <a:spcPts val="2520"/>
                </a:lnSpc>
              </a:pPr>
              <a:r>
                <a:rPr lang="en-US" sz="2100" b="true">
                  <a:solidFill>
                    <a:srgbClr val="4FAE6A"/>
                  </a:solidFill>
                  <a:latin typeface="Consolas Bold"/>
                  <a:ea typeface="Consolas Bold"/>
                  <a:cs typeface="Consolas Bold"/>
                  <a:sym typeface="Consolas Bold"/>
                </a:rPr>
                <a:t>make test</a:t>
              </a:r>
            </a:p>
          </p:txBody>
        </p:sp>
      </p:grpSp>
    </p:spTree>
  </p:cSld>
  <p:clrMapOvr>
    <a:masterClrMapping/>
  </p:clrMapOvr>
  <p:transition spd="fast">
    <p:fade/>
  </p:transition>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D9B100"/>
                  </a:solidFill>
                  <a:latin typeface="Arial Bold"/>
                  <a:ea typeface="Arial Bold"/>
                  <a:cs typeface="Arial Bold"/>
                  <a:sym typeface="Arial Bold"/>
                </a:rPr>
                <a:t>LIVE DEMO</a:t>
              </a:r>
            </a:p>
          </p:txBody>
        </p:sp>
      </p:grpSp>
      <p:sp>
        <p:nvSpPr>
          <p:cNvPr name="TextBox 5" id="5"/>
          <p:cNvSpPr txBox="true"/>
          <p:nvPr/>
        </p:nvSpPr>
        <p:spPr>
          <a:xfrm rot="0">
            <a:off x="813435" y="1288108"/>
            <a:ext cx="19502380" cy="1234112"/>
          </a:xfrm>
          <a:prstGeom prst="rect">
            <a:avLst/>
          </a:prstGeom>
        </p:spPr>
        <p:txBody>
          <a:bodyPr anchor="t" rtlCol="false" tIns="0" lIns="0" bIns="0" rIns="0">
            <a:spAutoFit/>
          </a:bodyPr>
          <a:lstStyle/>
          <a:p>
            <a:pPr algn="l">
              <a:lnSpc>
                <a:spcPts val="7172"/>
              </a:lnSpc>
            </a:pPr>
            <a:r>
              <a:rPr lang="en-US" sz="5976" b="true">
                <a:solidFill>
                  <a:srgbClr val="FFFFFF"/>
                </a:solidFill>
                <a:latin typeface="Arial Bold"/>
                <a:ea typeface="Arial Bold"/>
                <a:cs typeface="Arial Bold"/>
                <a:sym typeface="Arial Bold"/>
              </a:rPr>
              <a:t>What we'll show now</a:t>
            </a:r>
          </a:p>
        </p:txBody>
      </p:sp>
      <p:grpSp>
        <p:nvGrpSpPr>
          <p:cNvPr name="Group 6" id="6"/>
          <p:cNvGrpSpPr/>
          <p:nvPr/>
        </p:nvGrpSpPr>
        <p:grpSpPr>
          <a:xfrm rot="0">
            <a:off x="813435" y="2665095"/>
            <a:ext cx="8111490" cy="842010"/>
            <a:chOff x="0" y="0"/>
            <a:chExt cx="10815320" cy="1122680"/>
          </a:xfrm>
        </p:grpSpPr>
        <p:sp>
          <p:nvSpPr>
            <p:cNvPr name="Freeform 7" id="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8" id="8"/>
          <p:cNvGrpSpPr/>
          <p:nvPr/>
        </p:nvGrpSpPr>
        <p:grpSpPr>
          <a:xfrm rot="0">
            <a:off x="1165860" y="2674620"/>
            <a:ext cx="7543800" cy="822960"/>
            <a:chOff x="0" y="0"/>
            <a:chExt cx="10058400" cy="1097280"/>
          </a:xfrm>
        </p:grpSpPr>
        <p:sp>
          <p:nvSpPr>
            <p:cNvPr name="Freeform 9" id="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10" id="1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make run, log in as student1</a:t>
              </a:r>
            </a:p>
          </p:txBody>
        </p:sp>
      </p:grpSp>
      <p:grpSp>
        <p:nvGrpSpPr>
          <p:cNvPr name="Group 11" id="11"/>
          <p:cNvGrpSpPr/>
          <p:nvPr/>
        </p:nvGrpSpPr>
        <p:grpSpPr>
          <a:xfrm rot="0">
            <a:off x="813435" y="3652647"/>
            <a:ext cx="8111490" cy="842010"/>
            <a:chOff x="0" y="0"/>
            <a:chExt cx="10815320" cy="1122680"/>
          </a:xfrm>
        </p:grpSpPr>
        <p:sp>
          <p:nvSpPr>
            <p:cNvPr name="Freeform 12" id="1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13" id="13"/>
          <p:cNvGrpSpPr/>
          <p:nvPr/>
        </p:nvGrpSpPr>
        <p:grpSpPr>
          <a:xfrm rot="0">
            <a:off x="1165860" y="3662172"/>
            <a:ext cx="7543800" cy="822960"/>
            <a:chOff x="0" y="0"/>
            <a:chExt cx="10058400" cy="1097280"/>
          </a:xfrm>
        </p:grpSpPr>
        <p:sp>
          <p:nvSpPr>
            <p:cNvPr name="Freeform 14" id="1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15" id="1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1  Take me somewhere: lib → gate</a:t>
              </a:r>
            </a:p>
          </p:txBody>
        </p:sp>
      </p:grpSp>
      <p:grpSp>
        <p:nvGrpSpPr>
          <p:cNvPr name="Group 16" id="16"/>
          <p:cNvGrpSpPr/>
          <p:nvPr/>
        </p:nvGrpSpPr>
        <p:grpSpPr>
          <a:xfrm rot="0">
            <a:off x="813435" y="4640199"/>
            <a:ext cx="8111490" cy="842010"/>
            <a:chOff x="0" y="0"/>
            <a:chExt cx="10815320" cy="1122680"/>
          </a:xfrm>
        </p:grpSpPr>
        <p:sp>
          <p:nvSpPr>
            <p:cNvPr name="Freeform 17" id="1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18" id="18"/>
          <p:cNvGrpSpPr/>
          <p:nvPr/>
        </p:nvGrpSpPr>
        <p:grpSpPr>
          <a:xfrm rot="0">
            <a:off x="1165860" y="4649724"/>
            <a:ext cx="7543800" cy="822960"/>
            <a:chOff x="0" y="0"/>
            <a:chExt cx="10058400" cy="1097280"/>
          </a:xfrm>
        </p:grpSpPr>
        <p:sp>
          <p:nvSpPr>
            <p:cNvPr name="Freeform 19" id="1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20" id="2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   Show how BFS found this route</a:t>
              </a:r>
            </a:p>
          </p:txBody>
        </p:sp>
      </p:grpSp>
      <p:grpSp>
        <p:nvGrpSpPr>
          <p:cNvPr name="Group 21" id="21"/>
          <p:cNvGrpSpPr/>
          <p:nvPr/>
        </p:nvGrpSpPr>
        <p:grpSpPr>
          <a:xfrm rot="0">
            <a:off x="813435" y="5627751"/>
            <a:ext cx="8111490" cy="842010"/>
            <a:chOff x="0" y="0"/>
            <a:chExt cx="10815320" cy="1122680"/>
          </a:xfrm>
        </p:grpSpPr>
        <p:sp>
          <p:nvSpPr>
            <p:cNvPr name="Freeform 22" id="2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23" id="23"/>
          <p:cNvGrpSpPr/>
          <p:nvPr/>
        </p:nvGrpSpPr>
        <p:grpSpPr>
          <a:xfrm rot="0">
            <a:off x="1165860" y="5637276"/>
            <a:ext cx="7543800" cy="822960"/>
            <a:chOff x="0" y="0"/>
            <a:chExt cx="10058400" cy="1097280"/>
          </a:xfrm>
        </p:grpSpPr>
        <p:sp>
          <p:nvSpPr>
            <p:cNvPr name="Freeform 24" id="2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25" id="2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2  What's near me, from coordinates</a:t>
              </a:r>
            </a:p>
          </p:txBody>
        </p:sp>
      </p:grpSp>
      <p:grpSp>
        <p:nvGrpSpPr>
          <p:cNvPr name="Group 26" id="26"/>
          <p:cNvGrpSpPr/>
          <p:nvPr/>
        </p:nvGrpSpPr>
        <p:grpSpPr>
          <a:xfrm rot="0">
            <a:off x="813435" y="6615303"/>
            <a:ext cx="8111490" cy="842010"/>
            <a:chOff x="0" y="0"/>
            <a:chExt cx="10815320" cy="1122680"/>
          </a:xfrm>
        </p:grpSpPr>
        <p:sp>
          <p:nvSpPr>
            <p:cNvPr name="Freeform 27" id="2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28" id="28"/>
          <p:cNvGrpSpPr/>
          <p:nvPr/>
        </p:nvGrpSpPr>
        <p:grpSpPr>
          <a:xfrm rot="0">
            <a:off x="1165860" y="6624828"/>
            <a:ext cx="7543800" cy="822960"/>
            <a:chOff x="0" y="0"/>
            <a:chExt cx="10058400" cy="1097280"/>
          </a:xfrm>
        </p:grpSpPr>
        <p:sp>
          <p:nvSpPr>
            <p:cNvPr name="Freeform 29" id="2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30" id="3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8  Trip history: Back (stack)</a:t>
              </a:r>
            </a:p>
          </p:txBody>
        </p:sp>
      </p:grpSp>
      <p:grpSp>
        <p:nvGrpSpPr>
          <p:cNvPr name="Group 31" id="31"/>
          <p:cNvGrpSpPr/>
          <p:nvPr/>
        </p:nvGrpSpPr>
        <p:grpSpPr>
          <a:xfrm rot="0">
            <a:off x="813435" y="7602855"/>
            <a:ext cx="8111490" cy="842010"/>
            <a:chOff x="0" y="0"/>
            <a:chExt cx="10815320" cy="1122680"/>
          </a:xfrm>
        </p:grpSpPr>
        <p:sp>
          <p:nvSpPr>
            <p:cNvPr name="Freeform 32" id="3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33" id="33"/>
          <p:cNvGrpSpPr/>
          <p:nvPr/>
        </p:nvGrpSpPr>
        <p:grpSpPr>
          <a:xfrm rot="0">
            <a:off x="1165860" y="7612380"/>
            <a:ext cx="7543800" cy="822960"/>
            <a:chOff x="0" y="0"/>
            <a:chExt cx="10058400" cy="1097280"/>
          </a:xfrm>
        </p:grpSpPr>
        <p:sp>
          <p:nvSpPr>
            <p:cNvPr name="Freeform 34" id="3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35" id="3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3  Explore from Civil (DFS + stack)</a:t>
              </a:r>
            </a:p>
          </p:txBody>
        </p:sp>
      </p:grpSp>
      <p:grpSp>
        <p:nvGrpSpPr>
          <p:cNvPr name="Group 36" id="36"/>
          <p:cNvGrpSpPr/>
          <p:nvPr/>
        </p:nvGrpSpPr>
        <p:grpSpPr>
          <a:xfrm rot="0">
            <a:off x="9180195" y="2665095"/>
            <a:ext cx="8111490" cy="842010"/>
            <a:chOff x="0" y="0"/>
            <a:chExt cx="10815320" cy="1122680"/>
          </a:xfrm>
        </p:grpSpPr>
        <p:sp>
          <p:nvSpPr>
            <p:cNvPr name="Freeform 37" id="3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38" id="38"/>
          <p:cNvGrpSpPr/>
          <p:nvPr/>
        </p:nvGrpSpPr>
        <p:grpSpPr>
          <a:xfrm rot="0">
            <a:off x="9532620" y="2674620"/>
            <a:ext cx="7543800" cy="822960"/>
            <a:chOff x="0" y="0"/>
            <a:chExt cx="10058400" cy="1097280"/>
          </a:xfrm>
        </p:grpSpPr>
        <p:sp>
          <p:nvSpPr>
            <p:cNvPr name="Freeform 39" id="3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40" id="4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5  Browse by category (tree)</a:t>
              </a:r>
            </a:p>
          </p:txBody>
        </p:sp>
      </p:grpSp>
      <p:grpSp>
        <p:nvGrpSpPr>
          <p:cNvPr name="Group 41" id="41"/>
          <p:cNvGrpSpPr/>
          <p:nvPr/>
        </p:nvGrpSpPr>
        <p:grpSpPr>
          <a:xfrm rot="0">
            <a:off x="9180195" y="3652647"/>
            <a:ext cx="8111490" cy="842010"/>
            <a:chOff x="0" y="0"/>
            <a:chExt cx="10815320" cy="1122680"/>
          </a:xfrm>
        </p:grpSpPr>
        <p:sp>
          <p:nvSpPr>
            <p:cNvPr name="Freeform 42" id="4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43" id="43"/>
          <p:cNvGrpSpPr/>
          <p:nvPr/>
        </p:nvGrpSpPr>
        <p:grpSpPr>
          <a:xfrm rot="0">
            <a:off x="9532620" y="3662172"/>
            <a:ext cx="7543800" cy="822960"/>
            <a:chOff x="0" y="0"/>
            <a:chExt cx="10058400" cy="1097280"/>
          </a:xfrm>
        </p:grpSpPr>
        <p:sp>
          <p:nvSpPr>
            <p:cNvPr name="Freeform 44" id="4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45" id="4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4  Search "hall", 6  sort A–Z</a:t>
              </a:r>
            </a:p>
          </p:txBody>
        </p:sp>
      </p:grpSp>
      <p:grpSp>
        <p:nvGrpSpPr>
          <p:cNvPr name="Group 46" id="46"/>
          <p:cNvGrpSpPr/>
          <p:nvPr/>
        </p:nvGrpSpPr>
        <p:grpSpPr>
          <a:xfrm rot="0">
            <a:off x="9180195" y="4640199"/>
            <a:ext cx="8111490" cy="842010"/>
            <a:chOff x="0" y="0"/>
            <a:chExt cx="10815320" cy="1122680"/>
          </a:xfrm>
        </p:grpSpPr>
        <p:sp>
          <p:nvSpPr>
            <p:cNvPr name="Freeform 47" id="4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48" id="48"/>
          <p:cNvGrpSpPr/>
          <p:nvPr/>
        </p:nvGrpSpPr>
        <p:grpSpPr>
          <a:xfrm rot="0">
            <a:off x="9532620" y="4649724"/>
            <a:ext cx="7543800" cy="822960"/>
            <a:chOff x="0" y="0"/>
            <a:chExt cx="10058400" cy="1097280"/>
          </a:xfrm>
        </p:grpSpPr>
        <p:sp>
          <p:nvSpPr>
            <p:cNvPr name="Freeform 49" id="4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50" id="5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Open Stack.cpp and Queue.cpp</a:t>
              </a:r>
            </a:p>
          </p:txBody>
        </p:sp>
      </p:grpSp>
      <p:grpSp>
        <p:nvGrpSpPr>
          <p:cNvPr name="Group 51" id="51"/>
          <p:cNvGrpSpPr/>
          <p:nvPr/>
        </p:nvGrpSpPr>
        <p:grpSpPr>
          <a:xfrm rot="0">
            <a:off x="9180195" y="5627751"/>
            <a:ext cx="8111490" cy="842010"/>
            <a:chOff x="0" y="0"/>
            <a:chExt cx="10815320" cy="1122680"/>
          </a:xfrm>
        </p:grpSpPr>
        <p:sp>
          <p:nvSpPr>
            <p:cNvPr name="Freeform 52" id="5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53" id="53"/>
          <p:cNvGrpSpPr/>
          <p:nvPr/>
        </p:nvGrpSpPr>
        <p:grpSpPr>
          <a:xfrm rot="0">
            <a:off x="9532620" y="5637276"/>
            <a:ext cx="7543800" cy="822960"/>
            <a:chOff x="0" y="0"/>
            <a:chExt cx="10058400" cy="1097280"/>
          </a:xfrm>
        </p:grpSpPr>
        <p:sp>
          <p:nvSpPr>
            <p:cNvPr name="Freeform 54" id="5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55" id="5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The online version: live BFS</a:t>
              </a:r>
            </a:p>
          </p:txBody>
        </p:sp>
      </p:grpSp>
      <p:grpSp>
        <p:nvGrpSpPr>
          <p:cNvPr name="Group 56" id="56"/>
          <p:cNvGrpSpPr/>
          <p:nvPr/>
        </p:nvGrpSpPr>
        <p:grpSpPr>
          <a:xfrm rot="0">
            <a:off x="9180195" y="6615303"/>
            <a:ext cx="8111490" cy="842010"/>
            <a:chOff x="0" y="0"/>
            <a:chExt cx="10815320" cy="1122680"/>
          </a:xfrm>
        </p:grpSpPr>
        <p:sp>
          <p:nvSpPr>
            <p:cNvPr name="Freeform 57" id="57"/>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58" id="58"/>
          <p:cNvGrpSpPr/>
          <p:nvPr/>
        </p:nvGrpSpPr>
        <p:grpSpPr>
          <a:xfrm rot="0">
            <a:off x="9532620" y="6624828"/>
            <a:ext cx="7543800" cy="822960"/>
            <a:chOff x="0" y="0"/>
            <a:chExt cx="10058400" cy="1097280"/>
          </a:xfrm>
        </p:grpSpPr>
        <p:sp>
          <p:nvSpPr>
            <p:cNvPr name="Freeform 59" id="59"/>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60" id="60"/>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The report online</a:t>
              </a:r>
            </a:p>
          </p:txBody>
        </p:sp>
      </p:grpSp>
      <p:grpSp>
        <p:nvGrpSpPr>
          <p:cNvPr name="Group 61" id="61"/>
          <p:cNvGrpSpPr/>
          <p:nvPr/>
        </p:nvGrpSpPr>
        <p:grpSpPr>
          <a:xfrm rot="0">
            <a:off x="9180195" y="7602855"/>
            <a:ext cx="8111490" cy="842010"/>
            <a:chOff x="0" y="0"/>
            <a:chExt cx="10815320" cy="1122680"/>
          </a:xfrm>
        </p:grpSpPr>
        <p:sp>
          <p:nvSpPr>
            <p:cNvPr name="Freeform 62" id="62"/>
            <p:cNvSpPr/>
            <p:nvPr/>
          </p:nvSpPr>
          <p:spPr>
            <a:xfrm flipH="false" flipV="false" rot="0">
              <a:off x="0" y="0"/>
              <a:ext cx="10815320" cy="1122680"/>
            </a:xfrm>
            <a:custGeom>
              <a:avLst/>
              <a:gdLst/>
              <a:ahLst/>
              <a:cxnLst/>
              <a:rect r="r" b="b" t="t" l="l"/>
              <a:pathLst>
                <a:path h="1122680" w="10815320">
                  <a:moveTo>
                    <a:pt x="0" y="149733"/>
                  </a:moveTo>
                  <a:cubicBezTo>
                    <a:pt x="0" y="67056"/>
                    <a:pt x="67056" y="0"/>
                    <a:pt x="149733" y="0"/>
                  </a:cubicBezTo>
                  <a:lnTo>
                    <a:pt x="10665587" y="0"/>
                  </a:lnTo>
                  <a:cubicBezTo>
                    <a:pt x="10748264" y="0"/>
                    <a:pt x="10815320" y="67056"/>
                    <a:pt x="10815320" y="149733"/>
                  </a:cubicBezTo>
                  <a:lnTo>
                    <a:pt x="10815320" y="972947"/>
                  </a:lnTo>
                  <a:cubicBezTo>
                    <a:pt x="10815320" y="1055624"/>
                    <a:pt x="10748264" y="1122680"/>
                    <a:pt x="10665587" y="1122680"/>
                  </a:cubicBezTo>
                  <a:lnTo>
                    <a:pt x="149733" y="1122680"/>
                  </a:lnTo>
                  <a:cubicBezTo>
                    <a:pt x="67056" y="1122680"/>
                    <a:pt x="0" y="1055624"/>
                    <a:pt x="0" y="972947"/>
                  </a:cubicBezTo>
                  <a:close/>
                </a:path>
              </a:pathLst>
            </a:custGeom>
            <a:solidFill>
              <a:srgbClr val="1B1D24"/>
            </a:solidFill>
            <a:ln w="19050" cap="sq">
              <a:solidFill>
                <a:srgbClr val="2C2F38"/>
              </a:solidFill>
              <a:prstDash val="solid"/>
              <a:miter/>
            </a:ln>
          </p:spPr>
        </p:sp>
      </p:grpSp>
      <p:grpSp>
        <p:nvGrpSpPr>
          <p:cNvPr name="Group 63" id="63"/>
          <p:cNvGrpSpPr/>
          <p:nvPr/>
        </p:nvGrpSpPr>
        <p:grpSpPr>
          <a:xfrm rot="0">
            <a:off x="9532620" y="7612380"/>
            <a:ext cx="7543800" cy="822960"/>
            <a:chOff x="0" y="0"/>
            <a:chExt cx="10058400" cy="1097280"/>
          </a:xfrm>
        </p:grpSpPr>
        <p:sp>
          <p:nvSpPr>
            <p:cNvPr name="Freeform 64" id="64"/>
            <p:cNvSpPr/>
            <p:nvPr/>
          </p:nvSpPr>
          <p:spPr>
            <a:xfrm flipH="false" flipV="false" rot="0">
              <a:off x="0" y="0"/>
              <a:ext cx="10058400" cy="1097280"/>
            </a:xfrm>
            <a:custGeom>
              <a:avLst/>
              <a:gdLst/>
              <a:ahLst/>
              <a:cxnLst/>
              <a:rect r="r" b="b" t="t" l="l"/>
              <a:pathLst>
                <a:path h="1097280" w="10058400">
                  <a:moveTo>
                    <a:pt x="0" y="0"/>
                  </a:moveTo>
                  <a:lnTo>
                    <a:pt x="10058400" y="0"/>
                  </a:lnTo>
                  <a:lnTo>
                    <a:pt x="10058400" y="1097280"/>
                  </a:lnTo>
                  <a:lnTo>
                    <a:pt x="0" y="1097280"/>
                  </a:lnTo>
                  <a:close/>
                </a:path>
              </a:pathLst>
            </a:custGeom>
            <a:blipFill>
              <a:blip r:embed="rId3">
                <a:alphaModFix amt="0"/>
              </a:blip>
              <a:stretch>
                <a:fillRect l="0" t="-128612" r="0" b="-128612"/>
              </a:stretch>
            </a:blipFill>
          </p:spPr>
        </p:sp>
        <p:sp>
          <p:nvSpPr>
            <p:cNvPr name="TextBox 65" id="65"/>
            <p:cNvSpPr txBox="true"/>
            <p:nvPr/>
          </p:nvSpPr>
          <p:spPr>
            <a:xfrm>
              <a:off x="0" y="-57150"/>
              <a:ext cx="10058400" cy="1154430"/>
            </a:xfrm>
            <a:prstGeom prst="rect">
              <a:avLst/>
            </a:prstGeom>
          </p:spPr>
          <p:txBody>
            <a:bodyPr anchor="ctr" rtlCol="false" tIns="0" lIns="0" bIns="0" rIns="0"/>
            <a:lstStyle/>
            <a:p>
              <a:pPr algn="l">
                <a:lnSpc>
                  <a:spcPts val="2700"/>
                </a:lnSpc>
              </a:pPr>
              <a:r>
                <a:rPr lang="en-US" sz="2250">
                  <a:solidFill>
                    <a:srgbClr val="FFFFFF"/>
                  </a:solidFill>
                  <a:latin typeface="Calibri (MS)"/>
                  <a:ea typeface="Calibri (MS)"/>
                  <a:cs typeface="Calibri (MS)"/>
                  <a:sym typeface="Calibri (MS)"/>
                </a:rPr>
                <a:t>Questions</a:t>
              </a:r>
            </a:p>
          </p:txBody>
        </p:sp>
      </p:grpSp>
      <p:grpSp>
        <p:nvGrpSpPr>
          <p:cNvPr name="Group 66" id="66"/>
          <p:cNvGrpSpPr/>
          <p:nvPr/>
        </p:nvGrpSpPr>
        <p:grpSpPr>
          <a:xfrm rot="0">
            <a:off x="822960" y="8903136"/>
            <a:ext cx="16459200" cy="423744"/>
            <a:chOff x="0" y="0"/>
            <a:chExt cx="21945600" cy="564992"/>
          </a:xfrm>
        </p:grpSpPr>
        <p:sp>
          <p:nvSpPr>
            <p:cNvPr name="Freeform 67" id="67"/>
            <p:cNvSpPr/>
            <p:nvPr/>
          </p:nvSpPr>
          <p:spPr>
            <a:xfrm flipH="false" flipV="false" rot="0">
              <a:off x="0" y="0"/>
              <a:ext cx="21945600" cy="564992"/>
            </a:xfrm>
            <a:custGeom>
              <a:avLst/>
              <a:gdLst/>
              <a:ahLst/>
              <a:cxnLst/>
              <a:rect r="r" b="b" t="t" l="l"/>
              <a:pathLst>
                <a:path h="564992" w="21945600">
                  <a:moveTo>
                    <a:pt x="0" y="0"/>
                  </a:moveTo>
                  <a:lnTo>
                    <a:pt x="21945600" y="0"/>
                  </a:lnTo>
                  <a:lnTo>
                    <a:pt x="21945600" y="564992"/>
                  </a:lnTo>
                  <a:lnTo>
                    <a:pt x="0" y="564992"/>
                  </a:lnTo>
                  <a:close/>
                </a:path>
              </a:pathLst>
            </a:custGeom>
            <a:blipFill>
              <a:blip r:embed="rId3">
                <a:alphaModFix amt="0"/>
              </a:blip>
              <a:stretch>
                <a:fillRect l="0" t="-700198" r="0" b="-713488"/>
              </a:stretch>
            </a:blipFill>
          </p:spPr>
        </p:sp>
        <p:sp>
          <p:nvSpPr>
            <p:cNvPr name="TextBox 68" id="68"/>
            <p:cNvSpPr txBox="true"/>
            <p:nvPr/>
          </p:nvSpPr>
          <p:spPr>
            <a:xfrm>
              <a:off x="0" y="-38100"/>
              <a:ext cx="21945600" cy="603092"/>
            </a:xfrm>
            <a:prstGeom prst="rect">
              <a:avLst/>
            </a:prstGeom>
          </p:spPr>
          <p:txBody>
            <a:bodyPr anchor="ctr" rtlCol="false" tIns="0" lIns="0" bIns="0" rIns="0"/>
            <a:lstStyle/>
            <a:p>
              <a:pPr algn="l">
                <a:lnSpc>
                  <a:spcPts val="2160"/>
                </a:lnSpc>
              </a:pPr>
              <a:r>
                <a:rPr lang="en-US" sz="1800">
                  <a:solidFill>
                    <a:srgbClr val="D9B100"/>
                  </a:solidFill>
                  <a:latin typeface="Consolas"/>
                  <a:ea typeface="Consolas"/>
                  <a:cs typeface="Consolas"/>
                  <a:sym typeface="Consolas"/>
                </a:rPr>
                <a:t>Terminal: make run   ·   Browser: ettisafxrup.github.io/CholoKUET</a:t>
              </a:r>
            </a:p>
          </p:txBody>
        </p:sp>
      </p:grpSp>
    </p:spTree>
  </p:cSld>
  <p:clrMapOvr>
    <a:masterClrMapping/>
  </p:clrMapOvr>
  <p:transition spd="fast">
    <p:fade/>
  </p:transition>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7543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3">
                <a:alphaModFix amt="0"/>
              </a:blip>
              <a:stretch>
                <a:fillRect l="0" t="-599501" r="0" b="-599501"/>
              </a:stretch>
            </a:blipFill>
          </p:spPr>
        </p:sp>
        <p:sp>
          <p:nvSpPr>
            <p:cNvPr name="TextBox 4" id="4"/>
            <p:cNvSpPr txBox="true"/>
            <p:nvPr/>
          </p:nvSpPr>
          <p:spPr>
            <a:xfrm>
              <a:off x="0" y="-19050"/>
              <a:ext cx="18288000" cy="567690"/>
            </a:xfrm>
            <a:prstGeom prst="rect">
              <a:avLst/>
            </a:prstGeom>
          </p:spPr>
          <p:txBody>
            <a:bodyPr anchor="ctr" rtlCol="false" tIns="0" lIns="0" bIns="0" rIns="0"/>
            <a:lstStyle/>
            <a:p>
              <a:pPr algn="l">
                <a:lnSpc>
                  <a:spcPts val="1980"/>
                </a:lnSpc>
              </a:pPr>
              <a:r>
                <a:rPr lang="en-US" b="true" sz="1650" spc="449">
                  <a:solidFill>
                    <a:srgbClr val="8F7200"/>
                  </a:solidFill>
                  <a:latin typeface="Arial Bold"/>
                  <a:ea typeface="Arial Bold"/>
                  <a:cs typeface="Arial Bold"/>
                  <a:sym typeface="Arial Bold"/>
                </a:rPr>
                <a:t>LIMITS AND NEXT STEPS</a:t>
              </a:r>
            </a:p>
          </p:txBody>
        </p:sp>
      </p:grpSp>
      <p:sp>
        <p:nvSpPr>
          <p:cNvPr name="TextBox 5" id="5"/>
          <p:cNvSpPr txBox="true"/>
          <p:nvPr/>
        </p:nvSpPr>
        <p:spPr>
          <a:xfrm rot="0">
            <a:off x="813435" y="1317949"/>
            <a:ext cx="18408302" cy="1166482"/>
          </a:xfrm>
          <a:prstGeom prst="rect">
            <a:avLst/>
          </a:prstGeom>
        </p:spPr>
        <p:txBody>
          <a:bodyPr anchor="t" rtlCol="false" tIns="0" lIns="0" bIns="0" rIns="0">
            <a:spAutoFit/>
          </a:bodyPr>
          <a:lstStyle/>
          <a:p>
            <a:pPr algn="l">
              <a:lnSpc>
                <a:spcPts val="6769"/>
              </a:lnSpc>
            </a:pPr>
            <a:r>
              <a:rPr lang="en-US" sz="5641" b="true">
                <a:solidFill>
                  <a:srgbClr val="16171B"/>
                </a:solidFill>
                <a:latin typeface="Arial Bold"/>
                <a:ea typeface="Arial Bold"/>
                <a:cs typeface="Arial Bold"/>
                <a:sym typeface="Arial Bold"/>
              </a:rPr>
              <a:t>What it can't do yet, and what's next</a:t>
            </a:r>
          </a:p>
        </p:txBody>
      </p:sp>
      <p:grpSp>
        <p:nvGrpSpPr>
          <p:cNvPr name="Group 6" id="6"/>
          <p:cNvGrpSpPr/>
          <p:nvPr/>
        </p:nvGrpSpPr>
        <p:grpSpPr>
          <a:xfrm rot="0">
            <a:off x="813435" y="2665095"/>
            <a:ext cx="8111490" cy="5162550"/>
            <a:chOff x="0" y="0"/>
            <a:chExt cx="10815320" cy="6883400"/>
          </a:xfrm>
        </p:grpSpPr>
        <p:sp>
          <p:nvSpPr>
            <p:cNvPr name="Freeform 7" id="7"/>
            <p:cNvSpPr/>
            <p:nvPr/>
          </p:nvSpPr>
          <p:spPr>
            <a:xfrm flipH="false" flipV="false" rot="0">
              <a:off x="0" y="0"/>
              <a:ext cx="10815320" cy="6883400"/>
            </a:xfrm>
            <a:custGeom>
              <a:avLst/>
              <a:gdLst/>
              <a:ahLst/>
              <a:cxnLst/>
              <a:rect r="r" b="b" t="t" l="l"/>
              <a:pathLst>
                <a:path h="6883400" w="10815320">
                  <a:moveTo>
                    <a:pt x="0" y="220218"/>
                  </a:moveTo>
                  <a:cubicBezTo>
                    <a:pt x="0" y="98679"/>
                    <a:pt x="98679" y="0"/>
                    <a:pt x="220218" y="0"/>
                  </a:cubicBezTo>
                  <a:lnTo>
                    <a:pt x="10595102" y="0"/>
                  </a:lnTo>
                  <a:cubicBezTo>
                    <a:pt x="10716768" y="0"/>
                    <a:pt x="10815320" y="98679"/>
                    <a:pt x="10815320" y="220218"/>
                  </a:cubicBezTo>
                  <a:lnTo>
                    <a:pt x="10815320" y="6663182"/>
                  </a:lnTo>
                  <a:cubicBezTo>
                    <a:pt x="10815320" y="6784848"/>
                    <a:pt x="10716641" y="6883400"/>
                    <a:pt x="10595102" y="6883400"/>
                  </a:cubicBezTo>
                  <a:lnTo>
                    <a:pt x="220218" y="6883400"/>
                  </a:lnTo>
                  <a:cubicBezTo>
                    <a:pt x="98679" y="6883400"/>
                    <a:pt x="0" y="6784721"/>
                    <a:pt x="0" y="6663182"/>
                  </a:cubicBezTo>
                  <a:close/>
                </a:path>
              </a:pathLst>
            </a:custGeom>
            <a:solidFill>
              <a:srgbClr val="F3F4F6"/>
            </a:solidFill>
            <a:ln w="19050" cap="sq">
              <a:solidFill>
                <a:srgbClr val="F3F4F6"/>
              </a:solidFill>
              <a:prstDash val="solid"/>
              <a:miter/>
            </a:ln>
          </p:spPr>
        </p:sp>
      </p:grpSp>
      <p:grpSp>
        <p:nvGrpSpPr>
          <p:cNvPr name="Group 8" id="8"/>
          <p:cNvGrpSpPr/>
          <p:nvPr/>
        </p:nvGrpSpPr>
        <p:grpSpPr>
          <a:xfrm rot="0">
            <a:off x="1303020" y="3017520"/>
            <a:ext cx="7132320" cy="617220"/>
            <a:chOff x="0" y="0"/>
            <a:chExt cx="9509760" cy="822960"/>
          </a:xfrm>
        </p:grpSpPr>
        <p:sp>
          <p:nvSpPr>
            <p:cNvPr name="Freeform 9" id="9"/>
            <p:cNvSpPr/>
            <p:nvPr/>
          </p:nvSpPr>
          <p:spPr>
            <a:xfrm flipH="false" flipV="false" rot="0">
              <a:off x="0" y="0"/>
              <a:ext cx="9509760" cy="822960"/>
            </a:xfrm>
            <a:custGeom>
              <a:avLst/>
              <a:gdLst/>
              <a:ahLst/>
              <a:cxnLst/>
              <a:rect r="r" b="b" t="t" l="l"/>
              <a:pathLst>
                <a:path h="822960" w="9509760">
                  <a:moveTo>
                    <a:pt x="0" y="0"/>
                  </a:moveTo>
                  <a:lnTo>
                    <a:pt x="9509760" y="0"/>
                  </a:lnTo>
                  <a:lnTo>
                    <a:pt x="9509760" y="822960"/>
                  </a:lnTo>
                  <a:lnTo>
                    <a:pt x="0" y="822960"/>
                  </a:lnTo>
                  <a:close/>
                </a:path>
              </a:pathLst>
            </a:custGeom>
            <a:blipFill>
              <a:blip r:embed="rId3">
                <a:alphaModFix amt="0"/>
              </a:blip>
              <a:stretch>
                <a:fillRect l="0" t="-175160" r="0" b="-175160"/>
              </a:stretch>
            </a:blipFill>
          </p:spPr>
        </p:sp>
        <p:sp>
          <p:nvSpPr>
            <p:cNvPr name="TextBox 10" id="10"/>
            <p:cNvSpPr txBox="true"/>
            <p:nvPr/>
          </p:nvSpPr>
          <p:spPr>
            <a:xfrm>
              <a:off x="0" y="-19050"/>
              <a:ext cx="9509760" cy="842010"/>
            </a:xfrm>
            <a:prstGeom prst="rect">
              <a:avLst/>
            </a:prstGeom>
          </p:spPr>
          <p:txBody>
            <a:bodyPr anchor="ctr" rtlCol="false" tIns="0" lIns="0" bIns="0" rIns="0"/>
            <a:lstStyle/>
            <a:p>
              <a:pPr algn="l">
                <a:lnSpc>
                  <a:spcPts val="3419"/>
                </a:lnSpc>
              </a:pPr>
              <a:r>
                <a:rPr lang="en-US" sz="2850" b="true">
                  <a:solidFill>
                    <a:srgbClr val="16171B"/>
                  </a:solidFill>
                  <a:latin typeface="Arial Bold"/>
                  <a:ea typeface="Arial Bold"/>
                  <a:cs typeface="Arial Bold"/>
                  <a:sym typeface="Arial Bold"/>
                </a:rPr>
                <a:t>Today</a:t>
              </a:r>
            </a:p>
          </p:txBody>
        </p:sp>
      </p:grpSp>
      <p:sp>
        <p:nvSpPr>
          <p:cNvPr name="TextBox 11" id="11"/>
          <p:cNvSpPr txBox="true"/>
          <p:nvPr/>
        </p:nvSpPr>
        <p:spPr>
          <a:xfrm rot="0">
            <a:off x="1303020" y="3870960"/>
            <a:ext cx="7132320" cy="3741420"/>
          </a:xfrm>
          <a:prstGeom prst="rect">
            <a:avLst/>
          </a:prstGeom>
        </p:spPr>
        <p:txBody>
          <a:bodyPr anchor="t" rtlCol="false" tIns="0" lIns="0" bIns="0" rIns="0">
            <a:spAutoFit/>
          </a:bodyPr>
          <a:lstStyle/>
          <a:p>
            <a:pPr algn="l" marL="434340" indent="-217170" lvl="1">
              <a:lnSpc>
                <a:spcPts val="2879"/>
              </a:lnSpc>
              <a:buFont typeface="Arial"/>
              <a:buChar char="•"/>
            </a:pPr>
            <a:r>
              <a:rPr lang="en-US" sz="2400">
                <a:solidFill>
                  <a:srgbClr val="5F626B"/>
                </a:solidFill>
                <a:latin typeface="Calibri (MS)"/>
                <a:ea typeface="Calibri (MS)"/>
                <a:cs typeface="Calibri (MS)"/>
                <a:sym typeface="Calibri (MS)"/>
              </a:rPr>
              <a:t>BFS gives the fewest stops, not the fewest meters</a:t>
            </a:r>
          </a:p>
          <a:p>
            <a:pPr algn="l" marL="434340" indent="-217170" lvl="1">
              <a:lnSpc>
                <a:spcPts val="2879"/>
              </a:lnSpc>
              <a:buFont typeface="Arial"/>
              <a:buChar char="•"/>
            </a:pPr>
            <a:r>
              <a:rPr lang="en-US" sz="2400">
                <a:solidFill>
                  <a:srgbClr val="5F626B"/>
                </a:solidFill>
                <a:latin typeface="Calibri (MS)"/>
                <a:ea typeface="Calibri (MS)"/>
                <a:cs typeface="Calibri (MS)"/>
                <a:sym typeface="Calibri (MS)"/>
              </a:rPr>
              <a:t>Six positions are estimates, about 30 m</a:t>
            </a:r>
          </a:p>
          <a:p>
            <a:pPr algn="l" marL="434340" indent="-217170" lvl="1">
              <a:lnSpc>
                <a:spcPts val="2879"/>
              </a:lnSpc>
              <a:buFont typeface="Arial"/>
              <a:buChar char="•"/>
            </a:pPr>
            <a:r>
              <a:rPr lang="en-US" sz="2400">
                <a:solidFill>
                  <a:srgbClr val="5F626B"/>
                </a:solidFill>
                <a:latin typeface="Calibri (MS)"/>
                <a:ea typeface="Calibri (MS)"/>
                <a:cs typeface="Calibri (MS)"/>
                <a:sym typeface="Calibri (MS)"/>
              </a:rPr>
              <a:t>Buildings only, no rooms or floors</a:t>
            </a:r>
          </a:p>
          <a:p>
            <a:pPr algn="l" marL="434340" indent="-217170" lvl="1">
              <a:lnSpc>
                <a:spcPts val="2879"/>
              </a:lnSpc>
              <a:buFont typeface="Arial"/>
              <a:buChar char="•"/>
            </a:pPr>
            <a:r>
              <a:rPr lang="en-US" sz="2400">
                <a:solidFill>
                  <a:srgbClr val="5F626B"/>
                </a:solidFill>
                <a:latin typeface="Calibri (MS)"/>
                <a:ea typeface="Calibri (MS)"/>
                <a:cs typeface="Calibri (MS)"/>
                <a:sym typeface="Calibri (MS)"/>
              </a:rPr>
              <a:t>Typed coordinates, no live GPS</a:t>
            </a:r>
          </a:p>
          <a:p>
            <a:pPr algn="l" marL="434340" indent="-217170" lvl="1">
              <a:lnSpc>
                <a:spcPts val="2879"/>
              </a:lnSpc>
              <a:buFont typeface="Arial"/>
              <a:buChar char="•"/>
            </a:pPr>
            <a:r>
              <a:rPr lang="en-US" sz="2400">
                <a:solidFill>
                  <a:srgbClr val="5F626B"/>
                </a:solidFill>
                <a:latin typeface="Calibri (MS)"/>
                <a:ea typeface="Calibri (MS)"/>
                <a:cs typeface="Calibri (MS)"/>
                <a:sym typeface="Calibri (MS)"/>
              </a:rPr>
              <a:t>Demo-grade login (FNV-1a hash)</a:t>
            </a:r>
          </a:p>
        </p:txBody>
      </p:sp>
      <p:grpSp>
        <p:nvGrpSpPr>
          <p:cNvPr name="Group 12" id="12"/>
          <p:cNvGrpSpPr/>
          <p:nvPr/>
        </p:nvGrpSpPr>
        <p:grpSpPr>
          <a:xfrm rot="0">
            <a:off x="9317355" y="2665095"/>
            <a:ext cx="8111490" cy="5162550"/>
            <a:chOff x="0" y="0"/>
            <a:chExt cx="10815320" cy="6883400"/>
          </a:xfrm>
        </p:grpSpPr>
        <p:sp>
          <p:nvSpPr>
            <p:cNvPr name="Freeform 13" id="13"/>
            <p:cNvSpPr/>
            <p:nvPr/>
          </p:nvSpPr>
          <p:spPr>
            <a:xfrm flipH="false" flipV="false" rot="0">
              <a:off x="0" y="0"/>
              <a:ext cx="10815320" cy="6883400"/>
            </a:xfrm>
            <a:custGeom>
              <a:avLst/>
              <a:gdLst/>
              <a:ahLst/>
              <a:cxnLst/>
              <a:rect r="r" b="b" t="t" l="l"/>
              <a:pathLst>
                <a:path h="6883400" w="10815320">
                  <a:moveTo>
                    <a:pt x="0" y="220218"/>
                  </a:moveTo>
                  <a:cubicBezTo>
                    <a:pt x="0" y="98679"/>
                    <a:pt x="98679" y="0"/>
                    <a:pt x="220218" y="0"/>
                  </a:cubicBezTo>
                  <a:lnTo>
                    <a:pt x="10595102" y="0"/>
                  </a:lnTo>
                  <a:cubicBezTo>
                    <a:pt x="10716768" y="0"/>
                    <a:pt x="10815320" y="98679"/>
                    <a:pt x="10815320" y="220218"/>
                  </a:cubicBezTo>
                  <a:lnTo>
                    <a:pt x="10815320" y="6663182"/>
                  </a:lnTo>
                  <a:cubicBezTo>
                    <a:pt x="10815320" y="6784848"/>
                    <a:pt x="10716641" y="6883400"/>
                    <a:pt x="10595102" y="6883400"/>
                  </a:cubicBezTo>
                  <a:lnTo>
                    <a:pt x="220218" y="6883400"/>
                  </a:lnTo>
                  <a:cubicBezTo>
                    <a:pt x="98679" y="6883400"/>
                    <a:pt x="0" y="6784721"/>
                    <a:pt x="0" y="6663182"/>
                  </a:cubicBezTo>
                  <a:close/>
                </a:path>
              </a:pathLst>
            </a:custGeom>
            <a:solidFill>
              <a:srgbClr val="101114"/>
            </a:solidFill>
            <a:ln w="19050" cap="sq">
              <a:solidFill>
                <a:srgbClr val="101114"/>
              </a:solidFill>
              <a:prstDash val="solid"/>
              <a:miter/>
            </a:ln>
          </p:spPr>
        </p:sp>
      </p:grpSp>
      <p:grpSp>
        <p:nvGrpSpPr>
          <p:cNvPr name="Group 14" id="14"/>
          <p:cNvGrpSpPr/>
          <p:nvPr/>
        </p:nvGrpSpPr>
        <p:grpSpPr>
          <a:xfrm rot="0">
            <a:off x="9806940" y="3017520"/>
            <a:ext cx="7132320" cy="617220"/>
            <a:chOff x="0" y="0"/>
            <a:chExt cx="9509760" cy="822960"/>
          </a:xfrm>
        </p:grpSpPr>
        <p:sp>
          <p:nvSpPr>
            <p:cNvPr name="Freeform 15" id="15"/>
            <p:cNvSpPr/>
            <p:nvPr/>
          </p:nvSpPr>
          <p:spPr>
            <a:xfrm flipH="false" flipV="false" rot="0">
              <a:off x="0" y="0"/>
              <a:ext cx="9509760" cy="822960"/>
            </a:xfrm>
            <a:custGeom>
              <a:avLst/>
              <a:gdLst/>
              <a:ahLst/>
              <a:cxnLst/>
              <a:rect r="r" b="b" t="t" l="l"/>
              <a:pathLst>
                <a:path h="822960" w="9509760">
                  <a:moveTo>
                    <a:pt x="0" y="0"/>
                  </a:moveTo>
                  <a:lnTo>
                    <a:pt x="9509760" y="0"/>
                  </a:lnTo>
                  <a:lnTo>
                    <a:pt x="9509760" y="822960"/>
                  </a:lnTo>
                  <a:lnTo>
                    <a:pt x="0" y="822960"/>
                  </a:lnTo>
                  <a:close/>
                </a:path>
              </a:pathLst>
            </a:custGeom>
            <a:blipFill>
              <a:blip r:embed="rId3">
                <a:alphaModFix amt="0"/>
              </a:blip>
              <a:stretch>
                <a:fillRect l="0" t="-175160" r="0" b="-175160"/>
              </a:stretch>
            </a:blipFill>
          </p:spPr>
        </p:sp>
        <p:sp>
          <p:nvSpPr>
            <p:cNvPr name="TextBox 16" id="16"/>
            <p:cNvSpPr txBox="true"/>
            <p:nvPr/>
          </p:nvSpPr>
          <p:spPr>
            <a:xfrm>
              <a:off x="0" y="-19050"/>
              <a:ext cx="9509760" cy="842010"/>
            </a:xfrm>
            <a:prstGeom prst="rect">
              <a:avLst/>
            </a:prstGeom>
          </p:spPr>
          <p:txBody>
            <a:bodyPr anchor="ctr" rtlCol="false" tIns="0" lIns="0" bIns="0" rIns="0"/>
            <a:lstStyle/>
            <a:p>
              <a:pPr algn="l">
                <a:lnSpc>
                  <a:spcPts val="3419"/>
                </a:lnSpc>
              </a:pPr>
              <a:r>
                <a:rPr lang="en-US" sz="2850" b="true">
                  <a:solidFill>
                    <a:srgbClr val="D9B100"/>
                  </a:solidFill>
                  <a:latin typeface="Arial Bold"/>
                  <a:ea typeface="Arial Bold"/>
                  <a:cs typeface="Arial Bold"/>
                  <a:sym typeface="Arial Bold"/>
                </a:rPr>
                <a:t>Next</a:t>
              </a:r>
            </a:p>
          </p:txBody>
        </p:sp>
      </p:grpSp>
      <p:sp>
        <p:nvSpPr>
          <p:cNvPr name="TextBox 17" id="17"/>
          <p:cNvSpPr txBox="true"/>
          <p:nvPr/>
        </p:nvSpPr>
        <p:spPr>
          <a:xfrm rot="0">
            <a:off x="9806940" y="3870960"/>
            <a:ext cx="7132320" cy="3741420"/>
          </a:xfrm>
          <a:prstGeom prst="rect">
            <a:avLst/>
          </a:prstGeom>
        </p:spPr>
        <p:txBody>
          <a:bodyPr anchor="t" rtlCol="false" tIns="0" lIns="0" bIns="0" rIns="0">
            <a:spAutoFit/>
          </a:bodyPr>
          <a:lstStyle/>
          <a:p>
            <a:pPr algn="l" marL="434340" indent="-217170" lvl="1">
              <a:lnSpc>
                <a:spcPts val="2879"/>
              </a:lnSpc>
              <a:buFont typeface="Arial"/>
              <a:buChar char="•"/>
            </a:pPr>
            <a:r>
              <a:rPr lang="en-US" sz="2400">
                <a:solidFill>
                  <a:srgbClr val="C9CAD0"/>
                </a:solidFill>
                <a:latin typeface="Calibri (MS)"/>
                <a:ea typeface="Calibri (MS)"/>
                <a:cs typeface="Calibri (MS)"/>
                <a:sym typeface="Calibri (MS)"/>
              </a:rPr>
              <a:t>Dijkstra and A* next to BFS, for the shortest walk</a:t>
            </a:r>
          </a:p>
          <a:p>
            <a:pPr algn="l" marL="434340" indent="-217170" lvl="1">
              <a:lnSpc>
                <a:spcPts val="2879"/>
              </a:lnSpc>
              <a:buFont typeface="Arial"/>
              <a:buChar char="•"/>
            </a:pPr>
            <a:r>
              <a:rPr lang="en-US" sz="2400">
                <a:solidFill>
                  <a:srgbClr val="C9CAD0"/>
                </a:solidFill>
                <a:latin typeface="Calibri (MS)"/>
                <a:ea typeface="Calibri (MS)"/>
                <a:cs typeface="Calibri (MS)"/>
                <a:sym typeface="Calibri (MS)"/>
              </a:rPr>
              <a:t>Accessible routes: ramps, no stairs</a:t>
            </a:r>
          </a:p>
          <a:p>
            <a:pPr algn="l" marL="434340" indent="-217170" lvl="1">
              <a:lnSpc>
                <a:spcPts val="2879"/>
              </a:lnSpc>
              <a:buFont typeface="Arial"/>
              <a:buChar char="•"/>
            </a:pPr>
            <a:r>
              <a:rPr lang="en-US" sz="2400">
                <a:solidFill>
                  <a:srgbClr val="C9CAD0"/>
                </a:solidFill>
                <a:latin typeface="Calibri (MS)"/>
                <a:ea typeface="Calibri (MS)"/>
                <a:cs typeface="Calibri (MS)"/>
                <a:sym typeface="Calibri (MS)"/>
              </a:rPr>
              <a:t>Rooms and labs as a deeper tree level</a:t>
            </a:r>
          </a:p>
          <a:p>
            <a:pPr algn="l" marL="434340" indent="-217170" lvl="1">
              <a:lnSpc>
                <a:spcPts val="2879"/>
              </a:lnSpc>
              <a:buFont typeface="Arial"/>
              <a:buChar char="•"/>
            </a:pPr>
            <a:r>
              <a:rPr lang="en-US" sz="2400">
                <a:solidFill>
                  <a:srgbClr val="C9CAD0"/>
                </a:solidFill>
                <a:latin typeface="Calibri (MS)"/>
                <a:ea typeface="Calibri (MS)"/>
                <a:cs typeface="Calibri (MS)"/>
                <a:sym typeface="Calibri (MS)"/>
              </a:rPr>
              <a:t>Phone GPS snapped to the nearest building</a:t>
            </a:r>
          </a:p>
          <a:p>
            <a:pPr algn="l" marL="434340" indent="-217170" lvl="1">
              <a:lnSpc>
                <a:spcPts val="2879"/>
              </a:lnSpc>
              <a:buFont typeface="Arial"/>
              <a:buChar char="•"/>
            </a:pPr>
            <a:r>
              <a:rPr lang="en-US" sz="2400">
                <a:solidFill>
                  <a:srgbClr val="C9CAD0"/>
                </a:solidFill>
                <a:latin typeface="Calibri (MS)"/>
                <a:ea typeface="Calibri (MS)"/>
                <a:cs typeface="Calibri (MS)"/>
                <a:sym typeface="Calibri (MS)"/>
              </a:rPr>
              <a:t>A Bangla interface, and our missing buildings added to OSM</a:t>
            </a:r>
          </a:p>
        </p:txBody>
      </p:sp>
    </p:spTree>
  </p:cSld>
  <p:clrMapOvr>
    <a:masterClrMapping/>
  </p:clrMapOvr>
  <p:transition spd="fast">
    <p:fade/>
  </p:transition>
</p:sld>
</file>

<file path=ppt/slides/slide37.xml><?xml version="1.0" encoding="utf-8"?>
<p:sld xmlns:p="http://schemas.openxmlformats.org/presentationml/2006/main" xmlns:a="http://schemas.openxmlformats.org/drawingml/2006/main" xmlns:r="http://schemas.openxmlformats.org/officeDocument/2006/relationships">
  <p:cSld>
    <p:bg>
      <p:bgPr>
        <a:solidFill>
          <a:srgbClr val="101114"/>
        </a:solidFill>
      </p:bgPr>
    </p:bg>
    <p:spTree>
      <p:nvGrpSpPr>
        <p:cNvPr id="1" name=""/>
        <p:cNvGrpSpPr/>
        <p:nvPr/>
      </p:nvGrpSpPr>
      <p:grpSpPr>
        <a:xfrm>
          <a:off x="0" y="0"/>
          <a:ext cx="0" cy="0"/>
          <a:chOff x="0" y="0"/>
          <a:chExt cx="0" cy="0"/>
        </a:xfrm>
      </p:grpSpPr>
      <p:grpSp>
        <p:nvGrpSpPr>
          <p:cNvPr name="Group 2" id="2"/>
          <p:cNvGrpSpPr/>
          <p:nvPr/>
        </p:nvGrpSpPr>
        <p:grpSpPr>
          <a:xfrm rot="0">
            <a:off x="822960" y="960120"/>
            <a:ext cx="6309360" cy="2098548"/>
            <a:chOff x="0" y="0"/>
            <a:chExt cx="8412480" cy="2798064"/>
          </a:xfrm>
        </p:grpSpPr>
        <p:sp>
          <p:nvSpPr>
            <p:cNvPr name="Freeform 3" id="3" descr="C:\Users\rup\AppData\Local\Temp\claude\d--Codes-CholoKUET\2a005a77-40ea-402f-8f1e-eba05e0da9d5\scratchpad\deck\img\logo.png"/>
            <p:cNvSpPr/>
            <p:nvPr/>
          </p:nvSpPr>
          <p:spPr>
            <a:xfrm flipH="false" flipV="false" rot="0">
              <a:off x="0" y="0"/>
              <a:ext cx="8412480" cy="2798064"/>
            </a:xfrm>
            <a:custGeom>
              <a:avLst/>
              <a:gdLst/>
              <a:ahLst/>
              <a:cxnLst/>
              <a:rect r="r" b="b" t="t" l="l"/>
              <a:pathLst>
                <a:path h="2798064" w="8412480">
                  <a:moveTo>
                    <a:pt x="0" y="0"/>
                  </a:moveTo>
                  <a:lnTo>
                    <a:pt x="8412480" y="0"/>
                  </a:lnTo>
                  <a:lnTo>
                    <a:pt x="8412480" y="2798064"/>
                  </a:lnTo>
                  <a:lnTo>
                    <a:pt x="0" y="2798064"/>
                  </a:lnTo>
                  <a:lnTo>
                    <a:pt x="0" y="0"/>
                  </a:lnTo>
                  <a:close/>
                </a:path>
              </a:pathLst>
            </a:custGeom>
            <a:blipFill>
              <a:blip r:embed="rId3"/>
              <a:stretch>
                <a:fillRect l="0" t="0" r="0" b="-217"/>
              </a:stretch>
            </a:blipFill>
          </p:spPr>
        </p:sp>
      </p:grpSp>
      <p:grpSp>
        <p:nvGrpSpPr>
          <p:cNvPr name="Group 4" id="4"/>
          <p:cNvGrpSpPr/>
          <p:nvPr/>
        </p:nvGrpSpPr>
        <p:grpSpPr>
          <a:xfrm rot="0">
            <a:off x="822960" y="3271566"/>
            <a:ext cx="16107824" cy="2060071"/>
            <a:chOff x="0" y="0"/>
            <a:chExt cx="21945600" cy="2806680"/>
          </a:xfrm>
        </p:grpSpPr>
        <p:sp>
          <p:nvSpPr>
            <p:cNvPr name="Freeform 5" id="5"/>
            <p:cNvSpPr/>
            <p:nvPr/>
          </p:nvSpPr>
          <p:spPr>
            <a:xfrm flipH="false" flipV="false" rot="0">
              <a:off x="0" y="0"/>
              <a:ext cx="21945600" cy="2806679"/>
            </a:xfrm>
            <a:custGeom>
              <a:avLst/>
              <a:gdLst/>
              <a:ahLst/>
              <a:cxnLst/>
              <a:rect r="r" b="b" t="t" l="l"/>
              <a:pathLst>
                <a:path h="2806679" w="21945600">
                  <a:moveTo>
                    <a:pt x="0" y="0"/>
                  </a:moveTo>
                  <a:lnTo>
                    <a:pt x="21945600" y="0"/>
                  </a:lnTo>
                  <a:lnTo>
                    <a:pt x="21945600" y="2806679"/>
                  </a:lnTo>
                  <a:lnTo>
                    <a:pt x="0" y="2806679"/>
                  </a:lnTo>
                  <a:close/>
                </a:path>
              </a:pathLst>
            </a:custGeom>
            <a:blipFill>
              <a:blip r:embed="rId4">
                <a:alphaModFix amt="0"/>
              </a:blip>
              <a:stretch>
                <a:fillRect l="0" t="-116517" r="0" b="-88192"/>
              </a:stretch>
            </a:blipFill>
          </p:spPr>
        </p:sp>
        <p:sp>
          <p:nvSpPr>
            <p:cNvPr name="TextBox 6" id="6"/>
            <p:cNvSpPr txBox="true"/>
            <p:nvPr/>
          </p:nvSpPr>
          <p:spPr>
            <a:xfrm>
              <a:off x="0" y="-28575"/>
              <a:ext cx="21945600" cy="2835255"/>
            </a:xfrm>
            <a:prstGeom prst="rect">
              <a:avLst/>
            </a:prstGeom>
          </p:spPr>
          <p:txBody>
            <a:bodyPr anchor="ctr" rtlCol="false" tIns="0" lIns="0" bIns="0" rIns="0"/>
            <a:lstStyle/>
            <a:p>
              <a:pPr algn="l">
                <a:lnSpc>
                  <a:spcPts val="9720"/>
                </a:lnSpc>
              </a:pPr>
              <a:r>
                <a:rPr lang="en-US" sz="8100" b="true">
                  <a:solidFill>
                    <a:srgbClr val="FFFFFF"/>
                  </a:solidFill>
                  <a:latin typeface="Arial Bold"/>
                  <a:ea typeface="Arial Bold"/>
                  <a:cs typeface="Arial Bold"/>
                  <a:sym typeface="Arial Bold"/>
                </a:rPr>
                <a:t>Thank you. </a:t>
              </a:r>
              <a:r>
                <a:rPr lang="en-US" sz="8100" b="true">
                  <a:solidFill>
                    <a:srgbClr val="D9B100"/>
                  </a:solidFill>
                  <a:latin typeface="Arial Bold"/>
                  <a:ea typeface="Arial Bold"/>
                  <a:cs typeface="Arial Bold"/>
                  <a:sym typeface="Arial Bold"/>
                </a:rPr>
                <a:t>Jajakallahi Khair</a:t>
              </a:r>
            </a:p>
          </p:txBody>
        </p:sp>
      </p:grpSp>
      <p:grpSp>
        <p:nvGrpSpPr>
          <p:cNvPr name="Group 7" id="7"/>
          <p:cNvGrpSpPr/>
          <p:nvPr/>
        </p:nvGrpSpPr>
        <p:grpSpPr>
          <a:xfrm rot="0">
            <a:off x="822960" y="5417820"/>
            <a:ext cx="12344400" cy="1097280"/>
            <a:chOff x="0" y="0"/>
            <a:chExt cx="16459200" cy="1463040"/>
          </a:xfrm>
        </p:grpSpPr>
        <p:sp>
          <p:nvSpPr>
            <p:cNvPr name="Freeform 8" id="8"/>
            <p:cNvSpPr/>
            <p:nvPr/>
          </p:nvSpPr>
          <p:spPr>
            <a:xfrm flipH="false" flipV="false" rot="0">
              <a:off x="0" y="0"/>
              <a:ext cx="16459200" cy="1463040"/>
            </a:xfrm>
            <a:custGeom>
              <a:avLst/>
              <a:gdLst/>
              <a:ahLst/>
              <a:cxnLst/>
              <a:rect r="r" b="b" t="t" l="l"/>
              <a:pathLst>
                <a:path h="1463040" w="16459200">
                  <a:moveTo>
                    <a:pt x="0" y="0"/>
                  </a:moveTo>
                  <a:lnTo>
                    <a:pt x="16459200" y="0"/>
                  </a:lnTo>
                  <a:lnTo>
                    <a:pt x="16459200" y="1463040"/>
                  </a:lnTo>
                  <a:lnTo>
                    <a:pt x="0" y="1463040"/>
                  </a:lnTo>
                  <a:close/>
                </a:path>
              </a:pathLst>
            </a:custGeom>
            <a:blipFill>
              <a:blip r:embed="rId4">
                <a:alphaModFix amt="0"/>
              </a:blip>
              <a:stretch>
                <a:fillRect l="0" t="-169206" r="0" b="-169206"/>
              </a:stretch>
            </a:blipFill>
          </p:spPr>
        </p:sp>
        <p:sp>
          <p:nvSpPr>
            <p:cNvPr name="TextBox 9" id="9"/>
            <p:cNvSpPr txBox="true"/>
            <p:nvPr/>
          </p:nvSpPr>
          <p:spPr>
            <a:xfrm>
              <a:off x="0" y="-47625"/>
              <a:ext cx="16459200" cy="1510665"/>
            </a:xfrm>
            <a:prstGeom prst="rect">
              <a:avLst/>
            </a:prstGeom>
          </p:spPr>
          <p:txBody>
            <a:bodyPr anchor="ctr" rtlCol="false" tIns="0" lIns="0" bIns="0" rIns="0"/>
            <a:lstStyle/>
            <a:p>
              <a:pPr algn="l">
                <a:lnSpc>
                  <a:spcPts val="2879"/>
                </a:lnSpc>
              </a:pPr>
              <a:r>
                <a:rPr lang="en-US" sz="2400">
                  <a:solidFill>
                    <a:srgbClr val="8A8C95"/>
                  </a:solidFill>
                  <a:latin typeface="Consolas"/>
                  <a:ea typeface="Consolas"/>
                  <a:cs typeface="Consolas"/>
                  <a:sym typeface="Consolas"/>
                </a:rPr>
                <a:t>Online  </a:t>
              </a:r>
              <a:r>
                <a:rPr lang="en-US" sz="2400" u="sng">
                  <a:solidFill>
                    <a:srgbClr val="D9B100"/>
                  </a:solidFill>
                  <a:latin typeface="Consolas"/>
                  <a:ea typeface="Consolas"/>
                  <a:cs typeface="Consolas"/>
                  <a:sym typeface="Consolas"/>
                  <a:hlinkClick r:id="rId5" tooltip="https://ettisafxrup.github.io/CholoKUET/"/>
                </a:rPr>
                <a:t>ettisafxrup.github.io/CholoKUET</a:t>
              </a:r>
            </a:p>
            <a:p>
              <a:pPr algn="l">
                <a:lnSpc>
                  <a:spcPts val="2879"/>
                </a:lnSpc>
              </a:pPr>
              <a:r>
                <a:rPr lang="en-US" sz="2400">
                  <a:solidFill>
                    <a:srgbClr val="8A8C95"/>
                  </a:solidFill>
                  <a:latin typeface="Consolas"/>
                  <a:ea typeface="Consolas"/>
                  <a:cs typeface="Consolas"/>
                  <a:sym typeface="Consolas"/>
                </a:rPr>
                <a:t>Code    </a:t>
              </a:r>
              <a:r>
                <a:rPr lang="en-US" sz="2400" u="sng">
                  <a:solidFill>
                    <a:srgbClr val="FFFFFF"/>
                  </a:solidFill>
                  <a:latin typeface="Consolas"/>
                  <a:ea typeface="Consolas"/>
                  <a:cs typeface="Consolas"/>
                  <a:sym typeface="Consolas"/>
                  <a:hlinkClick r:id="rId6" tooltip="https://github.com/ettisafxrup/CholoKUET"/>
                </a:rPr>
                <a:t>github.com/ettisafxrup/CholoKUET</a:t>
              </a:r>
            </a:p>
          </p:txBody>
        </p:sp>
      </p:grpSp>
      <p:grpSp>
        <p:nvGrpSpPr>
          <p:cNvPr name="Group 10" id="10"/>
          <p:cNvGrpSpPr/>
          <p:nvPr/>
        </p:nvGrpSpPr>
        <p:grpSpPr>
          <a:xfrm rot="0">
            <a:off x="822960" y="7200900"/>
            <a:ext cx="1165860" cy="1399032"/>
            <a:chOff x="0" y="0"/>
            <a:chExt cx="1554480" cy="1865376"/>
          </a:xfrm>
        </p:grpSpPr>
        <p:sp>
          <p:nvSpPr>
            <p:cNvPr name="Freeform 11" id="11" descr="C:\Users\rup\AppData\Local\Temp\claude\d--Codes-CholoKUET\2a005a77-40ea-402f-8f1e-eba05e0da9d5\scratchpad\deck\img\ettisaf-rup.jpg"/>
            <p:cNvSpPr/>
            <p:nvPr/>
          </p:nvSpPr>
          <p:spPr>
            <a:xfrm flipH="false" flipV="false" rot="0">
              <a:off x="0" y="0"/>
              <a:ext cx="1554480" cy="1865376"/>
            </a:xfrm>
            <a:custGeom>
              <a:avLst/>
              <a:gdLst/>
              <a:ahLst/>
              <a:cxnLst/>
              <a:rect r="r" b="b" t="t" l="l"/>
              <a:pathLst>
                <a:path h="1865376" w="1554480">
                  <a:moveTo>
                    <a:pt x="0" y="0"/>
                  </a:moveTo>
                  <a:lnTo>
                    <a:pt x="1554480" y="0"/>
                  </a:lnTo>
                  <a:lnTo>
                    <a:pt x="1554480" y="1865376"/>
                  </a:lnTo>
                  <a:lnTo>
                    <a:pt x="0" y="1865376"/>
                  </a:lnTo>
                  <a:lnTo>
                    <a:pt x="0" y="0"/>
                  </a:lnTo>
                  <a:close/>
                </a:path>
              </a:pathLst>
            </a:custGeom>
            <a:blipFill>
              <a:blip r:embed="rId7"/>
              <a:stretch>
                <a:fillRect l="0" t="0" r="0" b="0"/>
              </a:stretch>
            </a:blipFill>
          </p:spPr>
        </p:sp>
      </p:grpSp>
      <p:grpSp>
        <p:nvGrpSpPr>
          <p:cNvPr name="Group 12" id="12"/>
          <p:cNvGrpSpPr/>
          <p:nvPr/>
        </p:nvGrpSpPr>
        <p:grpSpPr>
          <a:xfrm rot="0">
            <a:off x="811054" y="7188994"/>
            <a:ext cx="1189673" cy="1422844"/>
            <a:chOff x="0" y="0"/>
            <a:chExt cx="1586230" cy="1897126"/>
          </a:xfrm>
        </p:grpSpPr>
        <p:sp>
          <p:nvSpPr>
            <p:cNvPr name="Freeform 13" id="13"/>
            <p:cNvSpPr/>
            <p:nvPr/>
          </p:nvSpPr>
          <p:spPr>
            <a:xfrm flipH="false" flipV="false" rot="0">
              <a:off x="0" y="0"/>
              <a:ext cx="1586230" cy="1897126"/>
            </a:xfrm>
            <a:custGeom>
              <a:avLst/>
              <a:gdLst/>
              <a:ahLst/>
              <a:cxnLst/>
              <a:rect r="r" b="b" t="t" l="l"/>
              <a:pathLst>
                <a:path h="1897126" w="1586230">
                  <a:moveTo>
                    <a:pt x="0" y="0"/>
                  </a:moveTo>
                  <a:lnTo>
                    <a:pt x="1586230" y="0"/>
                  </a:lnTo>
                  <a:lnTo>
                    <a:pt x="1586230" y="1897126"/>
                  </a:lnTo>
                  <a:lnTo>
                    <a:pt x="0" y="1897126"/>
                  </a:lnTo>
                  <a:close/>
                </a:path>
              </a:pathLst>
            </a:custGeom>
            <a:blipFill>
              <a:blip r:embed="rId4">
                <a:alphaModFix amt="0"/>
              </a:blip>
              <a:stretch>
                <a:fillRect l="-103450" t="0" r="-103450" b="0"/>
              </a:stretch>
            </a:blipFill>
            <a:ln w="23812" cap="sq">
              <a:solidFill>
                <a:srgbClr val="D9B100"/>
              </a:solidFill>
              <a:prstDash val="solid"/>
              <a:miter/>
            </a:ln>
          </p:spPr>
        </p:sp>
      </p:grpSp>
      <p:grpSp>
        <p:nvGrpSpPr>
          <p:cNvPr name="Group 14" id="14"/>
          <p:cNvGrpSpPr/>
          <p:nvPr/>
        </p:nvGrpSpPr>
        <p:grpSpPr>
          <a:xfrm rot="0">
            <a:off x="2194560" y="7338060"/>
            <a:ext cx="3703320" cy="1097280"/>
            <a:chOff x="0" y="0"/>
            <a:chExt cx="4937760" cy="1463040"/>
          </a:xfrm>
        </p:grpSpPr>
        <p:sp>
          <p:nvSpPr>
            <p:cNvPr name="Freeform 15" id="15"/>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16" id="16"/>
            <p:cNvSpPr txBox="true"/>
            <p:nvPr/>
          </p:nvSpPr>
          <p:spPr>
            <a:xfrm>
              <a:off x="0" y="-57150"/>
              <a:ext cx="4937760" cy="1520190"/>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Ettisaf Rup</a:t>
              </a:r>
            </a:p>
            <a:p>
              <a:pPr algn="l">
                <a:lnSpc>
                  <a:spcPts val="2160"/>
                </a:lnSpc>
              </a:pPr>
              <a:r>
                <a:rPr lang="en-US" sz="1800">
                  <a:solidFill>
                    <a:srgbClr val="A6A7AD"/>
                  </a:solidFill>
                  <a:latin typeface="Calibri (MS)"/>
                  <a:ea typeface="Calibri (MS)"/>
                  <a:cs typeface="Calibri (MS)"/>
                  <a:sym typeface="Calibri (MS)"/>
                </a:rPr>
                <a:t>CSE, KUET · Roll 2407109</a:t>
              </a:r>
            </a:p>
          </p:txBody>
        </p:sp>
      </p:grpSp>
      <p:grpSp>
        <p:nvGrpSpPr>
          <p:cNvPr name="Group 17" id="17"/>
          <p:cNvGrpSpPr/>
          <p:nvPr/>
        </p:nvGrpSpPr>
        <p:grpSpPr>
          <a:xfrm rot="0">
            <a:off x="6172200" y="7200900"/>
            <a:ext cx="1165860" cy="1399032"/>
            <a:chOff x="0" y="0"/>
            <a:chExt cx="1554480" cy="1865376"/>
          </a:xfrm>
        </p:grpSpPr>
        <p:sp>
          <p:nvSpPr>
            <p:cNvPr name="Freeform 18" id="18" descr="C:\Users\rup\AppData\Local\Temp\claude\d--Codes-CholoKUET\2a005a77-40ea-402f-8f1e-eba05e0da9d5\scratchpad\deck\img\afia-anjum-broti.jpg"/>
            <p:cNvSpPr/>
            <p:nvPr/>
          </p:nvSpPr>
          <p:spPr>
            <a:xfrm flipH="false" flipV="false" rot="0">
              <a:off x="0" y="0"/>
              <a:ext cx="1554480" cy="1865376"/>
            </a:xfrm>
            <a:custGeom>
              <a:avLst/>
              <a:gdLst/>
              <a:ahLst/>
              <a:cxnLst/>
              <a:rect r="r" b="b" t="t" l="l"/>
              <a:pathLst>
                <a:path h="1865376" w="1554480">
                  <a:moveTo>
                    <a:pt x="0" y="0"/>
                  </a:moveTo>
                  <a:lnTo>
                    <a:pt x="1554480" y="0"/>
                  </a:lnTo>
                  <a:lnTo>
                    <a:pt x="1554480" y="1865376"/>
                  </a:lnTo>
                  <a:lnTo>
                    <a:pt x="0" y="1865376"/>
                  </a:lnTo>
                  <a:lnTo>
                    <a:pt x="0" y="0"/>
                  </a:lnTo>
                  <a:close/>
                </a:path>
              </a:pathLst>
            </a:custGeom>
            <a:blipFill>
              <a:blip r:embed="rId8"/>
              <a:stretch>
                <a:fillRect l="0" t="0" r="0" b="0"/>
              </a:stretch>
            </a:blipFill>
          </p:spPr>
        </p:sp>
      </p:grpSp>
      <p:grpSp>
        <p:nvGrpSpPr>
          <p:cNvPr name="Group 19" id="19"/>
          <p:cNvGrpSpPr/>
          <p:nvPr/>
        </p:nvGrpSpPr>
        <p:grpSpPr>
          <a:xfrm rot="0">
            <a:off x="6160294" y="7188994"/>
            <a:ext cx="1189673" cy="1422844"/>
            <a:chOff x="0" y="0"/>
            <a:chExt cx="1586230" cy="1897126"/>
          </a:xfrm>
        </p:grpSpPr>
        <p:sp>
          <p:nvSpPr>
            <p:cNvPr name="Freeform 20" id="20"/>
            <p:cNvSpPr/>
            <p:nvPr/>
          </p:nvSpPr>
          <p:spPr>
            <a:xfrm flipH="false" flipV="false" rot="0">
              <a:off x="0" y="0"/>
              <a:ext cx="1586230" cy="1897126"/>
            </a:xfrm>
            <a:custGeom>
              <a:avLst/>
              <a:gdLst/>
              <a:ahLst/>
              <a:cxnLst/>
              <a:rect r="r" b="b" t="t" l="l"/>
              <a:pathLst>
                <a:path h="1897126" w="1586230">
                  <a:moveTo>
                    <a:pt x="0" y="0"/>
                  </a:moveTo>
                  <a:lnTo>
                    <a:pt x="1586230" y="0"/>
                  </a:lnTo>
                  <a:lnTo>
                    <a:pt x="1586230" y="1897126"/>
                  </a:lnTo>
                  <a:lnTo>
                    <a:pt x="0" y="1897126"/>
                  </a:lnTo>
                  <a:close/>
                </a:path>
              </a:pathLst>
            </a:custGeom>
            <a:blipFill>
              <a:blip r:embed="rId4">
                <a:alphaModFix amt="0"/>
              </a:blip>
              <a:stretch>
                <a:fillRect l="-103450" t="0" r="-103450" b="0"/>
              </a:stretch>
            </a:blipFill>
            <a:ln w="23812" cap="sq">
              <a:solidFill>
                <a:srgbClr val="D9B100"/>
              </a:solidFill>
              <a:prstDash val="solid"/>
              <a:miter/>
            </a:ln>
          </p:spPr>
        </p:sp>
      </p:grpSp>
      <p:grpSp>
        <p:nvGrpSpPr>
          <p:cNvPr name="Group 21" id="21"/>
          <p:cNvGrpSpPr/>
          <p:nvPr/>
        </p:nvGrpSpPr>
        <p:grpSpPr>
          <a:xfrm rot="0">
            <a:off x="7543800" y="7338060"/>
            <a:ext cx="3703320" cy="1097280"/>
            <a:chOff x="0" y="0"/>
            <a:chExt cx="4937760" cy="1463040"/>
          </a:xfrm>
        </p:grpSpPr>
        <p:sp>
          <p:nvSpPr>
            <p:cNvPr name="Freeform 22" id="22"/>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62" r="0" b="-15761"/>
              </a:stretch>
            </a:blipFill>
          </p:spPr>
        </p:sp>
        <p:sp>
          <p:nvSpPr>
            <p:cNvPr name="TextBox 23" id="23"/>
            <p:cNvSpPr txBox="true"/>
            <p:nvPr/>
          </p:nvSpPr>
          <p:spPr>
            <a:xfrm>
              <a:off x="0" y="-57150"/>
              <a:ext cx="4937760" cy="1520190"/>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Afia Anjum Broti</a:t>
              </a:r>
            </a:p>
            <a:p>
              <a:pPr algn="l">
                <a:lnSpc>
                  <a:spcPts val="2160"/>
                </a:lnSpc>
              </a:pPr>
              <a:r>
                <a:rPr lang="en-US" sz="1800">
                  <a:solidFill>
                    <a:srgbClr val="A6A7AD"/>
                  </a:solidFill>
                  <a:latin typeface="Calibri (MS)"/>
                  <a:ea typeface="Calibri (MS)"/>
                  <a:cs typeface="Calibri (MS)"/>
                  <a:sym typeface="Calibri (MS)"/>
                </a:rPr>
                <a:t>CSE, KUET · Roll 2407096</a:t>
              </a:r>
            </a:p>
          </p:txBody>
        </p:sp>
      </p:gr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DAHXDFS8N-8</dc:identifier>
  <dcterms:modified xsi:type="dcterms:W3CDTF">2011-08-01T06:04:30Z</dcterms:modified>
  <cp:revision>1</cp:revision>
  <dc:title>CholoKUET Presentation.pptx</dc:title>
</cp:coreProperties>
</file>